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Welcome students to this comprehensive Deep Learning lecture. Today we synthesize fundamental computational principles, artificial neuron biology, iterative training dynamics, and the state-of-the-art Transformer self-attention architecture based on the Catholic University of Rwanda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Emphasize that students do not need advanced PhD-level mathematics to master deep learning. The entire discipline is built on a four-stage loop: guess, check error, find slope,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6217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15694"/>
                </a:solidFill>
                <a:latin typeface="Arial"/>
              </a:defRPr>
            </a:pPr>
            <a:r>
              <a:t>CATHOLIC UNIVERSITY OF RWANDA • COMPUTER SCIENCE</a:t>
            </a:r>
          </a:p>
          <a:p>
            <a:pPr>
              <a:spcBef>
                <a:spcPts val="1200"/>
              </a:spcBef>
              <a:defRPr sz="3600" b="1">
                <a:solidFill>
                  <a:srgbClr val="11223F"/>
                </a:solidFill>
                <a:latin typeface="Arial"/>
              </a:defRPr>
            </a:pPr>
            <a:r>
              <a:t>Essential Deep Learning &amp;</a:t>
            </a:r>
            <a:br/>
            <a:r>
              <a:t>Transformer Architecture</a:t>
            </a:r>
          </a:p>
          <a:p>
            <a:pPr>
              <a:spcBef>
                <a:spcPts val="1400"/>
              </a:spcBef>
              <a:defRPr sz="1800">
                <a:solidFill>
                  <a:srgbClr val="D97724"/>
                </a:solidFill>
                <a:latin typeface="Arial"/>
              </a:defRPr>
            </a:pPr>
            <a:r>
              <a:t>How Computers Learn Useful Patterns from Examples</a:t>
            </a:r>
          </a:p>
          <a:p>
            <a:pPr>
              <a:spcBef>
                <a:spcPts val="1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From Biological Intuition and First Principles to Modern Multi-Head Self-Attention Systems.</a:t>
            </a:r>
          </a:p>
          <a:p>
            <a:pPr>
              <a:spcBef>
                <a:spcPts val="2400"/>
              </a:spcBef>
              <a:defRPr sz="1100" b="1">
                <a:solidFill>
                  <a:srgbClr val="718096"/>
                </a:solidFill>
                <a:latin typeface="Arial"/>
              </a:defRPr>
            </a:pPr>
            <a:r>
              <a:t>Course Curriculum &amp; Lecture Notes • Based on Fadl Musa (Catholic University of Rwanda)</a:t>
            </a:r>
          </a:p>
        </p:txBody>
      </p:sp>
      <p:pic>
        <p:nvPicPr>
          <p:cNvPr id="3" name="Picture 2" descr="deep_learning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FOUNDATION &amp; CURRICULUM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Deep Learning is a Flexible Function that Learns Directly from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109728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15694"/>
                </a:solidFill>
              </a:defRPr>
            </a:pPr>
            <a:r>
              <a:t>THE BIG IDEA: THE COMPUTER AS AN ADAPTIVE FUNCTION</a:t>
            </a:r>
          </a:p>
          <a:p>
            <a:pPr>
              <a:spcBef>
                <a:spcPts val="400"/>
              </a:spcBef>
              <a:defRPr sz="1300">
                <a:solidFill>
                  <a:srgbClr val="11223F"/>
                </a:solidFill>
              </a:defRPr>
            </a:pPr>
            <a:r>
              <a:t>A deep-learning model is a flexible mathematical function. It sees raw examples, generates initial guesses, precisely measures its errors, and automatically adjusts its internal connection weights—many thousands of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514600" cy="33832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251460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148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A7E9B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b="1" sz="1500">
                <a:solidFill>
                  <a:srgbClr val="11223F"/>
                </a:solidFill>
              </a:defRPr>
            </a:pPr>
            <a:r>
              <a:t>Intuition Over Jargon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Explain deep learning without drowning in heavy calculus or abstract linear algebra.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2834640"/>
            <a:ext cx="2514600" cy="33832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5576" y="2834640"/>
            <a:ext cx="251460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3017520"/>
            <a:ext cx="2148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215694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b="1" sz="1500">
                <a:solidFill>
                  <a:srgbClr val="11223F"/>
                </a:solidFill>
              </a:defRPr>
            </a:pPr>
            <a:r>
              <a:t>Biological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Build an exact understanding of artificial neurons, connection weights, biases, and stacked layers.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834640"/>
            <a:ext cx="2514600" cy="33832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2834640"/>
            <a:ext cx="251460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017520"/>
            <a:ext cx="2148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D97724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b="1" sz="1500">
                <a:solidFill>
                  <a:srgbClr val="11223F"/>
                </a:solidFill>
              </a:defRPr>
            </a:pPr>
            <a:r>
              <a:t>Universal Data Encoding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Master how unstructured images, continuous sounds, and human text convert into numbers.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2834640"/>
            <a:ext cx="2514600" cy="33832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33688" y="2834640"/>
            <a:ext cx="2514600" cy="508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3017520"/>
            <a:ext cx="2148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B7A43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b="1" sz="1500">
                <a:solidFill>
                  <a:srgbClr val="11223F"/>
                </a:solidFill>
              </a:defRPr>
            </a:pPr>
            <a:r>
              <a:t>Safety &amp; Engineering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Diagnose failure modes, overfitting, dataset bias, and implement responsible-use guardrails.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CONCEPTUAL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Deep Learning Replaces Hand-Crafted Rules with Data-Driven Representations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TRADITIONAL PROGRAMMING VS. MACHINE LEARNING</a:t>
            </a:r>
          </a:p>
          <a:p>
            <a:pPr>
              <a:spcBef>
                <a:spcPts val="1000"/>
              </a:spcBef>
              <a:defRPr b="1" sz="1300">
                <a:solidFill>
                  <a:srgbClr val="11223F"/>
                </a:solidFill>
              </a:defRPr>
            </a:pPr>
            <a:r>
              <a:t>Classical Rule-Based Systems (Symbolic AI):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• Programmers explicitly craft logic: IF pixel_darkness &gt; 80 AND ear_shape == 'triangle' THEN 'cat'.</a:t>
            </a:r>
            <a:br/>
            <a:r>
              <a:t>• Fails completely when faced with rotations, shadows, diverse breeds, or occlusions.</a:t>
            </a:r>
          </a:p>
          <a:p>
            <a:pPr>
              <a:spcBef>
                <a:spcPts val="1200"/>
              </a:spcBef>
              <a:defRPr b="1" sz="1300">
                <a:solidFill>
                  <a:srgbClr val="11223F"/>
                </a:solidFill>
              </a:defRPr>
            </a:pPr>
            <a:r>
              <a:t>Traditional Machine Learning (Helicopter Parent):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• Humans manually engineer specific features (whiskers, color histograms, aspect ratios).</a:t>
            </a:r>
            <a:br/>
            <a:r>
              <a:t>• Model learns statistical boundaries on those hand-extracted features. Works well on small tabular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THE DEEP LEARNING BREAKTHROUGH: END-TO-END</a:t>
            </a:r>
          </a:p>
          <a:p>
            <a:pPr>
              <a:spcBef>
                <a:spcPts val="1000"/>
              </a:spcBef>
              <a:defRPr b="1" sz="1300">
                <a:solidFill>
                  <a:srgbClr val="11223F"/>
                </a:solidFill>
              </a:defRPr>
            </a:pPr>
            <a:r>
              <a:t>Autonomous Feature Extraction directly from Raw Data: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• Eliminates manual feature selection: raw images, text streams, or raw sound waves are fed directly into the network.</a:t>
            </a:r>
            <a:br/>
            <a:r>
              <a:t>• The network simultaneously learns which features matter AND how to classify them.</a:t>
            </a:r>
          </a:p>
          <a:p>
            <a:pPr>
              <a:spcBef>
                <a:spcPts val="1400"/>
              </a:spcBef>
              <a:defRPr b="1" sz="1300">
                <a:solidFill>
                  <a:srgbClr val="11223F"/>
                </a:solidFill>
              </a:defRPr>
            </a:pPr>
            <a:r>
              <a:t>Key Differentiators Summary: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1. Data Scale: Deep learning requires large datasets (thousands to millions of examples).</a:t>
            </a:r>
            <a:br/>
            <a:r>
              <a:t>2. Hardware: Highly parallelized GPU computing required for billions of matrix operations.</a:t>
            </a:r>
            <a:br/>
            <a:r>
              <a:t>3. Human Touch: Less human micromanagement; the system extracts its own internal representations.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ARCHITECTURAL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Depth Enables Networks to Transform Raw Pixels into Abstract Meaning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229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15694"/>
                </a:solidFill>
              </a:defRPr>
            </a:pPr>
            <a:r>
              <a:t>THE LINGUISTIC ANALOGY FROM THE CATHOLIC UNIVERSITY OF RWANDA SYLLABUS:</a:t>
            </a:r>
          </a:p>
          <a:p>
            <a:pPr>
              <a:defRPr b="1" sz="1400">
                <a:solidFill>
                  <a:srgbClr val="11223F"/>
                </a:solidFill>
              </a:defRPr>
            </a:pPr>
            <a:r>
              <a:t>Letters → Words → Sentences → Full Semantic Meaning. In vision: Pixels → Edges → Textures → Shapes → Whole Objects.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383280" cy="3657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338328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7E9B"/>
                </a:solidFill>
              </a:defRPr>
            </a:pPr>
            <a:r>
              <a:t>STAGE 1</a:t>
            </a:r>
          </a:p>
          <a:p>
            <a:pPr>
              <a:spcBef>
                <a:spcPts val="400"/>
              </a:spcBef>
              <a:defRPr b="1" sz="1600">
                <a:solidFill>
                  <a:srgbClr val="11223F"/>
                </a:solidFill>
              </a:defRPr>
            </a:pPr>
            <a:r>
              <a:t>Early Hidden Layers</a:t>
            </a:r>
          </a:p>
          <a:p>
            <a:pPr>
              <a:spcBef>
                <a:spcPts val="400"/>
              </a:spcBef>
              <a:defRPr b="1" sz="1300">
                <a:solidFill>
                  <a:srgbClr val="215694"/>
                </a:solidFill>
              </a:defRPr>
            </a:pPr>
            <a:r>
              <a:t>Pixel Gradients &amp; Edges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Detects local contrasts, simple vertical/horizontal edges, and raw brightness variations across 5×5 pixel neighborhoods.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514600"/>
            <a:ext cx="3383280" cy="3657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2514600"/>
            <a:ext cx="338328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15694"/>
                </a:solidFill>
              </a:defRPr>
            </a:pPr>
            <a:r>
              <a:t>STAGE 2</a:t>
            </a:r>
          </a:p>
          <a:p>
            <a:pPr>
              <a:spcBef>
                <a:spcPts val="400"/>
              </a:spcBef>
              <a:defRPr b="1" sz="1600">
                <a:solidFill>
                  <a:srgbClr val="11223F"/>
                </a:solidFill>
              </a:defRPr>
            </a:pPr>
            <a:r>
              <a:t>Middle Hidden Layers</a:t>
            </a:r>
          </a:p>
          <a:p>
            <a:pPr>
              <a:spcBef>
                <a:spcPts val="400"/>
              </a:spcBef>
              <a:defRPr b="1" sz="1300">
                <a:solidFill>
                  <a:srgbClr val="215694"/>
                </a:solidFill>
              </a:defRPr>
            </a:pPr>
            <a:r>
              <a:t>Textures, Motifs &amp; Parts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Combines detected lines and edges into contours, corners, circular rings, eye-shapes, fur textures, and surface geometries.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514600"/>
            <a:ext cx="3383280" cy="3657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2514600"/>
            <a:ext cx="338328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24"/>
                </a:solidFill>
              </a:defRPr>
            </a:pPr>
            <a:r>
              <a:t>STAGE 3</a:t>
            </a:r>
          </a:p>
          <a:p>
            <a:pPr>
              <a:spcBef>
                <a:spcPts val="400"/>
              </a:spcBef>
              <a:defRPr b="1" sz="1600">
                <a:solidFill>
                  <a:srgbClr val="11223F"/>
                </a:solidFill>
              </a:defRPr>
            </a:pPr>
            <a:r>
              <a:t>Deep / Output Layers</a:t>
            </a:r>
          </a:p>
          <a:p>
            <a:pPr>
              <a:spcBef>
                <a:spcPts val="400"/>
              </a:spcBef>
              <a:defRPr b="1" sz="1300">
                <a:solidFill>
                  <a:srgbClr val="215694"/>
                </a:solidFill>
              </a:defRPr>
            </a:pPr>
            <a:r>
              <a:t>Semantic Categories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Assembles compound geometries into high-level concepts (e.g., 'snout', 'whiskers', 'cat-ness') to produce definitive class probabilities.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NEURON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An Artificial Neuron Multiplies Inputs by Weights and Adds an Offset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15694"/>
                </a:solidFill>
              </a:defRPr>
            </a:pPr>
            <a:r>
              <a:t>BIOLOGICAL INSPIRATION: THE EFFICIENT ARCHIVIST</a:t>
            </a:r>
          </a:p>
          <a:p>
            <a:pPr>
              <a:spcBef>
                <a:spcPts val="800"/>
              </a:spcBef>
              <a:defRPr b="1" sz="1300">
                <a:solidFill>
                  <a:srgbClr val="11223F"/>
                </a:solidFill>
              </a:defRPr>
            </a:pPr>
            <a:r>
              <a:t>How the Human Brain Learns: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• The brain contains 86+ billion biological neurons firing electro-chemical impulses.</a:t>
            </a:r>
            <a:br/>
            <a:r>
              <a:t>• Connections strengthen when experiences are repeated, useful, or emotionally impactful.</a:t>
            </a:r>
            <a:br/>
            <a:r>
              <a:t>• Unimportant details fade away: the brain is an efficient, ruthless memory archivist.</a:t>
            </a:r>
          </a:p>
          <a:p>
            <a:pPr>
              <a:spcBef>
                <a:spcPts val="1200"/>
              </a:spcBef>
              <a:defRPr b="1" sz="1300">
                <a:solidFill>
                  <a:srgbClr val="11223F"/>
                </a:solidFill>
              </a:defRPr>
            </a:pPr>
            <a:r>
              <a:t>Translating Biology to Artificial Neurons: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• Electrical impulses → Replaced with numbers (x1, x2, x3).</a:t>
            </a:r>
            <a:br/>
            <a:r>
              <a:t>• Synaptic strength → Represented by numerical weights (w1, w2, w3).</a:t>
            </a:r>
            <a:br/>
            <a:r>
              <a:t>• Firing threshold → Controlled by an additive bias (b) and activation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D97724"/>
                </a:solidFill>
              </a:defRPr>
            </a:pPr>
            <a:r>
              <a:t>THE ONLY ALGEBRA WE NEED: THE WEIGHTED SUM</a:t>
            </a:r>
          </a:p>
          <a:p>
            <a:pPr>
              <a:spcBef>
                <a:spcPts val="1200"/>
              </a:spcBef>
              <a:defRPr b="1" sz="1500">
                <a:solidFill>
                  <a:srgbClr val="11223F"/>
                </a:solidFill>
              </a:defRPr>
            </a:pPr>
            <a:r>
              <a:t>z = w₁x₁ + w₂x₂ + w₃x₃ + ... + wₙxₙ + b = ∑(wᵢxᵢ) + b</a:t>
            </a:r>
          </a:p>
          <a:p>
            <a:pPr>
              <a:spcBef>
                <a:spcPts val="1200"/>
              </a:spcBef>
              <a:defRPr sz="1200">
                <a:solidFill>
                  <a:srgbClr val="11223F"/>
                </a:solidFill>
              </a:defRPr>
            </a:pPr>
            <a:r>
              <a:t>Inputs (x): The raw numerical measurements received (e.g., pixel intensities, audio decibels, word vector values).</a:t>
            </a:r>
          </a:p>
          <a:p>
            <a:pPr>
              <a:spcBef>
                <a:spcPts val="800"/>
              </a:spcBef>
              <a:defRPr sz="1200">
                <a:solidFill>
                  <a:srgbClr val="11223F"/>
                </a:solidFill>
              </a:defRPr>
            </a:pPr>
            <a:r>
              <a:t>Weights (w) — Volume Knobs: Dictate connection importance. Turning up a weight amplifies that input's influence; zeroing it ignores the input.</a:t>
            </a:r>
          </a:p>
          <a:p>
            <a:pPr>
              <a:spcBef>
                <a:spcPts val="800"/>
              </a:spcBef>
              <a:defRPr sz="1200">
                <a:solidFill>
                  <a:srgbClr val="11223F"/>
                </a:solidFill>
              </a:defRPr>
            </a:pPr>
            <a:r>
              <a:t>Bias (b) — The Flexible Offset: Shifts the decision threshold. Without bias, the neuron's decision boundary is rigidly forced through the origin (z=0 when x=0).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HANDS-ON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Worked Example: Calculating Ripeness via Linear Combination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73736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Sensory Feature</a:t>
                      </a:r>
                    </a:p>
                  </a:txBody>
                  <a:tcPr>
                    <a:solidFill>
                      <a:srgbClr val="11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Input (x)</a:t>
                      </a:r>
                    </a:p>
                  </a:txBody>
                  <a:tcPr>
                    <a:solidFill>
                      <a:srgbClr val="11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Weight (w)</a:t>
                      </a:r>
                    </a:p>
                  </a:txBody>
                  <a:tcPr>
                    <a:solidFill>
                      <a:srgbClr val="11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Product (w · x)</a:t>
                      </a:r>
                    </a:p>
                  </a:txBody>
                  <a:tcPr>
                    <a:solidFill>
                      <a:srgbClr val="1122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Yellow Color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Softness (Press)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Sweet Aroma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5943600" cy="164592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15694"/>
                </a:solidFill>
              </a:defRPr>
            </a:pPr>
            <a:r>
              <a:t>CALCULATION SUMMARY (FROM RWANDA LECTURE DECK)</a:t>
            </a:r>
          </a:p>
          <a:p>
            <a:pPr>
              <a:spcBef>
                <a:spcPts val="400"/>
              </a:spcBef>
              <a:defRPr sz="1300" b="1">
                <a:solidFill>
                  <a:srgbClr val="11223F"/>
                </a:solidFill>
              </a:defRPr>
            </a:pPr>
            <a:r>
              <a:t>z = (0.9 × 0.8) + (0.7 × 0.6) + (1.0 × 0.9) + 0.12 (bias)</a:t>
            </a:r>
            <a:br/>
            <a:r>
              <a:t>z = 0.72 + 0.42 + 0.90 + 0.12 = 2.16</a:t>
            </a:r>
            <a:br/>
            <a:r>
              <a:t>Decision: 2.16 exceeds threshold → Classify as 'Probably Ripe'.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554480"/>
            <a:ext cx="4480560" cy="45720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373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WHY WEIGHTS ARE SENSITIVITY DIALS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1. Relative Importance:</a:t>
            </a:r>
            <a:br/>
            <a:r>
              <a:t>Aroma carries w = 1.0 (highest priority), whereas softness has w = 0.7. The neuron naturally weighs scent over touch.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2. Negative Weights:</a:t>
            </a:r>
            <a:br/>
            <a:r>
              <a:t>If an input like 'Green Spots' was introduced with w = -1.5, it would strongly pull z downwards, preventing premature ripeness classification.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3. Shifting with Bias:</a:t>
            </a:r>
            <a:br/>
            <a:r>
              <a:t>A positive bias (+0.12) lowers the hurdle for ripeness; a negative bias requires overwhelming evidence before declaring fruit ripe.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MATHEMATICAL GATEKEEPERS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Activation Functions Add Non-Linearity so Networks Learn Curves and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10058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24"/>
                </a:solidFill>
              </a:defRPr>
            </a:pPr>
            <a:r>
              <a:t>THE COLLAPSE PARADOX: WHY LINEAR LAYERS ARE NOT ENOUGH</a:t>
            </a:r>
          </a:p>
          <a:p>
            <a:pPr>
              <a:spcBef>
                <a:spcPts val="300"/>
              </a:spcBef>
              <a:defRPr sz="1200">
                <a:solidFill>
                  <a:srgbClr val="11223F"/>
                </a:solidFill>
              </a:defRPr>
            </a:pPr>
            <a:r>
              <a:t>Without non-linear activation functions, stacking 100 neural network layers algebraically collapses into a single straight-line equation (y = mx + b). Non-linearity is the superpower that lets models bend, twist, and carve complex decision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338328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338328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1223F"/>
                </a:solidFill>
              </a:defRPr>
            </a:pPr>
            <a:r>
              <a:t>ReLU (Rectified Linear Unit)</a:t>
            </a:r>
          </a:p>
          <a:p>
            <a:pPr>
              <a:spcBef>
                <a:spcPts val="400"/>
              </a:spcBef>
              <a:defRPr b="1" sz="1300">
                <a:solidFill>
                  <a:srgbClr val="215694"/>
                </a:solidFill>
              </a:defRPr>
            </a:pPr>
            <a:r>
              <a:t>ReLU(z) = max(0, z)</a:t>
            </a:r>
          </a:p>
          <a:p>
            <a:pPr>
              <a:spcBef>
                <a:spcPts val="400"/>
              </a:spcBef>
              <a:defRPr b="1" sz="1100">
                <a:solidFill>
                  <a:srgbClr val="718096"/>
                </a:solidFill>
              </a:defRPr>
            </a:pPr>
            <a:r>
              <a:t>The Modern Standard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Acts like an efficient electronic one-way diode. Negative values get silenced to 0; positive values pass straight through. Extremely fast to compute, avoiding vanishing gradients.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697480"/>
            <a:ext cx="338328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2697480"/>
            <a:ext cx="338328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1223F"/>
                </a:solidFill>
              </a:defRPr>
            </a:pPr>
            <a:r>
              <a:t>Sigmoid Function</a:t>
            </a:r>
          </a:p>
          <a:p>
            <a:pPr>
              <a:spcBef>
                <a:spcPts val="400"/>
              </a:spcBef>
              <a:defRPr b="1" sz="1300">
                <a:solidFill>
                  <a:srgbClr val="0A7E9B"/>
                </a:solidFill>
              </a:defRPr>
            </a:pPr>
            <a:r>
              <a:t>σ(z) = 1 / (1 + e⁻ᶻ)</a:t>
            </a:r>
          </a:p>
          <a:p>
            <a:pPr>
              <a:spcBef>
                <a:spcPts val="400"/>
              </a:spcBef>
              <a:defRPr b="1" sz="1100">
                <a:solidFill>
                  <a:srgbClr val="718096"/>
                </a:solidFill>
              </a:defRPr>
            </a:pPr>
            <a:r>
              <a:t>Smooth 0 to 1 S-Curve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Compresses any real number between 0.0 and 1.0. Historically popular for binary classification thresholds, but prone to saturating gradients at extreme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697480"/>
            <a:ext cx="338328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2697480"/>
            <a:ext cx="3383280" cy="508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1223F"/>
                </a:solidFill>
              </a:defRPr>
            </a:pPr>
            <a:r>
              <a:t>Softmax Activation</a:t>
            </a:r>
          </a:p>
          <a:p>
            <a:pPr>
              <a:spcBef>
                <a:spcPts val="400"/>
              </a:spcBef>
              <a:defRPr b="1" sz="1300">
                <a:solidFill>
                  <a:srgbClr val="1B7A43"/>
                </a:solidFill>
              </a:defRPr>
            </a:pPr>
            <a:r>
              <a:t>Softmax(zᵢ) = eᶻⁱ / ∑ eᶻʲ</a:t>
            </a:r>
          </a:p>
          <a:p>
            <a:pPr>
              <a:spcBef>
                <a:spcPts val="400"/>
              </a:spcBef>
              <a:defRPr b="1" sz="1100">
                <a:solidFill>
                  <a:srgbClr val="718096"/>
                </a:solidFill>
              </a:defRPr>
            </a:pPr>
            <a:r>
              <a:t>Multi-Class Probabilities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Applied at the final output layer. Converts raw, unconstrained numerical scores (logits) into a probability distribution where all classes strictly sum to 100% (1.0).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Classification Assigns Discrete Buckets; Regression Predicts Continuous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CLASSIFICATION: 'WHICH BUCKET?'</a:t>
            </a:r>
          </a:p>
          <a:p>
            <a:pPr>
              <a:spcBef>
                <a:spcPts val="800"/>
              </a:spcBef>
              <a:defRPr b="1" sz="1200">
                <a:solidFill>
                  <a:srgbClr val="11223F"/>
                </a:solidFill>
              </a:defRPr>
            </a:pPr>
            <a:r>
              <a:t>Goal: Assign inputs to discrete, categorical labels.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Catholic University Rwanda Worked Example:</a:t>
            </a:r>
            <a:br/>
            <a:r>
              <a:t>• Cat: 72% confidence</a:t>
            </a:r>
            <a:br/>
            <a:r>
              <a:t>• Dog: 18% confidence</a:t>
            </a:r>
            <a:br/>
            <a:r>
              <a:t>• Rabbit: 10% confidence</a:t>
            </a:r>
            <a:br/>
            <a:r>
              <a:t>Sum of all output node confidences = 100% (1.0).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Typical Output &amp; Loss:</a:t>
            </a:r>
            <a:br/>
            <a:r>
              <a:t>• Final Layer: Softmax normalization.</a:t>
            </a:r>
            <a:br/>
            <a:r>
              <a:t>• Loss Function: Cross-Entropy Loss (penalizes low confidence on the true category).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REGRESSION: 'HOW MUCH?'</a:t>
            </a:r>
          </a:p>
          <a:p>
            <a:pPr>
              <a:spcBef>
                <a:spcPts val="800"/>
              </a:spcBef>
              <a:defRPr b="1" sz="1200">
                <a:solidFill>
                  <a:srgbClr val="11223F"/>
                </a:solidFill>
              </a:defRPr>
            </a:pPr>
            <a:r>
              <a:t>Goal: Predict an unbounded, continuous real-valued number.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Catholic University Rwanda Worked Example:</a:t>
            </a:r>
            <a:br/>
            <a:r>
              <a:t>• Input: House size in square meters (e.g., 180 m²).</a:t>
            </a:r>
            <a:br/>
            <a:r>
              <a:t>• Output: Market valuation in dollars (e.g., $245,000).</a:t>
            </a:r>
            <a:br/>
            <a:r>
              <a:t>• Output is a single continuous scalar, not a probability.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Typical Output &amp; Loss:</a:t>
            </a:r>
            <a:br/>
            <a:r>
              <a:t>• Final Layer: Linear activation (unconstrained).</a:t>
            </a:r>
            <a:br/>
            <a:r>
              <a:t>• Loss Function: Mean Squared Error (MSE) = (y - ŷ)².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INPUT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Computers Cannot Ingest Sights or Sounds; Everything Converts to Matrices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38328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Images (Pixels to Matrices)</a:t>
            </a:r>
          </a:p>
          <a:p>
            <a:pPr>
              <a:spcBef>
                <a:spcPts val="400"/>
              </a:spcBef>
              <a:defRPr b="1" sz="1200">
                <a:solidFill>
                  <a:srgbClr val="215694"/>
                </a:solidFill>
              </a:defRPr>
            </a:pPr>
            <a:r>
              <a:t>5×5 Grayscale Grid</a:t>
            </a:r>
          </a:p>
          <a:p>
            <a:pPr>
              <a:spcBef>
                <a:spcPts val="1200"/>
              </a:spcBef>
              <a:defRPr sz="1200">
                <a:solidFill>
                  <a:srgbClr val="4A5568"/>
                </a:solidFill>
              </a:defRPr>
            </a:pPr>
            <a:r>
              <a:t>A grayscale photo is a 2D matrix of integers from 0 (pitch black) to 255 (bright white). A color image adds 3 stacked channels (Red, Green, Blue). An artificial neural net flattens or convolves these grids into numerical vectors.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508760"/>
            <a:ext cx="33832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98264" y="1508760"/>
            <a:ext cx="338328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Sound (Waves to Spectrograms)</a:t>
            </a:r>
          </a:p>
          <a:p>
            <a:pPr>
              <a:spcBef>
                <a:spcPts val="400"/>
              </a:spcBef>
              <a:defRPr b="1" sz="1200">
                <a:solidFill>
                  <a:srgbClr val="0A7E9B"/>
                </a:solidFill>
              </a:defRPr>
            </a:pPr>
            <a:r>
              <a:t>Frequency &amp; Amplitude</a:t>
            </a:r>
          </a:p>
          <a:p>
            <a:pPr>
              <a:spcBef>
                <a:spcPts val="1200"/>
              </a:spcBef>
              <a:defRPr sz="1200">
                <a:solidFill>
                  <a:srgbClr val="4A5568"/>
                </a:solidFill>
              </a:defRPr>
            </a:pPr>
            <a:r>
              <a:t>Microphones capture pressure oscillations over time. By applying Fourier Transforms, sound waves become 2D visual spectrograms showing pitch frequencies across time slices, readable just like visual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508760"/>
            <a:ext cx="33832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508760"/>
            <a:ext cx="338328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Human Text (Tokens to Vectors)</a:t>
            </a:r>
          </a:p>
          <a:p>
            <a:pPr>
              <a:spcBef>
                <a:spcPts val="400"/>
              </a:spcBef>
              <a:defRPr b="1" sz="1200">
                <a:solidFill>
                  <a:srgbClr val="D97724"/>
                </a:solidFill>
              </a:defRPr>
            </a:pPr>
            <a:r>
              <a:t>Semantic Coordinate Maps</a:t>
            </a:r>
          </a:p>
          <a:p>
            <a:pPr>
              <a:spcBef>
                <a:spcPts val="1200"/>
              </a:spcBef>
              <a:defRPr sz="1200">
                <a:solidFill>
                  <a:srgbClr val="4A5568"/>
                </a:solidFill>
              </a:defRPr>
            </a:pPr>
            <a:r>
              <a:t>Sentences are split into discrete sub-word tokens. Each token is mapped to a high-dimensional continuous embedding vector where conceptual similarity corresponds to spatial proximity (e.g., 'king' and 'queen').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OPTIMIZATION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The Iterative 4-Step Training Cycle: Guess, Compare, Blame, Adjust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1460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51460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Step 1: Guess</a:t>
            </a:r>
          </a:p>
          <a:p>
            <a:pPr>
              <a:spcBef>
                <a:spcPts val="400"/>
              </a:spcBef>
              <a:defRPr b="1" sz="1200">
                <a:solidFill>
                  <a:srgbClr val="215694"/>
                </a:solidFill>
              </a:defRPr>
            </a:pPr>
            <a:r>
              <a:t>Forward Pass (ŷ)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Input vectors flow forward through layers. Neurons compute weighted sums and gates. At initialization, this output is random guessing.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508760"/>
            <a:ext cx="251460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508760"/>
            <a:ext cx="251460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69164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Step 2: Compare</a:t>
            </a:r>
          </a:p>
          <a:p>
            <a:pPr>
              <a:spcBef>
                <a:spcPts val="400"/>
              </a:spcBef>
              <a:defRPr b="1" sz="1200">
                <a:solidFill>
                  <a:srgbClr val="0A7E9B"/>
                </a:solidFill>
              </a:defRPr>
            </a:pPr>
            <a:r>
              <a:t>Loss Evaluation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Loss function compares prediction against ground truth label, computing a single numerical error penalty: How wrong was the model?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251460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251460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4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Step 3: Blame</a:t>
            </a:r>
          </a:p>
          <a:p>
            <a:pPr>
              <a:spcBef>
                <a:spcPts val="400"/>
              </a:spcBef>
              <a:defRPr b="1" sz="1200">
                <a:solidFill>
                  <a:srgbClr val="D97724"/>
                </a:solidFill>
              </a:defRPr>
            </a:pPr>
            <a:r>
              <a:t>Backpropagation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The error travels backward layer-by-layer. Gradients calculate the exact mathematical responsibility of each weight connection.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508760"/>
            <a:ext cx="251460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508760"/>
            <a:ext cx="2514600" cy="508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69164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Step 4: Adjust</a:t>
            </a:r>
          </a:p>
          <a:p>
            <a:pPr>
              <a:spcBef>
                <a:spcPts val="400"/>
              </a:spcBef>
              <a:defRPr b="1" sz="1200">
                <a:solidFill>
                  <a:srgbClr val="1B7A43"/>
                </a:solidFill>
              </a:defRPr>
            </a:pPr>
            <a:r>
              <a:t>Gradient Update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The optimizer nudges every weight and bias in the opposite direction of the gradient slope to systematically lower the error next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10728655" cy="10058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15694"/>
                </a:solidFill>
              </a:defRPr>
            </a:pPr>
            <a:r>
              <a:t>THE CLASSROOM ANALOGY (CATHOLIC UNIVERSITY OF RWANDA SYLLABUS):</a:t>
            </a:r>
          </a:p>
          <a:p>
            <a:pPr>
              <a:spcBef>
                <a:spcPts val="200"/>
              </a:spcBef>
              <a:defRPr sz="1200">
                <a:solidFill>
                  <a:srgbClr val="11223F"/>
                </a:solidFill>
              </a:defRPr>
            </a:pPr>
            <a:r>
              <a:t>Practice a mock quiz (forward pass) → Mark wrong answers with red ink (loss) → Analyze which concepts were misunderstood (backpropagation) → Revise study strategy (weight update) → Repeat until mistakes vanish.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QUANTIFYING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A Loss Function Translates Prediction Errors into an Optimizable Scalar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THE SQUARED ERROR METRIC</a:t>
            </a:r>
          </a:p>
          <a:p>
            <a:pPr>
              <a:spcBef>
                <a:spcPts val="1000"/>
              </a:spcBef>
              <a:defRPr b="1" sz="1500">
                <a:solidFill>
                  <a:srgbClr val="11223F"/>
                </a:solidFill>
              </a:defRPr>
            </a:pPr>
            <a:r>
              <a:t>Loss = (True Answer − Model Prediction)²</a:t>
            </a:r>
          </a:p>
          <a:p>
            <a:pPr>
              <a:spcBef>
                <a:spcPts val="1200"/>
              </a:spcBef>
              <a:defRPr sz="1200">
                <a:solidFill>
                  <a:srgbClr val="1B7A43"/>
                </a:solidFill>
              </a:defRPr>
            </a:pPr>
            <a:r>
              <a:t>Worked Case 1: Accurate Model</a:t>
            </a:r>
            <a:br/>
            <a:r>
              <a:t>• Ground Truth = 1.0 (True Positive)</a:t>
            </a:r>
            <a:br/>
            <a:r>
              <a:t>• Prediction = 0.70</a:t>
            </a:r>
            <a:br/>
            <a:r>
              <a:t>• Loss = (1.0 − 0.70)² = (0.30)² = 0.09 (Tiny Error Penalty)</a:t>
            </a:r>
          </a:p>
          <a:p>
            <a:pPr>
              <a:spcBef>
                <a:spcPts val="1000"/>
              </a:spcBef>
              <a:defRPr sz="1200">
                <a:solidFill>
                  <a:srgbClr val="D97724"/>
                </a:solidFill>
              </a:defRPr>
            </a:pPr>
            <a:r>
              <a:t>Worked Case 2: Inaccurate Model</a:t>
            </a:r>
            <a:br/>
            <a:r>
              <a:t>• Ground Truth = 1.0</a:t>
            </a:r>
            <a:br/>
            <a:r>
              <a:t>• Prediction = -2.31</a:t>
            </a:r>
            <a:br/>
            <a:r>
              <a:t>• Loss = (1.0 − (-2.31))² = (3.31)² = 11.00 (Massive Penalty)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WHY DO WE SQUARE THE ERROR?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1. Strict Positivity:</a:t>
            </a:r>
            <a:br/>
            <a:r>
              <a:t>Squaring ensures that negative errors and positive errors do not cancel each other out to zero.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2. Severe Outlier Penalty:</a:t>
            </a:r>
            <a:br/>
            <a:r>
              <a:t>A mistake of 2 units produces a loss of 4; a mistake of 4 units produces a loss of 16. The model is forced to prioritize fixing massive catastrophic blunders.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3. Smooth Differentiability:</a:t>
            </a:r>
            <a:br/>
            <a:r>
              <a:t>The quadratic curve provides smooth slopes (derivatives) everywhere, allowing gradient descent to smoothly calculate update trajectories.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OPTIMIZATION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Gradient Descent Guides Parameters Downhill Through Dense Fog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229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THE PARAMETER UPDATE EQUATION: weight ← weight − (learning_rate × slope)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383280" cy="3657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338328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1223F"/>
                </a:solidFill>
              </a:defRPr>
            </a:pPr>
            <a:r>
              <a:t>Learning Rate Too Small (η = 0.0001)</a:t>
            </a:r>
          </a:p>
          <a:p>
            <a:pPr>
              <a:spcBef>
                <a:spcPts val="400"/>
              </a:spcBef>
              <a:defRPr b="1" sz="1100">
                <a:solidFill>
                  <a:srgbClr val="0A7E9B"/>
                </a:solidFill>
              </a:defRPr>
            </a:pPr>
            <a:r>
              <a:t>Stuck at 99% Loading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Baby steps downhill. The model learns at an agonizingly slow pace. It risks getting trapped in shallow local plateaus and consumes days of expensive GPU compute without converging.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514600"/>
            <a:ext cx="3383280" cy="3657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2514600"/>
            <a:ext cx="3383280" cy="508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6974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1223F"/>
                </a:solidFill>
              </a:defRPr>
            </a:pPr>
            <a:r>
              <a:t>Optimal Learning Rate (η = 0.01 - 0.001)</a:t>
            </a:r>
          </a:p>
          <a:p>
            <a:pPr>
              <a:spcBef>
                <a:spcPts val="400"/>
              </a:spcBef>
              <a:defRPr b="1" sz="1100">
                <a:solidFill>
                  <a:srgbClr val="1B7A43"/>
                </a:solidFill>
              </a:defRPr>
            </a:pPr>
            <a:r>
              <a:t>Steady, Controlled Descent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Balanced stride length. Smoothly follows the steepest slope downwards. Automatically decelerates near the valley floor to settle into a deep, robust minimum.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514600"/>
            <a:ext cx="3383280" cy="3657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2514600"/>
            <a:ext cx="338328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6974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1223F"/>
                </a:solidFill>
              </a:defRPr>
            </a:pPr>
            <a:r>
              <a:t>Learning Rate Too Large (η = 5.0)</a:t>
            </a:r>
          </a:p>
          <a:p>
            <a:pPr>
              <a:spcBef>
                <a:spcPts val="400"/>
              </a:spcBef>
              <a:defRPr b="1" sz="1100">
                <a:solidFill>
                  <a:srgbClr val="D97724"/>
                </a:solidFill>
              </a:defRPr>
            </a:pPr>
            <a:r>
              <a:t>Violent Overshooting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Giant reckless leaps. The parameter updates leap completely across the valley floor, landing higher up on opposite cliffs, causing mathematical divergence or loss = NaN.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CREDIT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Backpropagation Sends Error Backwards to Determine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HOW BACKPROPAGATION WORKS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1. Forward Guess:</a:t>
            </a:r>
            <a:br/>
            <a:r>
              <a:t>Data flows input → hidden → output. Output creates an error signal.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2. Backward Flow of Blame:</a:t>
            </a:r>
            <a:br/>
            <a:r>
              <a:t>The error travels backward through each hidden layer, asking: 'Which connection weight caused how much of this mistake?'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3. The Chain Rule of Calculus:</a:t>
            </a:r>
            <a:br/>
            <a:r>
              <a:t>Multiplies local derivatives layer by layer to compute ∂Loss / ∂w for every single weight in the network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ANALOGY: TEAM PROJECT BLAME &amp; CREDIT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Imagine a group presentation that receives a grade of 70% instead of 100%:</a:t>
            </a:r>
            <a:br/>
            <a:br/>
            <a:r>
              <a:t>• The professor points out a factual error in slide 14.</a:t>
            </a:r>
            <a:br/>
            <a:r>
              <a:t>• Tracing backwards reveals Student B wrote slide 14, relying on a faulty citation provided by Student A.</a:t>
            </a:r>
            <a:br/>
            <a:r>
              <a:t>• Backpropagation assigns blame proportionally: Student B gets 60% of the blame, Student A gets 40%, while Student C (who designed slide 1 correctly) receives positive reinforcement.</a:t>
            </a:r>
            <a:br/>
            <a:r>
              <a:t>• Every contributor adjusts their work accordingly.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HANDS-ON DECISION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A Worked Example from Rwanda Deck: Learning the 'Tall'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46304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Height (m)</a:t>
                      </a:r>
                    </a:p>
                  </a:txBody>
                  <a:tcPr>
                    <a:solidFill>
                      <a:srgbClr val="11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11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Initial Guess</a:t>
                      </a:r>
                    </a:p>
                  </a:txBody>
                  <a:tcPr>
                    <a:solidFill>
                      <a:srgbClr val="11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 Error</a:t>
                      </a:r>
                    </a:p>
                  </a:txBody>
                  <a:tcPr>
                    <a:solidFill>
                      <a:srgbClr val="1122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1.60 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Not Tall (0)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0.50 (Random)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Loss = 0.25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1.75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Borderline (0.5)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0.50 (Random)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Loss =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1.90 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Tall (1.0)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0.50 (Random)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223F"/>
                          </a:solidFill>
                        </a:defRPr>
                      </a:pPr>
                      <a:r>
                        <a:t>Loss = 0.25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5943600" cy="164592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15694"/>
                </a:solidFill>
              </a:defRPr>
            </a:pPr>
            <a:r>
              <a:t>AFTER 500 EPOCHS OF BACKPROPAGATION:</a:t>
            </a:r>
          </a:p>
          <a:p>
            <a:pPr>
              <a:spcBef>
                <a:spcPts val="400"/>
              </a:spcBef>
              <a:defRPr sz="1100" b="1">
                <a:solidFill>
                  <a:srgbClr val="11223F"/>
                </a:solidFill>
              </a:defRPr>
            </a:pPr>
            <a:r>
              <a:t>Learned weight w = +8.42, learned bias b = -14.73</a:t>
            </a:r>
            <a:br/>
            <a:r>
              <a:t>For 1.60m: z = 8.42(1.60) - 14.73 = -1.26 → σ(z) = 0.22 (Not Tall)</a:t>
            </a:r>
            <a:br/>
            <a:r>
              <a:t>For 1.90m: z = 8.42(1.90) - 14.73 = +1.27 → σ(z) = 0.78 (Tall)</a:t>
            </a:r>
            <a:br/>
            <a:r>
              <a:t>The model carved a boundary at 1.75m purely from examples!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554480"/>
            <a:ext cx="4480560" cy="45720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373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KEY PEDAGOGICAL TAKEAWAY</a:t>
            </a:r>
          </a:p>
          <a:p>
            <a:pPr>
              <a:spcBef>
                <a:spcPts val="1200"/>
              </a:spcBef>
              <a:defRPr sz="1200">
                <a:solidFill>
                  <a:srgbClr val="4A5568"/>
                </a:solidFill>
              </a:defRPr>
            </a:pPr>
            <a:r>
              <a:t>No Human Hard-Coded the 1.75m Rule:</a:t>
            </a:r>
            <a:br/>
            <a:r>
              <a:t>In classical programming, an engineer would type: if height &gt; 1.75: return 'tall'. Here, the network was given raw heights and labels, and gradient descent adjusted w and b until the decision boundary naturally materialized.</a:t>
            </a:r>
          </a:p>
          <a:p>
            <a:pPr>
              <a:spcBef>
                <a:spcPts val="1200"/>
              </a:spcBef>
              <a:defRPr sz="1200">
                <a:solidFill>
                  <a:srgbClr val="4A5568"/>
                </a:solidFill>
              </a:defRPr>
            </a:pPr>
            <a:r>
              <a:t>Extensible to Millions of Dimensions:</a:t>
            </a:r>
            <a:br/>
            <a:r>
              <a:t>While 1D height is simple, deep neural networks apply this exact same algebraic boundary-carving across 10,000 pixels or 50,000 word embeddings.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SPATIAL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Convolutional Neural Networks Slide Small Filters to Scan Images Efficiently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THE KERNEL / FILTER SLIDING WINDOW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What is a Convolutional Kernel?</a:t>
            </a:r>
            <a:br/>
            <a:r>
              <a:t>A tiny matrix (typically 3×3 or 5×5) of learnable weights that systematically slides across the image from left to right, top to bottom.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Feature Map Generation:</a:t>
            </a:r>
            <a:br/>
            <a:r>
              <a:t>At each position, the filter computes the dot product with the local pixel patch. When an edge matches the filter pattern, the output spikes, creating a 'feature map' highlighting edges.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Spatial Invariance:</a:t>
            </a:r>
            <a:br/>
            <a:r>
              <a:t>Because the same filter slides everywhere, an edge in the top-left corner is detected identically to an edge in the bottom-right.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WHY CNNS CRUSH FULLY-CONNECTED LAYERS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The Parameter Explosion in Dense Networks:</a:t>
            </a:r>
            <a:br/>
            <a:r>
              <a:t>• A 1000×1000 color image contains 3,000,000 pixel values.</a:t>
            </a:r>
            <a:br/>
            <a:r>
              <a:t>• Connecting to just 1,000 hidden nodes requires 3,000,000,000 weights—guaranteeing massive overfitting and crashing memory.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The CNN Parameter Sharing Miracle:</a:t>
            </a:r>
            <a:br/>
            <a:r>
              <a:t>• A 3×3 filter has only 9 weights per channel (27 weights total).</a:t>
            </a:r>
            <a:br/>
            <a:r>
              <a:t>• Those same 27 weights scan the entire million-pixel image, drastically cutting memory requirements while dramatically boosting generalization.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SEQUENTIAL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Word Order Dictates Meaning: 'Dog Bites Man' ≠ 'Man Bites Dog'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TRADITIONAL SEQUENCE MODELS (RNNS)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Step-by-Step Processing:</a:t>
            </a:r>
            <a:br/>
            <a:r>
              <a:t>Recurrent Neural Networks (RNNs) processed text sequentially, word by word from left to right, maintaining a hidden state vector.</a:t>
            </a:r>
          </a:p>
          <a:p>
            <a:pPr>
              <a:spcBef>
                <a:spcPts val="1000"/>
              </a:spcBef>
              <a:defRPr sz="1200">
                <a:solidFill>
                  <a:srgbClr val="D97724"/>
                </a:solidFill>
              </a:defRPr>
            </a:pPr>
            <a:r>
              <a:t>Fatal Bottleneck 1: Forgetting the Past</a:t>
            </a:r>
            <a:br/>
            <a:r>
              <a:t>By word 50, information from word 1 has been diluted through 50 successive matrix multiplications (vanishing gradients).</a:t>
            </a:r>
          </a:p>
          <a:p>
            <a:pPr>
              <a:spcBef>
                <a:spcPts val="1000"/>
              </a:spcBef>
              <a:defRPr sz="1200">
                <a:solidFill>
                  <a:srgbClr val="D97724"/>
                </a:solidFill>
              </a:defRPr>
            </a:pPr>
            <a:r>
              <a:t>Fatal Bottleneck 2: No Parallelization</a:t>
            </a:r>
            <a:br/>
            <a:r>
              <a:t>You cannot compute word 5 until word 4 finishes. RNNs could not effectively harness massive parallel GPU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7A43"/>
                </a:solidFill>
              </a:defRPr>
            </a:pPr>
            <a:r>
              <a:t>THE MODERN DEFAULT: TRANSFORMERS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Direct Global Attention:</a:t>
            </a:r>
            <a:br/>
            <a:r>
              <a:t>Instead of a slow assembly line, every word directly looks at every other word in parallel, regardless of distance.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Contextual Disambiguation:</a:t>
            </a:r>
            <a:br/>
            <a:r>
              <a:t>To understand 'read' in 'The student read a book', the model immediately attends to both 'student' and 'book' simultaneously.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Unconstrained Parallel Scaling:</a:t>
            </a:r>
            <a:br/>
            <a:r>
              <a:t>All tokens process at the exact same clock cycle on GPU tensor cores, enabling modern models like GPT and BERT.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SEMANTIC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Word Embeddings Map Words to Coordinates in High-Dimensional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THE MEANING MAP (RWANDA DECK EXAMPLE)</a:t>
            </a:r>
          </a:p>
          <a:p>
            <a:pPr>
              <a:spcBef>
                <a:spcPts val="1000"/>
              </a:spcBef>
              <a:defRPr sz="1200">
                <a:solidFill>
                  <a:srgbClr val="4A5568"/>
                </a:solidFill>
              </a:defRPr>
            </a:pPr>
            <a:r>
              <a:t>Points in Semantic Space:</a:t>
            </a:r>
            <a:br/>
            <a:r>
              <a:t>• 'King' and 'Queen' land close together (Royalty dimension).</a:t>
            </a:r>
            <a:br/>
            <a:r>
              <a:t>• 'Apple' and 'Banana' land close together (Fruit dimension).</a:t>
            </a:r>
            <a:br/>
            <a:r>
              <a:t>• The model learns these coordinates purely from language patterns.</a:t>
            </a:r>
          </a:p>
          <a:p>
            <a:pPr>
              <a:spcBef>
                <a:spcPts val="1200"/>
              </a:spcBef>
              <a:defRPr sz="1200">
                <a:solidFill>
                  <a:srgbClr val="11223F"/>
                </a:solidFill>
              </a:defRPr>
            </a:pPr>
            <a:r>
              <a:t>Vector Arithmetic on Concepts:</a:t>
            </a:r>
            <a:br/>
            <a:r>
              <a:t>Vector('King') − Vector('Man') + Vector('Woman') ≈ Vector('Queen')</a:t>
            </a:r>
            <a:br/>
            <a:r>
              <a:t>Relationships between vectors encode grammatical gender, verb tenses, and semantic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CRITICAL LESSON FROM LECTURER FADL MUSA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No Human Names on Coordinates:</a:t>
            </a:r>
            <a:br/>
            <a:r>
              <a:t>Humans label axes for conceptual diagrams ('fruit-ness', 'royalty'). Inside the network, the 768 or 4096 dimensions have no human names. What matters is the relative distance and angle (cosine similarity) between vectors.</a:t>
            </a:r>
          </a:p>
          <a:p>
            <a:pPr>
              <a:spcBef>
                <a:spcPts val="1200"/>
              </a:spcBef>
              <a:defRPr sz="1200">
                <a:solidFill>
                  <a:srgbClr val="11223F"/>
                </a:solidFill>
              </a:defRPr>
            </a:pPr>
            <a:r>
              <a:t>Static vs Contextualized Embeddings:</a:t>
            </a:r>
            <a:br/>
            <a:r>
              <a:t>Word2Vec assigned a single static vector to 'bank'. In Transformers, self-attention dynamically transforms 'bank' depending on whether it appears next to 'river' or 'money'!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TRANSFORMER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Attention(Q, K, V): The Core Mathematical Engine of Modern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91440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15694"/>
                </a:solidFill>
              </a:defRPr>
            </a:pPr>
            <a:r>
              <a:t>THE SCALED DOT-PRODUCT ATTENTION FORMULA:</a:t>
            </a:r>
          </a:p>
          <a:p>
            <a:pPr>
              <a:spcBef>
                <a:spcPts val="200"/>
              </a:spcBef>
              <a:defRPr b="1" sz="1600">
                <a:solidFill>
                  <a:srgbClr val="11223F"/>
                </a:solidFill>
              </a:defRPr>
            </a:pPr>
            <a:r>
              <a:t>Attention(Q, K, V) = Softmax( (Q · Kᵀ) / √dₖ ) ·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3383280" cy="356616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338328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Query (Q)</a:t>
            </a:r>
          </a:p>
          <a:p>
            <a:pPr>
              <a:spcBef>
                <a:spcPts val="400"/>
              </a:spcBef>
              <a:defRPr b="1" sz="1200">
                <a:solidFill>
                  <a:srgbClr val="0A7E9B"/>
                </a:solidFill>
              </a:defRPr>
            </a:pPr>
            <a:r>
              <a:t>What is this word looking for?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Generated for each token. A vector describing the missing context or grammatical information needed to resolve its meaning.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606040"/>
            <a:ext cx="3383280" cy="356616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2606040"/>
            <a:ext cx="338328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7889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Key (K)</a:t>
            </a:r>
          </a:p>
          <a:p>
            <a:pPr>
              <a:spcBef>
                <a:spcPts val="400"/>
              </a:spcBef>
              <a:defRPr b="1" sz="1200">
                <a:solidFill>
                  <a:srgbClr val="215694"/>
                </a:solidFill>
              </a:defRPr>
            </a:pPr>
            <a:r>
              <a:t>What can each token offer?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Generated for all tokens in sequence. Acts like metadata or a catalog tag that incoming Queries compare against via dot product.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606040"/>
            <a:ext cx="3383280" cy="356616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2606040"/>
            <a:ext cx="338328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7889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Value (V)</a:t>
            </a:r>
          </a:p>
          <a:p>
            <a:pPr>
              <a:spcBef>
                <a:spcPts val="400"/>
              </a:spcBef>
              <a:defRPr b="1" sz="1200">
                <a:solidFill>
                  <a:srgbClr val="D97724"/>
                </a:solidFill>
              </a:defRPr>
            </a:pPr>
            <a:r>
              <a:t>The actual informational content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If Query matches Key with high score, the Value vector's content is transferred into the contextual representation.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DEEP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Inside the Stacked Block: Positional Encodings, Multi-Head Attention, and FFNs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POSITIONAL ENCODING: INJECTING ORDER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Why is it mandatory?</a:t>
            </a:r>
            <a:br/>
            <a:r>
              <a:t>Self-attention is a set operation; without positional timestamps, 'The dog bit the man' and 'The man bit the dog' look identical to the math!</a:t>
            </a:r>
          </a:p>
          <a:p>
            <a:pPr>
              <a:spcBef>
                <a:spcPts val="1000"/>
              </a:spcBef>
              <a:defRPr sz="1100">
                <a:solidFill>
                  <a:srgbClr val="11223F"/>
                </a:solidFill>
              </a:defRPr>
            </a:pPr>
            <a:r>
              <a:t>Sinusoidal Geometric Waves:</a:t>
            </a:r>
            <a:br/>
            <a:r>
              <a:t>PE(pos, 2i)   = sin( pos / 10000^(2i/d) )</a:t>
            </a:r>
            <a:br/>
            <a:r>
              <a:t>PE(pos, 2i+1) = cos( pos / 10000^(2i/d) )</a:t>
            </a:r>
            <a:br/>
            <a:r>
              <a:t>Assigns each word position a unique frequency fingerprint that allows models to generalize to unseen sequence lengths.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THE REPEATED BLOCK RECIPE (×N LAYERS)</a:t>
            </a:r>
          </a:p>
          <a:p>
            <a:pPr>
              <a:spcBef>
                <a:spcPts val="800"/>
              </a:spcBef>
              <a:defRPr sz="1200">
                <a:solidFill>
                  <a:srgbClr val="11223F"/>
                </a:solidFill>
              </a:defRPr>
            </a:pPr>
            <a:r>
              <a:t>1. Multi-Head Attention:</a:t>
            </a:r>
            <a:br/>
            <a:r>
              <a:t>Runs multiple attention calculations (e.g., 8 to 96 heads) in parallel. Head 1 tracks syntax; Head 2 tracks pronoun reference; Head 3 tracks factual association.</a:t>
            </a:r>
          </a:p>
          <a:p>
            <a:pPr>
              <a:spcBef>
                <a:spcPts val="800"/>
              </a:spcBef>
              <a:defRPr sz="1200">
                <a:solidFill>
                  <a:srgbClr val="11223F"/>
                </a:solidFill>
              </a:defRPr>
            </a:pPr>
            <a:r>
              <a:t>2. Add &amp; Layer Normalization:</a:t>
            </a:r>
            <a:br/>
            <a:r>
              <a:t>Residual skip-connections prevent gradients from dying across 12, 24, or 96 stacked layers.</a:t>
            </a:r>
          </a:p>
          <a:p>
            <a:pPr>
              <a:spcBef>
                <a:spcPts val="800"/>
              </a:spcBef>
              <a:defRPr sz="1200">
                <a:solidFill>
                  <a:srgbClr val="11223F"/>
                </a:solidFill>
              </a:defRPr>
            </a:pPr>
            <a:r>
              <a:t>3. Feed-Forward Network (FFN):</a:t>
            </a:r>
            <a:br/>
            <a:r>
              <a:t>A two-layer mini neural net refines and stores factual associations for each token.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DATA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Strict Partitioning: Train (Learn), Validation (Tune), and Test (Benchmark)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38328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Training Dataset</a:t>
            </a:r>
          </a:p>
          <a:p>
            <a:pPr>
              <a:spcBef>
                <a:spcPts val="400"/>
              </a:spcBef>
              <a:defRPr b="1" sz="1300">
                <a:solidFill>
                  <a:srgbClr val="215694"/>
                </a:solidFill>
              </a:defRPr>
            </a:pPr>
            <a:r>
              <a:t>70% - 80% of Data</a:t>
            </a:r>
          </a:p>
          <a:p>
            <a:pPr>
              <a:spcBef>
                <a:spcPts val="400"/>
              </a:spcBef>
              <a:defRPr b="1" sz="1100">
                <a:solidFill>
                  <a:srgbClr val="718096"/>
                </a:solidFill>
              </a:defRPr>
            </a:pPr>
            <a:r>
              <a:t>Learn Internal Weights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The textbook and homework exercises. Backpropagation iteratively updates weights and biases strictly using this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508760"/>
            <a:ext cx="338328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98264" y="1508760"/>
            <a:ext cx="338328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6916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Validation Dataset</a:t>
            </a:r>
          </a:p>
          <a:p>
            <a:pPr>
              <a:spcBef>
                <a:spcPts val="400"/>
              </a:spcBef>
              <a:defRPr b="1" sz="1300">
                <a:solidFill>
                  <a:srgbClr val="0A7E9B"/>
                </a:solidFill>
              </a:defRPr>
            </a:pPr>
            <a:r>
              <a:t>10% - 15% of Data</a:t>
            </a:r>
          </a:p>
          <a:p>
            <a:pPr>
              <a:spcBef>
                <a:spcPts val="400"/>
              </a:spcBef>
              <a:defRPr b="1" sz="1100">
                <a:solidFill>
                  <a:srgbClr val="718096"/>
                </a:solidFill>
              </a:defRPr>
            </a:pPr>
            <a:r>
              <a:t>Tune Hyperparameters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The mid-term practice exam. Used by engineers to select learning rate, network depth, and prevent overfitting without leaking test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508760"/>
            <a:ext cx="3383280" cy="3474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508760"/>
            <a:ext cx="338328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6916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Test Dataset</a:t>
            </a:r>
          </a:p>
          <a:p>
            <a:pPr>
              <a:spcBef>
                <a:spcPts val="400"/>
              </a:spcBef>
              <a:defRPr b="1" sz="1300">
                <a:solidFill>
                  <a:srgbClr val="D97724"/>
                </a:solidFill>
              </a:defRPr>
            </a:pPr>
            <a:r>
              <a:t>10% - 15% of Data</a:t>
            </a:r>
          </a:p>
          <a:p>
            <a:pPr>
              <a:spcBef>
                <a:spcPts val="400"/>
              </a:spcBef>
              <a:defRPr b="1" sz="1100">
                <a:solidFill>
                  <a:srgbClr val="718096"/>
                </a:solidFill>
              </a:defRPr>
            </a:pPr>
            <a:r>
              <a:t>Untouched Final Exam</a:t>
            </a:r>
          </a:p>
          <a:p>
            <a:pPr>
              <a:spcBef>
                <a:spcPts val="800"/>
              </a:spcBef>
              <a:defRPr sz="1100">
                <a:solidFill>
                  <a:srgbClr val="4A5568"/>
                </a:solidFill>
              </a:defRPr>
            </a:pPr>
            <a:r>
              <a:t>Held in an isolated vault until training finishes. Evaluates true generalization to the real world. NEVER tune weights on test data!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10728655" cy="10058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D97724"/>
                </a:solidFill>
              </a:defRPr>
            </a:pPr>
            <a:r>
              <a:t>THE CARDINAL SIN OF MACHINE LEARNING: DATA LEAKAGE</a:t>
            </a:r>
          </a:p>
          <a:p>
            <a:pPr>
              <a:spcBef>
                <a:spcPts val="200"/>
              </a:spcBef>
              <a:defRPr sz="1200">
                <a:solidFill>
                  <a:srgbClr val="11223F"/>
                </a:solidFill>
              </a:defRPr>
            </a:pPr>
            <a:r>
              <a:t>Tuning weights or architecture on the test set makes the final exam part of practice. It leads to catastrophic self-deception: the model appears flawless in the lab but fails immediately upon real-world deployment.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GENERALIZATION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Overfitting Occurs When a Network Memorizes Noise Rather than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UNDERFITTING VS OVERFITTING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Underfitting (High Bias):</a:t>
            </a:r>
            <a:br/>
            <a:r>
              <a:t>Model is too simplistic (e.g., trying to fit a straight line to quadratic data). Performs poorly on both training and test sets.</a:t>
            </a:r>
          </a:p>
          <a:p>
            <a:pPr>
              <a:spcBef>
                <a:spcPts val="800"/>
              </a:spcBef>
              <a:defRPr sz="1200">
                <a:solidFill>
                  <a:srgbClr val="1B7A43"/>
                </a:solidFill>
              </a:defRPr>
            </a:pPr>
            <a:r>
              <a:t>Optimal Fit:</a:t>
            </a:r>
            <a:br/>
            <a:r>
              <a:t>Model captures true underlying trend (smooth curve). Generalizes accurately to new, unseen examples.</a:t>
            </a:r>
          </a:p>
          <a:p>
            <a:pPr>
              <a:spcBef>
                <a:spcPts val="800"/>
              </a:spcBef>
              <a:defRPr sz="1200">
                <a:solidFill>
                  <a:srgbClr val="D97724"/>
                </a:solidFill>
              </a:defRPr>
            </a:pPr>
            <a:r>
              <a:t>Overfitting (High Variance):</a:t>
            </a:r>
            <a:br/>
            <a:r>
              <a:t>Model memorizes idiosyncrasies, noise, and outliers in training data. Achieves 99% training accuracy but collapses to 50% on test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HOW TO PREVENT OVERFITTING IN PRACTICE</a:t>
            </a:r>
          </a:p>
          <a:p>
            <a:pPr>
              <a:spcBef>
                <a:spcPts val="800"/>
              </a:spcBef>
              <a:defRPr sz="1200">
                <a:solidFill>
                  <a:srgbClr val="11223F"/>
                </a:solidFill>
              </a:defRPr>
            </a:pPr>
            <a:r>
              <a:t>1. Early Stopping:</a:t>
            </a:r>
            <a:br/>
            <a:r>
              <a:t>Monitor validation loss during training. The exact moment validation error begins creeping upwards, immediately halt training.</a:t>
            </a:r>
          </a:p>
          <a:p>
            <a:pPr>
              <a:spcBef>
                <a:spcPts val="800"/>
              </a:spcBef>
              <a:defRPr sz="1200">
                <a:solidFill>
                  <a:srgbClr val="11223F"/>
                </a:solidFill>
              </a:defRPr>
            </a:pPr>
            <a:r>
              <a:t>2. Dropout Regularization:</a:t>
            </a:r>
            <a:br/>
            <a:r>
              <a:t>Randomly deactivate 20% to 50% of neurons during each training step. Prevents nodes from co-adapting and memorizing specific cues.</a:t>
            </a:r>
          </a:p>
          <a:p>
            <a:pPr>
              <a:spcBef>
                <a:spcPts val="800"/>
              </a:spcBef>
              <a:defRPr sz="1200">
                <a:solidFill>
                  <a:srgbClr val="11223F"/>
                </a:solidFill>
              </a:defRPr>
            </a:pPr>
            <a:r>
              <a:t>3. Data Augmentation:</a:t>
            </a:r>
            <a:br/>
            <a:r>
              <a:t>Artificially expand dataset by rotating, cropping, flipping, and color-jittering existing training images.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PERFORMANCE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Accuracy Can Be Deceptive: Use Precision, Recall, and F1 to Balance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51460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1223F"/>
                </a:solidFill>
              </a:defRPr>
            </a:pPr>
            <a:r>
              <a:t>Accuracy</a:t>
            </a:r>
          </a:p>
          <a:p>
            <a:pPr>
              <a:spcBef>
                <a:spcPts val="400"/>
              </a:spcBef>
              <a:defRPr b="1" sz="1200">
                <a:solidFill>
                  <a:srgbClr val="215694"/>
                </a:solidFill>
              </a:defRPr>
            </a:pPr>
            <a:r>
              <a:t>Overall Correctness</a:t>
            </a:r>
          </a:p>
          <a:p>
            <a:pPr>
              <a:spcBef>
                <a:spcPts val="1200"/>
              </a:spcBef>
              <a:defRPr sz="1100">
                <a:solidFill>
                  <a:srgbClr val="4A5568"/>
                </a:solidFill>
              </a:defRPr>
            </a:pPr>
            <a:r>
              <a:t>Total correct predictions divided by total cases. Can be fatally misleading in imbalanced datasets (e.g., in rare disease detection where 99% of patients are healthy).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508760"/>
            <a:ext cx="251460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1223F"/>
                </a:solidFill>
              </a:defRPr>
            </a:pPr>
            <a:r>
              <a:t>Precision</a:t>
            </a:r>
          </a:p>
          <a:p>
            <a:pPr>
              <a:spcBef>
                <a:spcPts val="400"/>
              </a:spcBef>
              <a:defRPr b="1" sz="1200">
                <a:solidFill>
                  <a:srgbClr val="0A7E9B"/>
                </a:solidFill>
              </a:defRPr>
            </a:pPr>
            <a:r>
              <a:t>Reliability of 'Yes'</a:t>
            </a:r>
          </a:p>
          <a:p>
            <a:pPr>
              <a:spcBef>
                <a:spcPts val="1200"/>
              </a:spcBef>
              <a:defRPr sz="1100">
                <a:solidFill>
                  <a:srgbClr val="4A5568"/>
                </a:solidFill>
              </a:defRPr>
            </a:pPr>
            <a:r>
              <a:t>When the model sounds the alarm and predicts positive, how often is it actually correct? Critical when false alarms are expensive (e.g., spam filtering, stock buying).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251460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1223F"/>
                </a:solidFill>
              </a:defRPr>
            </a:pPr>
            <a:r>
              <a:t>Recall (Sensitivity)</a:t>
            </a:r>
          </a:p>
          <a:p>
            <a:pPr>
              <a:spcBef>
                <a:spcPts val="400"/>
              </a:spcBef>
              <a:defRPr b="1" sz="1200">
                <a:solidFill>
                  <a:srgbClr val="D97724"/>
                </a:solidFill>
              </a:defRPr>
            </a:pPr>
            <a:r>
              <a:t>Coverage of Truth</a:t>
            </a:r>
          </a:p>
          <a:p>
            <a:pPr>
              <a:spcBef>
                <a:spcPts val="1200"/>
              </a:spcBef>
              <a:defRPr sz="1100">
                <a:solidFill>
                  <a:srgbClr val="4A5568"/>
                </a:solidFill>
              </a:defRPr>
            </a:pPr>
            <a:r>
              <a:t>Did the model find all the real positive cases? Crucial in healthcare and fraud: a false negative (missed cancer diagnosis) can be fatal.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508760"/>
            <a:ext cx="2514600" cy="508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1223F"/>
                </a:solidFill>
              </a:defRPr>
            </a:pPr>
            <a:r>
              <a:t>F1-Score</a:t>
            </a:r>
          </a:p>
          <a:p>
            <a:pPr>
              <a:spcBef>
                <a:spcPts val="400"/>
              </a:spcBef>
              <a:defRPr b="1" sz="1200">
                <a:solidFill>
                  <a:srgbClr val="1B7A43"/>
                </a:solidFill>
              </a:defRPr>
            </a:pPr>
            <a:r>
              <a:t>Harmonic Balance</a:t>
            </a:r>
          </a:p>
          <a:p>
            <a:pPr>
              <a:spcBef>
                <a:spcPts val="1200"/>
              </a:spcBef>
              <a:defRPr sz="1100">
                <a:solidFill>
                  <a:srgbClr val="4A5568"/>
                </a:solidFill>
              </a:defRPr>
            </a:pPr>
            <a:r>
              <a:t>The harmonic mean of precision and recall: 2 × (P × R) / (P + R). The standard benchmark metric when classes are uneven.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ENGINEERING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The 6-Step Practical Recipe for Building Real-World Deep Learning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2103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15694"/>
                </a:solidFill>
              </a:defRPr>
            </a:pPr>
            <a:r>
              <a:t>1. Define Question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Clarify exact task and metric of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2103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15694"/>
                </a:solidFill>
              </a:defRPr>
            </a:pPr>
            <a:r>
              <a:t>2. Permitted Data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Collect representative, ethical, authorized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2103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15694"/>
                </a:solidFill>
              </a:defRPr>
            </a:pPr>
            <a:r>
              <a:t>3. Clean &amp; Split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Normalize features and lock away the test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3383280" cy="2103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15694"/>
                </a:solidFill>
              </a:defRPr>
            </a:pPr>
            <a:r>
              <a:t>4. Simple Baseline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Deploy logistic regression or tiny network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77639"/>
            <a:ext cx="3383280" cy="2103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15694"/>
                </a:solidFill>
              </a:defRPr>
            </a:pPr>
            <a:r>
              <a:t>5. Train &amp; Inspect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Scale model, validate curves, audit errors.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77639"/>
            <a:ext cx="3383280" cy="2103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15694"/>
                </a:solidFill>
              </a:defRPr>
            </a:pPr>
            <a:r>
              <a:t>6. Deploy &amp; Document</a:t>
            </a:r>
          </a:p>
          <a:p>
            <a:pPr>
              <a:spcBef>
                <a:spcPts val="800"/>
              </a:spcBef>
              <a:defRPr sz="1200">
                <a:solidFill>
                  <a:srgbClr val="4A5568"/>
                </a:solidFill>
              </a:defRPr>
            </a:pPr>
            <a:r>
              <a:t>Test once, monitor drift, document limits.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ETHICS &amp; SOCIETAL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Responsible AI: Performance, Fairness, Transparency, and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51460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Algorithmic Bias</a:t>
            </a:r>
          </a:p>
          <a:p>
            <a:pPr>
              <a:spcBef>
                <a:spcPts val="400"/>
              </a:spcBef>
              <a:defRPr b="1" sz="1100">
                <a:solidFill>
                  <a:srgbClr val="D97724"/>
                </a:solidFill>
              </a:defRPr>
            </a:pPr>
            <a:r>
              <a:t>Uneven Data → Uneven Errors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Models mirror historical prejudices in training datasets. If loan approval or facial recognition systems lack representative demographic samples, error rates spike dramatically for marginalized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508760"/>
            <a:ext cx="251460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Privacy &amp; Consent</a:t>
            </a:r>
          </a:p>
          <a:p>
            <a:pPr>
              <a:spcBef>
                <a:spcPts val="400"/>
              </a:spcBef>
              <a:defRPr b="1" sz="1100">
                <a:solidFill>
                  <a:srgbClr val="0A7E9B"/>
                </a:solidFill>
              </a:defRPr>
            </a:pPr>
            <a:r>
              <a:t>Data Leakage &amp; Memorization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Generative and deep learning models can inadvertently memorize and regurgitate private addresses, medical histories, or copyrighted content present in raw web-scraped training 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251460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Overconfidence vs Truth</a:t>
            </a:r>
          </a:p>
          <a:p>
            <a:pPr>
              <a:spcBef>
                <a:spcPts val="400"/>
              </a:spcBef>
              <a:defRPr b="1" sz="1100">
                <a:solidFill>
                  <a:srgbClr val="215694"/>
                </a:solidFill>
              </a:defRPr>
            </a:pPr>
            <a:r>
              <a:t>Confident ≠ Correct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Softmax outputs often output 99% certainty on completely hallucinated or nonsensical inputs. A mathematical model is a statistical probability estimator, never an oracle of objective truth.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508760"/>
            <a:ext cx="2514600" cy="508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Human-in-the-Loop</a:t>
            </a:r>
          </a:p>
          <a:p>
            <a:pPr>
              <a:spcBef>
                <a:spcPts val="400"/>
              </a:spcBef>
              <a:defRPr b="1" sz="1100">
                <a:solidFill>
                  <a:srgbClr val="1B7A43"/>
                </a:solidFill>
              </a:defRPr>
            </a:pPr>
            <a:r>
              <a:t>Supervision &amp; Oversight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High-stakes decisions in medicine, criminal justice, and public infrastructure must never run on unchecked automation. Machine predictions should augment human judgment, not supplant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APPLIED FRONTIERS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Deep Learning Across Global Industries: From Agriculture to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514600" cy="50800"/>
          </a:xfrm>
          <a:prstGeom prst="rect">
            <a:avLst/>
          </a:prstGeom>
          <a:solidFill>
            <a:srgbClr val="21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Healthcare &amp; Diagnostics</a:t>
            </a:r>
          </a:p>
          <a:p>
            <a:pPr>
              <a:spcBef>
                <a:spcPts val="400"/>
              </a:spcBef>
              <a:defRPr b="1" sz="1100">
                <a:solidFill>
                  <a:srgbClr val="215694"/>
                </a:solidFill>
              </a:defRPr>
            </a:pPr>
            <a:r>
              <a:t>Tumor &amp; Retinopathy Detection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CNNs scan MRI and CT scans to detect early-stage cancers and retinal eye disease with diagnostic precision matching expert radiologists.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508760"/>
            <a:ext cx="2514600" cy="508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Agriculture &amp; Food Security</a:t>
            </a:r>
          </a:p>
          <a:p>
            <a:pPr>
              <a:spcBef>
                <a:spcPts val="400"/>
              </a:spcBef>
              <a:defRPr b="1" sz="1100">
                <a:solidFill>
                  <a:srgbClr val="1B7A43"/>
                </a:solidFill>
              </a:defRPr>
            </a:pPr>
            <a:r>
              <a:t>Crop Disease Identification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Farmers in Rwanda and across East Africa photograph cassava or maize leaves using smartphones; mobile neural nets diagnose blight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2514600" cy="5080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Language &amp; Translation</a:t>
            </a:r>
          </a:p>
          <a:p>
            <a:pPr>
              <a:spcBef>
                <a:spcPts val="400"/>
              </a:spcBef>
              <a:defRPr b="1" sz="1100">
                <a:solidFill>
                  <a:srgbClr val="0A7E9B"/>
                </a:solidFill>
              </a:defRPr>
            </a:pPr>
            <a:r>
              <a:t>Universal Multilingual Access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Transformer-based sequence-to-sequence networks bridge linguistic barriers, translating between regional dialects and global tongues.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508760"/>
            <a:ext cx="251460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508760"/>
            <a:ext cx="251460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69164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223F"/>
                </a:solidFill>
              </a:defRPr>
            </a:pPr>
            <a:r>
              <a:t>Autonomous Systems</a:t>
            </a:r>
          </a:p>
          <a:p>
            <a:pPr>
              <a:spcBef>
                <a:spcPts val="400"/>
              </a:spcBef>
              <a:defRPr b="1" sz="1100">
                <a:solidFill>
                  <a:srgbClr val="D97724"/>
                </a:solidFill>
              </a:defRPr>
            </a:pPr>
            <a:r>
              <a:t>Robotics &amp; Satellite Mapping</a:t>
            </a:r>
          </a:p>
          <a:p>
            <a:pPr>
              <a:spcBef>
                <a:spcPts val="1000"/>
              </a:spcBef>
              <a:defRPr sz="1100">
                <a:solidFill>
                  <a:srgbClr val="4A5568"/>
                </a:solidFill>
              </a:defRPr>
            </a:pPr>
            <a:r>
              <a:t>Real-time perception models process video streams to navigate drones, power self-driving vehicles, and monitor climate deforestation.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SYNTHESIS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223F"/>
                </a:solidFill>
                <a:latin typeface="Arial"/>
              </a:defRPr>
            </a:pPr>
            <a:r>
              <a:t>Classroom Review &amp; The 1-Minute Spam Network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D2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15694"/>
                </a:solidFill>
              </a:defRPr>
            </a:pPr>
            <a:r>
              <a:t>EXPLAIN TO A CLASSMATE (QUICK CHECK)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1. Why do we need hidden layers instead of jumping straight from input to output?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2. What concrete information does the single loss value tell the optimizer?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3. Why is it strictly forbidden to tune model hyperparameters on the test dataset?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4. Name one major social benefit and one critical societal risk of deep learning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215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24"/>
                </a:solidFill>
              </a:defRPr>
            </a:pPr>
            <a:r>
              <a:t>ONE-MINUTE HANDS-ON CHALLENGE</a:t>
            </a:r>
          </a:p>
          <a:p>
            <a:pPr>
              <a:spcBef>
                <a:spcPts val="1000"/>
              </a:spcBef>
              <a:defRPr sz="1200">
                <a:solidFill>
                  <a:srgbClr val="11223F"/>
                </a:solidFill>
              </a:defRPr>
            </a:pPr>
            <a:r>
              <a:t>Prompt: Draw a tiny network on paper that decides if an email is SPAM or NOT SPAM.</a:t>
            </a:r>
            <a:br/>
            <a:br/>
            <a:r>
              <a:t>Requirements:</a:t>
            </a:r>
            <a:br/>
            <a:r>
              <a:t>• Label two inputs (e.g., x₁ = 'Contains Link', x₂ = 'Known Sender').</a:t>
            </a:r>
            <a:br/>
            <a:r>
              <a:t>• Include one hidden layer with 2 neurons and ReLU activation.</a:t>
            </a:r>
            <a:br/>
            <a:r>
              <a:t>• Include one output neuron with Sigmoid activation.</a:t>
            </a:r>
            <a:br/>
            <a:r>
              <a:t>• Question: What would a False Positive error mean for the user vs. a False Negative error?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