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theme/theme13.xml" ContentType="application/vnd.openxmlformats-officedocument.them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CA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7F800FE-4788-4265-8B5D-A722352A71F7}" type="slidenum"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PlaceHolder 1"/>
          <p:cNvSpPr>
            <a:spLocks noGrp="1"/>
          </p:cNvSpPr>
          <p:nvPr>
            <p:ph type="sldImg"/>
          </p:nvPr>
        </p:nvSpPr>
        <p:spPr>
          <a:xfrm>
            <a:off x="777240" y="942840"/>
            <a:ext cx="6217200" cy="2545560"/>
          </a:xfrm>
          <a:prstGeom prst="rect">
            <a:avLst/>
          </a:prstGeom>
          <a:ln w="0">
            <a:noFill/>
          </a:ln>
        </p:spPr>
      </p:sp>
      <p:sp>
        <p:nvSpPr>
          <p:cNvPr id="1044" name="PlaceHolder 2"/>
          <p:cNvSpPr>
            <a:spLocks noGrp="1"/>
          </p:cNvSpPr>
          <p:nvPr>
            <p:ph type="body"/>
          </p:nvPr>
        </p:nvSpPr>
        <p:spPr>
          <a:xfrm>
            <a:off x="777240" y="3630240"/>
            <a:ext cx="6217200" cy="296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PlaceHolder 3"/>
          <p:cNvSpPr>
            <a:spLocks noGrp="1"/>
          </p:cNvSpPr>
          <p:nvPr>
            <p:ph type="sldNum" idx="37"/>
          </p:nvPr>
        </p:nvSpPr>
        <p:spPr>
          <a:xfrm>
            <a:off x="4402440" y="7165080"/>
            <a:ext cx="336744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2356510-9464-4F03-8CD9-15F26194CC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PlaceHolder 1"/>
          <p:cNvSpPr>
            <a:spLocks noGrp="1"/>
          </p:cNvSpPr>
          <p:nvPr>
            <p:ph type="sldImg"/>
          </p:nvPr>
        </p:nvSpPr>
        <p:spPr>
          <a:xfrm>
            <a:off x="777240" y="942840"/>
            <a:ext cx="6217200" cy="2545560"/>
          </a:xfrm>
          <a:prstGeom prst="rect">
            <a:avLst/>
          </a:prstGeom>
          <a:ln w="0">
            <a:noFill/>
          </a:ln>
        </p:spPr>
      </p:sp>
      <p:sp>
        <p:nvSpPr>
          <p:cNvPr id="1047" name="PlaceHolder 2"/>
          <p:cNvSpPr>
            <a:spLocks noGrp="1"/>
          </p:cNvSpPr>
          <p:nvPr>
            <p:ph type="body"/>
          </p:nvPr>
        </p:nvSpPr>
        <p:spPr>
          <a:xfrm>
            <a:off x="777240" y="3630240"/>
            <a:ext cx="6217200" cy="296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8" name="PlaceHolder 3"/>
          <p:cNvSpPr>
            <a:spLocks noGrp="1"/>
          </p:cNvSpPr>
          <p:nvPr>
            <p:ph type="sldNum" idx="38"/>
          </p:nvPr>
        </p:nvSpPr>
        <p:spPr>
          <a:xfrm>
            <a:off x="4402440" y="7165080"/>
            <a:ext cx="336744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ADE8F72-7811-40F0-B674-B1F8C24FA2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D10B3CF-209B-4F3A-AF4D-1475967EF1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B21EE6C-2153-4693-BEC8-5EFA10730A0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A1B189D-CC03-40A2-A7DB-1818C1AFC7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6E77AAF-BF7F-40AA-A524-349CE6A5DC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3D456F0-BF20-4EC4-A13B-D3F11767F0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368903E-D0A6-4627-A2DD-B859B1DF21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A9CE15F-4B06-47B1-9E9E-99AFA42539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6A6C3C6-E781-4422-AFFD-7D57EA2355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D4ED9EB-74E4-4243-A86A-2AA03FF638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DE1E1C3-835B-433D-8A92-33D0AC9449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1AD45D6-970E-456D-A639-C716C867F01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CA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CA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title text format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SzPct val="45000"/>
              <a:buFont typeface="Wingdings" charset="2"/>
              <a:buChar char=""/>
              <a:defRPr lang="en-CA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CA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CA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CA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CA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CA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CA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7pPr>
          </a:lstStyle>
          <a:p>
            <a:pPr indent="-324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0" y="0"/>
            <a:ext cx="12191040" cy="16380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Rectangle 2"/>
          <p:cNvSpPr/>
          <p:nvPr/>
        </p:nvSpPr>
        <p:spPr>
          <a:xfrm>
            <a:off x="0" y="5440680"/>
            <a:ext cx="12191040" cy="1416600"/>
          </a:xfrm>
          <a:prstGeom prst="rect">
            <a:avLst/>
          </a:prstGeom>
          <a:solidFill>
            <a:srgbClr val="1A304D"/>
          </a:solidFill>
          <a:ln>
            <a:solidFill>
              <a:srgbClr val="1A30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685800" y="960120"/>
            <a:ext cx="10789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CATHOLIC UNIVERSITY OF RWANDA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4"/>
          <p:cNvSpPr/>
          <p:nvPr/>
        </p:nvSpPr>
        <p:spPr>
          <a:xfrm>
            <a:off x="685800" y="1645920"/>
            <a:ext cx="107892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40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Deep Learning</a:t>
            </a:r>
            <a:endParaRPr lang="en-CA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5"/>
          <p:cNvSpPr/>
          <p:nvPr/>
        </p:nvSpPr>
        <p:spPr>
          <a:xfrm>
            <a:off x="713160" y="2697480"/>
            <a:ext cx="10057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2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How computers learn useful patterns from examples</a:t>
            </a:r>
            <a:endParaRPr lang="en-CA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6"/>
          <p:cNvSpPr/>
          <p:nvPr/>
        </p:nvSpPr>
        <p:spPr>
          <a:xfrm>
            <a:off x="713160" y="571500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Lecturer: Fadl Musa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7"/>
          <p:cNvSpPr/>
          <p:nvPr/>
        </p:nvSpPr>
        <p:spPr>
          <a:xfrm>
            <a:off x="713160" y="6108120"/>
            <a:ext cx="7314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400" b="0" u="none" strike="noStrike">
                <a:solidFill>
                  <a:srgbClr val="C8DCF0"/>
                </a:solidFill>
                <a:effectLst/>
                <a:uFillTx/>
                <a:latin typeface="Aptos"/>
              </a:rPr>
              <a:t>August 2026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Oval 8"/>
          <p:cNvSpPr/>
          <p:nvPr/>
        </p:nvSpPr>
        <p:spPr>
          <a:xfrm>
            <a:off x="8229600" y="3566160"/>
            <a:ext cx="474840" cy="47484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9"/>
          <p:cNvSpPr/>
          <p:nvPr/>
        </p:nvSpPr>
        <p:spPr>
          <a:xfrm>
            <a:off x="8229600" y="35661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cxnSp>
        <p:nvCxnSpPr>
          <p:cNvPr id="78" name="Connector 10"/>
          <p:cNvCxnSpPr/>
          <p:nvPr/>
        </p:nvCxnSpPr>
        <p:spPr>
          <a:xfrm>
            <a:off x="8704800" y="3803760"/>
            <a:ext cx="531360" cy="72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sp>
        <p:nvSpPr>
          <p:cNvPr id="79" name="Oval 11"/>
          <p:cNvSpPr/>
          <p:nvPr/>
        </p:nvSpPr>
        <p:spPr>
          <a:xfrm>
            <a:off x="8961120" y="3566160"/>
            <a:ext cx="474840" cy="474840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12"/>
          <p:cNvSpPr/>
          <p:nvPr/>
        </p:nvSpPr>
        <p:spPr>
          <a:xfrm>
            <a:off x="8961120" y="35661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cxnSp>
        <p:nvCxnSpPr>
          <p:cNvPr id="81" name="Connector 13"/>
          <p:cNvCxnSpPr/>
          <p:nvPr/>
        </p:nvCxnSpPr>
        <p:spPr>
          <a:xfrm>
            <a:off x="9436320" y="3803760"/>
            <a:ext cx="531360" cy="720"/>
          </a:xfrm>
          <a:prstGeom prst="straightConnector1">
            <a:avLst/>
          </a:prstGeom>
          <a:ln w="38100">
            <a:solidFill>
              <a:srgbClr val="009191"/>
            </a:solidFill>
            <a:round/>
          </a:ln>
        </p:spPr>
      </p:cxnSp>
      <p:sp>
        <p:nvSpPr>
          <p:cNvPr id="82" name="Oval 14"/>
          <p:cNvSpPr/>
          <p:nvPr/>
        </p:nvSpPr>
        <p:spPr>
          <a:xfrm>
            <a:off x="9692640" y="3566160"/>
            <a:ext cx="474840" cy="47484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15"/>
          <p:cNvSpPr/>
          <p:nvPr/>
        </p:nvSpPr>
        <p:spPr>
          <a:xfrm>
            <a:off x="9692640" y="35661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cxnSp>
        <p:nvCxnSpPr>
          <p:cNvPr id="84" name="Connector 16"/>
          <p:cNvCxnSpPr/>
          <p:nvPr/>
        </p:nvCxnSpPr>
        <p:spPr>
          <a:xfrm>
            <a:off x="10167840" y="3803760"/>
            <a:ext cx="531360" cy="720"/>
          </a:xfrm>
          <a:prstGeom prst="straightConnector1">
            <a:avLst/>
          </a:prstGeom>
          <a:ln w="38100">
            <a:solidFill>
              <a:srgbClr val="E7A62D"/>
            </a:solidFill>
            <a:round/>
          </a:ln>
        </p:spPr>
      </p:cxnSp>
      <p:sp>
        <p:nvSpPr>
          <p:cNvPr id="85" name="Oval 17"/>
          <p:cNvSpPr/>
          <p:nvPr/>
        </p:nvSpPr>
        <p:spPr>
          <a:xfrm>
            <a:off x="10424160" y="3566160"/>
            <a:ext cx="474840" cy="474840"/>
          </a:xfrm>
          <a:prstGeom prst="ellipse">
            <a:avLst/>
          </a:prstGeom>
          <a:solidFill>
            <a:srgbClr val="CD4B46"/>
          </a:solidFill>
          <a:ln>
            <a:solidFill>
              <a:srgbClr val="CD4B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18"/>
          <p:cNvSpPr/>
          <p:nvPr/>
        </p:nvSpPr>
        <p:spPr>
          <a:xfrm>
            <a:off x="10424160" y="35661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cxnSp>
        <p:nvCxnSpPr>
          <p:cNvPr id="87" name="Connector 19"/>
          <p:cNvCxnSpPr/>
          <p:nvPr/>
        </p:nvCxnSpPr>
        <p:spPr>
          <a:xfrm>
            <a:off x="10899360" y="3803760"/>
            <a:ext cx="531360" cy="720"/>
          </a:xfrm>
          <a:prstGeom prst="straightConnector1">
            <a:avLst/>
          </a:prstGeom>
          <a:ln w="38100">
            <a:solidFill>
              <a:srgbClr val="CD4B46"/>
            </a:solidFill>
            <a:round/>
          </a:ln>
        </p:spPr>
      </p:cxnSp>
      <p:sp>
        <p:nvSpPr>
          <p:cNvPr id="88" name="TextBox 20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 anchorCtr="1">
            <a:spAutoFit/>
          </a:bodyPr>
          <a:p>
            <a:pPr algn="r"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1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502920" y="274320"/>
            <a:ext cx="10972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DEEP LEARNING • 2026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502920" y="567000"/>
            <a:ext cx="11154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Learning goals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502920" y="6537960"/>
            <a:ext cx="7314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Catholic University of Rwanda  |  Lecturer: Fadl Musa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5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6"/>
          <p:cNvSpPr/>
          <p:nvPr/>
        </p:nvSpPr>
        <p:spPr>
          <a:xfrm>
            <a:off x="640080" y="1417320"/>
            <a:ext cx="163800" cy="163800"/>
          </a:xfrm>
          <a:prstGeom prst="roundRect">
            <a:avLst>
              <a:gd name="adj" fmla="val 16667"/>
            </a:avLst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080" tIns="45000" rIns="820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7"/>
          <p:cNvSpPr/>
          <p:nvPr/>
        </p:nvSpPr>
        <p:spPr>
          <a:xfrm>
            <a:off x="932760" y="1417320"/>
            <a:ext cx="49186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9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Explain deep learning without heavy mathematics</a:t>
            </a:r>
            <a:endParaRPr lang="en-CA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8"/>
          <p:cNvSpPr/>
          <p:nvPr/>
        </p:nvSpPr>
        <p:spPr>
          <a:xfrm>
            <a:off x="640080" y="2030040"/>
            <a:ext cx="163800" cy="163800"/>
          </a:xfrm>
          <a:prstGeom prst="roundRect">
            <a:avLst>
              <a:gd name="adj" fmla="val 16667"/>
            </a:avLst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080" tIns="45000" rIns="820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9"/>
          <p:cNvSpPr/>
          <p:nvPr/>
        </p:nvSpPr>
        <p:spPr>
          <a:xfrm>
            <a:off x="932760" y="2030040"/>
            <a:ext cx="49186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9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Build intuition for neurons, layers, and training</a:t>
            </a:r>
            <a:endParaRPr lang="en-CA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10"/>
          <p:cNvSpPr/>
          <p:nvPr/>
        </p:nvSpPr>
        <p:spPr>
          <a:xfrm>
            <a:off x="640080" y="2642760"/>
            <a:ext cx="163800" cy="163800"/>
          </a:xfrm>
          <a:prstGeom prst="roundRect">
            <a:avLst>
              <a:gd name="adj" fmla="val 16667"/>
            </a:avLst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080" tIns="45000" rIns="820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11"/>
          <p:cNvSpPr/>
          <p:nvPr/>
        </p:nvSpPr>
        <p:spPr>
          <a:xfrm>
            <a:off x="932760" y="2642760"/>
            <a:ext cx="49186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9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Understand how images, text, and sound become numbers</a:t>
            </a:r>
            <a:endParaRPr lang="en-CA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12"/>
          <p:cNvSpPr/>
          <p:nvPr/>
        </p:nvSpPr>
        <p:spPr>
          <a:xfrm>
            <a:off x="640080" y="3255120"/>
            <a:ext cx="163800" cy="163800"/>
          </a:xfrm>
          <a:prstGeom prst="roundRect">
            <a:avLst>
              <a:gd name="adj" fmla="val 16667"/>
            </a:avLst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080" tIns="45000" rIns="820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13"/>
          <p:cNvSpPr/>
          <p:nvPr/>
        </p:nvSpPr>
        <p:spPr>
          <a:xfrm>
            <a:off x="932760" y="3255120"/>
            <a:ext cx="49186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9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Recognize common failure modes and responsible-use issues</a:t>
            </a:r>
            <a:endParaRPr lang="en-CA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14"/>
          <p:cNvSpPr/>
          <p:nvPr/>
        </p:nvSpPr>
        <p:spPr>
          <a:xfrm>
            <a:off x="6400800" y="1508760"/>
            <a:ext cx="5028480" cy="3474000"/>
          </a:xfrm>
          <a:prstGeom prst="roundRect">
            <a:avLst>
              <a:gd name="adj" fmla="val 16667"/>
            </a:avLst>
          </a:prstGeom>
          <a:solidFill>
            <a:srgbClr val="EFF6FB"/>
          </a:solidFill>
          <a:ln>
            <a:solidFill>
              <a:srgbClr val="EFF6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15"/>
          <p:cNvSpPr/>
          <p:nvPr/>
        </p:nvSpPr>
        <p:spPr>
          <a:xfrm>
            <a:off x="6565320" y="1618560"/>
            <a:ext cx="4699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The big idea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6"/>
          <p:cNvSpPr/>
          <p:nvPr/>
        </p:nvSpPr>
        <p:spPr>
          <a:xfrm>
            <a:off x="6565320" y="1947600"/>
            <a:ext cx="4699440" cy="29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A deep-learning model is a flexible function.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It sees examples, makes guesses, measures mistakes, and adjusts itself—many times.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2"/>
          <p:cNvSpPr/>
          <p:nvPr/>
        </p:nvSpPr>
        <p:spPr>
          <a:xfrm>
            <a:off x="502920" y="274320"/>
            <a:ext cx="10972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DEEP LEARNING • 2026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3"/>
          <p:cNvSpPr/>
          <p:nvPr/>
        </p:nvSpPr>
        <p:spPr>
          <a:xfrm>
            <a:off x="502920" y="567000"/>
            <a:ext cx="11154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What is machine learning?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4"/>
          <p:cNvSpPr/>
          <p:nvPr/>
        </p:nvSpPr>
        <p:spPr>
          <a:xfrm>
            <a:off x="502920" y="6537960"/>
            <a:ext cx="7314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Catholic University of Rwanda  |  Lecturer: Fadl Musa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5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6"/>
          <p:cNvSpPr/>
          <p:nvPr/>
        </p:nvSpPr>
        <p:spPr>
          <a:xfrm>
            <a:off x="731520" y="1371600"/>
            <a:ext cx="10789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24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Instead of writing every rule, we show examples and let the computer discover a rule.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7"/>
          <p:cNvSpPr/>
          <p:nvPr/>
        </p:nvSpPr>
        <p:spPr>
          <a:xfrm>
            <a:off x="914400" y="2377440"/>
            <a:ext cx="2833920" cy="2010960"/>
          </a:xfrm>
          <a:prstGeom prst="roundRect">
            <a:avLst>
              <a:gd name="adj" fmla="val 16667"/>
            </a:avLst>
          </a:prstGeom>
          <a:solidFill>
            <a:srgbClr val="F5EEEE"/>
          </a:solidFill>
          <a:ln>
            <a:solidFill>
              <a:srgbClr val="F5EE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8"/>
          <p:cNvSpPr/>
          <p:nvPr/>
        </p:nvSpPr>
        <p:spPr>
          <a:xfrm>
            <a:off x="1078920" y="2487240"/>
            <a:ext cx="250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Rules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9"/>
          <p:cNvSpPr/>
          <p:nvPr/>
        </p:nvSpPr>
        <p:spPr>
          <a:xfrm>
            <a:off x="1078920" y="2816280"/>
            <a:ext cx="2504880" cy="14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IF pixels are dark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THEN “cat”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10"/>
          <p:cNvSpPr/>
          <p:nvPr/>
        </p:nvSpPr>
        <p:spPr>
          <a:xfrm>
            <a:off x="4160520" y="2377440"/>
            <a:ext cx="2833920" cy="2010960"/>
          </a:xfrm>
          <a:prstGeom prst="roundRect">
            <a:avLst>
              <a:gd name="adj" fmla="val 16667"/>
            </a:avLst>
          </a:prstGeom>
          <a:solidFill>
            <a:srgbClr val="FCF6EF"/>
          </a:solidFill>
          <a:ln>
            <a:solidFill>
              <a:srgbClr val="FCF6E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11"/>
          <p:cNvSpPr/>
          <p:nvPr/>
        </p:nvSpPr>
        <p:spPr>
          <a:xfrm>
            <a:off x="4325040" y="2487240"/>
            <a:ext cx="250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Examples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2"/>
          <p:cNvSpPr/>
          <p:nvPr/>
        </p:nvSpPr>
        <p:spPr>
          <a:xfrm>
            <a:off x="4325040" y="2816280"/>
            <a:ext cx="2504880" cy="14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photos + labels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(cat / dog)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13"/>
          <p:cNvSpPr/>
          <p:nvPr/>
        </p:nvSpPr>
        <p:spPr>
          <a:xfrm>
            <a:off x="7406640" y="2377440"/>
            <a:ext cx="2833920" cy="2010960"/>
          </a:xfrm>
          <a:prstGeom prst="roundRect">
            <a:avLst>
              <a:gd name="adj" fmla="val 16667"/>
            </a:avLst>
          </a:prstGeom>
          <a:solidFill>
            <a:srgbClr val="EBF8F5"/>
          </a:solidFill>
          <a:ln>
            <a:solidFill>
              <a:srgbClr val="EBF8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14"/>
          <p:cNvSpPr/>
          <p:nvPr/>
        </p:nvSpPr>
        <p:spPr>
          <a:xfrm>
            <a:off x="7571160" y="2487240"/>
            <a:ext cx="250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Learned rule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5"/>
          <p:cNvSpPr/>
          <p:nvPr/>
        </p:nvSpPr>
        <p:spPr>
          <a:xfrm>
            <a:off x="7571160" y="2816280"/>
            <a:ext cx="2504880" cy="14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new photo →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likely “cat”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0" name="Connector 16"/>
          <p:cNvCxnSpPr/>
          <p:nvPr/>
        </p:nvCxnSpPr>
        <p:spPr>
          <a:xfrm>
            <a:off x="3748680" y="3383280"/>
            <a:ext cx="366840" cy="720"/>
          </a:xfrm>
          <a:prstGeom prst="straightConnector1">
            <a:avLst/>
          </a:prstGeom>
          <a:ln w="0">
            <a:solidFill>
              <a:srgbClr val="5F6C7A"/>
            </a:solidFill>
          </a:ln>
        </p:spPr>
      </p:cxnSp>
      <p:cxnSp>
        <p:nvCxnSpPr>
          <p:cNvPr id="121" name="Connector 17"/>
          <p:cNvCxnSpPr/>
          <p:nvPr/>
        </p:nvCxnSpPr>
        <p:spPr>
          <a:xfrm>
            <a:off x="6995160" y="3383280"/>
            <a:ext cx="366480" cy="720"/>
          </a:xfrm>
          <a:prstGeom prst="straightConnector1">
            <a:avLst/>
          </a:prstGeom>
          <a:ln w="0">
            <a:solidFill>
              <a:srgbClr val="5F6C7A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502920" y="274320"/>
            <a:ext cx="10972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DEEP LEARNING • 2026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502920" y="567000"/>
            <a:ext cx="11154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Why “deep”?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4"/>
          <p:cNvSpPr/>
          <p:nvPr/>
        </p:nvSpPr>
        <p:spPr>
          <a:xfrm>
            <a:off x="502920" y="6537960"/>
            <a:ext cx="7314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Catholic University of Rwanda  |  Lecturer: Fadl Musa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5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7" name="Connector 6"/>
          <p:cNvCxnSpPr/>
          <p:nvPr/>
        </p:nvCxnSpPr>
        <p:spPr>
          <a:xfrm flipV="1">
            <a:off x="1170360" y="2359080"/>
            <a:ext cx="1162080" cy="2520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28" name="Connector 7"/>
          <p:cNvCxnSpPr/>
          <p:nvPr/>
        </p:nvCxnSpPr>
        <p:spPr>
          <a:xfrm>
            <a:off x="1170360" y="2610360"/>
            <a:ext cx="1162080" cy="2523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29" name="Connector 8"/>
          <p:cNvCxnSpPr/>
          <p:nvPr/>
        </p:nvCxnSpPr>
        <p:spPr>
          <a:xfrm>
            <a:off x="1170360" y="2610360"/>
            <a:ext cx="1162080" cy="75528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30" name="Connector 9"/>
          <p:cNvCxnSpPr/>
          <p:nvPr/>
        </p:nvCxnSpPr>
        <p:spPr>
          <a:xfrm>
            <a:off x="1170360" y="2610360"/>
            <a:ext cx="1162080" cy="12582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31" name="Connector 10"/>
          <p:cNvCxnSpPr/>
          <p:nvPr/>
        </p:nvCxnSpPr>
        <p:spPr>
          <a:xfrm>
            <a:off x="1170360" y="2610360"/>
            <a:ext cx="1162080" cy="17611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32" name="Connector 11"/>
          <p:cNvCxnSpPr/>
          <p:nvPr/>
        </p:nvCxnSpPr>
        <p:spPr>
          <a:xfrm flipV="1">
            <a:off x="1170360" y="2359080"/>
            <a:ext cx="1162080" cy="7549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33" name="Connector 12"/>
          <p:cNvCxnSpPr/>
          <p:nvPr/>
        </p:nvCxnSpPr>
        <p:spPr>
          <a:xfrm flipV="1">
            <a:off x="1170360" y="2862000"/>
            <a:ext cx="1162080" cy="2520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34" name="Connector 13"/>
          <p:cNvCxnSpPr/>
          <p:nvPr/>
        </p:nvCxnSpPr>
        <p:spPr>
          <a:xfrm>
            <a:off x="1170360" y="3113280"/>
            <a:ext cx="1162080" cy="2523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35" name="Connector 14"/>
          <p:cNvCxnSpPr/>
          <p:nvPr/>
        </p:nvCxnSpPr>
        <p:spPr>
          <a:xfrm>
            <a:off x="1170360" y="3113280"/>
            <a:ext cx="1162080" cy="75528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36" name="Connector 15"/>
          <p:cNvCxnSpPr/>
          <p:nvPr/>
        </p:nvCxnSpPr>
        <p:spPr>
          <a:xfrm>
            <a:off x="1170360" y="3113280"/>
            <a:ext cx="1162080" cy="12582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37" name="Connector 16"/>
          <p:cNvCxnSpPr/>
          <p:nvPr/>
        </p:nvCxnSpPr>
        <p:spPr>
          <a:xfrm flipV="1">
            <a:off x="1170360" y="2359080"/>
            <a:ext cx="1162080" cy="12578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38" name="Connector 17"/>
          <p:cNvCxnSpPr/>
          <p:nvPr/>
        </p:nvCxnSpPr>
        <p:spPr>
          <a:xfrm flipV="1">
            <a:off x="1170360" y="2862000"/>
            <a:ext cx="1162080" cy="7549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39" name="Connector 18"/>
          <p:cNvCxnSpPr/>
          <p:nvPr/>
        </p:nvCxnSpPr>
        <p:spPr>
          <a:xfrm flipV="1">
            <a:off x="1170360" y="3364920"/>
            <a:ext cx="1162080" cy="2520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40" name="Connector 19"/>
          <p:cNvCxnSpPr/>
          <p:nvPr/>
        </p:nvCxnSpPr>
        <p:spPr>
          <a:xfrm>
            <a:off x="1170360" y="3616200"/>
            <a:ext cx="1162080" cy="2523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41" name="Connector 20"/>
          <p:cNvCxnSpPr/>
          <p:nvPr/>
        </p:nvCxnSpPr>
        <p:spPr>
          <a:xfrm>
            <a:off x="1170360" y="3616200"/>
            <a:ext cx="1162080" cy="75528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42" name="Connector 21"/>
          <p:cNvCxnSpPr/>
          <p:nvPr/>
        </p:nvCxnSpPr>
        <p:spPr>
          <a:xfrm flipV="1">
            <a:off x="1170360" y="2359080"/>
            <a:ext cx="1162080" cy="17607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43" name="Connector 22"/>
          <p:cNvCxnSpPr/>
          <p:nvPr/>
        </p:nvCxnSpPr>
        <p:spPr>
          <a:xfrm flipV="1">
            <a:off x="1170360" y="2862000"/>
            <a:ext cx="1162080" cy="12578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44" name="Connector 23"/>
          <p:cNvCxnSpPr/>
          <p:nvPr/>
        </p:nvCxnSpPr>
        <p:spPr>
          <a:xfrm flipV="1">
            <a:off x="1170360" y="3364920"/>
            <a:ext cx="1162080" cy="7549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45" name="Connector 24"/>
          <p:cNvCxnSpPr/>
          <p:nvPr/>
        </p:nvCxnSpPr>
        <p:spPr>
          <a:xfrm flipV="1">
            <a:off x="1170360" y="3867840"/>
            <a:ext cx="1162080" cy="2520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46" name="Connector 25"/>
          <p:cNvCxnSpPr/>
          <p:nvPr/>
        </p:nvCxnSpPr>
        <p:spPr>
          <a:xfrm>
            <a:off x="1170360" y="4119120"/>
            <a:ext cx="1162080" cy="2523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47" name="Connector 26"/>
          <p:cNvCxnSpPr/>
          <p:nvPr/>
        </p:nvCxnSpPr>
        <p:spPr>
          <a:xfrm>
            <a:off x="2496240" y="2359080"/>
            <a:ext cx="1162080" cy="7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48" name="Connector 27"/>
          <p:cNvCxnSpPr/>
          <p:nvPr/>
        </p:nvCxnSpPr>
        <p:spPr>
          <a:xfrm>
            <a:off x="2496240" y="2359080"/>
            <a:ext cx="1162080" cy="5036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49" name="Connector 28"/>
          <p:cNvCxnSpPr/>
          <p:nvPr/>
        </p:nvCxnSpPr>
        <p:spPr>
          <a:xfrm>
            <a:off x="2496240" y="2359080"/>
            <a:ext cx="1162080" cy="10065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50" name="Connector 29"/>
          <p:cNvCxnSpPr/>
          <p:nvPr/>
        </p:nvCxnSpPr>
        <p:spPr>
          <a:xfrm>
            <a:off x="2496240" y="2359080"/>
            <a:ext cx="1162080" cy="150948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51" name="Connector 30"/>
          <p:cNvCxnSpPr/>
          <p:nvPr/>
        </p:nvCxnSpPr>
        <p:spPr>
          <a:xfrm>
            <a:off x="2496240" y="2359080"/>
            <a:ext cx="1162080" cy="20124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52" name="Connector 31"/>
          <p:cNvCxnSpPr/>
          <p:nvPr/>
        </p:nvCxnSpPr>
        <p:spPr>
          <a:xfrm flipV="1">
            <a:off x="2496240" y="2359080"/>
            <a:ext cx="1162080" cy="5036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53" name="Connector 32"/>
          <p:cNvCxnSpPr/>
          <p:nvPr/>
        </p:nvCxnSpPr>
        <p:spPr>
          <a:xfrm>
            <a:off x="2496240" y="2862000"/>
            <a:ext cx="1162080" cy="7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54" name="Connector 33"/>
          <p:cNvCxnSpPr/>
          <p:nvPr/>
        </p:nvCxnSpPr>
        <p:spPr>
          <a:xfrm>
            <a:off x="2496240" y="2862000"/>
            <a:ext cx="1162080" cy="5036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55" name="Connector 34"/>
          <p:cNvCxnSpPr/>
          <p:nvPr/>
        </p:nvCxnSpPr>
        <p:spPr>
          <a:xfrm>
            <a:off x="2496240" y="2862000"/>
            <a:ext cx="1162080" cy="10065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56" name="Connector 35"/>
          <p:cNvCxnSpPr/>
          <p:nvPr/>
        </p:nvCxnSpPr>
        <p:spPr>
          <a:xfrm>
            <a:off x="2496240" y="2862000"/>
            <a:ext cx="1162080" cy="150948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57" name="Connector 36"/>
          <p:cNvCxnSpPr/>
          <p:nvPr/>
        </p:nvCxnSpPr>
        <p:spPr>
          <a:xfrm flipV="1">
            <a:off x="2496240" y="2359080"/>
            <a:ext cx="1162080" cy="10065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58" name="Connector 37"/>
          <p:cNvCxnSpPr/>
          <p:nvPr/>
        </p:nvCxnSpPr>
        <p:spPr>
          <a:xfrm flipV="1">
            <a:off x="2496240" y="2862000"/>
            <a:ext cx="1162080" cy="5036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59" name="Connector 38"/>
          <p:cNvCxnSpPr/>
          <p:nvPr/>
        </p:nvCxnSpPr>
        <p:spPr>
          <a:xfrm>
            <a:off x="2496240" y="3364920"/>
            <a:ext cx="1162080" cy="7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60" name="Connector 39"/>
          <p:cNvCxnSpPr/>
          <p:nvPr/>
        </p:nvCxnSpPr>
        <p:spPr>
          <a:xfrm>
            <a:off x="2496240" y="3364920"/>
            <a:ext cx="1162080" cy="5036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61" name="Connector 40"/>
          <p:cNvCxnSpPr/>
          <p:nvPr/>
        </p:nvCxnSpPr>
        <p:spPr>
          <a:xfrm>
            <a:off x="2496240" y="3364920"/>
            <a:ext cx="1162080" cy="10065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62" name="Connector 41"/>
          <p:cNvCxnSpPr/>
          <p:nvPr/>
        </p:nvCxnSpPr>
        <p:spPr>
          <a:xfrm flipV="1">
            <a:off x="2496240" y="2359080"/>
            <a:ext cx="1162080" cy="150948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63" name="Connector 42"/>
          <p:cNvCxnSpPr/>
          <p:nvPr/>
        </p:nvCxnSpPr>
        <p:spPr>
          <a:xfrm flipV="1">
            <a:off x="2496240" y="2862000"/>
            <a:ext cx="1162080" cy="10065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64" name="Connector 43"/>
          <p:cNvCxnSpPr/>
          <p:nvPr/>
        </p:nvCxnSpPr>
        <p:spPr>
          <a:xfrm flipV="1">
            <a:off x="2496240" y="3364920"/>
            <a:ext cx="1162080" cy="5036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65" name="Connector 44"/>
          <p:cNvCxnSpPr/>
          <p:nvPr/>
        </p:nvCxnSpPr>
        <p:spPr>
          <a:xfrm>
            <a:off x="2496240" y="3867840"/>
            <a:ext cx="1162080" cy="7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66" name="Connector 45"/>
          <p:cNvCxnSpPr/>
          <p:nvPr/>
        </p:nvCxnSpPr>
        <p:spPr>
          <a:xfrm>
            <a:off x="2496240" y="3867840"/>
            <a:ext cx="1162080" cy="5036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67" name="Connector 46"/>
          <p:cNvCxnSpPr/>
          <p:nvPr/>
        </p:nvCxnSpPr>
        <p:spPr>
          <a:xfrm flipV="1">
            <a:off x="2496240" y="2359080"/>
            <a:ext cx="1162080" cy="20124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68" name="Connector 47"/>
          <p:cNvCxnSpPr/>
          <p:nvPr/>
        </p:nvCxnSpPr>
        <p:spPr>
          <a:xfrm flipV="1">
            <a:off x="2496240" y="2862000"/>
            <a:ext cx="1162080" cy="150948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69" name="Connector 48"/>
          <p:cNvCxnSpPr/>
          <p:nvPr/>
        </p:nvCxnSpPr>
        <p:spPr>
          <a:xfrm flipV="1">
            <a:off x="2496240" y="3364920"/>
            <a:ext cx="1162080" cy="10065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70" name="Connector 49"/>
          <p:cNvCxnSpPr/>
          <p:nvPr/>
        </p:nvCxnSpPr>
        <p:spPr>
          <a:xfrm flipV="1">
            <a:off x="2496240" y="3867840"/>
            <a:ext cx="1162080" cy="5036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71" name="Connector 50"/>
          <p:cNvCxnSpPr/>
          <p:nvPr/>
        </p:nvCxnSpPr>
        <p:spPr>
          <a:xfrm>
            <a:off x="2496240" y="4370760"/>
            <a:ext cx="1162080" cy="7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72" name="Connector 51"/>
          <p:cNvCxnSpPr/>
          <p:nvPr/>
        </p:nvCxnSpPr>
        <p:spPr>
          <a:xfrm>
            <a:off x="3822120" y="2359080"/>
            <a:ext cx="1161720" cy="5036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73" name="Connector 52"/>
          <p:cNvCxnSpPr/>
          <p:nvPr/>
        </p:nvCxnSpPr>
        <p:spPr>
          <a:xfrm>
            <a:off x="3822120" y="2359080"/>
            <a:ext cx="1161720" cy="10065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74" name="Connector 53"/>
          <p:cNvCxnSpPr/>
          <p:nvPr/>
        </p:nvCxnSpPr>
        <p:spPr>
          <a:xfrm>
            <a:off x="3822120" y="2359080"/>
            <a:ext cx="1161720" cy="150948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75" name="Connector 54"/>
          <p:cNvCxnSpPr/>
          <p:nvPr/>
        </p:nvCxnSpPr>
        <p:spPr>
          <a:xfrm>
            <a:off x="3822120" y="2862000"/>
            <a:ext cx="1161720" cy="7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76" name="Connector 55"/>
          <p:cNvCxnSpPr/>
          <p:nvPr/>
        </p:nvCxnSpPr>
        <p:spPr>
          <a:xfrm>
            <a:off x="3822120" y="2862000"/>
            <a:ext cx="1161720" cy="5036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77" name="Connector 56"/>
          <p:cNvCxnSpPr/>
          <p:nvPr/>
        </p:nvCxnSpPr>
        <p:spPr>
          <a:xfrm>
            <a:off x="3822120" y="2862000"/>
            <a:ext cx="1161720" cy="10065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78" name="Connector 57"/>
          <p:cNvCxnSpPr/>
          <p:nvPr/>
        </p:nvCxnSpPr>
        <p:spPr>
          <a:xfrm flipV="1">
            <a:off x="3822120" y="2862000"/>
            <a:ext cx="1161720" cy="5036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79" name="Connector 58"/>
          <p:cNvCxnSpPr/>
          <p:nvPr/>
        </p:nvCxnSpPr>
        <p:spPr>
          <a:xfrm>
            <a:off x="3822120" y="3364920"/>
            <a:ext cx="1161720" cy="7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80" name="Connector 59"/>
          <p:cNvCxnSpPr/>
          <p:nvPr/>
        </p:nvCxnSpPr>
        <p:spPr>
          <a:xfrm>
            <a:off x="3822120" y="3364920"/>
            <a:ext cx="1161720" cy="5036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81" name="Connector 60"/>
          <p:cNvCxnSpPr/>
          <p:nvPr/>
        </p:nvCxnSpPr>
        <p:spPr>
          <a:xfrm flipV="1">
            <a:off x="3822120" y="2862000"/>
            <a:ext cx="1161720" cy="10065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82" name="Connector 61"/>
          <p:cNvCxnSpPr/>
          <p:nvPr/>
        </p:nvCxnSpPr>
        <p:spPr>
          <a:xfrm flipV="1">
            <a:off x="3822120" y="3364920"/>
            <a:ext cx="1161720" cy="5036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83" name="Connector 62"/>
          <p:cNvCxnSpPr/>
          <p:nvPr/>
        </p:nvCxnSpPr>
        <p:spPr>
          <a:xfrm>
            <a:off x="3822120" y="3867840"/>
            <a:ext cx="1161720" cy="7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84" name="Connector 63"/>
          <p:cNvCxnSpPr/>
          <p:nvPr/>
        </p:nvCxnSpPr>
        <p:spPr>
          <a:xfrm flipV="1">
            <a:off x="3822120" y="2862000"/>
            <a:ext cx="1161720" cy="150948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85" name="Connector 64"/>
          <p:cNvCxnSpPr/>
          <p:nvPr/>
        </p:nvCxnSpPr>
        <p:spPr>
          <a:xfrm flipV="1">
            <a:off x="3822120" y="3364920"/>
            <a:ext cx="1161720" cy="10065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186" name="Connector 65"/>
          <p:cNvCxnSpPr/>
          <p:nvPr/>
        </p:nvCxnSpPr>
        <p:spPr>
          <a:xfrm flipV="1">
            <a:off x="3822120" y="3867840"/>
            <a:ext cx="1161720" cy="5036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sp>
        <p:nvSpPr>
          <p:cNvPr id="187" name="Oval 66"/>
          <p:cNvSpPr/>
          <p:nvPr/>
        </p:nvSpPr>
        <p:spPr>
          <a:xfrm>
            <a:off x="1005840" y="2446200"/>
            <a:ext cx="328320" cy="32832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67"/>
          <p:cNvSpPr/>
          <p:nvPr/>
        </p:nvSpPr>
        <p:spPr>
          <a:xfrm>
            <a:off x="1005840" y="244620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89" name="Oval 68"/>
          <p:cNvSpPr/>
          <p:nvPr/>
        </p:nvSpPr>
        <p:spPr>
          <a:xfrm>
            <a:off x="1005840" y="2949120"/>
            <a:ext cx="328320" cy="32832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69"/>
          <p:cNvSpPr/>
          <p:nvPr/>
        </p:nvSpPr>
        <p:spPr>
          <a:xfrm>
            <a:off x="1005840" y="29491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91" name="Oval 70"/>
          <p:cNvSpPr/>
          <p:nvPr/>
        </p:nvSpPr>
        <p:spPr>
          <a:xfrm>
            <a:off x="1005840" y="3452040"/>
            <a:ext cx="328320" cy="32832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71"/>
          <p:cNvSpPr/>
          <p:nvPr/>
        </p:nvSpPr>
        <p:spPr>
          <a:xfrm>
            <a:off x="1005840" y="34520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93" name="Oval 72"/>
          <p:cNvSpPr/>
          <p:nvPr/>
        </p:nvSpPr>
        <p:spPr>
          <a:xfrm>
            <a:off x="1005840" y="3954960"/>
            <a:ext cx="328320" cy="32832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73"/>
          <p:cNvSpPr/>
          <p:nvPr/>
        </p:nvSpPr>
        <p:spPr>
          <a:xfrm>
            <a:off x="1005840" y="395496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95" name="Oval 74"/>
          <p:cNvSpPr/>
          <p:nvPr/>
        </p:nvSpPr>
        <p:spPr>
          <a:xfrm>
            <a:off x="2331720" y="219456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75"/>
          <p:cNvSpPr/>
          <p:nvPr/>
        </p:nvSpPr>
        <p:spPr>
          <a:xfrm>
            <a:off x="2331720" y="219456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97" name="Oval 76"/>
          <p:cNvSpPr/>
          <p:nvPr/>
        </p:nvSpPr>
        <p:spPr>
          <a:xfrm>
            <a:off x="2331720" y="269748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77"/>
          <p:cNvSpPr/>
          <p:nvPr/>
        </p:nvSpPr>
        <p:spPr>
          <a:xfrm>
            <a:off x="2331720" y="269748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99" name="Oval 78"/>
          <p:cNvSpPr/>
          <p:nvPr/>
        </p:nvSpPr>
        <p:spPr>
          <a:xfrm>
            <a:off x="2331720" y="320040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79"/>
          <p:cNvSpPr/>
          <p:nvPr/>
        </p:nvSpPr>
        <p:spPr>
          <a:xfrm>
            <a:off x="2331720" y="320040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01" name="Oval 80"/>
          <p:cNvSpPr/>
          <p:nvPr/>
        </p:nvSpPr>
        <p:spPr>
          <a:xfrm>
            <a:off x="2331720" y="370332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81"/>
          <p:cNvSpPr/>
          <p:nvPr/>
        </p:nvSpPr>
        <p:spPr>
          <a:xfrm>
            <a:off x="2331720" y="37033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03" name="Oval 82"/>
          <p:cNvSpPr/>
          <p:nvPr/>
        </p:nvSpPr>
        <p:spPr>
          <a:xfrm>
            <a:off x="2331720" y="420624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83"/>
          <p:cNvSpPr/>
          <p:nvPr/>
        </p:nvSpPr>
        <p:spPr>
          <a:xfrm>
            <a:off x="2331720" y="42062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05" name="Oval 84"/>
          <p:cNvSpPr/>
          <p:nvPr/>
        </p:nvSpPr>
        <p:spPr>
          <a:xfrm>
            <a:off x="3657600" y="219456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85"/>
          <p:cNvSpPr/>
          <p:nvPr/>
        </p:nvSpPr>
        <p:spPr>
          <a:xfrm>
            <a:off x="3657600" y="219456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07" name="Oval 86"/>
          <p:cNvSpPr/>
          <p:nvPr/>
        </p:nvSpPr>
        <p:spPr>
          <a:xfrm>
            <a:off x="3657600" y="269748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87"/>
          <p:cNvSpPr/>
          <p:nvPr/>
        </p:nvSpPr>
        <p:spPr>
          <a:xfrm>
            <a:off x="3657600" y="269748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09" name="Oval 88"/>
          <p:cNvSpPr/>
          <p:nvPr/>
        </p:nvSpPr>
        <p:spPr>
          <a:xfrm>
            <a:off x="3657600" y="320040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Box 89"/>
          <p:cNvSpPr/>
          <p:nvPr/>
        </p:nvSpPr>
        <p:spPr>
          <a:xfrm>
            <a:off x="3657600" y="320040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11" name="Oval 90"/>
          <p:cNvSpPr/>
          <p:nvPr/>
        </p:nvSpPr>
        <p:spPr>
          <a:xfrm>
            <a:off x="3657600" y="370332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Box 91"/>
          <p:cNvSpPr/>
          <p:nvPr/>
        </p:nvSpPr>
        <p:spPr>
          <a:xfrm>
            <a:off x="3657600" y="37033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13" name="Oval 92"/>
          <p:cNvSpPr/>
          <p:nvPr/>
        </p:nvSpPr>
        <p:spPr>
          <a:xfrm>
            <a:off x="3657600" y="420624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93"/>
          <p:cNvSpPr/>
          <p:nvPr/>
        </p:nvSpPr>
        <p:spPr>
          <a:xfrm>
            <a:off x="3657600" y="42062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15" name="Oval 94"/>
          <p:cNvSpPr/>
          <p:nvPr/>
        </p:nvSpPr>
        <p:spPr>
          <a:xfrm>
            <a:off x="4983480" y="2697480"/>
            <a:ext cx="328320" cy="328320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95"/>
          <p:cNvSpPr/>
          <p:nvPr/>
        </p:nvSpPr>
        <p:spPr>
          <a:xfrm>
            <a:off x="4983480" y="269748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17" name="Oval 96"/>
          <p:cNvSpPr/>
          <p:nvPr/>
        </p:nvSpPr>
        <p:spPr>
          <a:xfrm>
            <a:off x="4983480" y="3200400"/>
            <a:ext cx="328320" cy="328320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97"/>
          <p:cNvSpPr/>
          <p:nvPr/>
        </p:nvSpPr>
        <p:spPr>
          <a:xfrm>
            <a:off x="4983480" y="320040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19" name="Oval 98"/>
          <p:cNvSpPr/>
          <p:nvPr/>
        </p:nvSpPr>
        <p:spPr>
          <a:xfrm>
            <a:off x="4983480" y="3703320"/>
            <a:ext cx="328320" cy="328320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Box 99"/>
          <p:cNvSpPr/>
          <p:nvPr/>
        </p:nvSpPr>
        <p:spPr>
          <a:xfrm>
            <a:off x="4983480" y="37033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21" name="TextBox 100"/>
          <p:cNvSpPr/>
          <p:nvPr/>
        </p:nvSpPr>
        <p:spPr>
          <a:xfrm>
            <a:off x="822960" y="47779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100" b="1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input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101"/>
          <p:cNvSpPr/>
          <p:nvPr/>
        </p:nvSpPr>
        <p:spPr>
          <a:xfrm>
            <a:off x="2194560" y="477792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100" b="1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hidden layers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102"/>
          <p:cNvSpPr/>
          <p:nvPr/>
        </p:nvSpPr>
        <p:spPr>
          <a:xfrm>
            <a:off x="3657600" y="47779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100" b="1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output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103"/>
          <p:cNvSpPr/>
          <p:nvPr/>
        </p:nvSpPr>
        <p:spPr>
          <a:xfrm>
            <a:off x="5852160" y="1417320"/>
            <a:ext cx="5302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3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Depth = a stack of transformations</a:t>
            </a:r>
            <a:endParaRPr lang="en-CA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104"/>
          <p:cNvSpPr/>
          <p:nvPr/>
        </p:nvSpPr>
        <p:spPr>
          <a:xfrm>
            <a:off x="5852160" y="2057400"/>
            <a:ext cx="530280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0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Early layers may notice simple patterns.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0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Middle layers combine them.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0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Later layers use those combinations to make a decision.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ounded Rectangle 105"/>
          <p:cNvSpPr/>
          <p:nvPr/>
        </p:nvSpPr>
        <p:spPr>
          <a:xfrm>
            <a:off x="5852160" y="4389120"/>
            <a:ext cx="5302800" cy="913680"/>
          </a:xfrm>
          <a:prstGeom prst="roundRect">
            <a:avLst>
              <a:gd name="adj" fmla="val 16667"/>
            </a:avLst>
          </a:prstGeom>
          <a:solidFill>
            <a:srgbClr val="FFF8E3"/>
          </a:solidFill>
          <a:ln>
            <a:solidFill>
              <a:srgbClr val="FFF8E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106"/>
          <p:cNvSpPr/>
          <p:nvPr/>
        </p:nvSpPr>
        <p:spPr>
          <a:xfrm>
            <a:off x="6016680" y="4498920"/>
            <a:ext cx="497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Analogy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107"/>
          <p:cNvSpPr/>
          <p:nvPr/>
        </p:nvSpPr>
        <p:spPr>
          <a:xfrm>
            <a:off x="6016680" y="4827960"/>
            <a:ext cx="4973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Letters → words → sentences → meaning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2"/>
          <p:cNvSpPr/>
          <p:nvPr/>
        </p:nvSpPr>
        <p:spPr>
          <a:xfrm>
            <a:off x="502920" y="274320"/>
            <a:ext cx="10972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DEEP LEARNING • 2026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3"/>
          <p:cNvSpPr/>
          <p:nvPr/>
        </p:nvSpPr>
        <p:spPr>
          <a:xfrm>
            <a:off x="502920" y="567000"/>
            <a:ext cx="11154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A neuron: a tiny decision-maker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4"/>
          <p:cNvSpPr/>
          <p:nvPr/>
        </p:nvSpPr>
        <p:spPr>
          <a:xfrm>
            <a:off x="502920" y="6537960"/>
            <a:ext cx="7314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Catholic University of Rwanda  |  Lecturer: Fadl Musa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5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Oval 6"/>
          <p:cNvSpPr/>
          <p:nvPr/>
        </p:nvSpPr>
        <p:spPr>
          <a:xfrm>
            <a:off x="914400" y="1828800"/>
            <a:ext cx="502200" cy="50220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7"/>
          <p:cNvSpPr/>
          <p:nvPr/>
        </p:nvSpPr>
        <p:spPr>
          <a:xfrm>
            <a:off x="914400" y="182880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x₁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Oval 8"/>
          <p:cNvSpPr/>
          <p:nvPr/>
        </p:nvSpPr>
        <p:spPr>
          <a:xfrm>
            <a:off x="914400" y="2743200"/>
            <a:ext cx="502200" cy="50220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Box 9"/>
          <p:cNvSpPr/>
          <p:nvPr/>
        </p:nvSpPr>
        <p:spPr>
          <a:xfrm>
            <a:off x="914400" y="274320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x₂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Oval 10"/>
          <p:cNvSpPr/>
          <p:nvPr/>
        </p:nvSpPr>
        <p:spPr>
          <a:xfrm>
            <a:off x="914400" y="3657600"/>
            <a:ext cx="502200" cy="50220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11"/>
          <p:cNvSpPr/>
          <p:nvPr/>
        </p:nvSpPr>
        <p:spPr>
          <a:xfrm>
            <a:off x="914400" y="365760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x₃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Oval 12"/>
          <p:cNvSpPr/>
          <p:nvPr/>
        </p:nvSpPr>
        <p:spPr>
          <a:xfrm>
            <a:off x="4663440" y="2651760"/>
            <a:ext cx="776520" cy="776520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13"/>
          <p:cNvSpPr/>
          <p:nvPr/>
        </p:nvSpPr>
        <p:spPr>
          <a:xfrm>
            <a:off x="4663440" y="2651760"/>
            <a:ext cx="7765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Σ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2" name="Connector 14"/>
          <p:cNvCxnSpPr/>
          <p:nvPr/>
        </p:nvCxnSpPr>
        <p:spPr>
          <a:xfrm>
            <a:off x="1417320" y="2075400"/>
            <a:ext cx="3246840" cy="759960"/>
          </a:xfrm>
          <a:prstGeom prst="straightConnector1">
            <a:avLst/>
          </a:prstGeom>
          <a:ln w="0">
            <a:solidFill>
              <a:srgbClr val="2A70B4"/>
            </a:solidFill>
          </a:ln>
        </p:spPr>
      </p:cxnSp>
      <p:cxnSp>
        <p:nvCxnSpPr>
          <p:cNvPr id="243" name="Connector 15"/>
          <p:cNvCxnSpPr/>
          <p:nvPr/>
        </p:nvCxnSpPr>
        <p:spPr>
          <a:xfrm>
            <a:off x="1417320" y="2989800"/>
            <a:ext cx="3246840" cy="28440"/>
          </a:xfrm>
          <a:prstGeom prst="straightConnector1">
            <a:avLst/>
          </a:prstGeom>
          <a:ln w="0">
            <a:solidFill>
              <a:srgbClr val="2A70B4"/>
            </a:solidFill>
          </a:ln>
        </p:spPr>
      </p:cxnSp>
      <p:cxnSp>
        <p:nvCxnSpPr>
          <p:cNvPr id="244" name="Connector 16"/>
          <p:cNvCxnSpPr/>
          <p:nvPr/>
        </p:nvCxnSpPr>
        <p:spPr>
          <a:xfrm flipV="1">
            <a:off x="1417320" y="3200400"/>
            <a:ext cx="3246840" cy="704520"/>
          </a:xfrm>
          <a:prstGeom prst="straightConnector1">
            <a:avLst/>
          </a:prstGeom>
          <a:ln w="0">
            <a:solidFill>
              <a:srgbClr val="2A70B4"/>
            </a:solidFill>
          </a:ln>
        </p:spPr>
      </p:cxnSp>
      <p:sp>
        <p:nvSpPr>
          <p:cNvPr id="245" name="Oval 17"/>
          <p:cNvSpPr/>
          <p:nvPr/>
        </p:nvSpPr>
        <p:spPr>
          <a:xfrm>
            <a:off x="8229600" y="2651760"/>
            <a:ext cx="776520" cy="7765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18"/>
          <p:cNvSpPr/>
          <p:nvPr/>
        </p:nvSpPr>
        <p:spPr>
          <a:xfrm>
            <a:off x="8229600" y="2651760"/>
            <a:ext cx="7765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ŷ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7" name="Connector 19"/>
          <p:cNvCxnSpPr/>
          <p:nvPr/>
        </p:nvCxnSpPr>
        <p:spPr>
          <a:xfrm>
            <a:off x="5440680" y="3035520"/>
            <a:ext cx="2789640" cy="720"/>
          </a:xfrm>
          <a:prstGeom prst="straightConnector1">
            <a:avLst/>
          </a:prstGeom>
          <a:ln w="0">
            <a:solidFill>
              <a:srgbClr val="2A70B4"/>
            </a:solidFill>
          </a:ln>
        </p:spPr>
      </p:cxnSp>
      <p:sp>
        <p:nvSpPr>
          <p:cNvPr id="248" name="TextBox 20"/>
          <p:cNvSpPr/>
          <p:nvPr/>
        </p:nvSpPr>
        <p:spPr>
          <a:xfrm>
            <a:off x="914400" y="438912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700" b="1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inputs × importance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21"/>
          <p:cNvSpPr/>
          <p:nvPr/>
        </p:nvSpPr>
        <p:spPr>
          <a:xfrm>
            <a:off x="4206240" y="438912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700" b="1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add them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22"/>
          <p:cNvSpPr/>
          <p:nvPr/>
        </p:nvSpPr>
        <p:spPr>
          <a:xfrm>
            <a:off x="7909560" y="438912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700" b="1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prediction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ounded Rectangle 23"/>
          <p:cNvSpPr/>
          <p:nvPr/>
        </p:nvSpPr>
        <p:spPr>
          <a:xfrm>
            <a:off x="4572000" y="1417320"/>
            <a:ext cx="3474000" cy="776520"/>
          </a:xfrm>
          <a:prstGeom prst="roundRect">
            <a:avLst>
              <a:gd name="adj" fmla="val 16667"/>
            </a:avLst>
          </a:prstGeom>
          <a:solidFill>
            <a:srgbClr val="EFF6FB"/>
          </a:solidFill>
          <a:ln>
            <a:solidFill>
              <a:srgbClr val="EFF6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24"/>
          <p:cNvSpPr/>
          <p:nvPr/>
        </p:nvSpPr>
        <p:spPr>
          <a:xfrm>
            <a:off x="4736520" y="1527120"/>
            <a:ext cx="314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One formula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25"/>
          <p:cNvSpPr/>
          <p:nvPr/>
        </p:nvSpPr>
        <p:spPr>
          <a:xfrm>
            <a:off x="4736520" y="1856160"/>
            <a:ext cx="31449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z = w₁x₁ + w₂x₂ + w₃x₃ + b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2"/>
          <p:cNvSpPr/>
          <p:nvPr/>
        </p:nvSpPr>
        <p:spPr>
          <a:xfrm>
            <a:off x="502920" y="274320"/>
            <a:ext cx="10972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DEEP LEARNING • 2026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3"/>
          <p:cNvSpPr/>
          <p:nvPr/>
        </p:nvSpPr>
        <p:spPr>
          <a:xfrm>
            <a:off x="502920" y="567000"/>
            <a:ext cx="11154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The only algebra we need: weighted sum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4"/>
          <p:cNvSpPr/>
          <p:nvPr/>
        </p:nvSpPr>
        <p:spPr>
          <a:xfrm>
            <a:off x="502920" y="6537960"/>
            <a:ext cx="7314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Catholic University of Rwanda  |  Lecturer: Fadl Musa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5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6"/>
          <p:cNvSpPr/>
          <p:nvPr/>
        </p:nvSpPr>
        <p:spPr>
          <a:xfrm>
            <a:off x="731520" y="1325880"/>
            <a:ext cx="47541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2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Example: is this fruit ripe?</a:t>
            </a:r>
            <a:endParaRPr lang="en-CA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7"/>
          <p:cNvSpPr/>
          <p:nvPr/>
        </p:nvSpPr>
        <p:spPr>
          <a:xfrm>
            <a:off x="822960" y="2103120"/>
            <a:ext cx="1188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700" b="1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yellow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ounded Rectangle 8"/>
          <p:cNvSpPr/>
          <p:nvPr/>
        </p:nvSpPr>
        <p:spPr>
          <a:xfrm>
            <a:off x="2103120" y="2157840"/>
            <a:ext cx="2742480" cy="209520"/>
          </a:xfrm>
          <a:prstGeom prst="roundRect">
            <a:avLst>
              <a:gd name="adj" fmla="val 16667"/>
            </a:avLst>
          </a:prstGeom>
          <a:solidFill>
            <a:srgbClr val="E1E8EE"/>
          </a:solidFill>
          <a:ln>
            <a:solidFill>
              <a:srgbClr val="E1E8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Rounded Rectangle 9"/>
          <p:cNvSpPr/>
          <p:nvPr/>
        </p:nvSpPr>
        <p:spPr>
          <a:xfrm>
            <a:off x="2103120" y="2157840"/>
            <a:ext cx="2468160" cy="209520"/>
          </a:xfrm>
          <a:prstGeom prst="roundRect">
            <a:avLst>
              <a:gd name="adj" fmla="val 16667"/>
            </a:avLst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Box 10"/>
          <p:cNvSpPr/>
          <p:nvPr/>
        </p:nvSpPr>
        <p:spPr>
          <a:xfrm>
            <a:off x="5074920" y="2103120"/>
            <a:ext cx="913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1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0.8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11"/>
          <p:cNvSpPr/>
          <p:nvPr/>
        </p:nvSpPr>
        <p:spPr>
          <a:xfrm>
            <a:off x="822960" y="2880360"/>
            <a:ext cx="1188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700" b="1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soft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ounded Rectangle 12"/>
          <p:cNvSpPr/>
          <p:nvPr/>
        </p:nvSpPr>
        <p:spPr>
          <a:xfrm>
            <a:off x="2103120" y="2935080"/>
            <a:ext cx="2742480" cy="209520"/>
          </a:xfrm>
          <a:prstGeom prst="roundRect">
            <a:avLst>
              <a:gd name="adj" fmla="val 16667"/>
            </a:avLst>
          </a:prstGeom>
          <a:solidFill>
            <a:srgbClr val="E1E8EE"/>
          </a:solidFill>
          <a:ln>
            <a:solidFill>
              <a:srgbClr val="E1E8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Rounded Rectangle 13"/>
          <p:cNvSpPr/>
          <p:nvPr/>
        </p:nvSpPr>
        <p:spPr>
          <a:xfrm>
            <a:off x="2103120" y="2935080"/>
            <a:ext cx="1919520" cy="209520"/>
          </a:xfrm>
          <a:prstGeom prst="roundRect">
            <a:avLst>
              <a:gd name="adj" fmla="val 16667"/>
            </a:avLst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Box 14"/>
          <p:cNvSpPr/>
          <p:nvPr/>
        </p:nvSpPr>
        <p:spPr>
          <a:xfrm>
            <a:off x="5074920" y="2880360"/>
            <a:ext cx="913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1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0.6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15"/>
          <p:cNvSpPr/>
          <p:nvPr/>
        </p:nvSpPr>
        <p:spPr>
          <a:xfrm>
            <a:off x="822960" y="3657600"/>
            <a:ext cx="1188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700" b="1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sweet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Rounded Rectangle 16"/>
          <p:cNvSpPr/>
          <p:nvPr/>
        </p:nvSpPr>
        <p:spPr>
          <a:xfrm>
            <a:off x="2103120" y="3712320"/>
            <a:ext cx="2742480" cy="209520"/>
          </a:xfrm>
          <a:prstGeom prst="roundRect">
            <a:avLst>
              <a:gd name="adj" fmla="val 16667"/>
            </a:avLst>
          </a:prstGeom>
          <a:solidFill>
            <a:srgbClr val="E1E8EE"/>
          </a:solidFill>
          <a:ln>
            <a:solidFill>
              <a:srgbClr val="E1E8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Rounded Rectangle 17"/>
          <p:cNvSpPr/>
          <p:nvPr/>
        </p:nvSpPr>
        <p:spPr>
          <a:xfrm>
            <a:off x="2103120" y="3712320"/>
            <a:ext cx="2742480" cy="209520"/>
          </a:xfrm>
          <a:prstGeom prst="roundRect">
            <a:avLst>
              <a:gd name="adj" fmla="val 16667"/>
            </a:avLst>
          </a:prstGeom>
          <a:solidFill>
            <a:srgbClr val="CD4B46"/>
          </a:solidFill>
          <a:ln>
            <a:solidFill>
              <a:srgbClr val="CD4B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Box 18"/>
          <p:cNvSpPr/>
          <p:nvPr/>
        </p:nvSpPr>
        <p:spPr>
          <a:xfrm>
            <a:off x="5074920" y="3657600"/>
            <a:ext cx="913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1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0.9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19"/>
          <p:cNvSpPr/>
          <p:nvPr/>
        </p:nvSpPr>
        <p:spPr>
          <a:xfrm>
            <a:off x="6583680" y="2331720"/>
            <a:ext cx="46627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2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z = 0.9(0.8) + 0.7(0.6) + 1.0(0.9)</a:t>
            </a:r>
            <a:endParaRPr lang="en-CA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2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   = 2.16  → “probably ripe”</a:t>
            </a:r>
            <a:endParaRPr lang="en-CA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ounded Rectangle 20"/>
          <p:cNvSpPr/>
          <p:nvPr/>
        </p:nvSpPr>
        <p:spPr>
          <a:xfrm>
            <a:off x="6583680" y="4069080"/>
            <a:ext cx="4571280" cy="913680"/>
          </a:xfrm>
          <a:prstGeom prst="roundRect">
            <a:avLst>
              <a:gd name="adj" fmla="val 16667"/>
            </a:avLst>
          </a:prstGeom>
          <a:solidFill>
            <a:srgbClr val="FFF8E3"/>
          </a:solidFill>
          <a:ln>
            <a:solidFill>
              <a:srgbClr val="FFF8E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Box 21"/>
          <p:cNvSpPr/>
          <p:nvPr/>
        </p:nvSpPr>
        <p:spPr>
          <a:xfrm>
            <a:off x="6748200" y="4178880"/>
            <a:ext cx="4242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Weights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22"/>
          <p:cNvSpPr/>
          <p:nvPr/>
        </p:nvSpPr>
        <p:spPr>
          <a:xfrm>
            <a:off x="6748200" y="4507920"/>
            <a:ext cx="42422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A weight says how much an input matters.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TextBox 2"/>
          <p:cNvSpPr/>
          <p:nvPr/>
        </p:nvSpPr>
        <p:spPr>
          <a:xfrm>
            <a:off x="502920" y="274320"/>
            <a:ext cx="10972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DEEP LEARNING • 2026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3"/>
          <p:cNvSpPr/>
          <p:nvPr/>
        </p:nvSpPr>
        <p:spPr>
          <a:xfrm>
            <a:off x="502920" y="567000"/>
            <a:ext cx="11154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Activation functions: a useful “gate”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4"/>
          <p:cNvSpPr/>
          <p:nvPr/>
        </p:nvSpPr>
        <p:spPr>
          <a:xfrm>
            <a:off x="502920" y="6537960"/>
            <a:ext cx="7314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Catholic University of Rwanda  |  Lecturer: Fadl Musa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5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6"/>
          <p:cNvSpPr/>
          <p:nvPr/>
        </p:nvSpPr>
        <p:spPr>
          <a:xfrm>
            <a:off x="731520" y="1371600"/>
            <a:ext cx="47541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Without a gate, stacked layers behave like one straight line.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The gate lets the network learn curves and boundaries.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2" name="Connector 7"/>
          <p:cNvCxnSpPr/>
          <p:nvPr/>
        </p:nvCxnSpPr>
        <p:spPr>
          <a:xfrm>
            <a:off x="6400800" y="4846320"/>
            <a:ext cx="4389840" cy="720"/>
          </a:xfrm>
          <a:prstGeom prst="straightConnector1">
            <a:avLst/>
          </a:prstGeom>
          <a:ln w="0">
            <a:solidFill>
              <a:srgbClr val="5F6C7A"/>
            </a:solidFill>
          </a:ln>
        </p:spPr>
      </p:cxnSp>
      <p:cxnSp>
        <p:nvCxnSpPr>
          <p:cNvPr id="283" name="Connector 8"/>
          <p:cNvCxnSpPr/>
          <p:nvPr/>
        </p:nvCxnSpPr>
        <p:spPr>
          <a:xfrm flipV="1">
            <a:off x="8549640" y="1737360"/>
            <a:ext cx="720" cy="3384000"/>
          </a:xfrm>
          <a:prstGeom prst="straightConnector1">
            <a:avLst/>
          </a:prstGeom>
          <a:ln w="0">
            <a:solidFill>
              <a:srgbClr val="5F6C7A"/>
            </a:solidFill>
          </a:ln>
        </p:spPr>
      </p:cxnSp>
      <p:cxnSp>
        <p:nvCxnSpPr>
          <p:cNvPr id="284" name="Connector 9"/>
          <p:cNvCxnSpPr/>
          <p:nvPr/>
        </p:nvCxnSpPr>
        <p:spPr>
          <a:xfrm>
            <a:off x="7406640" y="4846320"/>
            <a:ext cx="1143720" cy="720"/>
          </a:xfrm>
          <a:prstGeom prst="straightConnector1">
            <a:avLst/>
          </a:prstGeom>
          <a:ln w="50800">
            <a:solidFill>
              <a:srgbClr val="2A70B4"/>
            </a:solidFill>
            <a:round/>
          </a:ln>
        </p:spPr>
      </p:cxnSp>
      <p:cxnSp>
        <p:nvCxnSpPr>
          <p:cNvPr id="285" name="Connector 10"/>
          <p:cNvCxnSpPr/>
          <p:nvPr/>
        </p:nvCxnSpPr>
        <p:spPr>
          <a:xfrm flipV="1">
            <a:off x="8549640" y="2011680"/>
            <a:ext cx="2058120" cy="2835360"/>
          </a:xfrm>
          <a:prstGeom prst="straightConnector1">
            <a:avLst/>
          </a:prstGeom>
          <a:ln w="50800">
            <a:solidFill>
              <a:srgbClr val="009191"/>
            </a:solidFill>
            <a:round/>
          </a:ln>
        </p:spPr>
      </p:cxnSp>
      <p:sp>
        <p:nvSpPr>
          <p:cNvPr id="286" name="TextBox 11"/>
          <p:cNvSpPr/>
          <p:nvPr/>
        </p:nvSpPr>
        <p:spPr>
          <a:xfrm>
            <a:off x="6400800" y="5029200"/>
            <a:ext cx="4114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2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ReLU(z) = max(0, z)</a:t>
            </a:r>
            <a:endParaRPr lang="en-CA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12"/>
          <p:cNvSpPr/>
          <p:nvPr/>
        </p:nvSpPr>
        <p:spPr>
          <a:xfrm>
            <a:off x="8686800" y="1645920"/>
            <a:ext cx="2102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output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13"/>
          <p:cNvSpPr/>
          <p:nvPr/>
        </p:nvSpPr>
        <p:spPr>
          <a:xfrm>
            <a:off x="10515600" y="49834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z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2"/>
          <p:cNvSpPr/>
          <p:nvPr/>
        </p:nvSpPr>
        <p:spPr>
          <a:xfrm>
            <a:off x="502920" y="274320"/>
            <a:ext cx="10972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DEEP LEARNING • 2026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3"/>
          <p:cNvSpPr/>
          <p:nvPr/>
        </p:nvSpPr>
        <p:spPr>
          <a:xfrm>
            <a:off x="502920" y="567000"/>
            <a:ext cx="11154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From one neuron to a neural network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4"/>
          <p:cNvSpPr/>
          <p:nvPr/>
        </p:nvSpPr>
        <p:spPr>
          <a:xfrm>
            <a:off x="502920" y="6537960"/>
            <a:ext cx="7314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Catholic University of Rwanda  |  Lecturer: Fadl Musa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5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4" name="Connector 6"/>
          <p:cNvCxnSpPr/>
          <p:nvPr/>
        </p:nvCxnSpPr>
        <p:spPr>
          <a:xfrm flipV="1">
            <a:off x="1078920" y="2084760"/>
            <a:ext cx="1162080" cy="2520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295" name="Connector 7"/>
          <p:cNvCxnSpPr/>
          <p:nvPr/>
        </p:nvCxnSpPr>
        <p:spPr>
          <a:xfrm>
            <a:off x="1078920" y="2336040"/>
            <a:ext cx="1162080" cy="2523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296" name="Connector 8"/>
          <p:cNvCxnSpPr/>
          <p:nvPr/>
        </p:nvCxnSpPr>
        <p:spPr>
          <a:xfrm>
            <a:off x="1078920" y="2336040"/>
            <a:ext cx="1162080" cy="75528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297" name="Connector 9"/>
          <p:cNvCxnSpPr/>
          <p:nvPr/>
        </p:nvCxnSpPr>
        <p:spPr>
          <a:xfrm>
            <a:off x="1078920" y="2336040"/>
            <a:ext cx="1162080" cy="12582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298" name="Connector 10"/>
          <p:cNvCxnSpPr/>
          <p:nvPr/>
        </p:nvCxnSpPr>
        <p:spPr>
          <a:xfrm>
            <a:off x="1078920" y="2336040"/>
            <a:ext cx="1162080" cy="17611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299" name="Connector 11"/>
          <p:cNvCxnSpPr/>
          <p:nvPr/>
        </p:nvCxnSpPr>
        <p:spPr>
          <a:xfrm flipV="1">
            <a:off x="1078920" y="2084760"/>
            <a:ext cx="1162080" cy="7549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00" name="Connector 12"/>
          <p:cNvCxnSpPr/>
          <p:nvPr/>
        </p:nvCxnSpPr>
        <p:spPr>
          <a:xfrm flipV="1">
            <a:off x="1078920" y="2587680"/>
            <a:ext cx="1162080" cy="2520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01" name="Connector 13"/>
          <p:cNvCxnSpPr/>
          <p:nvPr/>
        </p:nvCxnSpPr>
        <p:spPr>
          <a:xfrm>
            <a:off x="1078920" y="2838960"/>
            <a:ext cx="1162080" cy="2523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02" name="Connector 14"/>
          <p:cNvCxnSpPr/>
          <p:nvPr/>
        </p:nvCxnSpPr>
        <p:spPr>
          <a:xfrm>
            <a:off x="1078920" y="2838960"/>
            <a:ext cx="1162080" cy="75528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03" name="Connector 15"/>
          <p:cNvCxnSpPr/>
          <p:nvPr/>
        </p:nvCxnSpPr>
        <p:spPr>
          <a:xfrm>
            <a:off x="1078920" y="2838960"/>
            <a:ext cx="1162080" cy="12582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04" name="Connector 16"/>
          <p:cNvCxnSpPr/>
          <p:nvPr/>
        </p:nvCxnSpPr>
        <p:spPr>
          <a:xfrm flipV="1">
            <a:off x="1078920" y="2084760"/>
            <a:ext cx="1162080" cy="12578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05" name="Connector 17"/>
          <p:cNvCxnSpPr/>
          <p:nvPr/>
        </p:nvCxnSpPr>
        <p:spPr>
          <a:xfrm flipV="1">
            <a:off x="1078920" y="2587680"/>
            <a:ext cx="1162080" cy="7549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06" name="Connector 18"/>
          <p:cNvCxnSpPr/>
          <p:nvPr/>
        </p:nvCxnSpPr>
        <p:spPr>
          <a:xfrm flipV="1">
            <a:off x="1078920" y="3090600"/>
            <a:ext cx="1162080" cy="2520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07" name="Connector 19"/>
          <p:cNvCxnSpPr/>
          <p:nvPr/>
        </p:nvCxnSpPr>
        <p:spPr>
          <a:xfrm>
            <a:off x="1078920" y="3341880"/>
            <a:ext cx="1162080" cy="2523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08" name="Connector 20"/>
          <p:cNvCxnSpPr/>
          <p:nvPr/>
        </p:nvCxnSpPr>
        <p:spPr>
          <a:xfrm>
            <a:off x="1078920" y="3341880"/>
            <a:ext cx="1162080" cy="75528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09" name="Connector 21"/>
          <p:cNvCxnSpPr/>
          <p:nvPr/>
        </p:nvCxnSpPr>
        <p:spPr>
          <a:xfrm flipV="1">
            <a:off x="1078920" y="2084760"/>
            <a:ext cx="1162080" cy="17607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10" name="Connector 22"/>
          <p:cNvCxnSpPr/>
          <p:nvPr/>
        </p:nvCxnSpPr>
        <p:spPr>
          <a:xfrm flipV="1">
            <a:off x="1078920" y="2587680"/>
            <a:ext cx="1162080" cy="12578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11" name="Connector 23"/>
          <p:cNvCxnSpPr/>
          <p:nvPr/>
        </p:nvCxnSpPr>
        <p:spPr>
          <a:xfrm flipV="1">
            <a:off x="1078920" y="3090600"/>
            <a:ext cx="1162080" cy="7549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12" name="Connector 24"/>
          <p:cNvCxnSpPr/>
          <p:nvPr/>
        </p:nvCxnSpPr>
        <p:spPr>
          <a:xfrm flipV="1">
            <a:off x="1078920" y="3593520"/>
            <a:ext cx="1162080" cy="2520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13" name="Connector 25"/>
          <p:cNvCxnSpPr/>
          <p:nvPr/>
        </p:nvCxnSpPr>
        <p:spPr>
          <a:xfrm>
            <a:off x="1078920" y="3844800"/>
            <a:ext cx="1162080" cy="2523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14" name="Connector 26"/>
          <p:cNvCxnSpPr/>
          <p:nvPr/>
        </p:nvCxnSpPr>
        <p:spPr>
          <a:xfrm>
            <a:off x="2404800" y="2084760"/>
            <a:ext cx="1162080" cy="2520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15" name="Connector 27"/>
          <p:cNvCxnSpPr/>
          <p:nvPr/>
        </p:nvCxnSpPr>
        <p:spPr>
          <a:xfrm>
            <a:off x="2404800" y="2084760"/>
            <a:ext cx="1162080" cy="7549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16" name="Connector 28"/>
          <p:cNvCxnSpPr/>
          <p:nvPr/>
        </p:nvCxnSpPr>
        <p:spPr>
          <a:xfrm>
            <a:off x="2404800" y="2084760"/>
            <a:ext cx="1162080" cy="12578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17" name="Connector 29"/>
          <p:cNvCxnSpPr/>
          <p:nvPr/>
        </p:nvCxnSpPr>
        <p:spPr>
          <a:xfrm>
            <a:off x="2404800" y="2084760"/>
            <a:ext cx="1162080" cy="17607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18" name="Connector 30"/>
          <p:cNvCxnSpPr/>
          <p:nvPr/>
        </p:nvCxnSpPr>
        <p:spPr>
          <a:xfrm flipV="1">
            <a:off x="2404800" y="2336040"/>
            <a:ext cx="1162080" cy="2523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19" name="Connector 31"/>
          <p:cNvCxnSpPr/>
          <p:nvPr/>
        </p:nvCxnSpPr>
        <p:spPr>
          <a:xfrm>
            <a:off x="2404800" y="2587680"/>
            <a:ext cx="1162080" cy="2520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20" name="Connector 32"/>
          <p:cNvCxnSpPr/>
          <p:nvPr/>
        </p:nvCxnSpPr>
        <p:spPr>
          <a:xfrm>
            <a:off x="2404800" y="2587680"/>
            <a:ext cx="1162080" cy="7549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21" name="Connector 33"/>
          <p:cNvCxnSpPr/>
          <p:nvPr/>
        </p:nvCxnSpPr>
        <p:spPr>
          <a:xfrm>
            <a:off x="2404800" y="2587680"/>
            <a:ext cx="1162080" cy="12578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22" name="Connector 34"/>
          <p:cNvCxnSpPr/>
          <p:nvPr/>
        </p:nvCxnSpPr>
        <p:spPr>
          <a:xfrm flipV="1">
            <a:off x="2404800" y="2336040"/>
            <a:ext cx="1162080" cy="75528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23" name="Connector 35"/>
          <p:cNvCxnSpPr/>
          <p:nvPr/>
        </p:nvCxnSpPr>
        <p:spPr>
          <a:xfrm flipV="1">
            <a:off x="2404800" y="2838960"/>
            <a:ext cx="1162080" cy="2523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24" name="Connector 36"/>
          <p:cNvCxnSpPr/>
          <p:nvPr/>
        </p:nvCxnSpPr>
        <p:spPr>
          <a:xfrm>
            <a:off x="2404800" y="3090600"/>
            <a:ext cx="1162080" cy="2520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25" name="Connector 37"/>
          <p:cNvCxnSpPr/>
          <p:nvPr/>
        </p:nvCxnSpPr>
        <p:spPr>
          <a:xfrm>
            <a:off x="2404800" y="3090600"/>
            <a:ext cx="1162080" cy="7549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26" name="Connector 38"/>
          <p:cNvCxnSpPr/>
          <p:nvPr/>
        </p:nvCxnSpPr>
        <p:spPr>
          <a:xfrm flipV="1">
            <a:off x="2404800" y="2336040"/>
            <a:ext cx="1162080" cy="12582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27" name="Connector 39"/>
          <p:cNvCxnSpPr/>
          <p:nvPr/>
        </p:nvCxnSpPr>
        <p:spPr>
          <a:xfrm flipV="1">
            <a:off x="2404800" y="2838960"/>
            <a:ext cx="1162080" cy="75528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28" name="Connector 40"/>
          <p:cNvCxnSpPr/>
          <p:nvPr/>
        </p:nvCxnSpPr>
        <p:spPr>
          <a:xfrm flipV="1">
            <a:off x="2404800" y="3341880"/>
            <a:ext cx="1162080" cy="2523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29" name="Connector 41"/>
          <p:cNvCxnSpPr/>
          <p:nvPr/>
        </p:nvCxnSpPr>
        <p:spPr>
          <a:xfrm>
            <a:off x="2404800" y="3593520"/>
            <a:ext cx="1162080" cy="2520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30" name="Connector 42"/>
          <p:cNvCxnSpPr/>
          <p:nvPr/>
        </p:nvCxnSpPr>
        <p:spPr>
          <a:xfrm flipV="1">
            <a:off x="2404800" y="2336040"/>
            <a:ext cx="1162080" cy="17611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31" name="Connector 43"/>
          <p:cNvCxnSpPr/>
          <p:nvPr/>
        </p:nvCxnSpPr>
        <p:spPr>
          <a:xfrm flipV="1">
            <a:off x="2404800" y="2838960"/>
            <a:ext cx="1162080" cy="12582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32" name="Connector 44"/>
          <p:cNvCxnSpPr/>
          <p:nvPr/>
        </p:nvCxnSpPr>
        <p:spPr>
          <a:xfrm flipV="1">
            <a:off x="2404800" y="3341880"/>
            <a:ext cx="1162080" cy="75528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33" name="Connector 45"/>
          <p:cNvCxnSpPr/>
          <p:nvPr/>
        </p:nvCxnSpPr>
        <p:spPr>
          <a:xfrm flipV="1">
            <a:off x="2404800" y="3844800"/>
            <a:ext cx="1162080" cy="2523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34" name="Connector 46"/>
          <p:cNvCxnSpPr/>
          <p:nvPr/>
        </p:nvCxnSpPr>
        <p:spPr>
          <a:xfrm>
            <a:off x="3730680" y="2336040"/>
            <a:ext cx="1162080" cy="5036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35" name="Connector 47"/>
          <p:cNvCxnSpPr/>
          <p:nvPr/>
        </p:nvCxnSpPr>
        <p:spPr>
          <a:xfrm>
            <a:off x="3730680" y="2336040"/>
            <a:ext cx="1162080" cy="10065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36" name="Connector 48"/>
          <p:cNvCxnSpPr/>
          <p:nvPr/>
        </p:nvCxnSpPr>
        <p:spPr>
          <a:xfrm>
            <a:off x="3730680" y="2838960"/>
            <a:ext cx="1162080" cy="7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37" name="Connector 49"/>
          <p:cNvCxnSpPr/>
          <p:nvPr/>
        </p:nvCxnSpPr>
        <p:spPr>
          <a:xfrm>
            <a:off x="3730680" y="2838960"/>
            <a:ext cx="1162080" cy="5036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38" name="Connector 50"/>
          <p:cNvCxnSpPr/>
          <p:nvPr/>
        </p:nvCxnSpPr>
        <p:spPr>
          <a:xfrm flipV="1">
            <a:off x="3730680" y="2838960"/>
            <a:ext cx="1162080" cy="5036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39" name="Connector 51"/>
          <p:cNvCxnSpPr/>
          <p:nvPr/>
        </p:nvCxnSpPr>
        <p:spPr>
          <a:xfrm>
            <a:off x="3730680" y="3341880"/>
            <a:ext cx="1162080" cy="7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40" name="Connector 52"/>
          <p:cNvCxnSpPr/>
          <p:nvPr/>
        </p:nvCxnSpPr>
        <p:spPr>
          <a:xfrm flipV="1">
            <a:off x="3730680" y="2838960"/>
            <a:ext cx="1162080" cy="10065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341" name="Connector 53"/>
          <p:cNvCxnSpPr/>
          <p:nvPr/>
        </p:nvCxnSpPr>
        <p:spPr>
          <a:xfrm flipV="1">
            <a:off x="3730680" y="3341880"/>
            <a:ext cx="1162080" cy="5036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sp>
        <p:nvSpPr>
          <p:cNvPr id="342" name="Oval 54"/>
          <p:cNvSpPr/>
          <p:nvPr/>
        </p:nvSpPr>
        <p:spPr>
          <a:xfrm>
            <a:off x="914400" y="2171880"/>
            <a:ext cx="328320" cy="32832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TextBox 55"/>
          <p:cNvSpPr/>
          <p:nvPr/>
        </p:nvSpPr>
        <p:spPr>
          <a:xfrm>
            <a:off x="914400" y="217188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344" name="Oval 56"/>
          <p:cNvSpPr/>
          <p:nvPr/>
        </p:nvSpPr>
        <p:spPr>
          <a:xfrm>
            <a:off x="914400" y="2674800"/>
            <a:ext cx="328320" cy="32832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Box 57"/>
          <p:cNvSpPr/>
          <p:nvPr/>
        </p:nvSpPr>
        <p:spPr>
          <a:xfrm>
            <a:off x="914400" y="267480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346" name="Oval 58"/>
          <p:cNvSpPr/>
          <p:nvPr/>
        </p:nvSpPr>
        <p:spPr>
          <a:xfrm>
            <a:off x="914400" y="3177720"/>
            <a:ext cx="328320" cy="32832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TextBox 59"/>
          <p:cNvSpPr/>
          <p:nvPr/>
        </p:nvSpPr>
        <p:spPr>
          <a:xfrm>
            <a:off x="914400" y="31777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348" name="Oval 60"/>
          <p:cNvSpPr/>
          <p:nvPr/>
        </p:nvSpPr>
        <p:spPr>
          <a:xfrm>
            <a:off x="914400" y="3680640"/>
            <a:ext cx="328320" cy="32832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9" name="TextBox 61"/>
          <p:cNvSpPr/>
          <p:nvPr/>
        </p:nvSpPr>
        <p:spPr>
          <a:xfrm>
            <a:off x="914400" y="36806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350" name="Oval 62"/>
          <p:cNvSpPr/>
          <p:nvPr/>
        </p:nvSpPr>
        <p:spPr>
          <a:xfrm>
            <a:off x="2240280" y="192024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Box 63"/>
          <p:cNvSpPr/>
          <p:nvPr/>
        </p:nvSpPr>
        <p:spPr>
          <a:xfrm>
            <a:off x="2240280" y="19202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352" name="Oval 64"/>
          <p:cNvSpPr/>
          <p:nvPr/>
        </p:nvSpPr>
        <p:spPr>
          <a:xfrm>
            <a:off x="2240280" y="242316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3" name="TextBox 65"/>
          <p:cNvSpPr/>
          <p:nvPr/>
        </p:nvSpPr>
        <p:spPr>
          <a:xfrm>
            <a:off x="2240280" y="242316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354" name="Oval 66"/>
          <p:cNvSpPr/>
          <p:nvPr/>
        </p:nvSpPr>
        <p:spPr>
          <a:xfrm>
            <a:off x="2240280" y="292608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5" name="TextBox 67"/>
          <p:cNvSpPr/>
          <p:nvPr/>
        </p:nvSpPr>
        <p:spPr>
          <a:xfrm>
            <a:off x="2240280" y="292608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356" name="Oval 68"/>
          <p:cNvSpPr/>
          <p:nvPr/>
        </p:nvSpPr>
        <p:spPr>
          <a:xfrm>
            <a:off x="2240280" y="342900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TextBox 69"/>
          <p:cNvSpPr/>
          <p:nvPr/>
        </p:nvSpPr>
        <p:spPr>
          <a:xfrm>
            <a:off x="2240280" y="342900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358" name="Oval 70"/>
          <p:cNvSpPr/>
          <p:nvPr/>
        </p:nvSpPr>
        <p:spPr>
          <a:xfrm>
            <a:off x="2240280" y="393192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9" name="TextBox 71"/>
          <p:cNvSpPr/>
          <p:nvPr/>
        </p:nvSpPr>
        <p:spPr>
          <a:xfrm>
            <a:off x="2240280" y="39319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360" name="Oval 72"/>
          <p:cNvSpPr/>
          <p:nvPr/>
        </p:nvSpPr>
        <p:spPr>
          <a:xfrm>
            <a:off x="3566160" y="217188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1" name="TextBox 73"/>
          <p:cNvSpPr/>
          <p:nvPr/>
        </p:nvSpPr>
        <p:spPr>
          <a:xfrm>
            <a:off x="3566160" y="217188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362" name="Oval 74"/>
          <p:cNvSpPr/>
          <p:nvPr/>
        </p:nvSpPr>
        <p:spPr>
          <a:xfrm>
            <a:off x="3566160" y="267480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3" name="TextBox 75"/>
          <p:cNvSpPr/>
          <p:nvPr/>
        </p:nvSpPr>
        <p:spPr>
          <a:xfrm>
            <a:off x="3566160" y="267480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364" name="Oval 76"/>
          <p:cNvSpPr/>
          <p:nvPr/>
        </p:nvSpPr>
        <p:spPr>
          <a:xfrm>
            <a:off x="3566160" y="317772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5" name="TextBox 77"/>
          <p:cNvSpPr/>
          <p:nvPr/>
        </p:nvSpPr>
        <p:spPr>
          <a:xfrm>
            <a:off x="3566160" y="31777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366" name="Oval 78"/>
          <p:cNvSpPr/>
          <p:nvPr/>
        </p:nvSpPr>
        <p:spPr>
          <a:xfrm>
            <a:off x="3566160" y="368064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TextBox 79"/>
          <p:cNvSpPr/>
          <p:nvPr/>
        </p:nvSpPr>
        <p:spPr>
          <a:xfrm>
            <a:off x="3566160" y="36806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368" name="Oval 80"/>
          <p:cNvSpPr/>
          <p:nvPr/>
        </p:nvSpPr>
        <p:spPr>
          <a:xfrm>
            <a:off x="4892040" y="2674800"/>
            <a:ext cx="328320" cy="328320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9" name="TextBox 81"/>
          <p:cNvSpPr/>
          <p:nvPr/>
        </p:nvSpPr>
        <p:spPr>
          <a:xfrm>
            <a:off x="4892040" y="267480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370" name="Oval 82"/>
          <p:cNvSpPr/>
          <p:nvPr/>
        </p:nvSpPr>
        <p:spPr>
          <a:xfrm>
            <a:off x="4892040" y="3177720"/>
            <a:ext cx="328320" cy="328320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TextBox 83"/>
          <p:cNvSpPr/>
          <p:nvPr/>
        </p:nvSpPr>
        <p:spPr>
          <a:xfrm>
            <a:off x="4892040" y="31777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372" name="TextBox 84"/>
          <p:cNvSpPr/>
          <p:nvPr/>
        </p:nvSpPr>
        <p:spPr>
          <a:xfrm>
            <a:off x="731520" y="450360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100" b="1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input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85"/>
          <p:cNvSpPr/>
          <p:nvPr/>
        </p:nvSpPr>
        <p:spPr>
          <a:xfrm>
            <a:off x="2103120" y="450360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100" b="1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hidden layers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Box 86"/>
          <p:cNvSpPr/>
          <p:nvPr/>
        </p:nvSpPr>
        <p:spPr>
          <a:xfrm>
            <a:off x="3566160" y="450360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100" b="1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output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87"/>
          <p:cNvSpPr/>
          <p:nvPr/>
        </p:nvSpPr>
        <p:spPr>
          <a:xfrm>
            <a:off x="6400800" y="1371600"/>
            <a:ext cx="4937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3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Many simple units cooperate</a:t>
            </a:r>
            <a:endParaRPr lang="en-CA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Rounded Rectangle 88"/>
          <p:cNvSpPr/>
          <p:nvPr/>
        </p:nvSpPr>
        <p:spPr>
          <a:xfrm>
            <a:off x="6400800" y="2057400"/>
            <a:ext cx="163800" cy="163800"/>
          </a:xfrm>
          <a:prstGeom prst="roundRect">
            <a:avLst>
              <a:gd name="adj" fmla="val 16667"/>
            </a:avLst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080" tIns="45000" rIns="820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7" name="TextBox 89"/>
          <p:cNvSpPr/>
          <p:nvPr/>
        </p:nvSpPr>
        <p:spPr>
          <a:xfrm>
            <a:off x="6693480" y="2057400"/>
            <a:ext cx="46443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Input layer: receives measurements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Rounded Rectangle 90"/>
          <p:cNvSpPr/>
          <p:nvPr/>
        </p:nvSpPr>
        <p:spPr>
          <a:xfrm>
            <a:off x="6400800" y="2670120"/>
            <a:ext cx="163800" cy="163800"/>
          </a:xfrm>
          <a:prstGeom prst="roundRect">
            <a:avLst>
              <a:gd name="adj" fmla="val 16667"/>
            </a:avLst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080" tIns="45000" rIns="820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TextBox 91"/>
          <p:cNvSpPr/>
          <p:nvPr/>
        </p:nvSpPr>
        <p:spPr>
          <a:xfrm>
            <a:off x="6693480" y="2670120"/>
            <a:ext cx="46443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Hidden layers: build representations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Rounded Rectangle 92"/>
          <p:cNvSpPr/>
          <p:nvPr/>
        </p:nvSpPr>
        <p:spPr>
          <a:xfrm>
            <a:off x="6400800" y="3282840"/>
            <a:ext cx="163800" cy="163800"/>
          </a:xfrm>
          <a:prstGeom prst="roundRect">
            <a:avLst>
              <a:gd name="adj" fmla="val 16667"/>
            </a:avLst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080" tIns="45000" rIns="820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" name="TextBox 93"/>
          <p:cNvSpPr/>
          <p:nvPr/>
        </p:nvSpPr>
        <p:spPr>
          <a:xfrm>
            <a:off x="6693480" y="3282840"/>
            <a:ext cx="46443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Output layer: gives the answer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Rounded Rectangle 94"/>
          <p:cNvSpPr/>
          <p:nvPr/>
        </p:nvSpPr>
        <p:spPr>
          <a:xfrm>
            <a:off x="6400800" y="4846320"/>
            <a:ext cx="4845600" cy="776520"/>
          </a:xfrm>
          <a:prstGeom prst="roundRect">
            <a:avLst>
              <a:gd name="adj" fmla="val 16667"/>
            </a:avLst>
          </a:prstGeom>
          <a:solidFill>
            <a:srgbClr val="EBF8F5"/>
          </a:solidFill>
          <a:ln>
            <a:solidFill>
              <a:srgbClr val="EBF8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3" name="TextBox 95"/>
          <p:cNvSpPr/>
          <p:nvPr/>
        </p:nvSpPr>
        <p:spPr>
          <a:xfrm>
            <a:off x="6565320" y="4956120"/>
            <a:ext cx="451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Representation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96"/>
          <p:cNvSpPr/>
          <p:nvPr/>
        </p:nvSpPr>
        <p:spPr>
          <a:xfrm>
            <a:off x="6565320" y="5285160"/>
            <a:ext cx="45165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A photo becomes edges, shapes, parts, then “cat-ness”.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6" name="TextBox 2"/>
          <p:cNvSpPr/>
          <p:nvPr/>
        </p:nvSpPr>
        <p:spPr>
          <a:xfrm>
            <a:off x="502920" y="274320"/>
            <a:ext cx="10972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DEEP LEARNING • 2026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3"/>
          <p:cNvSpPr/>
          <p:nvPr/>
        </p:nvSpPr>
        <p:spPr>
          <a:xfrm>
            <a:off x="502920" y="567000"/>
            <a:ext cx="11154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How an image becomes numbers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4"/>
          <p:cNvSpPr/>
          <p:nvPr/>
        </p:nvSpPr>
        <p:spPr>
          <a:xfrm>
            <a:off x="502920" y="6537960"/>
            <a:ext cx="7314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Catholic University of Rwanda  |  Lecturer: Fadl Musa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5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9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Rectangle 6"/>
          <p:cNvSpPr/>
          <p:nvPr/>
        </p:nvSpPr>
        <p:spPr>
          <a:xfrm>
            <a:off x="914400" y="1645920"/>
            <a:ext cx="456480" cy="456480"/>
          </a:xfrm>
          <a:prstGeom prst="rect">
            <a:avLst/>
          </a:prstGeom>
          <a:solidFill>
            <a:srgbClr val="283C50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1" name="Rectangle 7"/>
          <p:cNvSpPr/>
          <p:nvPr/>
        </p:nvSpPr>
        <p:spPr>
          <a:xfrm>
            <a:off x="1417320" y="1645920"/>
            <a:ext cx="456480" cy="456480"/>
          </a:xfrm>
          <a:prstGeom prst="rect">
            <a:avLst/>
          </a:prstGeom>
          <a:solidFill>
            <a:srgbClr val="283C50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2" name="Rectangle 8"/>
          <p:cNvSpPr/>
          <p:nvPr/>
        </p:nvSpPr>
        <p:spPr>
          <a:xfrm>
            <a:off x="1920240" y="1645920"/>
            <a:ext cx="456480" cy="456480"/>
          </a:xfrm>
          <a:prstGeom prst="rect">
            <a:avLst/>
          </a:prstGeom>
          <a:solidFill>
            <a:srgbClr val="EBF0F4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3" name="Rectangle 9"/>
          <p:cNvSpPr/>
          <p:nvPr/>
        </p:nvSpPr>
        <p:spPr>
          <a:xfrm>
            <a:off x="2423160" y="1645920"/>
            <a:ext cx="456480" cy="456480"/>
          </a:xfrm>
          <a:prstGeom prst="rect">
            <a:avLst/>
          </a:prstGeom>
          <a:solidFill>
            <a:srgbClr val="EBF0F4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Rectangle 10"/>
          <p:cNvSpPr/>
          <p:nvPr/>
        </p:nvSpPr>
        <p:spPr>
          <a:xfrm>
            <a:off x="2926080" y="1645920"/>
            <a:ext cx="456480" cy="456480"/>
          </a:xfrm>
          <a:prstGeom prst="rect">
            <a:avLst/>
          </a:prstGeom>
          <a:solidFill>
            <a:srgbClr val="EBF0F4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5" name="Rectangle 11"/>
          <p:cNvSpPr/>
          <p:nvPr/>
        </p:nvSpPr>
        <p:spPr>
          <a:xfrm>
            <a:off x="914400" y="2148840"/>
            <a:ext cx="456480" cy="456480"/>
          </a:xfrm>
          <a:prstGeom prst="rect">
            <a:avLst/>
          </a:prstGeom>
          <a:solidFill>
            <a:srgbClr val="283C50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6" name="Rectangle 12"/>
          <p:cNvSpPr/>
          <p:nvPr/>
        </p:nvSpPr>
        <p:spPr>
          <a:xfrm>
            <a:off x="1417320" y="2148840"/>
            <a:ext cx="456480" cy="456480"/>
          </a:xfrm>
          <a:prstGeom prst="rect">
            <a:avLst/>
          </a:prstGeom>
          <a:solidFill>
            <a:srgbClr val="EBF0F4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7" name="Rectangle 13"/>
          <p:cNvSpPr/>
          <p:nvPr/>
        </p:nvSpPr>
        <p:spPr>
          <a:xfrm>
            <a:off x="1920240" y="2148840"/>
            <a:ext cx="456480" cy="456480"/>
          </a:xfrm>
          <a:prstGeom prst="rect">
            <a:avLst/>
          </a:prstGeom>
          <a:solidFill>
            <a:srgbClr val="283C50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8" name="Rectangle 14"/>
          <p:cNvSpPr/>
          <p:nvPr/>
        </p:nvSpPr>
        <p:spPr>
          <a:xfrm>
            <a:off x="2423160" y="2148840"/>
            <a:ext cx="456480" cy="456480"/>
          </a:xfrm>
          <a:prstGeom prst="rect">
            <a:avLst/>
          </a:prstGeom>
          <a:solidFill>
            <a:srgbClr val="EBF0F4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9" name="Rectangle 15"/>
          <p:cNvSpPr/>
          <p:nvPr/>
        </p:nvSpPr>
        <p:spPr>
          <a:xfrm>
            <a:off x="2926080" y="2148840"/>
            <a:ext cx="456480" cy="456480"/>
          </a:xfrm>
          <a:prstGeom prst="rect">
            <a:avLst/>
          </a:prstGeom>
          <a:solidFill>
            <a:srgbClr val="EBF0F4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Rectangle 16"/>
          <p:cNvSpPr/>
          <p:nvPr/>
        </p:nvSpPr>
        <p:spPr>
          <a:xfrm>
            <a:off x="914400" y="2651760"/>
            <a:ext cx="456480" cy="456480"/>
          </a:xfrm>
          <a:prstGeom prst="rect">
            <a:avLst/>
          </a:prstGeom>
          <a:solidFill>
            <a:srgbClr val="283C50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1" name="Rectangle 17"/>
          <p:cNvSpPr/>
          <p:nvPr/>
        </p:nvSpPr>
        <p:spPr>
          <a:xfrm>
            <a:off x="1417320" y="2651760"/>
            <a:ext cx="456480" cy="456480"/>
          </a:xfrm>
          <a:prstGeom prst="rect">
            <a:avLst/>
          </a:prstGeom>
          <a:solidFill>
            <a:srgbClr val="283C50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2" name="Rectangle 18"/>
          <p:cNvSpPr/>
          <p:nvPr/>
        </p:nvSpPr>
        <p:spPr>
          <a:xfrm>
            <a:off x="1920240" y="2651760"/>
            <a:ext cx="456480" cy="456480"/>
          </a:xfrm>
          <a:prstGeom prst="rect">
            <a:avLst/>
          </a:prstGeom>
          <a:solidFill>
            <a:srgbClr val="283C50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3" name="Rectangle 19"/>
          <p:cNvSpPr/>
          <p:nvPr/>
        </p:nvSpPr>
        <p:spPr>
          <a:xfrm>
            <a:off x="2423160" y="2651760"/>
            <a:ext cx="456480" cy="456480"/>
          </a:xfrm>
          <a:prstGeom prst="rect">
            <a:avLst/>
          </a:prstGeom>
          <a:solidFill>
            <a:srgbClr val="283C50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4" name="Rectangle 20"/>
          <p:cNvSpPr/>
          <p:nvPr/>
        </p:nvSpPr>
        <p:spPr>
          <a:xfrm>
            <a:off x="2926080" y="2651760"/>
            <a:ext cx="456480" cy="456480"/>
          </a:xfrm>
          <a:prstGeom prst="rect">
            <a:avLst/>
          </a:prstGeom>
          <a:solidFill>
            <a:srgbClr val="EBF0F4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5" name="Rectangle 21"/>
          <p:cNvSpPr/>
          <p:nvPr/>
        </p:nvSpPr>
        <p:spPr>
          <a:xfrm>
            <a:off x="914400" y="3154680"/>
            <a:ext cx="456480" cy="456480"/>
          </a:xfrm>
          <a:prstGeom prst="rect">
            <a:avLst/>
          </a:prstGeom>
          <a:solidFill>
            <a:srgbClr val="EBF0F4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6" name="Rectangle 22"/>
          <p:cNvSpPr/>
          <p:nvPr/>
        </p:nvSpPr>
        <p:spPr>
          <a:xfrm>
            <a:off x="1417320" y="3154680"/>
            <a:ext cx="456480" cy="456480"/>
          </a:xfrm>
          <a:prstGeom prst="rect">
            <a:avLst/>
          </a:prstGeom>
          <a:solidFill>
            <a:srgbClr val="283C50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7" name="Rectangle 23"/>
          <p:cNvSpPr/>
          <p:nvPr/>
        </p:nvSpPr>
        <p:spPr>
          <a:xfrm>
            <a:off x="1920240" y="3154680"/>
            <a:ext cx="456480" cy="456480"/>
          </a:xfrm>
          <a:prstGeom prst="rect">
            <a:avLst/>
          </a:prstGeom>
          <a:solidFill>
            <a:srgbClr val="EBF0F4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8" name="Rectangle 24"/>
          <p:cNvSpPr/>
          <p:nvPr/>
        </p:nvSpPr>
        <p:spPr>
          <a:xfrm>
            <a:off x="2423160" y="3154680"/>
            <a:ext cx="456480" cy="456480"/>
          </a:xfrm>
          <a:prstGeom prst="rect">
            <a:avLst/>
          </a:prstGeom>
          <a:solidFill>
            <a:srgbClr val="283C50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9" name="Rectangle 25"/>
          <p:cNvSpPr/>
          <p:nvPr/>
        </p:nvSpPr>
        <p:spPr>
          <a:xfrm>
            <a:off x="2926080" y="3154680"/>
            <a:ext cx="456480" cy="456480"/>
          </a:xfrm>
          <a:prstGeom prst="rect">
            <a:avLst/>
          </a:prstGeom>
          <a:solidFill>
            <a:srgbClr val="EBF0F4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" name="Rectangle 26"/>
          <p:cNvSpPr/>
          <p:nvPr/>
        </p:nvSpPr>
        <p:spPr>
          <a:xfrm>
            <a:off x="914400" y="3657600"/>
            <a:ext cx="456480" cy="456480"/>
          </a:xfrm>
          <a:prstGeom prst="rect">
            <a:avLst/>
          </a:prstGeom>
          <a:solidFill>
            <a:srgbClr val="EBF0F4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1" name="Rectangle 27"/>
          <p:cNvSpPr/>
          <p:nvPr/>
        </p:nvSpPr>
        <p:spPr>
          <a:xfrm>
            <a:off x="1417320" y="3657600"/>
            <a:ext cx="456480" cy="456480"/>
          </a:xfrm>
          <a:prstGeom prst="rect">
            <a:avLst/>
          </a:prstGeom>
          <a:solidFill>
            <a:srgbClr val="283C50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2" name="Rectangle 28"/>
          <p:cNvSpPr/>
          <p:nvPr/>
        </p:nvSpPr>
        <p:spPr>
          <a:xfrm>
            <a:off x="1920240" y="3657600"/>
            <a:ext cx="456480" cy="456480"/>
          </a:xfrm>
          <a:prstGeom prst="rect">
            <a:avLst/>
          </a:prstGeom>
          <a:solidFill>
            <a:srgbClr val="283C50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3" name="Rectangle 29"/>
          <p:cNvSpPr/>
          <p:nvPr/>
        </p:nvSpPr>
        <p:spPr>
          <a:xfrm>
            <a:off x="2423160" y="3657600"/>
            <a:ext cx="456480" cy="456480"/>
          </a:xfrm>
          <a:prstGeom prst="rect">
            <a:avLst/>
          </a:prstGeom>
          <a:solidFill>
            <a:srgbClr val="283C50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4" name="Rectangle 30"/>
          <p:cNvSpPr/>
          <p:nvPr/>
        </p:nvSpPr>
        <p:spPr>
          <a:xfrm>
            <a:off x="2926080" y="3657600"/>
            <a:ext cx="456480" cy="456480"/>
          </a:xfrm>
          <a:prstGeom prst="rect">
            <a:avLst/>
          </a:prstGeom>
          <a:solidFill>
            <a:srgbClr val="283C50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5" name="TextBox 31"/>
          <p:cNvSpPr/>
          <p:nvPr/>
        </p:nvSpPr>
        <p:spPr>
          <a:xfrm>
            <a:off x="914400" y="457200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1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5 × 5 grayscale pixels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Rounded Rectangle 32"/>
          <p:cNvSpPr/>
          <p:nvPr/>
        </p:nvSpPr>
        <p:spPr>
          <a:xfrm>
            <a:off x="4754880" y="2743200"/>
            <a:ext cx="1050840" cy="913680"/>
          </a:xfrm>
          <a:prstGeom prst="roundRect">
            <a:avLst>
              <a:gd name="adj" fmla="val 16667"/>
            </a:avLst>
          </a:prstGeom>
          <a:solidFill>
            <a:srgbClr val="EFF6FB"/>
          </a:solidFill>
          <a:ln>
            <a:solidFill>
              <a:srgbClr val="EFF6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7" name="TextBox 33"/>
          <p:cNvSpPr/>
          <p:nvPr/>
        </p:nvSpPr>
        <p:spPr>
          <a:xfrm>
            <a:off x="4754880" y="2971800"/>
            <a:ext cx="1050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pixels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8" name="Connector 34"/>
          <p:cNvCxnSpPr/>
          <p:nvPr/>
        </p:nvCxnSpPr>
        <p:spPr>
          <a:xfrm>
            <a:off x="5806440" y="3200400"/>
            <a:ext cx="412200" cy="720"/>
          </a:xfrm>
          <a:prstGeom prst="straightConnector1">
            <a:avLst/>
          </a:prstGeom>
          <a:ln w="0">
            <a:solidFill>
              <a:srgbClr val="5F6C7A"/>
            </a:solidFill>
          </a:ln>
        </p:spPr>
      </p:cxnSp>
      <p:sp>
        <p:nvSpPr>
          <p:cNvPr id="419" name="Rounded Rectangle 35"/>
          <p:cNvSpPr/>
          <p:nvPr/>
        </p:nvSpPr>
        <p:spPr>
          <a:xfrm>
            <a:off x="6263640" y="2743200"/>
            <a:ext cx="1050840" cy="913680"/>
          </a:xfrm>
          <a:prstGeom prst="roundRect">
            <a:avLst>
              <a:gd name="adj" fmla="val 16667"/>
            </a:avLst>
          </a:prstGeom>
          <a:solidFill>
            <a:srgbClr val="E5F1F7"/>
          </a:solidFill>
          <a:ln>
            <a:solidFill>
              <a:srgbClr val="E5F1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0" name="TextBox 36"/>
          <p:cNvSpPr/>
          <p:nvPr/>
        </p:nvSpPr>
        <p:spPr>
          <a:xfrm>
            <a:off x="6263640" y="2971800"/>
            <a:ext cx="1050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edges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1" name="Connector 37"/>
          <p:cNvCxnSpPr/>
          <p:nvPr/>
        </p:nvCxnSpPr>
        <p:spPr>
          <a:xfrm>
            <a:off x="7315200" y="3200400"/>
            <a:ext cx="411840" cy="720"/>
          </a:xfrm>
          <a:prstGeom prst="straightConnector1">
            <a:avLst/>
          </a:prstGeom>
          <a:ln w="0">
            <a:solidFill>
              <a:srgbClr val="5F6C7A"/>
            </a:solidFill>
          </a:ln>
        </p:spPr>
      </p:cxnSp>
      <p:sp>
        <p:nvSpPr>
          <p:cNvPr id="422" name="Rounded Rectangle 38"/>
          <p:cNvSpPr/>
          <p:nvPr/>
        </p:nvSpPr>
        <p:spPr>
          <a:xfrm>
            <a:off x="7772400" y="2743200"/>
            <a:ext cx="1050840" cy="913680"/>
          </a:xfrm>
          <a:prstGeom prst="roundRect">
            <a:avLst>
              <a:gd name="adj" fmla="val 16667"/>
            </a:avLst>
          </a:prstGeom>
          <a:solidFill>
            <a:srgbClr val="FFF8E3"/>
          </a:solidFill>
          <a:ln>
            <a:solidFill>
              <a:srgbClr val="FFF8E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3" name="TextBox 39"/>
          <p:cNvSpPr/>
          <p:nvPr/>
        </p:nvSpPr>
        <p:spPr>
          <a:xfrm>
            <a:off x="7772400" y="2971800"/>
            <a:ext cx="1050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shapes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4" name="Connector 40"/>
          <p:cNvCxnSpPr/>
          <p:nvPr/>
        </p:nvCxnSpPr>
        <p:spPr>
          <a:xfrm>
            <a:off x="8823960" y="3200400"/>
            <a:ext cx="412200" cy="720"/>
          </a:xfrm>
          <a:prstGeom prst="straightConnector1">
            <a:avLst/>
          </a:prstGeom>
          <a:ln w="0">
            <a:solidFill>
              <a:srgbClr val="5F6C7A"/>
            </a:solidFill>
          </a:ln>
        </p:spPr>
      </p:cxnSp>
      <p:sp>
        <p:nvSpPr>
          <p:cNvPr id="425" name="Rounded Rectangle 41"/>
          <p:cNvSpPr/>
          <p:nvPr/>
        </p:nvSpPr>
        <p:spPr>
          <a:xfrm>
            <a:off x="9281160" y="2743200"/>
            <a:ext cx="1050840" cy="913680"/>
          </a:xfrm>
          <a:prstGeom prst="roundRect">
            <a:avLst>
              <a:gd name="adj" fmla="val 16667"/>
            </a:avLst>
          </a:prstGeom>
          <a:solidFill>
            <a:srgbClr val="EBF8F5"/>
          </a:solidFill>
          <a:ln>
            <a:solidFill>
              <a:srgbClr val="EBF8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6" name="TextBox 42"/>
          <p:cNvSpPr/>
          <p:nvPr/>
        </p:nvSpPr>
        <p:spPr>
          <a:xfrm>
            <a:off x="9281160" y="2971800"/>
            <a:ext cx="1050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class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43"/>
          <p:cNvSpPr/>
          <p:nvPr/>
        </p:nvSpPr>
        <p:spPr>
          <a:xfrm>
            <a:off x="4572000" y="1691640"/>
            <a:ext cx="6217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1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A neural network learns useful visual summaries.</a:t>
            </a:r>
            <a:endParaRPr lang="en-CA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9" name="TextBox 2"/>
          <p:cNvSpPr/>
          <p:nvPr/>
        </p:nvSpPr>
        <p:spPr>
          <a:xfrm>
            <a:off x="502920" y="274320"/>
            <a:ext cx="10972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DEEP LEARNING • 2026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Box 3"/>
          <p:cNvSpPr/>
          <p:nvPr/>
        </p:nvSpPr>
        <p:spPr>
          <a:xfrm>
            <a:off x="502920" y="567000"/>
            <a:ext cx="11154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Training loop: guess → measure → adjust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Box 4"/>
          <p:cNvSpPr/>
          <p:nvPr/>
        </p:nvSpPr>
        <p:spPr>
          <a:xfrm>
            <a:off x="502920" y="6537960"/>
            <a:ext cx="7314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Catholic University of Rwanda  |  Lecturer: Fadl Musa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Box 5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10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Oval 6"/>
          <p:cNvSpPr/>
          <p:nvPr/>
        </p:nvSpPr>
        <p:spPr>
          <a:xfrm>
            <a:off x="822960" y="1828800"/>
            <a:ext cx="566280" cy="56628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4" name="TextBox 7"/>
          <p:cNvSpPr/>
          <p:nvPr/>
        </p:nvSpPr>
        <p:spPr>
          <a:xfrm>
            <a:off x="822960" y="182880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Box 8"/>
          <p:cNvSpPr/>
          <p:nvPr/>
        </p:nvSpPr>
        <p:spPr>
          <a:xfrm>
            <a:off x="1554480" y="181044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Guess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9"/>
          <p:cNvSpPr/>
          <p:nvPr/>
        </p:nvSpPr>
        <p:spPr>
          <a:xfrm>
            <a:off x="1554480" y="2176200"/>
            <a:ext cx="164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7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ŷ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7" name="Connector 10"/>
          <p:cNvCxnSpPr/>
          <p:nvPr/>
        </p:nvCxnSpPr>
        <p:spPr>
          <a:xfrm>
            <a:off x="3063240" y="2103120"/>
            <a:ext cx="412200" cy="720"/>
          </a:xfrm>
          <a:prstGeom prst="straightConnector1">
            <a:avLst/>
          </a:prstGeom>
          <a:ln w="0">
            <a:solidFill>
              <a:srgbClr val="5F6C7A"/>
            </a:solidFill>
          </a:ln>
        </p:spPr>
      </p:cxnSp>
      <p:sp>
        <p:nvSpPr>
          <p:cNvPr id="438" name="Oval 11"/>
          <p:cNvSpPr/>
          <p:nvPr/>
        </p:nvSpPr>
        <p:spPr>
          <a:xfrm>
            <a:off x="3611880" y="1828800"/>
            <a:ext cx="566280" cy="56628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9" name="TextBox 12"/>
          <p:cNvSpPr/>
          <p:nvPr/>
        </p:nvSpPr>
        <p:spPr>
          <a:xfrm>
            <a:off x="3611880" y="182880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Box 13"/>
          <p:cNvSpPr/>
          <p:nvPr/>
        </p:nvSpPr>
        <p:spPr>
          <a:xfrm>
            <a:off x="4343400" y="181044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Compare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14"/>
          <p:cNvSpPr/>
          <p:nvPr/>
        </p:nvSpPr>
        <p:spPr>
          <a:xfrm>
            <a:off x="4343400" y="2176200"/>
            <a:ext cx="164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7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loss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2" name="Connector 15"/>
          <p:cNvCxnSpPr/>
          <p:nvPr/>
        </p:nvCxnSpPr>
        <p:spPr>
          <a:xfrm>
            <a:off x="5852160" y="2103120"/>
            <a:ext cx="412200" cy="720"/>
          </a:xfrm>
          <a:prstGeom prst="straightConnector1">
            <a:avLst/>
          </a:prstGeom>
          <a:ln w="0">
            <a:solidFill>
              <a:srgbClr val="5F6C7A"/>
            </a:solidFill>
          </a:ln>
        </p:spPr>
      </p:cxnSp>
      <p:sp>
        <p:nvSpPr>
          <p:cNvPr id="443" name="Oval 16"/>
          <p:cNvSpPr/>
          <p:nvPr/>
        </p:nvSpPr>
        <p:spPr>
          <a:xfrm>
            <a:off x="6400800" y="1828800"/>
            <a:ext cx="566280" cy="56628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4" name="TextBox 17"/>
          <p:cNvSpPr/>
          <p:nvPr/>
        </p:nvSpPr>
        <p:spPr>
          <a:xfrm>
            <a:off x="6400800" y="182880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18"/>
          <p:cNvSpPr/>
          <p:nvPr/>
        </p:nvSpPr>
        <p:spPr>
          <a:xfrm>
            <a:off x="7132320" y="181044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Find direction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Box 19"/>
          <p:cNvSpPr/>
          <p:nvPr/>
        </p:nvSpPr>
        <p:spPr>
          <a:xfrm>
            <a:off x="7132320" y="2176200"/>
            <a:ext cx="164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7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gradient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7" name="Connector 20"/>
          <p:cNvCxnSpPr/>
          <p:nvPr/>
        </p:nvCxnSpPr>
        <p:spPr>
          <a:xfrm>
            <a:off x="8641080" y="2103120"/>
            <a:ext cx="412200" cy="720"/>
          </a:xfrm>
          <a:prstGeom prst="straightConnector1">
            <a:avLst/>
          </a:prstGeom>
          <a:ln w="0">
            <a:solidFill>
              <a:srgbClr val="5F6C7A"/>
            </a:solidFill>
          </a:ln>
        </p:spPr>
      </p:cxnSp>
      <p:sp>
        <p:nvSpPr>
          <p:cNvPr id="448" name="Oval 21"/>
          <p:cNvSpPr/>
          <p:nvPr/>
        </p:nvSpPr>
        <p:spPr>
          <a:xfrm>
            <a:off x="9189720" y="1828800"/>
            <a:ext cx="566280" cy="56628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9" name="TextBox 22"/>
          <p:cNvSpPr/>
          <p:nvPr/>
        </p:nvSpPr>
        <p:spPr>
          <a:xfrm>
            <a:off x="9189720" y="182880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Box 23"/>
          <p:cNvSpPr/>
          <p:nvPr/>
        </p:nvSpPr>
        <p:spPr>
          <a:xfrm>
            <a:off x="9921240" y="181044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Adjust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Box 24"/>
          <p:cNvSpPr/>
          <p:nvPr/>
        </p:nvSpPr>
        <p:spPr>
          <a:xfrm>
            <a:off x="9921240" y="2176200"/>
            <a:ext cx="164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7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weights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2" name="Connector 25"/>
          <p:cNvCxnSpPr/>
          <p:nvPr/>
        </p:nvCxnSpPr>
        <p:spPr>
          <a:xfrm flipH="1">
            <a:off x="1097280" y="2743200"/>
            <a:ext cx="8870400" cy="720"/>
          </a:xfrm>
          <a:prstGeom prst="straightConnector1">
            <a:avLst/>
          </a:prstGeom>
          <a:ln w="0">
            <a:solidFill>
              <a:srgbClr val="CD4B46"/>
            </a:solidFill>
          </a:ln>
        </p:spPr>
      </p:cxnSp>
      <p:sp>
        <p:nvSpPr>
          <p:cNvPr id="453" name="TextBox 26"/>
          <p:cNvSpPr/>
          <p:nvPr/>
        </p:nvSpPr>
        <p:spPr>
          <a:xfrm>
            <a:off x="4389120" y="306324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22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Repeat until mistakes become small.</a:t>
            </a:r>
            <a:endParaRPr lang="en-CA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Rounded Rectangle 27"/>
          <p:cNvSpPr/>
          <p:nvPr/>
        </p:nvSpPr>
        <p:spPr>
          <a:xfrm>
            <a:off x="1828800" y="4160520"/>
            <a:ext cx="8228880" cy="913680"/>
          </a:xfrm>
          <a:prstGeom prst="roundRect">
            <a:avLst>
              <a:gd name="adj" fmla="val 16667"/>
            </a:avLst>
          </a:prstGeom>
          <a:solidFill>
            <a:srgbClr val="FFF8E3"/>
          </a:solidFill>
          <a:ln>
            <a:solidFill>
              <a:srgbClr val="FFF8E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5" name="TextBox 28"/>
          <p:cNvSpPr/>
          <p:nvPr/>
        </p:nvSpPr>
        <p:spPr>
          <a:xfrm>
            <a:off x="1993320" y="4270320"/>
            <a:ext cx="7899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Classroom analogy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Box 29"/>
          <p:cNvSpPr/>
          <p:nvPr/>
        </p:nvSpPr>
        <p:spPr>
          <a:xfrm>
            <a:off x="1993320" y="4599360"/>
            <a:ext cx="78998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Practice a quiz → see errors → change study strategy → try again.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8" name="TextBox 2"/>
          <p:cNvSpPr/>
          <p:nvPr/>
        </p:nvSpPr>
        <p:spPr>
          <a:xfrm>
            <a:off x="502920" y="274320"/>
            <a:ext cx="10972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DEEP LEARNING • 2026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Box 3"/>
          <p:cNvSpPr/>
          <p:nvPr/>
        </p:nvSpPr>
        <p:spPr>
          <a:xfrm>
            <a:off x="502920" y="567000"/>
            <a:ext cx="11154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Loss: turning “wrong” into a number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4"/>
          <p:cNvSpPr/>
          <p:nvPr/>
        </p:nvSpPr>
        <p:spPr>
          <a:xfrm>
            <a:off x="502920" y="6537960"/>
            <a:ext cx="7314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Catholic University of Rwanda  |  Lecturer: Fadl Musa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Box 5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 anchorCtr="1">
            <a:spAutoFit/>
          </a:bodyPr>
          <a:p>
            <a:pPr algn="r"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11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Box 6"/>
          <p:cNvSpPr/>
          <p:nvPr/>
        </p:nvSpPr>
        <p:spPr>
          <a:xfrm>
            <a:off x="777240" y="1325880"/>
            <a:ext cx="4662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1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For one prediction, squared error is easy:</a:t>
            </a:r>
            <a:endParaRPr lang="en-CA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Box 7"/>
          <p:cNvSpPr/>
          <p:nvPr/>
        </p:nvSpPr>
        <p:spPr>
          <a:xfrm>
            <a:off x="777240" y="2148840"/>
            <a:ext cx="46627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6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loss = (answer − prediction)²</a:t>
            </a:r>
            <a:endParaRPr lang="en-CA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Box 8"/>
          <p:cNvSpPr/>
          <p:nvPr/>
        </p:nvSpPr>
        <p:spPr>
          <a:xfrm>
            <a:off x="777240" y="3017520"/>
            <a:ext cx="4571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9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True answer = 1</a:t>
            </a:r>
            <a:endParaRPr lang="en-CA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9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Prediction = 0.7</a:t>
            </a:r>
            <a:endParaRPr lang="en-CA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9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loss = (1 − 0.7)² = 0.09</a:t>
            </a:r>
            <a:endParaRPr lang="en-CA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Box 9"/>
          <p:cNvSpPr/>
          <p:nvPr/>
        </p:nvSpPr>
        <p:spPr>
          <a:xfrm>
            <a:off x="6400800" y="1828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1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good guess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Rounded Rectangle 10"/>
          <p:cNvSpPr/>
          <p:nvPr/>
        </p:nvSpPr>
        <p:spPr>
          <a:xfrm>
            <a:off x="7863840" y="1874520"/>
            <a:ext cx="2925360" cy="273600"/>
          </a:xfrm>
          <a:prstGeom prst="roundRect">
            <a:avLst>
              <a:gd name="adj" fmla="val 16667"/>
            </a:avLst>
          </a:prstGeom>
          <a:solidFill>
            <a:srgbClr val="E6ECF1"/>
          </a:solidFill>
          <a:ln>
            <a:solidFill>
              <a:srgbClr val="E6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7" name="Rounded Rectangle 11"/>
          <p:cNvSpPr/>
          <p:nvPr/>
        </p:nvSpPr>
        <p:spPr>
          <a:xfrm>
            <a:off x="7863840" y="1874520"/>
            <a:ext cx="876960" cy="273600"/>
          </a:xfrm>
          <a:prstGeom prst="roundRect">
            <a:avLst>
              <a:gd name="adj" fmla="val 16667"/>
            </a:avLst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8" name="TextBox 12"/>
          <p:cNvSpPr/>
          <p:nvPr/>
        </p:nvSpPr>
        <p:spPr>
          <a:xfrm>
            <a:off x="10972800" y="18288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1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0.09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Box 13"/>
          <p:cNvSpPr/>
          <p:nvPr/>
        </p:nvSpPr>
        <p:spPr>
          <a:xfrm>
            <a:off x="6400800" y="338328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1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poor guess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Rounded Rectangle 14"/>
          <p:cNvSpPr/>
          <p:nvPr/>
        </p:nvSpPr>
        <p:spPr>
          <a:xfrm>
            <a:off x="7863840" y="3429000"/>
            <a:ext cx="2925360" cy="273600"/>
          </a:xfrm>
          <a:prstGeom prst="roundRect">
            <a:avLst>
              <a:gd name="adj" fmla="val 16667"/>
            </a:avLst>
          </a:prstGeom>
          <a:solidFill>
            <a:srgbClr val="E6ECF1"/>
          </a:solidFill>
          <a:ln>
            <a:solidFill>
              <a:srgbClr val="E6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1" name="Rounded Rectangle 15"/>
          <p:cNvSpPr/>
          <p:nvPr/>
        </p:nvSpPr>
        <p:spPr>
          <a:xfrm>
            <a:off x="7863840" y="3429000"/>
            <a:ext cx="2632680" cy="273600"/>
          </a:xfrm>
          <a:prstGeom prst="roundRect">
            <a:avLst>
              <a:gd name="adj" fmla="val 16667"/>
            </a:avLst>
          </a:prstGeom>
          <a:solidFill>
            <a:srgbClr val="CD4B46"/>
          </a:solidFill>
          <a:ln>
            <a:solidFill>
              <a:srgbClr val="CD4B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2" name="TextBox 16"/>
          <p:cNvSpPr/>
          <p:nvPr/>
        </p:nvSpPr>
        <p:spPr>
          <a:xfrm>
            <a:off x="10972800" y="33832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11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Rounded Rectangle 17"/>
          <p:cNvSpPr/>
          <p:nvPr/>
        </p:nvSpPr>
        <p:spPr>
          <a:xfrm>
            <a:off x="6400800" y="4937760"/>
            <a:ext cx="5028480" cy="685080"/>
          </a:xfrm>
          <a:prstGeom prst="roundRect">
            <a:avLst>
              <a:gd name="adj" fmla="val 16667"/>
            </a:avLst>
          </a:prstGeom>
          <a:solidFill>
            <a:srgbClr val="EBF8F5"/>
          </a:solidFill>
          <a:ln>
            <a:solidFill>
              <a:srgbClr val="EBF8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4" name="TextBox 18"/>
          <p:cNvSpPr/>
          <p:nvPr/>
        </p:nvSpPr>
        <p:spPr>
          <a:xfrm>
            <a:off x="6565320" y="5047560"/>
            <a:ext cx="4699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Goal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Box 19"/>
          <p:cNvSpPr/>
          <p:nvPr/>
        </p:nvSpPr>
        <p:spPr>
          <a:xfrm>
            <a:off x="6565320" y="5376600"/>
            <a:ext cx="469944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Training tries to make the loss smaller.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7" name="TextBox 2"/>
          <p:cNvSpPr/>
          <p:nvPr/>
        </p:nvSpPr>
        <p:spPr>
          <a:xfrm>
            <a:off x="502920" y="274320"/>
            <a:ext cx="10972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DEEP LEARNING • 2026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Box 3"/>
          <p:cNvSpPr/>
          <p:nvPr/>
        </p:nvSpPr>
        <p:spPr>
          <a:xfrm>
            <a:off x="502920" y="567000"/>
            <a:ext cx="11154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Gradient descent: walking downhill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Box 4"/>
          <p:cNvSpPr/>
          <p:nvPr/>
        </p:nvSpPr>
        <p:spPr>
          <a:xfrm>
            <a:off x="502920" y="6537960"/>
            <a:ext cx="7314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Catholic University of Rwanda  |  Lecturer: Fadl Musa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Box 5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12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81" name="Connector 6"/>
          <p:cNvCxnSpPr/>
          <p:nvPr/>
        </p:nvCxnSpPr>
        <p:spPr>
          <a:xfrm flipV="1">
            <a:off x="6035040" y="5412960"/>
            <a:ext cx="50760" cy="1486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482" name="Connector 7"/>
          <p:cNvCxnSpPr/>
          <p:nvPr/>
        </p:nvCxnSpPr>
        <p:spPr>
          <a:xfrm flipV="1">
            <a:off x="6085080" y="5268240"/>
            <a:ext cx="51120" cy="14544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483" name="Connector 8"/>
          <p:cNvCxnSpPr/>
          <p:nvPr/>
        </p:nvCxnSpPr>
        <p:spPr>
          <a:xfrm flipV="1">
            <a:off x="6135480" y="5126400"/>
            <a:ext cx="51120" cy="14256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484" name="Connector 9"/>
          <p:cNvCxnSpPr/>
          <p:nvPr/>
        </p:nvCxnSpPr>
        <p:spPr>
          <a:xfrm flipV="1">
            <a:off x="6185880" y="4987440"/>
            <a:ext cx="50760" cy="1396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485" name="Connector 10"/>
          <p:cNvCxnSpPr/>
          <p:nvPr/>
        </p:nvCxnSpPr>
        <p:spPr>
          <a:xfrm flipV="1">
            <a:off x="6235920" y="4851720"/>
            <a:ext cx="51120" cy="13644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486" name="Connector 11"/>
          <p:cNvCxnSpPr/>
          <p:nvPr/>
        </p:nvCxnSpPr>
        <p:spPr>
          <a:xfrm flipV="1">
            <a:off x="6286320" y="4718880"/>
            <a:ext cx="51120" cy="13356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487" name="Connector 12"/>
          <p:cNvCxnSpPr/>
          <p:nvPr/>
        </p:nvCxnSpPr>
        <p:spPr>
          <a:xfrm flipV="1">
            <a:off x="6336720" y="4588920"/>
            <a:ext cx="50760" cy="1306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488" name="Connector 13"/>
          <p:cNvCxnSpPr/>
          <p:nvPr/>
        </p:nvCxnSpPr>
        <p:spPr>
          <a:xfrm flipV="1">
            <a:off x="6386760" y="4462200"/>
            <a:ext cx="51120" cy="12744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489" name="Connector 14"/>
          <p:cNvCxnSpPr/>
          <p:nvPr/>
        </p:nvCxnSpPr>
        <p:spPr>
          <a:xfrm flipV="1">
            <a:off x="6437160" y="4338360"/>
            <a:ext cx="51120" cy="12456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490" name="Connector 15"/>
          <p:cNvCxnSpPr/>
          <p:nvPr/>
        </p:nvCxnSpPr>
        <p:spPr>
          <a:xfrm flipV="1">
            <a:off x="6487560" y="4217400"/>
            <a:ext cx="50760" cy="1216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491" name="Connector 16"/>
          <p:cNvCxnSpPr/>
          <p:nvPr/>
        </p:nvCxnSpPr>
        <p:spPr>
          <a:xfrm flipV="1">
            <a:off x="6537600" y="4099320"/>
            <a:ext cx="51120" cy="11880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492" name="Connector 17"/>
          <p:cNvCxnSpPr/>
          <p:nvPr/>
        </p:nvCxnSpPr>
        <p:spPr>
          <a:xfrm flipV="1">
            <a:off x="6588000" y="3984480"/>
            <a:ext cx="51120" cy="11556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493" name="Connector 18"/>
          <p:cNvCxnSpPr/>
          <p:nvPr/>
        </p:nvCxnSpPr>
        <p:spPr>
          <a:xfrm flipV="1">
            <a:off x="6638400" y="3872520"/>
            <a:ext cx="51120" cy="1126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494" name="Connector 19"/>
          <p:cNvCxnSpPr/>
          <p:nvPr/>
        </p:nvCxnSpPr>
        <p:spPr>
          <a:xfrm flipV="1">
            <a:off x="6688800" y="3763440"/>
            <a:ext cx="50760" cy="10980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495" name="Connector 20"/>
          <p:cNvCxnSpPr/>
          <p:nvPr/>
        </p:nvCxnSpPr>
        <p:spPr>
          <a:xfrm flipV="1">
            <a:off x="6738840" y="3657600"/>
            <a:ext cx="51120" cy="10656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496" name="Connector 21"/>
          <p:cNvCxnSpPr/>
          <p:nvPr/>
        </p:nvCxnSpPr>
        <p:spPr>
          <a:xfrm flipV="1">
            <a:off x="6789240" y="3554280"/>
            <a:ext cx="51120" cy="10404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497" name="Connector 22"/>
          <p:cNvCxnSpPr/>
          <p:nvPr/>
        </p:nvCxnSpPr>
        <p:spPr>
          <a:xfrm flipV="1">
            <a:off x="6839640" y="3454560"/>
            <a:ext cx="50760" cy="10044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498" name="Connector 23"/>
          <p:cNvCxnSpPr/>
          <p:nvPr/>
        </p:nvCxnSpPr>
        <p:spPr>
          <a:xfrm flipV="1">
            <a:off x="6889680" y="3357360"/>
            <a:ext cx="51120" cy="9792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499" name="Connector 24"/>
          <p:cNvCxnSpPr/>
          <p:nvPr/>
        </p:nvCxnSpPr>
        <p:spPr>
          <a:xfrm flipV="1">
            <a:off x="6940080" y="3263400"/>
            <a:ext cx="51120" cy="946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00" name="Connector 25"/>
          <p:cNvCxnSpPr/>
          <p:nvPr/>
        </p:nvCxnSpPr>
        <p:spPr>
          <a:xfrm flipV="1">
            <a:off x="6990480" y="3172320"/>
            <a:ext cx="50760" cy="9180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01" name="Connector 26"/>
          <p:cNvCxnSpPr/>
          <p:nvPr/>
        </p:nvCxnSpPr>
        <p:spPr>
          <a:xfrm flipV="1">
            <a:off x="7040520" y="3084120"/>
            <a:ext cx="51120" cy="8892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02" name="Connector 27"/>
          <p:cNvCxnSpPr/>
          <p:nvPr/>
        </p:nvCxnSpPr>
        <p:spPr>
          <a:xfrm flipV="1">
            <a:off x="7090920" y="2999160"/>
            <a:ext cx="51120" cy="856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03" name="Connector 28"/>
          <p:cNvCxnSpPr/>
          <p:nvPr/>
        </p:nvCxnSpPr>
        <p:spPr>
          <a:xfrm flipV="1">
            <a:off x="7141320" y="2917080"/>
            <a:ext cx="51120" cy="8280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04" name="Connector 29"/>
          <p:cNvCxnSpPr/>
          <p:nvPr/>
        </p:nvCxnSpPr>
        <p:spPr>
          <a:xfrm flipV="1">
            <a:off x="7191720" y="2837880"/>
            <a:ext cx="50760" cy="7992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05" name="Connector 30"/>
          <p:cNvCxnSpPr/>
          <p:nvPr/>
        </p:nvCxnSpPr>
        <p:spPr>
          <a:xfrm flipV="1">
            <a:off x="7241760" y="2761560"/>
            <a:ext cx="51120" cy="7704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06" name="Connector 31"/>
          <p:cNvCxnSpPr/>
          <p:nvPr/>
        </p:nvCxnSpPr>
        <p:spPr>
          <a:xfrm flipV="1">
            <a:off x="7292160" y="2688480"/>
            <a:ext cx="51120" cy="7380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07" name="Connector 32"/>
          <p:cNvCxnSpPr/>
          <p:nvPr/>
        </p:nvCxnSpPr>
        <p:spPr>
          <a:xfrm flipV="1">
            <a:off x="7342560" y="2618280"/>
            <a:ext cx="50760" cy="7092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08" name="Connector 33"/>
          <p:cNvCxnSpPr/>
          <p:nvPr/>
        </p:nvCxnSpPr>
        <p:spPr>
          <a:xfrm flipV="1">
            <a:off x="7392600" y="2551320"/>
            <a:ext cx="51120" cy="676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09" name="Connector 34"/>
          <p:cNvCxnSpPr/>
          <p:nvPr/>
        </p:nvCxnSpPr>
        <p:spPr>
          <a:xfrm flipV="1">
            <a:off x="7443000" y="2486880"/>
            <a:ext cx="51120" cy="6516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10" name="Connector 35"/>
          <p:cNvCxnSpPr/>
          <p:nvPr/>
        </p:nvCxnSpPr>
        <p:spPr>
          <a:xfrm flipV="1">
            <a:off x="7493400" y="2425680"/>
            <a:ext cx="51120" cy="6192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11" name="Connector 36"/>
          <p:cNvCxnSpPr/>
          <p:nvPr/>
        </p:nvCxnSpPr>
        <p:spPr>
          <a:xfrm flipV="1">
            <a:off x="7543800" y="2367720"/>
            <a:ext cx="50760" cy="586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12" name="Connector 37"/>
          <p:cNvCxnSpPr/>
          <p:nvPr/>
        </p:nvCxnSpPr>
        <p:spPr>
          <a:xfrm flipV="1">
            <a:off x="7593840" y="2312280"/>
            <a:ext cx="51120" cy="5616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13" name="Connector 38"/>
          <p:cNvCxnSpPr/>
          <p:nvPr/>
        </p:nvCxnSpPr>
        <p:spPr>
          <a:xfrm flipV="1">
            <a:off x="7644240" y="2260080"/>
            <a:ext cx="51120" cy="5292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14" name="Connector 39"/>
          <p:cNvCxnSpPr/>
          <p:nvPr/>
        </p:nvCxnSpPr>
        <p:spPr>
          <a:xfrm flipV="1">
            <a:off x="7694640" y="2210760"/>
            <a:ext cx="50760" cy="5004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15" name="Connector 40"/>
          <p:cNvCxnSpPr/>
          <p:nvPr/>
        </p:nvCxnSpPr>
        <p:spPr>
          <a:xfrm flipV="1">
            <a:off x="7744680" y="2164680"/>
            <a:ext cx="51120" cy="4680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16" name="Connector 41"/>
          <p:cNvCxnSpPr/>
          <p:nvPr/>
        </p:nvCxnSpPr>
        <p:spPr>
          <a:xfrm flipV="1">
            <a:off x="7795080" y="2121120"/>
            <a:ext cx="51120" cy="442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17" name="Connector 42"/>
          <p:cNvCxnSpPr/>
          <p:nvPr/>
        </p:nvCxnSpPr>
        <p:spPr>
          <a:xfrm flipV="1">
            <a:off x="7845480" y="2080800"/>
            <a:ext cx="50760" cy="4104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18" name="Connector 43"/>
          <p:cNvCxnSpPr/>
          <p:nvPr/>
        </p:nvCxnSpPr>
        <p:spPr>
          <a:xfrm flipV="1">
            <a:off x="7895520" y="2043720"/>
            <a:ext cx="51120" cy="3780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19" name="Connector 44"/>
          <p:cNvCxnSpPr/>
          <p:nvPr/>
        </p:nvCxnSpPr>
        <p:spPr>
          <a:xfrm flipV="1">
            <a:off x="7945920" y="2009160"/>
            <a:ext cx="51120" cy="352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20" name="Connector 45"/>
          <p:cNvCxnSpPr/>
          <p:nvPr/>
        </p:nvCxnSpPr>
        <p:spPr>
          <a:xfrm flipV="1">
            <a:off x="7996320" y="1977840"/>
            <a:ext cx="51120" cy="3204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21" name="Connector 46"/>
          <p:cNvCxnSpPr/>
          <p:nvPr/>
        </p:nvCxnSpPr>
        <p:spPr>
          <a:xfrm flipV="1">
            <a:off x="8046720" y="1949400"/>
            <a:ext cx="50760" cy="2916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22" name="Connector 47"/>
          <p:cNvCxnSpPr/>
          <p:nvPr/>
        </p:nvCxnSpPr>
        <p:spPr>
          <a:xfrm flipV="1">
            <a:off x="8096760" y="1924200"/>
            <a:ext cx="51120" cy="2592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23" name="Connector 48"/>
          <p:cNvCxnSpPr/>
          <p:nvPr/>
        </p:nvCxnSpPr>
        <p:spPr>
          <a:xfrm flipV="1">
            <a:off x="8147160" y="1901880"/>
            <a:ext cx="51120" cy="2304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24" name="Connector 49"/>
          <p:cNvCxnSpPr/>
          <p:nvPr/>
        </p:nvCxnSpPr>
        <p:spPr>
          <a:xfrm flipV="1">
            <a:off x="8197560" y="1882440"/>
            <a:ext cx="50760" cy="2016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25" name="Connector 50"/>
          <p:cNvCxnSpPr/>
          <p:nvPr/>
        </p:nvCxnSpPr>
        <p:spPr>
          <a:xfrm flipV="1">
            <a:off x="8247600" y="1865880"/>
            <a:ext cx="51120" cy="172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26" name="Connector 51"/>
          <p:cNvCxnSpPr/>
          <p:nvPr/>
        </p:nvCxnSpPr>
        <p:spPr>
          <a:xfrm flipV="1">
            <a:off x="8298000" y="1852560"/>
            <a:ext cx="51120" cy="1404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27" name="Connector 52"/>
          <p:cNvCxnSpPr/>
          <p:nvPr/>
        </p:nvCxnSpPr>
        <p:spPr>
          <a:xfrm flipV="1">
            <a:off x="8348400" y="1842120"/>
            <a:ext cx="50760" cy="1116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28" name="Connector 53"/>
          <p:cNvCxnSpPr/>
          <p:nvPr/>
        </p:nvCxnSpPr>
        <p:spPr>
          <a:xfrm flipV="1">
            <a:off x="8398440" y="1834560"/>
            <a:ext cx="51120" cy="82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29" name="Connector 54"/>
          <p:cNvCxnSpPr/>
          <p:nvPr/>
        </p:nvCxnSpPr>
        <p:spPr>
          <a:xfrm flipV="1">
            <a:off x="8448840" y="1830240"/>
            <a:ext cx="51120" cy="504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30" name="Connector 55"/>
          <p:cNvCxnSpPr/>
          <p:nvPr/>
        </p:nvCxnSpPr>
        <p:spPr>
          <a:xfrm flipV="1">
            <a:off x="8499240" y="1828800"/>
            <a:ext cx="51120" cy="216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31" name="Connector 56"/>
          <p:cNvCxnSpPr/>
          <p:nvPr/>
        </p:nvCxnSpPr>
        <p:spPr>
          <a:xfrm>
            <a:off x="8549640" y="1828800"/>
            <a:ext cx="50760" cy="216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32" name="Connector 57"/>
          <p:cNvCxnSpPr/>
          <p:nvPr/>
        </p:nvCxnSpPr>
        <p:spPr>
          <a:xfrm>
            <a:off x="8599680" y="1830240"/>
            <a:ext cx="51120" cy="504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33" name="Connector 58"/>
          <p:cNvCxnSpPr/>
          <p:nvPr/>
        </p:nvCxnSpPr>
        <p:spPr>
          <a:xfrm>
            <a:off x="8650080" y="1834560"/>
            <a:ext cx="51120" cy="82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34" name="Connector 59"/>
          <p:cNvCxnSpPr/>
          <p:nvPr/>
        </p:nvCxnSpPr>
        <p:spPr>
          <a:xfrm>
            <a:off x="8700480" y="1842120"/>
            <a:ext cx="50760" cy="1116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35" name="Connector 60"/>
          <p:cNvCxnSpPr/>
          <p:nvPr/>
        </p:nvCxnSpPr>
        <p:spPr>
          <a:xfrm>
            <a:off x="8750520" y="1852560"/>
            <a:ext cx="51120" cy="1404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36" name="Connector 61"/>
          <p:cNvCxnSpPr/>
          <p:nvPr/>
        </p:nvCxnSpPr>
        <p:spPr>
          <a:xfrm>
            <a:off x="8800920" y="1865880"/>
            <a:ext cx="51120" cy="172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37" name="Connector 62"/>
          <p:cNvCxnSpPr/>
          <p:nvPr/>
        </p:nvCxnSpPr>
        <p:spPr>
          <a:xfrm>
            <a:off x="8851320" y="1882440"/>
            <a:ext cx="50760" cy="2016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38" name="Connector 63"/>
          <p:cNvCxnSpPr/>
          <p:nvPr/>
        </p:nvCxnSpPr>
        <p:spPr>
          <a:xfrm>
            <a:off x="8901360" y="1901880"/>
            <a:ext cx="51120" cy="2304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39" name="Connector 64"/>
          <p:cNvCxnSpPr/>
          <p:nvPr/>
        </p:nvCxnSpPr>
        <p:spPr>
          <a:xfrm>
            <a:off x="8951760" y="1924200"/>
            <a:ext cx="51120" cy="2592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40" name="Connector 65"/>
          <p:cNvCxnSpPr/>
          <p:nvPr/>
        </p:nvCxnSpPr>
        <p:spPr>
          <a:xfrm>
            <a:off x="9002160" y="1949400"/>
            <a:ext cx="50760" cy="2916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41" name="Connector 66"/>
          <p:cNvCxnSpPr/>
          <p:nvPr/>
        </p:nvCxnSpPr>
        <p:spPr>
          <a:xfrm>
            <a:off x="9052200" y="1977840"/>
            <a:ext cx="51120" cy="3204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42" name="Connector 67"/>
          <p:cNvCxnSpPr/>
          <p:nvPr/>
        </p:nvCxnSpPr>
        <p:spPr>
          <a:xfrm>
            <a:off x="9102600" y="2009160"/>
            <a:ext cx="51120" cy="352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43" name="Connector 68"/>
          <p:cNvCxnSpPr/>
          <p:nvPr/>
        </p:nvCxnSpPr>
        <p:spPr>
          <a:xfrm>
            <a:off x="9153000" y="2043720"/>
            <a:ext cx="51120" cy="3780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44" name="Connector 69"/>
          <p:cNvCxnSpPr/>
          <p:nvPr/>
        </p:nvCxnSpPr>
        <p:spPr>
          <a:xfrm>
            <a:off x="9203400" y="2080800"/>
            <a:ext cx="50760" cy="4104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45" name="Connector 70"/>
          <p:cNvCxnSpPr/>
          <p:nvPr/>
        </p:nvCxnSpPr>
        <p:spPr>
          <a:xfrm>
            <a:off x="9253440" y="2121120"/>
            <a:ext cx="51120" cy="442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46" name="Connector 71"/>
          <p:cNvCxnSpPr/>
          <p:nvPr/>
        </p:nvCxnSpPr>
        <p:spPr>
          <a:xfrm>
            <a:off x="9303840" y="2164680"/>
            <a:ext cx="51120" cy="4680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47" name="Connector 72"/>
          <p:cNvCxnSpPr/>
          <p:nvPr/>
        </p:nvCxnSpPr>
        <p:spPr>
          <a:xfrm>
            <a:off x="9354240" y="2210760"/>
            <a:ext cx="50760" cy="5004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48" name="Connector 73"/>
          <p:cNvCxnSpPr/>
          <p:nvPr/>
        </p:nvCxnSpPr>
        <p:spPr>
          <a:xfrm>
            <a:off x="9404280" y="2260080"/>
            <a:ext cx="51120" cy="5292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49" name="Connector 74"/>
          <p:cNvCxnSpPr/>
          <p:nvPr/>
        </p:nvCxnSpPr>
        <p:spPr>
          <a:xfrm>
            <a:off x="9454680" y="2312280"/>
            <a:ext cx="51120" cy="5616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50" name="Connector 75"/>
          <p:cNvCxnSpPr/>
          <p:nvPr/>
        </p:nvCxnSpPr>
        <p:spPr>
          <a:xfrm>
            <a:off x="9505080" y="2367720"/>
            <a:ext cx="51120" cy="586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51" name="Connector 76"/>
          <p:cNvCxnSpPr/>
          <p:nvPr/>
        </p:nvCxnSpPr>
        <p:spPr>
          <a:xfrm>
            <a:off x="9555480" y="2425680"/>
            <a:ext cx="50760" cy="6192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52" name="Connector 77"/>
          <p:cNvCxnSpPr/>
          <p:nvPr/>
        </p:nvCxnSpPr>
        <p:spPr>
          <a:xfrm>
            <a:off x="9605520" y="2486880"/>
            <a:ext cx="51120" cy="6516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53" name="Connector 78"/>
          <p:cNvCxnSpPr/>
          <p:nvPr/>
        </p:nvCxnSpPr>
        <p:spPr>
          <a:xfrm>
            <a:off x="9655920" y="2551320"/>
            <a:ext cx="51120" cy="676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54" name="Connector 79"/>
          <p:cNvCxnSpPr/>
          <p:nvPr/>
        </p:nvCxnSpPr>
        <p:spPr>
          <a:xfrm>
            <a:off x="9706320" y="2618280"/>
            <a:ext cx="50760" cy="7092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55" name="Connector 80"/>
          <p:cNvCxnSpPr/>
          <p:nvPr/>
        </p:nvCxnSpPr>
        <p:spPr>
          <a:xfrm>
            <a:off x="9756360" y="2688480"/>
            <a:ext cx="51120" cy="7380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56" name="Connector 81"/>
          <p:cNvCxnSpPr/>
          <p:nvPr/>
        </p:nvCxnSpPr>
        <p:spPr>
          <a:xfrm>
            <a:off x="9806760" y="2761560"/>
            <a:ext cx="51120" cy="7704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57" name="Connector 82"/>
          <p:cNvCxnSpPr/>
          <p:nvPr/>
        </p:nvCxnSpPr>
        <p:spPr>
          <a:xfrm>
            <a:off x="9857160" y="2837880"/>
            <a:ext cx="50760" cy="7992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58" name="Connector 83"/>
          <p:cNvCxnSpPr/>
          <p:nvPr/>
        </p:nvCxnSpPr>
        <p:spPr>
          <a:xfrm>
            <a:off x="9907200" y="2917080"/>
            <a:ext cx="51120" cy="8280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59" name="Connector 84"/>
          <p:cNvCxnSpPr/>
          <p:nvPr/>
        </p:nvCxnSpPr>
        <p:spPr>
          <a:xfrm>
            <a:off x="9957600" y="2999160"/>
            <a:ext cx="51120" cy="856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60" name="Connector 85"/>
          <p:cNvCxnSpPr/>
          <p:nvPr/>
        </p:nvCxnSpPr>
        <p:spPr>
          <a:xfrm>
            <a:off x="10008000" y="3084120"/>
            <a:ext cx="51120" cy="8892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61" name="Connector 86"/>
          <p:cNvCxnSpPr/>
          <p:nvPr/>
        </p:nvCxnSpPr>
        <p:spPr>
          <a:xfrm>
            <a:off x="10058400" y="3172320"/>
            <a:ext cx="50760" cy="9180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62" name="Connector 87"/>
          <p:cNvCxnSpPr/>
          <p:nvPr/>
        </p:nvCxnSpPr>
        <p:spPr>
          <a:xfrm>
            <a:off x="10108440" y="3263400"/>
            <a:ext cx="51120" cy="946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63" name="Connector 88"/>
          <p:cNvCxnSpPr/>
          <p:nvPr/>
        </p:nvCxnSpPr>
        <p:spPr>
          <a:xfrm>
            <a:off x="10158840" y="3357360"/>
            <a:ext cx="51120" cy="9792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64" name="Connector 89"/>
          <p:cNvCxnSpPr/>
          <p:nvPr/>
        </p:nvCxnSpPr>
        <p:spPr>
          <a:xfrm>
            <a:off x="10209240" y="3454560"/>
            <a:ext cx="50760" cy="10044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65" name="Connector 90"/>
          <p:cNvCxnSpPr/>
          <p:nvPr/>
        </p:nvCxnSpPr>
        <p:spPr>
          <a:xfrm>
            <a:off x="10259280" y="3554280"/>
            <a:ext cx="51120" cy="10404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66" name="Connector 91"/>
          <p:cNvCxnSpPr/>
          <p:nvPr/>
        </p:nvCxnSpPr>
        <p:spPr>
          <a:xfrm>
            <a:off x="10309680" y="3657600"/>
            <a:ext cx="51120" cy="10656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67" name="Connector 92"/>
          <p:cNvCxnSpPr/>
          <p:nvPr/>
        </p:nvCxnSpPr>
        <p:spPr>
          <a:xfrm>
            <a:off x="10360080" y="3763440"/>
            <a:ext cx="50760" cy="10980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68" name="Connector 93"/>
          <p:cNvCxnSpPr/>
          <p:nvPr/>
        </p:nvCxnSpPr>
        <p:spPr>
          <a:xfrm>
            <a:off x="10410120" y="3872520"/>
            <a:ext cx="51120" cy="1126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69" name="Connector 94"/>
          <p:cNvCxnSpPr/>
          <p:nvPr/>
        </p:nvCxnSpPr>
        <p:spPr>
          <a:xfrm>
            <a:off x="10460520" y="3984480"/>
            <a:ext cx="51120" cy="11556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70" name="Connector 95"/>
          <p:cNvCxnSpPr/>
          <p:nvPr/>
        </p:nvCxnSpPr>
        <p:spPr>
          <a:xfrm>
            <a:off x="10510920" y="4099320"/>
            <a:ext cx="51120" cy="11880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71" name="Connector 96"/>
          <p:cNvCxnSpPr/>
          <p:nvPr/>
        </p:nvCxnSpPr>
        <p:spPr>
          <a:xfrm>
            <a:off x="10561320" y="4217400"/>
            <a:ext cx="50760" cy="1216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72" name="Connector 97"/>
          <p:cNvCxnSpPr/>
          <p:nvPr/>
        </p:nvCxnSpPr>
        <p:spPr>
          <a:xfrm>
            <a:off x="10611360" y="4338360"/>
            <a:ext cx="51120" cy="12456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73" name="Connector 98"/>
          <p:cNvCxnSpPr/>
          <p:nvPr/>
        </p:nvCxnSpPr>
        <p:spPr>
          <a:xfrm>
            <a:off x="10661760" y="4462200"/>
            <a:ext cx="51120" cy="12744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74" name="Connector 99"/>
          <p:cNvCxnSpPr/>
          <p:nvPr/>
        </p:nvCxnSpPr>
        <p:spPr>
          <a:xfrm>
            <a:off x="10712160" y="4588920"/>
            <a:ext cx="50760" cy="1306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75" name="Connector 100"/>
          <p:cNvCxnSpPr/>
          <p:nvPr/>
        </p:nvCxnSpPr>
        <p:spPr>
          <a:xfrm>
            <a:off x="10762200" y="4718880"/>
            <a:ext cx="51120" cy="13356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76" name="Connector 101"/>
          <p:cNvCxnSpPr/>
          <p:nvPr/>
        </p:nvCxnSpPr>
        <p:spPr>
          <a:xfrm>
            <a:off x="10812600" y="4851720"/>
            <a:ext cx="51120" cy="13644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77" name="Connector 102"/>
          <p:cNvCxnSpPr/>
          <p:nvPr/>
        </p:nvCxnSpPr>
        <p:spPr>
          <a:xfrm>
            <a:off x="10863000" y="4987440"/>
            <a:ext cx="50760" cy="1396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78" name="Connector 103"/>
          <p:cNvCxnSpPr/>
          <p:nvPr/>
        </p:nvCxnSpPr>
        <p:spPr>
          <a:xfrm>
            <a:off x="10913040" y="5126400"/>
            <a:ext cx="51120" cy="14256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79" name="Connector 104"/>
          <p:cNvCxnSpPr/>
          <p:nvPr/>
        </p:nvCxnSpPr>
        <p:spPr>
          <a:xfrm>
            <a:off x="10963440" y="5268240"/>
            <a:ext cx="51120" cy="14544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cxnSp>
        <p:nvCxnSpPr>
          <p:cNvPr id="580" name="Connector 105"/>
          <p:cNvCxnSpPr/>
          <p:nvPr/>
        </p:nvCxnSpPr>
        <p:spPr>
          <a:xfrm>
            <a:off x="11013840" y="5412960"/>
            <a:ext cx="51120" cy="1486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sp>
        <p:nvSpPr>
          <p:cNvPr id="581" name="Oval 106"/>
          <p:cNvSpPr/>
          <p:nvPr/>
        </p:nvSpPr>
        <p:spPr>
          <a:xfrm>
            <a:off x="6537960" y="3246120"/>
            <a:ext cx="255240" cy="255240"/>
          </a:xfrm>
          <a:prstGeom prst="ellipse">
            <a:avLst/>
          </a:prstGeom>
          <a:solidFill>
            <a:srgbClr val="CD4B46"/>
          </a:solidFill>
          <a:ln>
            <a:solidFill>
              <a:srgbClr val="CD4B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2" name="TextBox 107"/>
          <p:cNvSpPr/>
          <p:nvPr/>
        </p:nvSpPr>
        <p:spPr>
          <a:xfrm>
            <a:off x="6537960" y="324612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583" name="Oval 108"/>
          <p:cNvSpPr/>
          <p:nvPr/>
        </p:nvSpPr>
        <p:spPr>
          <a:xfrm>
            <a:off x="8183880" y="1783080"/>
            <a:ext cx="255240" cy="255240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4" name="TextBox 109"/>
          <p:cNvSpPr/>
          <p:nvPr/>
        </p:nvSpPr>
        <p:spPr>
          <a:xfrm>
            <a:off x="8183880" y="178308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585" name="TextBox 110"/>
          <p:cNvSpPr/>
          <p:nvPr/>
        </p:nvSpPr>
        <p:spPr>
          <a:xfrm>
            <a:off x="5760720" y="4023360"/>
            <a:ext cx="1279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CD4B46"/>
                </a:solidFill>
                <a:effectLst/>
                <a:uFillTx/>
                <a:latin typeface="Aptos"/>
              </a:rPr>
              <a:t>current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Box 111"/>
          <p:cNvSpPr/>
          <p:nvPr/>
        </p:nvSpPr>
        <p:spPr>
          <a:xfrm>
            <a:off x="7863840" y="1325880"/>
            <a:ext cx="1645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lower loss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Box 112"/>
          <p:cNvSpPr/>
          <p:nvPr/>
        </p:nvSpPr>
        <p:spPr>
          <a:xfrm>
            <a:off x="731520" y="1554480"/>
            <a:ext cx="43884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0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Imagine standing on a hill in fog.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0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The slope tells you which way is downhill.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Box 113"/>
          <p:cNvSpPr/>
          <p:nvPr/>
        </p:nvSpPr>
        <p:spPr>
          <a:xfrm>
            <a:off x="731520" y="3017520"/>
            <a:ext cx="4571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0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weight ← weight − learning rate × slope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Rounded Rectangle 114"/>
          <p:cNvSpPr/>
          <p:nvPr/>
        </p:nvSpPr>
        <p:spPr>
          <a:xfrm>
            <a:off x="731520" y="4251960"/>
            <a:ext cx="4479840" cy="822240"/>
          </a:xfrm>
          <a:prstGeom prst="roundRect">
            <a:avLst>
              <a:gd name="adj" fmla="val 16667"/>
            </a:avLst>
          </a:prstGeom>
          <a:solidFill>
            <a:srgbClr val="FFF8E3"/>
          </a:solidFill>
          <a:ln>
            <a:solidFill>
              <a:srgbClr val="FFF8E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0" name="TextBox 115"/>
          <p:cNvSpPr/>
          <p:nvPr/>
        </p:nvSpPr>
        <p:spPr>
          <a:xfrm>
            <a:off x="896040" y="4361760"/>
            <a:ext cx="4150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Learning rate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Box 116"/>
          <p:cNvSpPr/>
          <p:nvPr/>
        </p:nvSpPr>
        <p:spPr>
          <a:xfrm>
            <a:off x="896040" y="4690800"/>
            <a:ext cx="41508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Step size: too small is slow; too large can overshoot.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3" name="TextBox 2"/>
          <p:cNvSpPr/>
          <p:nvPr/>
        </p:nvSpPr>
        <p:spPr>
          <a:xfrm>
            <a:off x="502920" y="274320"/>
            <a:ext cx="10972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DEEP LEARNING • 2026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Box 3"/>
          <p:cNvSpPr/>
          <p:nvPr/>
        </p:nvSpPr>
        <p:spPr>
          <a:xfrm>
            <a:off x="502920" y="567000"/>
            <a:ext cx="11154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Backpropagation: giving credit to each weight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Box 4"/>
          <p:cNvSpPr/>
          <p:nvPr/>
        </p:nvSpPr>
        <p:spPr>
          <a:xfrm>
            <a:off x="502920" y="6537960"/>
            <a:ext cx="7314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Catholic University of Rwanda  |  Lecturer: Fadl Musa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Box 5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13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Box 6"/>
          <p:cNvSpPr/>
          <p:nvPr/>
        </p:nvSpPr>
        <p:spPr>
          <a:xfrm>
            <a:off x="731520" y="1325880"/>
            <a:ext cx="106063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21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The final error travels backward, asking: “Which connection caused how much?”</a:t>
            </a:r>
            <a:endParaRPr lang="en-CA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98" name="Connector 7"/>
          <p:cNvCxnSpPr/>
          <p:nvPr/>
        </p:nvCxnSpPr>
        <p:spPr>
          <a:xfrm flipV="1">
            <a:off x="1261800" y="2381760"/>
            <a:ext cx="1162080" cy="2523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599" name="Connector 8"/>
          <p:cNvCxnSpPr/>
          <p:nvPr/>
        </p:nvCxnSpPr>
        <p:spPr>
          <a:xfrm>
            <a:off x="1261800" y="2633400"/>
            <a:ext cx="1162080" cy="2520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00" name="Connector 9"/>
          <p:cNvCxnSpPr/>
          <p:nvPr/>
        </p:nvCxnSpPr>
        <p:spPr>
          <a:xfrm>
            <a:off x="1261800" y="2633400"/>
            <a:ext cx="1162080" cy="7549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01" name="Connector 10"/>
          <p:cNvCxnSpPr/>
          <p:nvPr/>
        </p:nvCxnSpPr>
        <p:spPr>
          <a:xfrm>
            <a:off x="1261800" y="2633400"/>
            <a:ext cx="1162080" cy="12578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02" name="Connector 11"/>
          <p:cNvCxnSpPr/>
          <p:nvPr/>
        </p:nvCxnSpPr>
        <p:spPr>
          <a:xfrm flipV="1">
            <a:off x="1261800" y="2381760"/>
            <a:ext cx="1162080" cy="75528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03" name="Connector 12"/>
          <p:cNvCxnSpPr/>
          <p:nvPr/>
        </p:nvCxnSpPr>
        <p:spPr>
          <a:xfrm flipV="1">
            <a:off x="1261800" y="2884680"/>
            <a:ext cx="1162080" cy="2523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04" name="Connector 13"/>
          <p:cNvCxnSpPr/>
          <p:nvPr/>
        </p:nvCxnSpPr>
        <p:spPr>
          <a:xfrm>
            <a:off x="1261800" y="3136320"/>
            <a:ext cx="1162080" cy="2520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05" name="Connector 14"/>
          <p:cNvCxnSpPr/>
          <p:nvPr/>
        </p:nvCxnSpPr>
        <p:spPr>
          <a:xfrm>
            <a:off x="1261800" y="3136320"/>
            <a:ext cx="1162080" cy="7549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06" name="Connector 15"/>
          <p:cNvCxnSpPr/>
          <p:nvPr/>
        </p:nvCxnSpPr>
        <p:spPr>
          <a:xfrm flipV="1">
            <a:off x="1261800" y="2381760"/>
            <a:ext cx="1162080" cy="12582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07" name="Connector 16"/>
          <p:cNvCxnSpPr/>
          <p:nvPr/>
        </p:nvCxnSpPr>
        <p:spPr>
          <a:xfrm flipV="1">
            <a:off x="1261800" y="2884680"/>
            <a:ext cx="1162080" cy="75528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08" name="Connector 17"/>
          <p:cNvCxnSpPr/>
          <p:nvPr/>
        </p:nvCxnSpPr>
        <p:spPr>
          <a:xfrm flipV="1">
            <a:off x="1261800" y="3387600"/>
            <a:ext cx="1162080" cy="2523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09" name="Connector 18"/>
          <p:cNvCxnSpPr/>
          <p:nvPr/>
        </p:nvCxnSpPr>
        <p:spPr>
          <a:xfrm>
            <a:off x="1261800" y="3639240"/>
            <a:ext cx="1162080" cy="2520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10" name="Connector 19"/>
          <p:cNvCxnSpPr/>
          <p:nvPr/>
        </p:nvCxnSpPr>
        <p:spPr>
          <a:xfrm>
            <a:off x="2587680" y="2381760"/>
            <a:ext cx="1161720" cy="2523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11" name="Connector 20"/>
          <p:cNvCxnSpPr/>
          <p:nvPr/>
        </p:nvCxnSpPr>
        <p:spPr>
          <a:xfrm>
            <a:off x="2587680" y="2381760"/>
            <a:ext cx="1161720" cy="75528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12" name="Connector 21"/>
          <p:cNvCxnSpPr/>
          <p:nvPr/>
        </p:nvCxnSpPr>
        <p:spPr>
          <a:xfrm>
            <a:off x="2587680" y="2381760"/>
            <a:ext cx="1161720" cy="12582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13" name="Connector 22"/>
          <p:cNvCxnSpPr/>
          <p:nvPr/>
        </p:nvCxnSpPr>
        <p:spPr>
          <a:xfrm flipV="1">
            <a:off x="2587680" y="2633400"/>
            <a:ext cx="1161720" cy="2520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14" name="Connector 23"/>
          <p:cNvCxnSpPr/>
          <p:nvPr/>
        </p:nvCxnSpPr>
        <p:spPr>
          <a:xfrm>
            <a:off x="2587680" y="2884680"/>
            <a:ext cx="1161720" cy="2523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15" name="Connector 24"/>
          <p:cNvCxnSpPr/>
          <p:nvPr/>
        </p:nvCxnSpPr>
        <p:spPr>
          <a:xfrm>
            <a:off x="2587680" y="2884680"/>
            <a:ext cx="1161720" cy="75528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16" name="Connector 25"/>
          <p:cNvCxnSpPr/>
          <p:nvPr/>
        </p:nvCxnSpPr>
        <p:spPr>
          <a:xfrm flipV="1">
            <a:off x="2587680" y="2633400"/>
            <a:ext cx="1161720" cy="7549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17" name="Connector 26"/>
          <p:cNvCxnSpPr/>
          <p:nvPr/>
        </p:nvCxnSpPr>
        <p:spPr>
          <a:xfrm flipV="1">
            <a:off x="2587680" y="3136320"/>
            <a:ext cx="1161720" cy="2520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18" name="Connector 27"/>
          <p:cNvCxnSpPr/>
          <p:nvPr/>
        </p:nvCxnSpPr>
        <p:spPr>
          <a:xfrm>
            <a:off x="2587680" y="3387600"/>
            <a:ext cx="1161720" cy="25236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19" name="Connector 28"/>
          <p:cNvCxnSpPr/>
          <p:nvPr/>
        </p:nvCxnSpPr>
        <p:spPr>
          <a:xfrm flipV="1">
            <a:off x="2587680" y="2633400"/>
            <a:ext cx="1161720" cy="12578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20" name="Connector 29"/>
          <p:cNvCxnSpPr/>
          <p:nvPr/>
        </p:nvCxnSpPr>
        <p:spPr>
          <a:xfrm flipV="1">
            <a:off x="2587680" y="3136320"/>
            <a:ext cx="1161720" cy="7549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21" name="Connector 30"/>
          <p:cNvCxnSpPr/>
          <p:nvPr/>
        </p:nvCxnSpPr>
        <p:spPr>
          <a:xfrm flipV="1">
            <a:off x="2587680" y="3639240"/>
            <a:ext cx="1161720" cy="25200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22" name="Connector 31"/>
          <p:cNvCxnSpPr/>
          <p:nvPr/>
        </p:nvCxnSpPr>
        <p:spPr>
          <a:xfrm>
            <a:off x="3913560" y="2633400"/>
            <a:ext cx="1162080" cy="5036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23" name="Connector 32"/>
          <p:cNvCxnSpPr/>
          <p:nvPr/>
        </p:nvCxnSpPr>
        <p:spPr>
          <a:xfrm>
            <a:off x="3913560" y="3136320"/>
            <a:ext cx="1162080" cy="7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24" name="Connector 33"/>
          <p:cNvCxnSpPr/>
          <p:nvPr/>
        </p:nvCxnSpPr>
        <p:spPr>
          <a:xfrm flipV="1">
            <a:off x="3913560" y="3136320"/>
            <a:ext cx="1162080" cy="5036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sp>
        <p:nvSpPr>
          <p:cNvPr id="625" name="Oval 34"/>
          <p:cNvSpPr/>
          <p:nvPr/>
        </p:nvSpPr>
        <p:spPr>
          <a:xfrm>
            <a:off x="1097280" y="2468880"/>
            <a:ext cx="328320" cy="32832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6" name="TextBox 35"/>
          <p:cNvSpPr/>
          <p:nvPr/>
        </p:nvSpPr>
        <p:spPr>
          <a:xfrm>
            <a:off x="1097280" y="246888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627" name="Oval 36"/>
          <p:cNvSpPr/>
          <p:nvPr/>
        </p:nvSpPr>
        <p:spPr>
          <a:xfrm>
            <a:off x="1097280" y="2971800"/>
            <a:ext cx="328320" cy="32832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8" name="TextBox 37"/>
          <p:cNvSpPr/>
          <p:nvPr/>
        </p:nvSpPr>
        <p:spPr>
          <a:xfrm>
            <a:off x="1097280" y="297180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629" name="Oval 38"/>
          <p:cNvSpPr/>
          <p:nvPr/>
        </p:nvSpPr>
        <p:spPr>
          <a:xfrm>
            <a:off x="1097280" y="3474720"/>
            <a:ext cx="328320" cy="32832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0" name="TextBox 39"/>
          <p:cNvSpPr/>
          <p:nvPr/>
        </p:nvSpPr>
        <p:spPr>
          <a:xfrm>
            <a:off x="1097280" y="34747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631" name="Oval 40"/>
          <p:cNvSpPr/>
          <p:nvPr/>
        </p:nvSpPr>
        <p:spPr>
          <a:xfrm>
            <a:off x="2423160" y="221760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2" name="TextBox 41"/>
          <p:cNvSpPr/>
          <p:nvPr/>
        </p:nvSpPr>
        <p:spPr>
          <a:xfrm>
            <a:off x="2423160" y="221760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633" name="Oval 42"/>
          <p:cNvSpPr/>
          <p:nvPr/>
        </p:nvSpPr>
        <p:spPr>
          <a:xfrm>
            <a:off x="2423160" y="272052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4" name="TextBox 43"/>
          <p:cNvSpPr/>
          <p:nvPr/>
        </p:nvSpPr>
        <p:spPr>
          <a:xfrm>
            <a:off x="2423160" y="27205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635" name="Oval 44"/>
          <p:cNvSpPr/>
          <p:nvPr/>
        </p:nvSpPr>
        <p:spPr>
          <a:xfrm>
            <a:off x="2423160" y="322344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6" name="TextBox 45"/>
          <p:cNvSpPr/>
          <p:nvPr/>
        </p:nvSpPr>
        <p:spPr>
          <a:xfrm>
            <a:off x="2423160" y="32234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637" name="Oval 46"/>
          <p:cNvSpPr/>
          <p:nvPr/>
        </p:nvSpPr>
        <p:spPr>
          <a:xfrm>
            <a:off x="2423160" y="372636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8" name="TextBox 47"/>
          <p:cNvSpPr/>
          <p:nvPr/>
        </p:nvSpPr>
        <p:spPr>
          <a:xfrm>
            <a:off x="2423160" y="372636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639" name="Oval 48"/>
          <p:cNvSpPr/>
          <p:nvPr/>
        </p:nvSpPr>
        <p:spPr>
          <a:xfrm>
            <a:off x="3749040" y="246888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0" name="TextBox 49"/>
          <p:cNvSpPr/>
          <p:nvPr/>
        </p:nvSpPr>
        <p:spPr>
          <a:xfrm>
            <a:off x="3749040" y="246888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641" name="Oval 50"/>
          <p:cNvSpPr/>
          <p:nvPr/>
        </p:nvSpPr>
        <p:spPr>
          <a:xfrm>
            <a:off x="3749040" y="297180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2" name="TextBox 51"/>
          <p:cNvSpPr/>
          <p:nvPr/>
        </p:nvSpPr>
        <p:spPr>
          <a:xfrm>
            <a:off x="3749040" y="297180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643" name="Oval 52"/>
          <p:cNvSpPr/>
          <p:nvPr/>
        </p:nvSpPr>
        <p:spPr>
          <a:xfrm>
            <a:off x="3749040" y="347472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4" name="TextBox 53"/>
          <p:cNvSpPr/>
          <p:nvPr/>
        </p:nvSpPr>
        <p:spPr>
          <a:xfrm>
            <a:off x="3749040" y="34747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645" name="Oval 54"/>
          <p:cNvSpPr/>
          <p:nvPr/>
        </p:nvSpPr>
        <p:spPr>
          <a:xfrm>
            <a:off x="5074920" y="2971800"/>
            <a:ext cx="328320" cy="328320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6" name="TextBox 55"/>
          <p:cNvSpPr/>
          <p:nvPr/>
        </p:nvSpPr>
        <p:spPr>
          <a:xfrm>
            <a:off x="5074920" y="297180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647" name="TextBox 56"/>
          <p:cNvSpPr/>
          <p:nvPr/>
        </p:nvSpPr>
        <p:spPr>
          <a:xfrm>
            <a:off x="914400" y="429768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100" b="1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input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Box 57"/>
          <p:cNvSpPr/>
          <p:nvPr/>
        </p:nvSpPr>
        <p:spPr>
          <a:xfrm>
            <a:off x="2286000" y="429768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100" b="1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hidden layers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Box 58"/>
          <p:cNvSpPr/>
          <p:nvPr/>
        </p:nvSpPr>
        <p:spPr>
          <a:xfrm>
            <a:off x="3749040" y="429768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100" b="1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output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0" name="Connector 59"/>
          <p:cNvCxnSpPr/>
          <p:nvPr/>
        </p:nvCxnSpPr>
        <p:spPr>
          <a:xfrm flipH="1">
            <a:off x="2011680" y="1645920"/>
            <a:ext cx="4298400" cy="3018240"/>
          </a:xfrm>
          <a:prstGeom prst="straightConnector1">
            <a:avLst/>
          </a:prstGeom>
          <a:ln w="0">
            <a:solidFill>
              <a:srgbClr val="CD4B46"/>
            </a:solidFill>
          </a:ln>
        </p:spPr>
      </p:cxnSp>
      <p:sp>
        <p:nvSpPr>
          <p:cNvPr id="651" name="TextBox 60"/>
          <p:cNvSpPr/>
          <p:nvPr/>
        </p:nvSpPr>
        <p:spPr>
          <a:xfrm>
            <a:off x="4572000" y="4343400"/>
            <a:ext cx="2925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1" u="none" strike="noStrike">
                <a:solidFill>
                  <a:srgbClr val="CD4B46"/>
                </a:solidFill>
                <a:effectLst/>
                <a:uFillTx/>
                <a:latin typeface="Aptos"/>
              </a:rPr>
              <a:t>error signal flows backward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Rounded Rectangle 61"/>
          <p:cNvSpPr/>
          <p:nvPr/>
        </p:nvSpPr>
        <p:spPr>
          <a:xfrm>
            <a:off x="7498080" y="1920240"/>
            <a:ext cx="3382560" cy="2010960"/>
          </a:xfrm>
          <a:prstGeom prst="roundRect">
            <a:avLst>
              <a:gd name="adj" fmla="val 16667"/>
            </a:avLst>
          </a:prstGeom>
          <a:solidFill>
            <a:srgbClr val="F5EEEE"/>
          </a:solidFill>
          <a:ln>
            <a:solidFill>
              <a:srgbClr val="F5EE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3" name="TextBox 62"/>
          <p:cNvSpPr/>
          <p:nvPr/>
        </p:nvSpPr>
        <p:spPr>
          <a:xfrm>
            <a:off x="7662600" y="2030040"/>
            <a:ext cx="3053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Key intuition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Box 63"/>
          <p:cNvSpPr/>
          <p:nvPr/>
        </p:nvSpPr>
        <p:spPr>
          <a:xfrm>
            <a:off x="7662600" y="2359080"/>
            <a:ext cx="3053520" cy="14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Forward pass: make a prediction.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Backward pass: assign responsibility.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Update: improve the responsible weights.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6" name="TextBox 2"/>
          <p:cNvSpPr/>
          <p:nvPr/>
        </p:nvSpPr>
        <p:spPr>
          <a:xfrm>
            <a:off x="502920" y="274320"/>
            <a:ext cx="10972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DEEP LEARNING • 2026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Box 3"/>
          <p:cNvSpPr/>
          <p:nvPr/>
        </p:nvSpPr>
        <p:spPr>
          <a:xfrm>
            <a:off x="502920" y="567000"/>
            <a:ext cx="11154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A simple worked example: learning “tall”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Box 4"/>
          <p:cNvSpPr/>
          <p:nvPr/>
        </p:nvSpPr>
        <p:spPr>
          <a:xfrm>
            <a:off x="502920" y="6537960"/>
            <a:ext cx="7314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Catholic University of Rwanda  |  Lecturer: Fadl Musa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Box 5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14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Box 6"/>
          <p:cNvSpPr/>
          <p:nvPr/>
        </p:nvSpPr>
        <p:spPr>
          <a:xfrm>
            <a:off x="731520" y="132588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1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Input: height in metres</a:t>
            </a:r>
            <a:endParaRPr lang="en-CA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Box 7"/>
          <p:cNvSpPr/>
          <p:nvPr/>
        </p:nvSpPr>
        <p:spPr>
          <a:xfrm>
            <a:off x="914400" y="192024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1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1.60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Rounded Rectangle 8"/>
          <p:cNvSpPr/>
          <p:nvPr/>
        </p:nvSpPr>
        <p:spPr>
          <a:xfrm>
            <a:off x="2011680" y="1974960"/>
            <a:ext cx="3016800" cy="200520"/>
          </a:xfrm>
          <a:prstGeom prst="roundRect">
            <a:avLst>
              <a:gd name="adj" fmla="val 16667"/>
            </a:avLst>
          </a:prstGeom>
          <a:solidFill>
            <a:srgbClr val="E6ECF1"/>
          </a:solidFill>
          <a:ln>
            <a:solidFill>
              <a:srgbClr val="E6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3" name="Rounded Rectangle 9"/>
          <p:cNvSpPr/>
          <p:nvPr/>
        </p:nvSpPr>
        <p:spPr>
          <a:xfrm>
            <a:off x="2011680" y="1974960"/>
            <a:ext cx="669960" cy="200520"/>
          </a:xfrm>
          <a:prstGeom prst="roundRect">
            <a:avLst>
              <a:gd name="adj" fmla="val 16667"/>
            </a:avLst>
          </a:prstGeom>
          <a:solidFill>
            <a:srgbClr val="CD4B46"/>
          </a:solidFill>
          <a:ln>
            <a:solidFill>
              <a:srgbClr val="CD4B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4" name="TextBox 10"/>
          <p:cNvSpPr/>
          <p:nvPr/>
        </p:nvSpPr>
        <p:spPr>
          <a:xfrm>
            <a:off x="5212080" y="1920240"/>
            <a:ext cx="118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1" u="none" strike="noStrike">
                <a:solidFill>
                  <a:srgbClr val="CD4B46"/>
                </a:solidFill>
                <a:effectLst/>
                <a:uFillTx/>
                <a:latin typeface="Aptos"/>
              </a:rPr>
              <a:t>not tall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Box 11"/>
          <p:cNvSpPr/>
          <p:nvPr/>
        </p:nvSpPr>
        <p:spPr>
          <a:xfrm>
            <a:off x="914400" y="269748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1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1.75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Rounded Rectangle 12"/>
          <p:cNvSpPr/>
          <p:nvPr/>
        </p:nvSpPr>
        <p:spPr>
          <a:xfrm>
            <a:off x="2011680" y="2752200"/>
            <a:ext cx="3016800" cy="200520"/>
          </a:xfrm>
          <a:prstGeom prst="roundRect">
            <a:avLst>
              <a:gd name="adj" fmla="val 16667"/>
            </a:avLst>
          </a:prstGeom>
          <a:solidFill>
            <a:srgbClr val="E6ECF1"/>
          </a:solidFill>
          <a:ln>
            <a:solidFill>
              <a:srgbClr val="E6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7" name="Rounded Rectangle 13"/>
          <p:cNvSpPr/>
          <p:nvPr/>
        </p:nvSpPr>
        <p:spPr>
          <a:xfrm>
            <a:off x="2011680" y="2752200"/>
            <a:ext cx="1675800" cy="200520"/>
          </a:xfrm>
          <a:prstGeom prst="roundRect">
            <a:avLst>
              <a:gd name="adj" fmla="val 16667"/>
            </a:avLst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8" name="TextBox 14"/>
          <p:cNvSpPr/>
          <p:nvPr/>
        </p:nvSpPr>
        <p:spPr>
          <a:xfrm>
            <a:off x="5212080" y="2697480"/>
            <a:ext cx="118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1" u="none" strike="noStrike">
                <a:solidFill>
                  <a:srgbClr val="E7A62D"/>
                </a:solidFill>
                <a:effectLst/>
                <a:uFillTx/>
                <a:latin typeface="Aptos"/>
              </a:rPr>
              <a:t>borderline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Box 15"/>
          <p:cNvSpPr/>
          <p:nvPr/>
        </p:nvSpPr>
        <p:spPr>
          <a:xfrm>
            <a:off x="914400" y="34747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1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1.90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Rounded Rectangle 16"/>
          <p:cNvSpPr/>
          <p:nvPr/>
        </p:nvSpPr>
        <p:spPr>
          <a:xfrm>
            <a:off x="2011680" y="3529440"/>
            <a:ext cx="3016800" cy="200520"/>
          </a:xfrm>
          <a:prstGeom prst="roundRect">
            <a:avLst>
              <a:gd name="adj" fmla="val 16667"/>
            </a:avLst>
          </a:prstGeom>
          <a:solidFill>
            <a:srgbClr val="E6ECF1"/>
          </a:solidFill>
          <a:ln>
            <a:solidFill>
              <a:srgbClr val="E6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1" name="Rounded Rectangle 17"/>
          <p:cNvSpPr/>
          <p:nvPr/>
        </p:nvSpPr>
        <p:spPr>
          <a:xfrm>
            <a:off x="2011680" y="3529440"/>
            <a:ext cx="2681640" cy="200520"/>
          </a:xfrm>
          <a:prstGeom prst="roundRect">
            <a:avLst>
              <a:gd name="adj" fmla="val 16667"/>
            </a:avLst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2" name="TextBox 18"/>
          <p:cNvSpPr/>
          <p:nvPr/>
        </p:nvSpPr>
        <p:spPr>
          <a:xfrm>
            <a:off x="5212080" y="3474720"/>
            <a:ext cx="118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tall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3" name="Connector 19"/>
          <p:cNvCxnSpPr/>
          <p:nvPr/>
        </p:nvCxnSpPr>
        <p:spPr>
          <a:xfrm flipV="1">
            <a:off x="7479720" y="2587680"/>
            <a:ext cx="1162080" cy="5036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74" name="Connector 20"/>
          <p:cNvCxnSpPr/>
          <p:nvPr/>
        </p:nvCxnSpPr>
        <p:spPr>
          <a:xfrm>
            <a:off x="7479720" y="3090600"/>
            <a:ext cx="1162080" cy="7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75" name="Connector 21"/>
          <p:cNvCxnSpPr/>
          <p:nvPr/>
        </p:nvCxnSpPr>
        <p:spPr>
          <a:xfrm>
            <a:off x="7479720" y="3090600"/>
            <a:ext cx="1162080" cy="5036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76" name="Connector 22"/>
          <p:cNvCxnSpPr/>
          <p:nvPr/>
        </p:nvCxnSpPr>
        <p:spPr>
          <a:xfrm>
            <a:off x="8805600" y="2587680"/>
            <a:ext cx="1162080" cy="5036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77" name="Connector 23"/>
          <p:cNvCxnSpPr/>
          <p:nvPr/>
        </p:nvCxnSpPr>
        <p:spPr>
          <a:xfrm>
            <a:off x="8805600" y="3090600"/>
            <a:ext cx="1162080" cy="72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cxnSp>
        <p:nvCxnSpPr>
          <p:cNvPr id="678" name="Connector 24"/>
          <p:cNvCxnSpPr/>
          <p:nvPr/>
        </p:nvCxnSpPr>
        <p:spPr>
          <a:xfrm flipV="1">
            <a:off x="8805600" y="3090600"/>
            <a:ext cx="1162080" cy="503640"/>
          </a:xfrm>
          <a:prstGeom prst="straightConnector1">
            <a:avLst/>
          </a:prstGeom>
          <a:ln w="12700">
            <a:solidFill>
              <a:srgbClr val="BED2E1"/>
            </a:solidFill>
            <a:round/>
          </a:ln>
        </p:spPr>
      </p:cxnSp>
      <p:sp>
        <p:nvSpPr>
          <p:cNvPr id="679" name="Oval 25"/>
          <p:cNvSpPr/>
          <p:nvPr/>
        </p:nvSpPr>
        <p:spPr>
          <a:xfrm>
            <a:off x="7315200" y="2926080"/>
            <a:ext cx="328320" cy="32832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0" name="TextBox 26"/>
          <p:cNvSpPr/>
          <p:nvPr/>
        </p:nvSpPr>
        <p:spPr>
          <a:xfrm>
            <a:off x="7315200" y="292608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681" name="Oval 27"/>
          <p:cNvSpPr/>
          <p:nvPr/>
        </p:nvSpPr>
        <p:spPr>
          <a:xfrm>
            <a:off x="8641080" y="242316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2" name="TextBox 28"/>
          <p:cNvSpPr/>
          <p:nvPr/>
        </p:nvSpPr>
        <p:spPr>
          <a:xfrm>
            <a:off x="8641080" y="242316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683" name="Oval 29"/>
          <p:cNvSpPr/>
          <p:nvPr/>
        </p:nvSpPr>
        <p:spPr>
          <a:xfrm>
            <a:off x="8641080" y="292608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4" name="TextBox 30"/>
          <p:cNvSpPr/>
          <p:nvPr/>
        </p:nvSpPr>
        <p:spPr>
          <a:xfrm>
            <a:off x="8641080" y="292608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685" name="Oval 31"/>
          <p:cNvSpPr/>
          <p:nvPr/>
        </p:nvSpPr>
        <p:spPr>
          <a:xfrm>
            <a:off x="8641080" y="3429000"/>
            <a:ext cx="328320" cy="3283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6" name="TextBox 32"/>
          <p:cNvSpPr/>
          <p:nvPr/>
        </p:nvSpPr>
        <p:spPr>
          <a:xfrm>
            <a:off x="8641080" y="342900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687" name="Oval 33"/>
          <p:cNvSpPr/>
          <p:nvPr/>
        </p:nvSpPr>
        <p:spPr>
          <a:xfrm>
            <a:off x="9966960" y="2926080"/>
            <a:ext cx="328320" cy="328320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8" name="TextBox 34"/>
          <p:cNvSpPr/>
          <p:nvPr/>
        </p:nvSpPr>
        <p:spPr>
          <a:xfrm>
            <a:off x="9966960" y="292608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8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689" name="TextBox 35"/>
          <p:cNvSpPr/>
          <p:nvPr/>
        </p:nvSpPr>
        <p:spPr>
          <a:xfrm>
            <a:off x="7132320" y="400068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100" b="1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input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Box 36"/>
          <p:cNvSpPr/>
          <p:nvPr/>
        </p:nvSpPr>
        <p:spPr>
          <a:xfrm>
            <a:off x="8503920" y="400068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100" b="1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hidden layers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Box 37"/>
          <p:cNvSpPr/>
          <p:nvPr/>
        </p:nvSpPr>
        <p:spPr>
          <a:xfrm>
            <a:off x="9966960" y="400068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100" b="1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output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Box 38"/>
          <p:cNvSpPr/>
          <p:nvPr/>
        </p:nvSpPr>
        <p:spPr>
          <a:xfrm>
            <a:off x="6949440" y="4663440"/>
            <a:ext cx="4296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The network learns a boundary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from examples—not a hand-written rule.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4" name="TextBox 2"/>
          <p:cNvSpPr/>
          <p:nvPr/>
        </p:nvSpPr>
        <p:spPr>
          <a:xfrm>
            <a:off x="502920" y="274320"/>
            <a:ext cx="10972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DEEP LEARNING • 2026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Box 3"/>
          <p:cNvSpPr/>
          <p:nvPr/>
        </p:nvSpPr>
        <p:spPr>
          <a:xfrm>
            <a:off x="502920" y="567000"/>
            <a:ext cx="11154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Classification: choosing among labels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Box 4"/>
          <p:cNvSpPr/>
          <p:nvPr/>
        </p:nvSpPr>
        <p:spPr>
          <a:xfrm>
            <a:off x="502920" y="6537960"/>
            <a:ext cx="7314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Catholic University of Rwanda  |  Lecturer: Fadl Musa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Box 5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15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Box 6"/>
          <p:cNvSpPr/>
          <p:nvPr/>
        </p:nvSpPr>
        <p:spPr>
          <a:xfrm>
            <a:off x="914400" y="1691640"/>
            <a:ext cx="1096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900" b="1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cat</a:t>
            </a:r>
            <a:endParaRPr lang="en-CA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Rounded Rectangle 7"/>
          <p:cNvSpPr/>
          <p:nvPr/>
        </p:nvSpPr>
        <p:spPr>
          <a:xfrm>
            <a:off x="2240280" y="1755720"/>
            <a:ext cx="4937040" cy="273600"/>
          </a:xfrm>
          <a:prstGeom prst="roundRect">
            <a:avLst>
              <a:gd name="adj" fmla="val 16667"/>
            </a:avLst>
          </a:prstGeom>
          <a:solidFill>
            <a:srgbClr val="E6ECF1"/>
          </a:solidFill>
          <a:ln>
            <a:solidFill>
              <a:srgbClr val="E6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0" name="Rounded Rectangle 8"/>
          <p:cNvSpPr/>
          <p:nvPr/>
        </p:nvSpPr>
        <p:spPr>
          <a:xfrm>
            <a:off x="2240280" y="1755720"/>
            <a:ext cx="3554640" cy="273600"/>
          </a:xfrm>
          <a:prstGeom prst="roundRect">
            <a:avLst>
              <a:gd name="adj" fmla="val 16667"/>
            </a:avLst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1" name="TextBox 9"/>
          <p:cNvSpPr/>
          <p:nvPr/>
        </p:nvSpPr>
        <p:spPr>
          <a:xfrm>
            <a:off x="7406640" y="1691640"/>
            <a:ext cx="913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72%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Box 10"/>
          <p:cNvSpPr/>
          <p:nvPr/>
        </p:nvSpPr>
        <p:spPr>
          <a:xfrm>
            <a:off x="914400" y="2743200"/>
            <a:ext cx="1096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900" b="1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dog</a:t>
            </a:r>
            <a:endParaRPr lang="en-CA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Rounded Rectangle 11"/>
          <p:cNvSpPr/>
          <p:nvPr/>
        </p:nvSpPr>
        <p:spPr>
          <a:xfrm>
            <a:off x="2240280" y="2807280"/>
            <a:ext cx="4937040" cy="273600"/>
          </a:xfrm>
          <a:prstGeom prst="roundRect">
            <a:avLst>
              <a:gd name="adj" fmla="val 16667"/>
            </a:avLst>
          </a:prstGeom>
          <a:solidFill>
            <a:srgbClr val="E6ECF1"/>
          </a:solidFill>
          <a:ln>
            <a:solidFill>
              <a:srgbClr val="E6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4" name="Rounded Rectangle 12"/>
          <p:cNvSpPr/>
          <p:nvPr/>
        </p:nvSpPr>
        <p:spPr>
          <a:xfrm>
            <a:off x="2240280" y="2807280"/>
            <a:ext cx="888120" cy="273600"/>
          </a:xfrm>
          <a:prstGeom prst="roundRect">
            <a:avLst>
              <a:gd name="adj" fmla="val 16667"/>
            </a:avLst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5" name="TextBox 13"/>
          <p:cNvSpPr/>
          <p:nvPr/>
        </p:nvSpPr>
        <p:spPr>
          <a:xfrm>
            <a:off x="7406640" y="2743200"/>
            <a:ext cx="913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18%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TextBox 14"/>
          <p:cNvSpPr/>
          <p:nvPr/>
        </p:nvSpPr>
        <p:spPr>
          <a:xfrm>
            <a:off x="914400" y="3794760"/>
            <a:ext cx="1096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900" b="1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rabbit</a:t>
            </a:r>
            <a:endParaRPr lang="en-CA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Rounded Rectangle 15"/>
          <p:cNvSpPr/>
          <p:nvPr/>
        </p:nvSpPr>
        <p:spPr>
          <a:xfrm>
            <a:off x="2240280" y="3858840"/>
            <a:ext cx="4937040" cy="273600"/>
          </a:xfrm>
          <a:prstGeom prst="roundRect">
            <a:avLst>
              <a:gd name="adj" fmla="val 16667"/>
            </a:avLst>
          </a:prstGeom>
          <a:solidFill>
            <a:srgbClr val="E6ECF1"/>
          </a:solidFill>
          <a:ln>
            <a:solidFill>
              <a:srgbClr val="E6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8" name="Rounded Rectangle 16"/>
          <p:cNvSpPr/>
          <p:nvPr/>
        </p:nvSpPr>
        <p:spPr>
          <a:xfrm>
            <a:off x="2240280" y="3858840"/>
            <a:ext cx="493200" cy="273600"/>
          </a:xfrm>
          <a:prstGeom prst="roundRect">
            <a:avLst>
              <a:gd name="adj" fmla="val 16667"/>
            </a:avLst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9" name="TextBox 17"/>
          <p:cNvSpPr/>
          <p:nvPr/>
        </p:nvSpPr>
        <p:spPr>
          <a:xfrm>
            <a:off x="7406640" y="3794760"/>
            <a:ext cx="913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1" u="none" strike="noStrike">
                <a:solidFill>
                  <a:srgbClr val="E7A62D"/>
                </a:solidFill>
                <a:effectLst/>
                <a:uFillTx/>
                <a:latin typeface="Aptos"/>
              </a:rPr>
              <a:t>10%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Box 18"/>
          <p:cNvSpPr/>
          <p:nvPr/>
        </p:nvSpPr>
        <p:spPr>
          <a:xfrm>
            <a:off x="914400" y="521208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The outputs behave like confidence scores that add to 100%.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Rounded Rectangle 19"/>
          <p:cNvSpPr/>
          <p:nvPr/>
        </p:nvSpPr>
        <p:spPr>
          <a:xfrm>
            <a:off x="8503920" y="2011680"/>
            <a:ext cx="2559600" cy="2559600"/>
          </a:xfrm>
          <a:prstGeom prst="roundRect">
            <a:avLst>
              <a:gd name="adj" fmla="val 16667"/>
            </a:avLst>
          </a:prstGeom>
          <a:solidFill>
            <a:srgbClr val="EBF8F5"/>
          </a:solidFill>
          <a:ln>
            <a:solidFill>
              <a:srgbClr val="EBF8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2" name="TextBox 20"/>
          <p:cNvSpPr/>
          <p:nvPr/>
        </p:nvSpPr>
        <p:spPr>
          <a:xfrm>
            <a:off x="8668440" y="2121480"/>
            <a:ext cx="2230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Softmax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Box 21"/>
          <p:cNvSpPr/>
          <p:nvPr/>
        </p:nvSpPr>
        <p:spPr>
          <a:xfrm>
            <a:off x="8668440" y="2450520"/>
            <a:ext cx="2230560" cy="20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Converts raw scores into a probability-like list.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Highest score = chosen class.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5" name="TextBox 2"/>
          <p:cNvSpPr/>
          <p:nvPr/>
        </p:nvSpPr>
        <p:spPr>
          <a:xfrm>
            <a:off x="502920" y="274320"/>
            <a:ext cx="10972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DEEP LEARNING • 2026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Box 3"/>
          <p:cNvSpPr/>
          <p:nvPr/>
        </p:nvSpPr>
        <p:spPr>
          <a:xfrm>
            <a:off x="502920" y="567000"/>
            <a:ext cx="11154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Regression: predicting a number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Box 4"/>
          <p:cNvSpPr/>
          <p:nvPr/>
        </p:nvSpPr>
        <p:spPr>
          <a:xfrm>
            <a:off x="502920" y="6537960"/>
            <a:ext cx="7314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Catholic University of Rwanda  |  Lecturer: Fadl Musa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Box 5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16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Box 6"/>
          <p:cNvSpPr/>
          <p:nvPr/>
        </p:nvSpPr>
        <p:spPr>
          <a:xfrm>
            <a:off x="731520" y="1325880"/>
            <a:ext cx="5028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2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Example: predict house price from size</a:t>
            </a:r>
            <a:endParaRPr lang="en-CA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20" name="Connector 7"/>
          <p:cNvCxnSpPr/>
          <p:nvPr/>
        </p:nvCxnSpPr>
        <p:spPr>
          <a:xfrm>
            <a:off x="914400" y="5120640"/>
            <a:ext cx="4481280" cy="720"/>
          </a:xfrm>
          <a:prstGeom prst="straightConnector1">
            <a:avLst/>
          </a:prstGeom>
          <a:ln w="0">
            <a:solidFill>
              <a:srgbClr val="5F6C7A"/>
            </a:solidFill>
          </a:ln>
        </p:spPr>
      </p:cxnSp>
      <p:cxnSp>
        <p:nvCxnSpPr>
          <p:cNvPr id="721" name="Connector 8"/>
          <p:cNvCxnSpPr/>
          <p:nvPr/>
        </p:nvCxnSpPr>
        <p:spPr>
          <a:xfrm flipV="1">
            <a:off x="914400" y="1828800"/>
            <a:ext cx="720" cy="3292560"/>
          </a:xfrm>
          <a:prstGeom prst="straightConnector1">
            <a:avLst/>
          </a:prstGeom>
          <a:ln w="0">
            <a:solidFill>
              <a:srgbClr val="5F6C7A"/>
            </a:solidFill>
          </a:ln>
        </p:spPr>
      </p:cxnSp>
      <p:cxnSp>
        <p:nvCxnSpPr>
          <p:cNvPr id="722" name="Connector 9"/>
          <p:cNvCxnSpPr/>
          <p:nvPr/>
        </p:nvCxnSpPr>
        <p:spPr>
          <a:xfrm flipV="1">
            <a:off x="1097280" y="2103120"/>
            <a:ext cx="4024080" cy="265248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sp>
        <p:nvSpPr>
          <p:cNvPr id="723" name="Oval 10"/>
          <p:cNvSpPr/>
          <p:nvPr/>
        </p:nvSpPr>
        <p:spPr>
          <a:xfrm>
            <a:off x="1554480" y="4480560"/>
            <a:ext cx="145440" cy="145440"/>
          </a:xfrm>
          <a:prstGeom prst="ellipse">
            <a:avLst/>
          </a:prstGeom>
          <a:solidFill>
            <a:srgbClr val="CD4B46"/>
          </a:solidFill>
          <a:ln>
            <a:solidFill>
              <a:srgbClr val="CD4B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2720" tIns="45000" rIns="727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4" name="TextBox 11"/>
          <p:cNvSpPr/>
          <p:nvPr/>
        </p:nvSpPr>
        <p:spPr>
          <a:xfrm>
            <a:off x="1554480" y="4480560"/>
            <a:ext cx="1454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725" name="Oval 12"/>
          <p:cNvSpPr/>
          <p:nvPr/>
        </p:nvSpPr>
        <p:spPr>
          <a:xfrm>
            <a:off x="2194560" y="3931920"/>
            <a:ext cx="145440" cy="145440"/>
          </a:xfrm>
          <a:prstGeom prst="ellipse">
            <a:avLst/>
          </a:prstGeom>
          <a:solidFill>
            <a:srgbClr val="CD4B46"/>
          </a:solidFill>
          <a:ln>
            <a:solidFill>
              <a:srgbClr val="CD4B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2720" tIns="45000" rIns="727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6" name="TextBox 13"/>
          <p:cNvSpPr/>
          <p:nvPr/>
        </p:nvSpPr>
        <p:spPr>
          <a:xfrm>
            <a:off x="2194560" y="3931920"/>
            <a:ext cx="1454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727" name="Oval 14"/>
          <p:cNvSpPr/>
          <p:nvPr/>
        </p:nvSpPr>
        <p:spPr>
          <a:xfrm>
            <a:off x="2834640" y="3657600"/>
            <a:ext cx="145440" cy="145440"/>
          </a:xfrm>
          <a:prstGeom prst="ellipse">
            <a:avLst/>
          </a:prstGeom>
          <a:solidFill>
            <a:srgbClr val="CD4B46"/>
          </a:solidFill>
          <a:ln>
            <a:solidFill>
              <a:srgbClr val="CD4B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2720" tIns="45000" rIns="727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8" name="TextBox 15"/>
          <p:cNvSpPr/>
          <p:nvPr/>
        </p:nvSpPr>
        <p:spPr>
          <a:xfrm>
            <a:off x="2834640" y="3657600"/>
            <a:ext cx="1454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729" name="Oval 16"/>
          <p:cNvSpPr/>
          <p:nvPr/>
        </p:nvSpPr>
        <p:spPr>
          <a:xfrm>
            <a:off x="3657600" y="3017520"/>
            <a:ext cx="145440" cy="145440"/>
          </a:xfrm>
          <a:prstGeom prst="ellipse">
            <a:avLst/>
          </a:prstGeom>
          <a:solidFill>
            <a:srgbClr val="CD4B46"/>
          </a:solidFill>
          <a:ln>
            <a:solidFill>
              <a:srgbClr val="CD4B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2720" tIns="45000" rIns="727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0" name="TextBox 17"/>
          <p:cNvSpPr/>
          <p:nvPr/>
        </p:nvSpPr>
        <p:spPr>
          <a:xfrm>
            <a:off x="3657600" y="3017520"/>
            <a:ext cx="1454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731" name="Oval 18"/>
          <p:cNvSpPr/>
          <p:nvPr/>
        </p:nvSpPr>
        <p:spPr>
          <a:xfrm>
            <a:off x="4572000" y="2560320"/>
            <a:ext cx="145440" cy="145440"/>
          </a:xfrm>
          <a:prstGeom prst="ellipse">
            <a:avLst/>
          </a:prstGeom>
          <a:solidFill>
            <a:srgbClr val="CD4B46"/>
          </a:solidFill>
          <a:ln>
            <a:solidFill>
              <a:srgbClr val="CD4B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2720" tIns="45000" rIns="727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2" name="TextBox 19"/>
          <p:cNvSpPr/>
          <p:nvPr/>
        </p:nvSpPr>
        <p:spPr>
          <a:xfrm>
            <a:off x="4572000" y="2560320"/>
            <a:ext cx="1454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733" name="TextBox 20"/>
          <p:cNvSpPr/>
          <p:nvPr/>
        </p:nvSpPr>
        <p:spPr>
          <a:xfrm>
            <a:off x="914400" y="530352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1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size → price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Box 21"/>
          <p:cNvSpPr/>
          <p:nvPr/>
        </p:nvSpPr>
        <p:spPr>
          <a:xfrm>
            <a:off x="6400800" y="1828800"/>
            <a:ext cx="45712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400" b="1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Classification asks “which bucket?”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400" b="1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Regression asks “how much?”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Rounded Rectangle 22"/>
          <p:cNvSpPr/>
          <p:nvPr/>
        </p:nvSpPr>
        <p:spPr>
          <a:xfrm>
            <a:off x="6400800" y="4206240"/>
            <a:ext cx="4662720" cy="822240"/>
          </a:xfrm>
          <a:prstGeom prst="roundRect">
            <a:avLst>
              <a:gd name="adj" fmla="val 16667"/>
            </a:avLst>
          </a:prstGeom>
          <a:solidFill>
            <a:srgbClr val="FFF8E3"/>
          </a:solidFill>
          <a:ln>
            <a:solidFill>
              <a:srgbClr val="FFF8E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6" name="TextBox 23"/>
          <p:cNvSpPr/>
          <p:nvPr/>
        </p:nvSpPr>
        <p:spPr>
          <a:xfrm>
            <a:off x="6565320" y="4316040"/>
            <a:ext cx="433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Loss choice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TextBox 24"/>
          <p:cNvSpPr/>
          <p:nvPr/>
        </p:nvSpPr>
        <p:spPr>
          <a:xfrm>
            <a:off x="6565320" y="4645080"/>
            <a:ext cx="43336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For numbers, mean squared error is common.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9" name="TextBox 2"/>
          <p:cNvSpPr/>
          <p:nvPr/>
        </p:nvSpPr>
        <p:spPr>
          <a:xfrm>
            <a:off x="502920" y="274320"/>
            <a:ext cx="10972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DEEP LEARNING • 2026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Box 3"/>
          <p:cNvSpPr/>
          <p:nvPr/>
        </p:nvSpPr>
        <p:spPr>
          <a:xfrm>
            <a:off x="502920" y="567000"/>
            <a:ext cx="11154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Convolutional neural networks (CNNs)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Box 4"/>
          <p:cNvSpPr/>
          <p:nvPr/>
        </p:nvSpPr>
        <p:spPr>
          <a:xfrm>
            <a:off x="502920" y="6537960"/>
            <a:ext cx="7314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Catholic University of Rwanda  |  Lecturer: Fadl Musa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Box 5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17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Box 6"/>
          <p:cNvSpPr/>
          <p:nvPr/>
        </p:nvSpPr>
        <p:spPr>
          <a:xfrm>
            <a:off x="731520" y="1325880"/>
            <a:ext cx="4845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1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A small filter slides across an image to detect a pattern.</a:t>
            </a:r>
            <a:endParaRPr lang="en-CA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Rectangle 7"/>
          <p:cNvSpPr/>
          <p:nvPr/>
        </p:nvSpPr>
        <p:spPr>
          <a:xfrm>
            <a:off x="914400" y="1920240"/>
            <a:ext cx="365040" cy="365040"/>
          </a:xfrm>
          <a:prstGeom prst="rect">
            <a:avLst/>
          </a:prstGeom>
          <a:solidFill>
            <a:srgbClr val="508CAA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5" name="Rectangle 8"/>
          <p:cNvSpPr/>
          <p:nvPr/>
        </p:nvSpPr>
        <p:spPr>
          <a:xfrm>
            <a:off x="1325880" y="1920240"/>
            <a:ext cx="365040" cy="365040"/>
          </a:xfrm>
          <a:prstGeom prst="rect">
            <a:avLst/>
          </a:prstGeom>
          <a:solidFill>
            <a:srgbClr val="DCEBF2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6" name="Rectangle 9"/>
          <p:cNvSpPr/>
          <p:nvPr/>
        </p:nvSpPr>
        <p:spPr>
          <a:xfrm>
            <a:off x="1737360" y="1920240"/>
            <a:ext cx="365040" cy="365040"/>
          </a:xfrm>
          <a:prstGeom prst="rect">
            <a:avLst/>
          </a:prstGeom>
          <a:solidFill>
            <a:srgbClr val="508CAA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7" name="Rectangle 10"/>
          <p:cNvSpPr/>
          <p:nvPr/>
        </p:nvSpPr>
        <p:spPr>
          <a:xfrm>
            <a:off x="2148840" y="1920240"/>
            <a:ext cx="365040" cy="365040"/>
          </a:xfrm>
          <a:prstGeom prst="rect">
            <a:avLst/>
          </a:prstGeom>
          <a:solidFill>
            <a:srgbClr val="DCEBF2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8" name="Rectangle 11"/>
          <p:cNvSpPr/>
          <p:nvPr/>
        </p:nvSpPr>
        <p:spPr>
          <a:xfrm>
            <a:off x="914400" y="2331720"/>
            <a:ext cx="365040" cy="365040"/>
          </a:xfrm>
          <a:prstGeom prst="rect">
            <a:avLst/>
          </a:prstGeom>
          <a:solidFill>
            <a:srgbClr val="DCEBF2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9" name="Rectangle 12"/>
          <p:cNvSpPr/>
          <p:nvPr/>
        </p:nvSpPr>
        <p:spPr>
          <a:xfrm>
            <a:off x="1325880" y="2331720"/>
            <a:ext cx="365040" cy="365040"/>
          </a:xfrm>
          <a:prstGeom prst="rect">
            <a:avLst/>
          </a:prstGeom>
          <a:solidFill>
            <a:srgbClr val="508CAA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0" name="Rectangle 13"/>
          <p:cNvSpPr/>
          <p:nvPr/>
        </p:nvSpPr>
        <p:spPr>
          <a:xfrm>
            <a:off x="1737360" y="2331720"/>
            <a:ext cx="365040" cy="365040"/>
          </a:xfrm>
          <a:prstGeom prst="rect">
            <a:avLst/>
          </a:prstGeom>
          <a:solidFill>
            <a:srgbClr val="DCEBF2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1" name="Rectangle 14"/>
          <p:cNvSpPr/>
          <p:nvPr/>
        </p:nvSpPr>
        <p:spPr>
          <a:xfrm>
            <a:off x="2148840" y="2331720"/>
            <a:ext cx="365040" cy="365040"/>
          </a:xfrm>
          <a:prstGeom prst="rect">
            <a:avLst/>
          </a:prstGeom>
          <a:solidFill>
            <a:srgbClr val="508CAA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2" name="Rectangle 15"/>
          <p:cNvSpPr/>
          <p:nvPr/>
        </p:nvSpPr>
        <p:spPr>
          <a:xfrm>
            <a:off x="914400" y="2743200"/>
            <a:ext cx="365040" cy="365040"/>
          </a:xfrm>
          <a:prstGeom prst="rect">
            <a:avLst/>
          </a:prstGeom>
          <a:solidFill>
            <a:srgbClr val="508CAA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3" name="Rectangle 16"/>
          <p:cNvSpPr/>
          <p:nvPr/>
        </p:nvSpPr>
        <p:spPr>
          <a:xfrm>
            <a:off x="1325880" y="2743200"/>
            <a:ext cx="365040" cy="365040"/>
          </a:xfrm>
          <a:prstGeom prst="rect">
            <a:avLst/>
          </a:prstGeom>
          <a:solidFill>
            <a:srgbClr val="DCEBF2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4" name="Rectangle 17"/>
          <p:cNvSpPr/>
          <p:nvPr/>
        </p:nvSpPr>
        <p:spPr>
          <a:xfrm>
            <a:off x="1737360" y="2743200"/>
            <a:ext cx="365040" cy="365040"/>
          </a:xfrm>
          <a:prstGeom prst="rect">
            <a:avLst/>
          </a:prstGeom>
          <a:solidFill>
            <a:srgbClr val="508CAA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5" name="Rectangle 18"/>
          <p:cNvSpPr/>
          <p:nvPr/>
        </p:nvSpPr>
        <p:spPr>
          <a:xfrm>
            <a:off x="2148840" y="2743200"/>
            <a:ext cx="365040" cy="365040"/>
          </a:xfrm>
          <a:prstGeom prst="rect">
            <a:avLst/>
          </a:prstGeom>
          <a:solidFill>
            <a:srgbClr val="DCEBF2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6" name="Rectangle 19"/>
          <p:cNvSpPr/>
          <p:nvPr/>
        </p:nvSpPr>
        <p:spPr>
          <a:xfrm>
            <a:off x="914400" y="3154680"/>
            <a:ext cx="365040" cy="365040"/>
          </a:xfrm>
          <a:prstGeom prst="rect">
            <a:avLst/>
          </a:prstGeom>
          <a:solidFill>
            <a:srgbClr val="DCEBF2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7" name="Rectangle 20"/>
          <p:cNvSpPr/>
          <p:nvPr/>
        </p:nvSpPr>
        <p:spPr>
          <a:xfrm>
            <a:off x="1325880" y="3154680"/>
            <a:ext cx="365040" cy="365040"/>
          </a:xfrm>
          <a:prstGeom prst="rect">
            <a:avLst/>
          </a:prstGeom>
          <a:solidFill>
            <a:srgbClr val="508CAA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8" name="Rectangle 21"/>
          <p:cNvSpPr/>
          <p:nvPr/>
        </p:nvSpPr>
        <p:spPr>
          <a:xfrm>
            <a:off x="1737360" y="3154680"/>
            <a:ext cx="365040" cy="365040"/>
          </a:xfrm>
          <a:prstGeom prst="rect">
            <a:avLst/>
          </a:prstGeom>
          <a:solidFill>
            <a:srgbClr val="DCEBF2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9" name="Rectangle 22"/>
          <p:cNvSpPr/>
          <p:nvPr/>
        </p:nvSpPr>
        <p:spPr>
          <a:xfrm>
            <a:off x="2148840" y="3154680"/>
            <a:ext cx="365040" cy="365040"/>
          </a:xfrm>
          <a:prstGeom prst="rect">
            <a:avLst/>
          </a:prstGeom>
          <a:solidFill>
            <a:srgbClr val="508CAA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0" name="Rectangle 23"/>
          <p:cNvSpPr/>
          <p:nvPr/>
        </p:nvSpPr>
        <p:spPr>
          <a:xfrm>
            <a:off x="3840480" y="2331720"/>
            <a:ext cx="365040" cy="365040"/>
          </a:xfrm>
          <a:prstGeom prst="rect">
            <a:avLst/>
          </a:prstGeom>
          <a:solidFill>
            <a:srgbClr val="E7A62D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1" name="Rectangle 24"/>
          <p:cNvSpPr/>
          <p:nvPr/>
        </p:nvSpPr>
        <p:spPr>
          <a:xfrm>
            <a:off x="4251960" y="2331720"/>
            <a:ext cx="365040" cy="365040"/>
          </a:xfrm>
          <a:prstGeom prst="rect">
            <a:avLst/>
          </a:prstGeom>
          <a:solidFill>
            <a:srgbClr val="E7A62D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2" name="Rectangle 25"/>
          <p:cNvSpPr/>
          <p:nvPr/>
        </p:nvSpPr>
        <p:spPr>
          <a:xfrm>
            <a:off x="3840480" y="2743200"/>
            <a:ext cx="365040" cy="365040"/>
          </a:xfrm>
          <a:prstGeom prst="rect">
            <a:avLst/>
          </a:prstGeom>
          <a:solidFill>
            <a:srgbClr val="E7A62D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3" name="Rectangle 26"/>
          <p:cNvSpPr/>
          <p:nvPr/>
        </p:nvSpPr>
        <p:spPr>
          <a:xfrm>
            <a:off x="4251960" y="2743200"/>
            <a:ext cx="365040" cy="365040"/>
          </a:xfrm>
          <a:prstGeom prst="rect">
            <a:avLst/>
          </a:prstGeom>
          <a:solidFill>
            <a:srgbClr val="E7A62D"/>
          </a:solidFill>
          <a:ln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764" name="Connector 27"/>
          <p:cNvCxnSpPr/>
          <p:nvPr/>
        </p:nvCxnSpPr>
        <p:spPr>
          <a:xfrm>
            <a:off x="2743200" y="2743200"/>
            <a:ext cx="1006200" cy="720"/>
          </a:xfrm>
          <a:prstGeom prst="straightConnector1">
            <a:avLst/>
          </a:prstGeom>
          <a:ln w="0">
            <a:solidFill>
              <a:srgbClr val="5F6C7A"/>
            </a:solidFill>
          </a:ln>
        </p:spPr>
      </p:cxnSp>
      <p:sp>
        <p:nvSpPr>
          <p:cNvPr id="765" name="TextBox 28"/>
          <p:cNvSpPr/>
          <p:nvPr/>
        </p:nvSpPr>
        <p:spPr>
          <a:xfrm>
            <a:off x="2743200" y="365760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1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filter / kernel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Rounded Rectangle 29"/>
          <p:cNvSpPr/>
          <p:nvPr/>
        </p:nvSpPr>
        <p:spPr>
          <a:xfrm>
            <a:off x="5852160" y="2194560"/>
            <a:ext cx="1553760" cy="1233720"/>
          </a:xfrm>
          <a:prstGeom prst="roundRect">
            <a:avLst>
              <a:gd name="adj" fmla="val 16667"/>
            </a:avLst>
          </a:prstGeom>
          <a:solidFill>
            <a:srgbClr val="EFF6FB"/>
          </a:solidFill>
          <a:ln>
            <a:solidFill>
              <a:srgbClr val="EFF6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7" name="TextBox 30"/>
          <p:cNvSpPr/>
          <p:nvPr/>
        </p:nvSpPr>
        <p:spPr>
          <a:xfrm>
            <a:off x="5852160" y="2587680"/>
            <a:ext cx="1553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7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feature map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68" name="Connector 31"/>
          <p:cNvCxnSpPr/>
          <p:nvPr/>
        </p:nvCxnSpPr>
        <p:spPr>
          <a:xfrm>
            <a:off x="4663440" y="2743200"/>
            <a:ext cx="1143720" cy="720"/>
          </a:xfrm>
          <a:prstGeom prst="straightConnector1">
            <a:avLst/>
          </a:prstGeom>
          <a:ln w="0">
            <a:solidFill>
              <a:srgbClr val="5F6C7A"/>
            </a:solidFill>
          </a:ln>
        </p:spPr>
      </p:cxnSp>
      <p:sp>
        <p:nvSpPr>
          <p:cNvPr id="769" name="Rounded Rectangle 32"/>
          <p:cNvSpPr/>
          <p:nvPr/>
        </p:nvSpPr>
        <p:spPr>
          <a:xfrm>
            <a:off x="8046720" y="1828800"/>
            <a:ext cx="2925360" cy="2468160"/>
          </a:xfrm>
          <a:prstGeom prst="roundRect">
            <a:avLst>
              <a:gd name="adj" fmla="val 16667"/>
            </a:avLst>
          </a:prstGeom>
          <a:solidFill>
            <a:srgbClr val="EBF8F5"/>
          </a:solidFill>
          <a:ln>
            <a:solidFill>
              <a:srgbClr val="EBF8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0" name="TextBox 33"/>
          <p:cNvSpPr/>
          <p:nvPr/>
        </p:nvSpPr>
        <p:spPr>
          <a:xfrm>
            <a:off x="8211240" y="1938600"/>
            <a:ext cx="259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Why useful?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TextBox 34"/>
          <p:cNvSpPr/>
          <p:nvPr/>
        </p:nvSpPr>
        <p:spPr>
          <a:xfrm>
            <a:off x="8211240" y="2267640"/>
            <a:ext cx="2596320" cy="19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The same detector can find an edge anywhere.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Fewer parameters than connecting every pixel to every neuron.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3" name="TextBox 2"/>
          <p:cNvSpPr/>
          <p:nvPr/>
        </p:nvSpPr>
        <p:spPr>
          <a:xfrm>
            <a:off x="502920" y="274320"/>
            <a:ext cx="10972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DEEP LEARNING • 2026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Box 3"/>
          <p:cNvSpPr/>
          <p:nvPr/>
        </p:nvSpPr>
        <p:spPr>
          <a:xfrm>
            <a:off x="502920" y="567000"/>
            <a:ext cx="11154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Sequence models: remembering order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Box 4"/>
          <p:cNvSpPr/>
          <p:nvPr/>
        </p:nvSpPr>
        <p:spPr>
          <a:xfrm>
            <a:off x="502920" y="6537960"/>
            <a:ext cx="7314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Catholic University of Rwanda  |  Lecturer: Fadl Musa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Box 5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18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Rounded Rectangle 6"/>
          <p:cNvSpPr/>
          <p:nvPr/>
        </p:nvSpPr>
        <p:spPr>
          <a:xfrm>
            <a:off x="914400" y="2194560"/>
            <a:ext cx="1233720" cy="593640"/>
          </a:xfrm>
          <a:prstGeom prst="roundRect">
            <a:avLst>
              <a:gd name="adj" fmla="val 16667"/>
            </a:avLst>
          </a:prstGeom>
          <a:solidFill>
            <a:srgbClr val="EFF6FB"/>
          </a:solidFill>
          <a:ln>
            <a:solidFill>
              <a:srgbClr val="EFF6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8" name="TextBox 7"/>
          <p:cNvSpPr/>
          <p:nvPr/>
        </p:nvSpPr>
        <p:spPr>
          <a:xfrm>
            <a:off x="914400" y="2340720"/>
            <a:ext cx="123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7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I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79" name="Connector 8"/>
          <p:cNvCxnSpPr/>
          <p:nvPr/>
        </p:nvCxnSpPr>
        <p:spPr>
          <a:xfrm>
            <a:off x="2148840" y="2486880"/>
            <a:ext cx="503640" cy="720"/>
          </a:xfrm>
          <a:prstGeom prst="straightConnector1">
            <a:avLst/>
          </a:prstGeom>
          <a:ln w="0">
            <a:solidFill>
              <a:srgbClr val="009191"/>
            </a:solidFill>
          </a:ln>
        </p:spPr>
      </p:cxnSp>
      <p:sp>
        <p:nvSpPr>
          <p:cNvPr id="780" name="Rounded Rectangle 9"/>
          <p:cNvSpPr/>
          <p:nvPr/>
        </p:nvSpPr>
        <p:spPr>
          <a:xfrm>
            <a:off x="2743200" y="2194560"/>
            <a:ext cx="1233720" cy="593640"/>
          </a:xfrm>
          <a:prstGeom prst="roundRect">
            <a:avLst>
              <a:gd name="adj" fmla="val 16667"/>
            </a:avLst>
          </a:prstGeom>
          <a:solidFill>
            <a:srgbClr val="EFF6FB"/>
          </a:solidFill>
          <a:ln>
            <a:solidFill>
              <a:srgbClr val="EFF6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1" name="TextBox 10"/>
          <p:cNvSpPr/>
          <p:nvPr/>
        </p:nvSpPr>
        <p:spPr>
          <a:xfrm>
            <a:off x="2743200" y="2340720"/>
            <a:ext cx="123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7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love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82" name="Connector 11"/>
          <p:cNvCxnSpPr/>
          <p:nvPr/>
        </p:nvCxnSpPr>
        <p:spPr>
          <a:xfrm>
            <a:off x="3977280" y="2486880"/>
            <a:ext cx="504000" cy="720"/>
          </a:xfrm>
          <a:prstGeom prst="straightConnector1">
            <a:avLst/>
          </a:prstGeom>
          <a:ln w="0">
            <a:solidFill>
              <a:srgbClr val="009191"/>
            </a:solidFill>
          </a:ln>
        </p:spPr>
      </p:cxnSp>
      <p:sp>
        <p:nvSpPr>
          <p:cNvPr id="783" name="Rounded Rectangle 12"/>
          <p:cNvSpPr/>
          <p:nvPr/>
        </p:nvSpPr>
        <p:spPr>
          <a:xfrm>
            <a:off x="4572000" y="2194560"/>
            <a:ext cx="1233720" cy="593640"/>
          </a:xfrm>
          <a:prstGeom prst="roundRect">
            <a:avLst>
              <a:gd name="adj" fmla="val 16667"/>
            </a:avLst>
          </a:prstGeom>
          <a:solidFill>
            <a:srgbClr val="EFF6FB"/>
          </a:solidFill>
          <a:ln>
            <a:solidFill>
              <a:srgbClr val="EFF6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4" name="TextBox 13"/>
          <p:cNvSpPr/>
          <p:nvPr/>
        </p:nvSpPr>
        <p:spPr>
          <a:xfrm>
            <a:off x="4572000" y="2340720"/>
            <a:ext cx="123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7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deep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85" name="Connector 14"/>
          <p:cNvCxnSpPr/>
          <p:nvPr/>
        </p:nvCxnSpPr>
        <p:spPr>
          <a:xfrm>
            <a:off x="5806440" y="2486880"/>
            <a:ext cx="503640" cy="720"/>
          </a:xfrm>
          <a:prstGeom prst="straightConnector1">
            <a:avLst/>
          </a:prstGeom>
          <a:ln w="0">
            <a:solidFill>
              <a:srgbClr val="009191"/>
            </a:solidFill>
          </a:ln>
        </p:spPr>
      </p:cxnSp>
      <p:sp>
        <p:nvSpPr>
          <p:cNvPr id="786" name="Rounded Rectangle 15"/>
          <p:cNvSpPr/>
          <p:nvPr/>
        </p:nvSpPr>
        <p:spPr>
          <a:xfrm>
            <a:off x="6400800" y="2194560"/>
            <a:ext cx="1233720" cy="593640"/>
          </a:xfrm>
          <a:prstGeom prst="roundRect">
            <a:avLst>
              <a:gd name="adj" fmla="val 16667"/>
            </a:avLst>
          </a:prstGeom>
          <a:solidFill>
            <a:srgbClr val="EFF6FB"/>
          </a:solidFill>
          <a:ln>
            <a:solidFill>
              <a:srgbClr val="EFF6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7" name="TextBox 16"/>
          <p:cNvSpPr/>
          <p:nvPr/>
        </p:nvSpPr>
        <p:spPr>
          <a:xfrm>
            <a:off x="6400800" y="2340720"/>
            <a:ext cx="123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7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learning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Box 17"/>
          <p:cNvSpPr/>
          <p:nvPr/>
        </p:nvSpPr>
        <p:spPr>
          <a:xfrm>
            <a:off x="1828800" y="3794760"/>
            <a:ext cx="7497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1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Meaning changes when order changes: “dog bites man” ≠ “man bites dog”.</a:t>
            </a:r>
            <a:endParaRPr lang="en-CA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Rounded Rectangle 18"/>
          <p:cNvSpPr/>
          <p:nvPr/>
        </p:nvSpPr>
        <p:spPr>
          <a:xfrm>
            <a:off x="8412480" y="1828800"/>
            <a:ext cx="2468160" cy="2193840"/>
          </a:xfrm>
          <a:prstGeom prst="roundRect">
            <a:avLst>
              <a:gd name="adj" fmla="val 16667"/>
            </a:avLst>
          </a:prstGeom>
          <a:solidFill>
            <a:srgbClr val="FFF8E3"/>
          </a:solidFill>
          <a:ln>
            <a:solidFill>
              <a:srgbClr val="FFF8E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0" name="TextBox 19"/>
          <p:cNvSpPr/>
          <p:nvPr/>
        </p:nvSpPr>
        <p:spPr>
          <a:xfrm>
            <a:off x="8577000" y="1938600"/>
            <a:ext cx="2139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Modern default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TextBox 20"/>
          <p:cNvSpPr/>
          <p:nvPr/>
        </p:nvSpPr>
        <p:spPr>
          <a:xfrm>
            <a:off x="8577000" y="2267640"/>
            <a:ext cx="2139120" cy="166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Transformers use attention: each word looks at the words most relevant to it.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3" name="TextBox 2"/>
          <p:cNvSpPr/>
          <p:nvPr/>
        </p:nvSpPr>
        <p:spPr>
          <a:xfrm>
            <a:off x="502920" y="274320"/>
            <a:ext cx="10972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DEEP LEARNING • 2026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TextBox 3"/>
          <p:cNvSpPr/>
          <p:nvPr/>
        </p:nvSpPr>
        <p:spPr>
          <a:xfrm>
            <a:off x="502920" y="567000"/>
            <a:ext cx="11154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Attention: focusing on what matters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Box 4"/>
          <p:cNvSpPr/>
          <p:nvPr/>
        </p:nvSpPr>
        <p:spPr>
          <a:xfrm>
            <a:off x="502920" y="6537960"/>
            <a:ext cx="7314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Catholic University of Rwanda  |  Lecturer: Fadl Musa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TextBox 5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19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Oval 6"/>
          <p:cNvSpPr/>
          <p:nvPr/>
        </p:nvSpPr>
        <p:spPr>
          <a:xfrm>
            <a:off x="914400" y="2743200"/>
            <a:ext cx="639360" cy="639360"/>
          </a:xfrm>
          <a:prstGeom prst="ellipse">
            <a:avLst/>
          </a:prstGeom>
          <a:solidFill>
            <a:srgbClr val="EFF6FB"/>
          </a:solidFill>
          <a:ln>
            <a:solidFill>
              <a:srgbClr val="EFF6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8" name="TextBox 7"/>
          <p:cNvSpPr/>
          <p:nvPr/>
        </p:nvSpPr>
        <p:spPr>
          <a:xfrm>
            <a:off x="914400" y="274320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1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The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Oval 8"/>
          <p:cNvSpPr/>
          <p:nvPr/>
        </p:nvSpPr>
        <p:spPr>
          <a:xfrm>
            <a:off x="2148840" y="2743200"/>
            <a:ext cx="639360" cy="63936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0" name="TextBox 9"/>
          <p:cNvSpPr/>
          <p:nvPr/>
        </p:nvSpPr>
        <p:spPr>
          <a:xfrm>
            <a:off x="2148840" y="274320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student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Oval 10"/>
          <p:cNvSpPr/>
          <p:nvPr/>
        </p:nvSpPr>
        <p:spPr>
          <a:xfrm>
            <a:off x="3383280" y="2743200"/>
            <a:ext cx="639360" cy="639360"/>
          </a:xfrm>
          <a:prstGeom prst="ellipse">
            <a:avLst/>
          </a:prstGeom>
          <a:solidFill>
            <a:srgbClr val="EFF6FB"/>
          </a:solidFill>
          <a:ln>
            <a:solidFill>
              <a:srgbClr val="EFF6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2" name="TextBox 11"/>
          <p:cNvSpPr/>
          <p:nvPr/>
        </p:nvSpPr>
        <p:spPr>
          <a:xfrm>
            <a:off x="3383280" y="274320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1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read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Oval 12"/>
          <p:cNvSpPr/>
          <p:nvPr/>
        </p:nvSpPr>
        <p:spPr>
          <a:xfrm>
            <a:off x="4617720" y="2743200"/>
            <a:ext cx="639360" cy="639360"/>
          </a:xfrm>
          <a:prstGeom prst="ellipse">
            <a:avLst/>
          </a:prstGeom>
          <a:solidFill>
            <a:srgbClr val="EFF6FB"/>
          </a:solidFill>
          <a:ln>
            <a:solidFill>
              <a:srgbClr val="EFF6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4" name="TextBox 13"/>
          <p:cNvSpPr/>
          <p:nvPr/>
        </p:nvSpPr>
        <p:spPr>
          <a:xfrm>
            <a:off x="4617720" y="274320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1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a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Oval 14"/>
          <p:cNvSpPr/>
          <p:nvPr/>
        </p:nvSpPr>
        <p:spPr>
          <a:xfrm>
            <a:off x="5852160" y="2743200"/>
            <a:ext cx="639360" cy="639360"/>
          </a:xfrm>
          <a:prstGeom prst="ellipse">
            <a:avLst/>
          </a:prstGeom>
          <a:solidFill>
            <a:srgbClr val="EFF6FB"/>
          </a:solidFill>
          <a:ln>
            <a:solidFill>
              <a:srgbClr val="EFF6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6" name="TextBox 15"/>
          <p:cNvSpPr/>
          <p:nvPr/>
        </p:nvSpPr>
        <p:spPr>
          <a:xfrm>
            <a:off x="5852160" y="274320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1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book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07" name="Connector 16"/>
          <p:cNvCxnSpPr/>
          <p:nvPr/>
        </p:nvCxnSpPr>
        <p:spPr>
          <a:xfrm>
            <a:off x="1234440" y="3063240"/>
            <a:ext cx="720" cy="720"/>
          </a:xfrm>
          <a:prstGeom prst="straightConnector1">
            <a:avLst/>
          </a:prstGeom>
          <a:ln w="12700">
            <a:solidFill>
              <a:srgbClr val="AACDDC"/>
            </a:solidFill>
            <a:round/>
          </a:ln>
        </p:spPr>
      </p:cxnSp>
      <p:cxnSp>
        <p:nvCxnSpPr>
          <p:cNvPr id="808" name="Connector 17"/>
          <p:cNvCxnSpPr/>
          <p:nvPr/>
        </p:nvCxnSpPr>
        <p:spPr>
          <a:xfrm>
            <a:off x="1234440" y="3063240"/>
            <a:ext cx="2469600" cy="720"/>
          </a:xfrm>
          <a:prstGeom prst="straightConnector1">
            <a:avLst/>
          </a:prstGeom>
          <a:ln w="12700">
            <a:solidFill>
              <a:srgbClr val="AACDDC"/>
            </a:solidFill>
            <a:round/>
          </a:ln>
        </p:spPr>
      </p:cxnSp>
      <p:cxnSp>
        <p:nvCxnSpPr>
          <p:cNvPr id="809" name="Connector 18"/>
          <p:cNvCxnSpPr/>
          <p:nvPr/>
        </p:nvCxnSpPr>
        <p:spPr>
          <a:xfrm>
            <a:off x="1234440" y="3063240"/>
            <a:ext cx="3704040" cy="720"/>
          </a:xfrm>
          <a:prstGeom prst="straightConnector1">
            <a:avLst/>
          </a:prstGeom>
          <a:ln w="12700">
            <a:solidFill>
              <a:srgbClr val="AACDDC"/>
            </a:solidFill>
            <a:round/>
          </a:ln>
        </p:spPr>
      </p:cxnSp>
      <p:cxnSp>
        <p:nvCxnSpPr>
          <p:cNvPr id="810" name="Connector 19"/>
          <p:cNvCxnSpPr/>
          <p:nvPr/>
        </p:nvCxnSpPr>
        <p:spPr>
          <a:xfrm>
            <a:off x="1234440" y="3063240"/>
            <a:ext cx="4938480" cy="720"/>
          </a:xfrm>
          <a:prstGeom prst="straightConnector1">
            <a:avLst/>
          </a:prstGeom>
          <a:ln w="12700">
            <a:solidFill>
              <a:srgbClr val="AACDDC"/>
            </a:solidFill>
            <a:round/>
          </a:ln>
        </p:spPr>
      </p:cxnSp>
      <p:sp>
        <p:nvSpPr>
          <p:cNvPr id="811" name="TextBox 20"/>
          <p:cNvSpPr/>
          <p:nvPr/>
        </p:nvSpPr>
        <p:spPr>
          <a:xfrm>
            <a:off x="731520" y="1371600"/>
            <a:ext cx="106977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21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To understand “read”, attention assigns more focus to “student” and “book”.</a:t>
            </a:r>
            <a:endParaRPr lang="en-CA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Rounded Rectangle 21"/>
          <p:cNvSpPr/>
          <p:nvPr/>
        </p:nvSpPr>
        <p:spPr>
          <a:xfrm>
            <a:off x="1828800" y="4206240"/>
            <a:ext cx="8046000" cy="822240"/>
          </a:xfrm>
          <a:prstGeom prst="roundRect">
            <a:avLst>
              <a:gd name="adj" fmla="val 16667"/>
            </a:avLst>
          </a:prstGeom>
          <a:solidFill>
            <a:srgbClr val="EBF8F5"/>
          </a:solidFill>
          <a:ln>
            <a:solidFill>
              <a:srgbClr val="EBF8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3" name="TextBox 22"/>
          <p:cNvSpPr/>
          <p:nvPr/>
        </p:nvSpPr>
        <p:spPr>
          <a:xfrm>
            <a:off x="1993320" y="4316040"/>
            <a:ext cx="7716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Analogy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Box 23"/>
          <p:cNvSpPr/>
          <p:nvPr/>
        </p:nvSpPr>
        <p:spPr>
          <a:xfrm>
            <a:off x="1993320" y="4645080"/>
            <a:ext cx="7716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A classroom discussion: listen more carefully to the clues that answer the current question.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Text 0"/>
          <p:cNvSpPr/>
          <p:nvPr/>
        </p:nvSpPr>
        <p:spPr>
          <a:xfrm>
            <a:off x="456840" y="320040"/>
            <a:ext cx="112734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B3D62"/>
                </a:solidFill>
                <a:effectLst/>
                <a:uFillTx/>
                <a:latin typeface="Cambria"/>
                <a:ea typeface="Cambria"/>
              </a:rPr>
              <a:t>Self-Attention: How a Transformer “Focuses”</a:t>
            </a:r>
            <a:endParaRPr lang="en-CA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Text 4"/>
          <p:cNvSpPr/>
          <p:nvPr/>
        </p:nvSpPr>
        <p:spPr>
          <a:xfrm>
            <a:off x="456840" y="960120"/>
            <a:ext cx="11273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Read this: “The cat sat because it was tired.” To understand “it,” your brain looks back at “cat.” Self-attention makes a model do the same thing — with math.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Text 7"/>
          <p:cNvSpPr/>
          <p:nvPr/>
        </p:nvSpPr>
        <p:spPr>
          <a:xfrm>
            <a:off x="456840" y="1417320"/>
            <a:ext cx="11273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3D62"/>
                </a:solidFill>
                <a:effectLst/>
                <a:uFillTx/>
                <a:latin typeface="Calibri"/>
                <a:ea typeface="Calibri"/>
              </a:rPr>
              <a:t>Attention weights when the model processes the word “it”: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Text 10"/>
          <p:cNvSpPr/>
          <p:nvPr/>
        </p:nvSpPr>
        <p:spPr>
          <a:xfrm>
            <a:off x="1110600" y="2532960"/>
            <a:ext cx="17366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3D62"/>
                </a:solidFill>
                <a:effectLst/>
                <a:uFillTx/>
                <a:latin typeface="Calibri"/>
                <a:ea typeface="Calibri"/>
              </a:rPr>
              <a:t>0.05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Shape 1"/>
          <p:cNvSpPr/>
          <p:nvPr/>
        </p:nvSpPr>
        <p:spPr>
          <a:xfrm>
            <a:off x="1704960" y="2788920"/>
            <a:ext cx="547920" cy="90720"/>
          </a:xfrm>
          <a:prstGeom prst="rect">
            <a:avLst/>
          </a:prstGeom>
          <a:solidFill>
            <a:srgbClr val="1C7293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Text 13"/>
          <p:cNvSpPr/>
          <p:nvPr/>
        </p:nvSpPr>
        <p:spPr>
          <a:xfrm>
            <a:off x="1110600" y="2880360"/>
            <a:ext cx="1736640" cy="54792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952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1" name="Text 16"/>
          <p:cNvSpPr/>
          <p:nvPr/>
        </p:nvSpPr>
        <p:spPr>
          <a:xfrm>
            <a:off x="3168000" y="1702440"/>
            <a:ext cx="17366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3D62"/>
                </a:solidFill>
                <a:effectLst/>
                <a:uFillTx/>
                <a:latin typeface="Calibri"/>
                <a:ea typeface="Calibri"/>
              </a:rPr>
              <a:t>0.72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Shape 2"/>
          <p:cNvSpPr/>
          <p:nvPr/>
        </p:nvSpPr>
        <p:spPr>
          <a:xfrm>
            <a:off x="3762360" y="1958760"/>
            <a:ext cx="547920" cy="920880"/>
          </a:xfrm>
          <a:prstGeom prst="rect">
            <a:avLst/>
          </a:prstGeom>
          <a:solidFill>
            <a:srgbClr val="E8871E"/>
          </a:solidFill>
          <a:ln w="6350">
            <a:solidFill>
              <a:srgbClr val="E887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Text 26"/>
          <p:cNvSpPr/>
          <p:nvPr/>
        </p:nvSpPr>
        <p:spPr>
          <a:xfrm>
            <a:off x="3168000" y="2880360"/>
            <a:ext cx="1736640" cy="547920"/>
          </a:xfrm>
          <a:prstGeom prst="roundRect">
            <a:avLst>
              <a:gd name="adj" fmla="val 13333"/>
            </a:avLst>
          </a:prstGeom>
          <a:solidFill>
            <a:srgbClr val="E8871E"/>
          </a:solidFill>
          <a:ln w="25400">
            <a:solidFill>
              <a:srgbClr val="0B3D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cat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 27"/>
          <p:cNvSpPr/>
          <p:nvPr/>
        </p:nvSpPr>
        <p:spPr>
          <a:xfrm>
            <a:off x="5225400" y="2532960"/>
            <a:ext cx="17366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3D62"/>
                </a:solidFill>
                <a:effectLst/>
                <a:uFillTx/>
                <a:latin typeface="Calibri"/>
                <a:ea typeface="Calibri"/>
              </a:rPr>
              <a:t>0.06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Shape 3"/>
          <p:cNvSpPr/>
          <p:nvPr/>
        </p:nvSpPr>
        <p:spPr>
          <a:xfrm>
            <a:off x="5819760" y="2788920"/>
            <a:ext cx="547920" cy="90720"/>
          </a:xfrm>
          <a:prstGeom prst="rect">
            <a:avLst/>
          </a:prstGeom>
          <a:solidFill>
            <a:srgbClr val="1C7293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Text 28"/>
          <p:cNvSpPr/>
          <p:nvPr/>
        </p:nvSpPr>
        <p:spPr>
          <a:xfrm>
            <a:off x="5225400" y="2880360"/>
            <a:ext cx="1736640" cy="54792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952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sat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7" name="Text 29"/>
          <p:cNvSpPr/>
          <p:nvPr/>
        </p:nvSpPr>
        <p:spPr>
          <a:xfrm>
            <a:off x="7282800" y="2532960"/>
            <a:ext cx="17366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3D62"/>
                </a:solidFill>
                <a:effectLst/>
                <a:uFillTx/>
                <a:latin typeface="Calibri"/>
                <a:ea typeface="Calibri"/>
              </a:rPr>
              <a:t>0.07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Shape 5"/>
          <p:cNvSpPr/>
          <p:nvPr/>
        </p:nvSpPr>
        <p:spPr>
          <a:xfrm>
            <a:off x="7877160" y="2788920"/>
            <a:ext cx="547920" cy="90720"/>
          </a:xfrm>
          <a:prstGeom prst="rect">
            <a:avLst/>
          </a:prstGeom>
          <a:solidFill>
            <a:srgbClr val="1C7293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Text 30"/>
          <p:cNvSpPr/>
          <p:nvPr/>
        </p:nvSpPr>
        <p:spPr>
          <a:xfrm>
            <a:off x="7282800" y="2880360"/>
            <a:ext cx="1736640" cy="54792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952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because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0" name="Text 31"/>
          <p:cNvSpPr/>
          <p:nvPr/>
        </p:nvSpPr>
        <p:spPr>
          <a:xfrm>
            <a:off x="9340200" y="2496240"/>
            <a:ext cx="17366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3D62"/>
                </a:solidFill>
                <a:effectLst/>
                <a:uFillTx/>
                <a:latin typeface="Calibri"/>
                <a:ea typeface="Calibri"/>
              </a:rPr>
              <a:t>0.10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Shape 6"/>
          <p:cNvSpPr/>
          <p:nvPr/>
        </p:nvSpPr>
        <p:spPr>
          <a:xfrm>
            <a:off x="9934560" y="2752200"/>
            <a:ext cx="547920" cy="127440"/>
          </a:xfrm>
          <a:prstGeom prst="rect">
            <a:avLst/>
          </a:prstGeom>
          <a:solidFill>
            <a:srgbClr val="1C7293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Text 32"/>
          <p:cNvSpPr/>
          <p:nvPr/>
        </p:nvSpPr>
        <p:spPr>
          <a:xfrm>
            <a:off x="9340200" y="2880360"/>
            <a:ext cx="1736640" cy="54792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952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it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3" name="Text 33"/>
          <p:cNvSpPr/>
          <p:nvPr/>
        </p:nvSpPr>
        <p:spPr>
          <a:xfrm>
            <a:off x="2436480" y="3703320"/>
            <a:ext cx="7314120" cy="8679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B3D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B3D62"/>
                </a:solidFill>
                <a:effectLst/>
                <a:uFillTx/>
                <a:latin typeface="Cambria"/>
                <a:ea typeface="Cambria"/>
              </a:rPr>
              <a:t>Attention(Q, K, V) = softmax( QKᵀ / √d_k ) · V</a:t>
            </a:r>
            <a:endParaRPr lang="en-CA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Text 34"/>
          <p:cNvSpPr/>
          <p:nvPr/>
        </p:nvSpPr>
        <p:spPr>
          <a:xfrm>
            <a:off x="1573920" y="4846320"/>
            <a:ext cx="913680" cy="913680"/>
          </a:xfrm>
          <a:prstGeom prst="ellipse">
            <a:avLst/>
          </a:prstGeom>
          <a:solidFill>
            <a:srgbClr val="0B3D62"/>
          </a:solidFill>
          <a:ln w="0">
            <a:solidFill>
              <a:srgbClr val="0B3D62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Q</a:t>
            </a:r>
            <a:endParaRPr lang="en-CA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35"/>
          <p:cNvSpPr/>
          <p:nvPr/>
        </p:nvSpPr>
        <p:spPr>
          <a:xfrm>
            <a:off x="456840" y="5852160"/>
            <a:ext cx="31478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3D62"/>
                </a:solidFill>
                <a:effectLst/>
                <a:uFillTx/>
                <a:latin typeface="Calibri"/>
                <a:ea typeface="Calibri"/>
              </a:rPr>
              <a:t>Query — What is this word looking for?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Text 36"/>
          <p:cNvSpPr/>
          <p:nvPr/>
        </p:nvSpPr>
        <p:spPr>
          <a:xfrm>
            <a:off x="5636880" y="4846320"/>
            <a:ext cx="913680" cy="913680"/>
          </a:xfrm>
          <a:prstGeom prst="ellipse">
            <a:avLst/>
          </a:prstGeom>
          <a:solidFill>
            <a:srgbClr val="1C7293"/>
          </a:solidFill>
          <a:ln w="0">
            <a:solidFill>
              <a:srgbClr val="1C729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</a:t>
            </a:r>
            <a:endParaRPr lang="en-CA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7" name="Text 37"/>
          <p:cNvSpPr/>
          <p:nvPr/>
        </p:nvSpPr>
        <p:spPr>
          <a:xfrm>
            <a:off x="4519800" y="5852160"/>
            <a:ext cx="31478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3D62"/>
                </a:solidFill>
                <a:effectLst/>
                <a:uFillTx/>
                <a:latin typeface="Calibri"/>
                <a:ea typeface="Calibri"/>
              </a:rPr>
              <a:t>Key — What can each word offer?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Text 38"/>
          <p:cNvSpPr/>
          <p:nvPr/>
        </p:nvSpPr>
        <p:spPr>
          <a:xfrm>
            <a:off x="9699840" y="4846320"/>
            <a:ext cx="913680" cy="913680"/>
          </a:xfrm>
          <a:prstGeom prst="ellipse">
            <a:avLst/>
          </a:prstGeom>
          <a:solidFill>
            <a:srgbClr val="E8871E"/>
          </a:solidFill>
          <a:ln w="0">
            <a:solidFill>
              <a:srgbClr val="E8871E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Text 39"/>
          <p:cNvSpPr/>
          <p:nvPr/>
        </p:nvSpPr>
        <p:spPr>
          <a:xfrm>
            <a:off x="8582760" y="5852160"/>
            <a:ext cx="31478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3D62"/>
                </a:solidFill>
                <a:effectLst/>
                <a:uFillTx/>
                <a:latin typeface="Calibri"/>
                <a:ea typeface="Calibri"/>
              </a:rPr>
              <a:t>Value — The actual info passed along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Text 40"/>
          <p:cNvSpPr/>
          <p:nvPr/>
        </p:nvSpPr>
        <p:spPr>
          <a:xfrm>
            <a:off x="1152108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Text 3"/>
          <p:cNvSpPr/>
          <p:nvPr/>
        </p:nvSpPr>
        <p:spPr>
          <a:xfrm>
            <a:off x="456840" y="320040"/>
            <a:ext cx="112734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B3D62"/>
                </a:solidFill>
                <a:effectLst/>
                <a:uFillTx/>
                <a:latin typeface="Cambria"/>
                <a:ea typeface="Cambria"/>
              </a:rPr>
              <a:t>Inside a Transformer Block</a:t>
            </a:r>
            <a:endParaRPr lang="en-CA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Text 5"/>
          <p:cNvSpPr/>
          <p:nvPr/>
        </p:nvSpPr>
        <p:spPr>
          <a:xfrm>
            <a:off x="456840" y="960120"/>
            <a:ext cx="11273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Attention doesn’t work alone — it’s one piece of a block that gets stacked over and over.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Text 9"/>
          <p:cNvSpPr/>
          <p:nvPr/>
        </p:nvSpPr>
        <p:spPr>
          <a:xfrm>
            <a:off x="548280" y="1417320"/>
            <a:ext cx="4571280" cy="685080"/>
          </a:xfrm>
          <a:prstGeom prst="roundRect">
            <a:avLst>
              <a:gd name="adj" fmla="val 9333"/>
            </a:avLst>
          </a:prstGeom>
          <a:solidFill>
            <a:srgbClr val="0B3D62"/>
          </a:solidFill>
          <a:ln w="9525">
            <a:solidFill>
              <a:srgbClr val="0B3D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Embeddings + Position</a:t>
            </a:r>
            <a:endParaRPr lang="en-CA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AF5"/>
                </a:solidFill>
                <a:effectLst/>
                <a:uFillTx/>
                <a:latin typeface="Calibri"/>
                <a:ea typeface="Calibri"/>
              </a:rPr>
              <a:t>turns words into numbers, adds word order</a:t>
            </a:r>
            <a:endParaRPr lang="en-CA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4" name="Shape 4"/>
          <p:cNvSpPr/>
          <p:nvPr/>
        </p:nvSpPr>
        <p:spPr>
          <a:xfrm>
            <a:off x="2834280" y="2103120"/>
            <a:ext cx="360" cy="182880"/>
          </a:xfrm>
          <a:prstGeom prst="line">
            <a:avLst/>
          </a:prstGeom>
          <a:ln w="22225">
            <a:solidFill>
              <a:srgbClr val="0B3D6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Text 11"/>
          <p:cNvSpPr/>
          <p:nvPr/>
        </p:nvSpPr>
        <p:spPr>
          <a:xfrm>
            <a:off x="548280" y="2286000"/>
            <a:ext cx="4571280" cy="685080"/>
          </a:xfrm>
          <a:prstGeom prst="roundRect">
            <a:avLst>
              <a:gd name="adj" fmla="val 9333"/>
            </a:avLst>
          </a:prstGeom>
          <a:solidFill>
            <a:srgbClr val="E8871E"/>
          </a:solidFill>
          <a:ln w="25400">
            <a:solidFill>
              <a:srgbClr val="0B3D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Multi-Head Self-Attention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AF5"/>
                </a:solidFill>
                <a:effectLst/>
                <a:uFillTx/>
                <a:latin typeface="Calibri"/>
                <a:ea typeface="Calibri"/>
              </a:rPr>
              <a:t>each word looks at every other word (Slide 1 math)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Shape 8"/>
          <p:cNvSpPr/>
          <p:nvPr/>
        </p:nvSpPr>
        <p:spPr>
          <a:xfrm>
            <a:off x="2834280" y="2971800"/>
            <a:ext cx="360" cy="182880"/>
          </a:xfrm>
          <a:prstGeom prst="line">
            <a:avLst/>
          </a:prstGeom>
          <a:ln w="22225">
            <a:solidFill>
              <a:srgbClr val="0B3D6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Text 14"/>
          <p:cNvSpPr/>
          <p:nvPr/>
        </p:nvSpPr>
        <p:spPr>
          <a:xfrm>
            <a:off x="548280" y="3154680"/>
            <a:ext cx="4571280" cy="502200"/>
          </a:xfrm>
          <a:prstGeom prst="roundRect">
            <a:avLst>
              <a:gd name="adj" fmla="val 12727"/>
            </a:avLst>
          </a:prstGeom>
          <a:solidFill>
            <a:srgbClr val="1C7293"/>
          </a:solidFill>
          <a:ln w="952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Add &amp; Normalize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8" name="Shape 10"/>
          <p:cNvSpPr/>
          <p:nvPr/>
        </p:nvSpPr>
        <p:spPr>
          <a:xfrm>
            <a:off x="2834280" y="3657600"/>
            <a:ext cx="360" cy="182880"/>
          </a:xfrm>
          <a:prstGeom prst="line">
            <a:avLst/>
          </a:prstGeom>
          <a:ln w="22225">
            <a:solidFill>
              <a:srgbClr val="0B3D6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Text 15"/>
          <p:cNvSpPr/>
          <p:nvPr/>
        </p:nvSpPr>
        <p:spPr>
          <a:xfrm>
            <a:off x="548280" y="3840480"/>
            <a:ext cx="4571280" cy="685080"/>
          </a:xfrm>
          <a:prstGeom prst="roundRect">
            <a:avLst>
              <a:gd name="adj" fmla="val 9333"/>
            </a:avLst>
          </a:prstGeom>
          <a:solidFill>
            <a:srgbClr val="0B3D62"/>
          </a:solidFill>
          <a:ln w="9525">
            <a:solidFill>
              <a:srgbClr val="0B3D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Feed-Forward Network</a:t>
            </a:r>
            <a:endParaRPr lang="en-CA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CEAF5"/>
                </a:solidFill>
                <a:effectLst/>
                <a:uFillTx/>
                <a:latin typeface="Calibri"/>
                <a:ea typeface="Calibri"/>
              </a:rPr>
              <a:t>a mini neural net improves each word's info</a:t>
            </a:r>
            <a:endParaRPr lang="en-CA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0" name="Shape 12"/>
          <p:cNvSpPr/>
          <p:nvPr/>
        </p:nvSpPr>
        <p:spPr>
          <a:xfrm>
            <a:off x="2834280" y="4526280"/>
            <a:ext cx="360" cy="182880"/>
          </a:xfrm>
          <a:prstGeom prst="line">
            <a:avLst/>
          </a:prstGeom>
          <a:ln w="22225">
            <a:solidFill>
              <a:srgbClr val="0B3D6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Text 41"/>
          <p:cNvSpPr/>
          <p:nvPr/>
        </p:nvSpPr>
        <p:spPr>
          <a:xfrm>
            <a:off x="548280" y="4709160"/>
            <a:ext cx="4571280" cy="502200"/>
          </a:xfrm>
          <a:prstGeom prst="roundRect">
            <a:avLst>
              <a:gd name="adj" fmla="val 12727"/>
            </a:avLst>
          </a:prstGeom>
          <a:solidFill>
            <a:srgbClr val="1C7293"/>
          </a:solidFill>
          <a:ln w="952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Add &amp; Normalize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2" name="Shape 13"/>
          <p:cNvSpPr/>
          <p:nvPr/>
        </p:nvSpPr>
        <p:spPr>
          <a:xfrm>
            <a:off x="2834280" y="5212080"/>
            <a:ext cx="360" cy="182880"/>
          </a:xfrm>
          <a:prstGeom prst="line">
            <a:avLst/>
          </a:prstGeom>
          <a:ln w="22225">
            <a:solidFill>
              <a:srgbClr val="0B3D6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Text 42"/>
          <p:cNvSpPr/>
          <p:nvPr/>
        </p:nvSpPr>
        <p:spPr>
          <a:xfrm>
            <a:off x="548280" y="5394960"/>
            <a:ext cx="4571280" cy="593640"/>
          </a:xfrm>
          <a:prstGeom prst="roundRect">
            <a:avLst>
              <a:gd name="adj" fmla="val 10769"/>
            </a:avLst>
          </a:prstGeom>
          <a:solidFill>
            <a:srgbClr val="0B3D62"/>
          </a:solidFill>
          <a:ln w="9525">
            <a:solidFill>
              <a:srgbClr val="0B3D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Output: Next-Word Probabilities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4" name="Text 43"/>
          <p:cNvSpPr/>
          <p:nvPr/>
        </p:nvSpPr>
        <p:spPr>
          <a:xfrm>
            <a:off x="548280" y="605340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(this whole block repeats — often 6, 12, or more times, stacked)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Shape 17"/>
          <p:cNvSpPr/>
          <p:nvPr/>
        </p:nvSpPr>
        <p:spPr>
          <a:xfrm>
            <a:off x="5257440" y="2286000"/>
            <a:ext cx="360" cy="2926080"/>
          </a:xfrm>
          <a:prstGeom prst="line">
            <a:avLst/>
          </a:prstGeom>
          <a:ln w="25400">
            <a:solidFill>
              <a:srgbClr val="E887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Shape 18"/>
          <p:cNvSpPr/>
          <p:nvPr/>
        </p:nvSpPr>
        <p:spPr>
          <a:xfrm>
            <a:off x="5166000" y="2267640"/>
            <a:ext cx="182160" cy="36000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Shape 19"/>
          <p:cNvSpPr/>
          <p:nvPr/>
        </p:nvSpPr>
        <p:spPr>
          <a:xfrm>
            <a:off x="5166000" y="5193720"/>
            <a:ext cx="182160" cy="36000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Text 44"/>
          <p:cNvSpPr/>
          <p:nvPr/>
        </p:nvSpPr>
        <p:spPr>
          <a:xfrm>
            <a:off x="5348880" y="3429000"/>
            <a:ext cx="822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871E"/>
                </a:solidFill>
                <a:effectLst/>
                <a:uFillTx/>
                <a:latin typeface="Calibri"/>
                <a:ea typeface="Calibri"/>
              </a:rPr>
              <a:t>×N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871E"/>
                </a:solidFill>
                <a:effectLst/>
                <a:uFillTx/>
                <a:latin typeface="Calibri"/>
                <a:ea typeface="Calibri"/>
              </a:rPr>
              <a:t>layers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Text 45"/>
          <p:cNvSpPr/>
          <p:nvPr/>
        </p:nvSpPr>
        <p:spPr>
          <a:xfrm>
            <a:off x="6309000" y="1417320"/>
            <a:ext cx="5394240" cy="319320"/>
          </a:xfrm>
          <a:prstGeom prst="roundRect">
            <a:avLst>
              <a:gd name="adj" fmla="val 17143"/>
            </a:avLst>
          </a:prstGeom>
          <a:solidFill>
            <a:srgbClr val="0B3D62"/>
          </a:solidFill>
          <a:ln w="0">
            <a:solidFill>
              <a:srgbClr val="0B3D62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Positional Encoding</a:t>
            </a:r>
            <a:endParaRPr lang="en-CA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0" name="Text 46"/>
          <p:cNvSpPr/>
          <p:nvPr/>
        </p:nvSpPr>
        <p:spPr>
          <a:xfrm>
            <a:off x="6309000" y="1737360"/>
            <a:ext cx="5394240" cy="959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0B3D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B3D62"/>
                </a:solidFill>
                <a:effectLst/>
                <a:uFillTx/>
                <a:latin typeface="Cambria"/>
                <a:ea typeface="Cambria"/>
              </a:rPr>
              <a:t>PE(pos, 2i)   = sin( pos / 10000^(2i/d) )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B3D62"/>
                </a:solidFill>
                <a:effectLst/>
                <a:uFillTx/>
                <a:latin typeface="Cambria"/>
                <a:ea typeface="Cambria"/>
              </a:rPr>
              <a:t>PE(pos, 2i+1) = cos( pos / 10000^(2i/d) )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 47"/>
          <p:cNvSpPr/>
          <p:nvPr/>
        </p:nvSpPr>
        <p:spPr>
          <a:xfrm>
            <a:off x="6309000" y="2788920"/>
            <a:ext cx="5394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Gives each word a unique “timestamp” so the model knows word order — attention math alone can’t tell order.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Text 48"/>
          <p:cNvSpPr/>
          <p:nvPr/>
        </p:nvSpPr>
        <p:spPr>
          <a:xfrm>
            <a:off x="6309000" y="3383280"/>
            <a:ext cx="5394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3D62"/>
                </a:solidFill>
                <a:effectLst/>
                <a:uFillTx/>
                <a:latin typeface="Calibri"/>
                <a:ea typeface="Calibri"/>
              </a:rPr>
              <a:t>Each position gets its own unique pattern: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Text 49"/>
          <p:cNvSpPr/>
          <p:nvPr/>
        </p:nvSpPr>
        <p:spPr>
          <a:xfrm>
            <a:off x="7314840" y="3749040"/>
            <a:ext cx="456480" cy="456480"/>
          </a:xfrm>
          <a:prstGeom prst="ellipse">
            <a:avLst/>
          </a:prstGeom>
          <a:solidFill>
            <a:srgbClr val="1C7293"/>
          </a:solidFill>
          <a:ln w="0">
            <a:solidFill>
              <a:srgbClr val="1C729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4" name="Text 50"/>
          <p:cNvSpPr/>
          <p:nvPr/>
        </p:nvSpPr>
        <p:spPr>
          <a:xfrm>
            <a:off x="7223400" y="425196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pos 0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 51"/>
          <p:cNvSpPr/>
          <p:nvPr/>
        </p:nvSpPr>
        <p:spPr>
          <a:xfrm>
            <a:off x="8046360" y="3749040"/>
            <a:ext cx="456480" cy="456480"/>
          </a:xfrm>
          <a:prstGeom prst="ellipse">
            <a:avLst/>
          </a:prstGeom>
          <a:solidFill>
            <a:srgbClr val="0B3D62"/>
          </a:solidFill>
          <a:ln w="0">
            <a:solidFill>
              <a:srgbClr val="0B3D62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6" name="Text 52"/>
          <p:cNvSpPr/>
          <p:nvPr/>
        </p:nvSpPr>
        <p:spPr>
          <a:xfrm>
            <a:off x="7954920" y="425196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pos 1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Text 53"/>
          <p:cNvSpPr/>
          <p:nvPr/>
        </p:nvSpPr>
        <p:spPr>
          <a:xfrm>
            <a:off x="8777880" y="3749040"/>
            <a:ext cx="456480" cy="456480"/>
          </a:xfrm>
          <a:prstGeom prst="ellipse">
            <a:avLst/>
          </a:prstGeom>
          <a:solidFill>
            <a:srgbClr val="1C7293"/>
          </a:solidFill>
          <a:ln w="0">
            <a:solidFill>
              <a:srgbClr val="1C729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8" name="Text 54"/>
          <p:cNvSpPr/>
          <p:nvPr/>
        </p:nvSpPr>
        <p:spPr>
          <a:xfrm>
            <a:off x="8686440" y="425196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pos 2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Text 55"/>
          <p:cNvSpPr/>
          <p:nvPr/>
        </p:nvSpPr>
        <p:spPr>
          <a:xfrm>
            <a:off x="9509400" y="3749040"/>
            <a:ext cx="456480" cy="456480"/>
          </a:xfrm>
          <a:prstGeom prst="ellipse">
            <a:avLst/>
          </a:prstGeom>
          <a:solidFill>
            <a:srgbClr val="0B3D62"/>
          </a:solidFill>
          <a:ln w="0">
            <a:solidFill>
              <a:srgbClr val="0B3D62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0" name="Text 56"/>
          <p:cNvSpPr/>
          <p:nvPr/>
        </p:nvSpPr>
        <p:spPr>
          <a:xfrm>
            <a:off x="9417960" y="425196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pos 3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Text 57"/>
          <p:cNvSpPr/>
          <p:nvPr/>
        </p:nvSpPr>
        <p:spPr>
          <a:xfrm>
            <a:off x="10240920" y="3749040"/>
            <a:ext cx="456480" cy="456480"/>
          </a:xfrm>
          <a:prstGeom prst="ellipse">
            <a:avLst/>
          </a:prstGeom>
          <a:solidFill>
            <a:srgbClr val="1C7293"/>
          </a:solidFill>
          <a:ln w="0">
            <a:solidFill>
              <a:srgbClr val="1C729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2" name="Text 58"/>
          <p:cNvSpPr/>
          <p:nvPr/>
        </p:nvSpPr>
        <p:spPr>
          <a:xfrm>
            <a:off x="10149480" y="425196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pos 4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Text 59"/>
          <p:cNvSpPr/>
          <p:nvPr/>
        </p:nvSpPr>
        <p:spPr>
          <a:xfrm>
            <a:off x="6309000" y="4709160"/>
            <a:ext cx="5394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D62"/>
                </a:solidFill>
                <a:effectLst/>
                <a:uFillTx/>
                <a:latin typeface="Calibri"/>
                <a:ea typeface="Calibri"/>
              </a:rPr>
              <a:t>Why This Structure Works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Text 60"/>
          <p:cNvSpPr/>
          <p:nvPr/>
        </p:nvSpPr>
        <p:spPr>
          <a:xfrm>
            <a:off x="6309000" y="5029200"/>
            <a:ext cx="5394240" cy="1142280"/>
          </a:xfrm>
          <a:prstGeom prst="roundRect">
            <a:avLst>
              <a:gd name="adj" fmla="val 4800"/>
            </a:avLst>
          </a:prstGeom>
          <a:solidFill>
            <a:srgbClr val="DCEAF5"/>
          </a:solidFill>
          <a:ln w="0">
            <a:solidFill>
              <a:srgbClr val="DCEAF5"/>
            </a:solidFill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B3D62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0B3D62"/>
                </a:solidFill>
                <a:effectLst/>
                <a:uFillTx/>
                <a:latin typeface="Calibri"/>
                <a:ea typeface="Calibri"/>
              </a:rPr>
              <a:t>Stacking many blocks builds deeper understanding of context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B3D62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0B3D62"/>
                </a:solidFill>
                <a:effectLst/>
                <a:uFillTx/>
                <a:latin typeface="Calibri"/>
                <a:ea typeface="Calibri"/>
              </a:rPr>
              <a:t>Multiple attention “heads” run in parallel, each learning different word relationships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B3D62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0B3D62"/>
                </a:solidFill>
                <a:effectLst/>
                <a:uFillTx/>
                <a:latin typeface="Calibri"/>
                <a:ea typeface="Calibri"/>
              </a:rPr>
              <a:t>This exact recipe powers GPT, BERT, and most modern language models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Text 61"/>
          <p:cNvSpPr/>
          <p:nvPr/>
        </p:nvSpPr>
        <p:spPr>
          <a:xfrm>
            <a:off x="1152108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7" name="TextBox 2"/>
          <p:cNvSpPr/>
          <p:nvPr/>
        </p:nvSpPr>
        <p:spPr>
          <a:xfrm>
            <a:off x="502920" y="274320"/>
            <a:ext cx="10972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DEEP LEARNING • 2026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TextBox 3"/>
          <p:cNvSpPr/>
          <p:nvPr/>
        </p:nvSpPr>
        <p:spPr>
          <a:xfrm>
            <a:off x="502920" y="567000"/>
            <a:ext cx="11154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Embeddings: words as locations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TextBox 4"/>
          <p:cNvSpPr/>
          <p:nvPr/>
        </p:nvSpPr>
        <p:spPr>
          <a:xfrm>
            <a:off x="502920" y="6537960"/>
            <a:ext cx="7314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Catholic University of Rwanda  |  Lecturer: Fadl Musa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TextBox 5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20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TextBox 6"/>
          <p:cNvSpPr/>
          <p:nvPr/>
        </p:nvSpPr>
        <p:spPr>
          <a:xfrm>
            <a:off x="731520" y="1325880"/>
            <a:ext cx="4571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0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A word becomes a list of numbers—a point in a “meaning map”.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82" name="Connector 7"/>
          <p:cNvCxnSpPr/>
          <p:nvPr/>
        </p:nvCxnSpPr>
        <p:spPr>
          <a:xfrm>
            <a:off x="914400" y="5303520"/>
            <a:ext cx="4481280" cy="720"/>
          </a:xfrm>
          <a:prstGeom prst="straightConnector1">
            <a:avLst/>
          </a:prstGeom>
          <a:ln w="0">
            <a:solidFill>
              <a:srgbClr val="5F6C7A"/>
            </a:solidFill>
          </a:ln>
        </p:spPr>
      </p:cxnSp>
      <p:cxnSp>
        <p:nvCxnSpPr>
          <p:cNvPr id="883" name="Connector 8"/>
          <p:cNvCxnSpPr/>
          <p:nvPr/>
        </p:nvCxnSpPr>
        <p:spPr>
          <a:xfrm flipV="1">
            <a:off x="914400" y="1828800"/>
            <a:ext cx="720" cy="3475440"/>
          </a:xfrm>
          <a:prstGeom prst="straightConnector1">
            <a:avLst/>
          </a:prstGeom>
          <a:ln w="0">
            <a:solidFill>
              <a:srgbClr val="5F6C7A"/>
            </a:solidFill>
          </a:ln>
        </p:spPr>
      </p:cxnSp>
      <p:sp>
        <p:nvSpPr>
          <p:cNvPr id="884" name="Oval 9"/>
          <p:cNvSpPr/>
          <p:nvPr/>
        </p:nvSpPr>
        <p:spPr>
          <a:xfrm>
            <a:off x="1828800" y="4389120"/>
            <a:ext cx="200520" cy="20052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5" name="TextBox 10"/>
          <p:cNvSpPr/>
          <p:nvPr/>
        </p:nvSpPr>
        <p:spPr>
          <a:xfrm>
            <a:off x="1828800" y="4389120"/>
            <a:ext cx="200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886" name="TextBox 11"/>
          <p:cNvSpPr/>
          <p:nvPr/>
        </p:nvSpPr>
        <p:spPr>
          <a:xfrm>
            <a:off x="2057400" y="431604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king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Oval 12"/>
          <p:cNvSpPr/>
          <p:nvPr/>
        </p:nvSpPr>
        <p:spPr>
          <a:xfrm>
            <a:off x="2286000" y="4663440"/>
            <a:ext cx="200520" cy="200520"/>
          </a:xfrm>
          <a:prstGeom prst="ellipse">
            <a:avLst/>
          </a:prstGeom>
          <a:solidFill>
            <a:srgbClr val="CD4B46"/>
          </a:solidFill>
          <a:ln>
            <a:solidFill>
              <a:srgbClr val="CD4B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8" name="TextBox 13"/>
          <p:cNvSpPr/>
          <p:nvPr/>
        </p:nvSpPr>
        <p:spPr>
          <a:xfrm>
            <a:off x="2286000" y="4663440"/>
            <a:ext cx="200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889" name="TextBox 14"/>
          <p:cNvSpPr/>
          <p:nvPr/>
        </p:nvSpPr>
        <p:spPr>
          <a:xfrm>
            <a:off x="2514600" y="459036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queen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Oval 15"/>
          <p:cNvSpPr/>
          <p:nvPr/>
        </p:nvSpPr>
        <p:spPr>
          <a:xfrm>
            <a:off x="4389120" y="2468880"/>
            <a:ext cx="200520" cy="200520"/>
          </a:xfrm>
          <a:prstGeom prst="ellipse">
            <a:avLst/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1" name="TextBox 16"/>
          <p:cNvSpPr/>
          <p:nvPr/>
        </p:nvSpPr>
        <p:spPr>
          <a:xfrm>
            <a:off x="4389120" y="2468880"/>
            <a:ext cx="200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892" name="TextBox 17"/>
          <p:cNvSpPr/>
          <p:nvPr/>
        </p:nvSpPr>
        <p:spPr>
          <a:xfrm>
            <a:off x="4617720" y="239580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banana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Oval 18"/>
          <p:cNvSpPr/>
          <p:nvPr/>
        </p:nvSpPr>
        <p:spPr>
          <a:xfrm>
            <a:off x="4754880" y="2194560"/>
            <a:ext cx="200520" cy="200520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4" name="TextBox 19"/>
          <p:cNvSpPr/>
          <p:nvPr/>
        </p:nvSpPr>
        <p:spPr>
          <a:xfrm>
            <a:off x="4754880" y="2194560"/>
            <a:ext cx="200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895" name="TextBox 20"/>
          <p:cNvSpPr/>
          <p:nvPr/>
        </p:nvSpPr>
        <p:spPr>
          <a:xfrm>
            <a:off x="4983480" y="212148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apple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TextBox 21"/>
          <p:cNvSpPr/>
          <p:nvPr/>
        </p:nvSpPr>
        <p:spPr>
          <a:xfrm>
            <a:off x="914400" y="548640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dimension 1: perhaps “fruit-ness”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TextBox 22"/>
          <p:cNvSpPr/>
          <p:nvPr/>
        </p:nvSpPr>
        <p:spPr>
          <a:xfrm>
            <a:off x="6400800" y="1828800"/>
            <a:ext cx="45712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200" b="1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Nearby points often have related uses.</a:t>
            </a:r>
            <a:endParaRPr lang="en-CA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200" b="1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The map is learned from language patterns.</a:t>
            </a:r>
            <a:endParaRPr lang="en-CA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Rounded Rectangle 23"/>
          <p:cNvSpPr/>
          <p:nvPr/>
        </p:nvSpPr>
        <p:spPr>
          <a:xfrm>
            <a:off x="6400800" y="4023360"/>
            <a:ext cx="4754160" cy="913680"/>
          </a:xfrm>
          <a:prstGeom prst="roundRect">
            <a:avLst>
              <a:gd name="adj" fmla="val 16667"/>
            </a:avLst>
          </a:prstGeom>
          <a:solidFill>
            <a:srgbClr val="FFF8E3"/>
          </a:solidFill>
          <a:ln>
            <a:solidFill>
              <a:srgbClr val="FFF8E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9" name="TextBox 24"/>
          <p:cNvSpPr/>
          <p:nvPr/>
        </p:nvSpPr>
        <p:spPr>
          <a:xfrm>
            <a:off x="6565320" y="4133160"/>
            <a:ext cx="442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Important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TextBox 25"/>
          <p:cNvSpPr/>
          <p:nvPr/>
        </p:nvSpPr>
        <p:spPr>
          <a:xfrm>
            <a:off x="6565320" y="4462200"/>
            <a:ext cx="4425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The coordinates do not have fixed human names; relationships matter.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2" name="TextBox 2"/>
          <p:cNvSpPr/>
          <p:nvPr/>
        </p:nvSpPr>
        <p:spPr>
          <a:xfrm>
            <a:off x="502920" y="274320"/>
            <a:ext cx="10972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DEEP LEARNING • 2026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TextBox 3"/>
          <p:cNvSpPr/>
          <p:nvPr/>
        </p:nvSpPr>
        <p:spPr>
          <a:xfrm>
            <a:off x="502920" y="567000"/>
            <a:ext cx="11154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Data: train, validation, test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TextBox 4"/>
          <p:cNvSpPr/>
          <p:nvPr/>
        </p:nvSpPr>
        <p:spPr>
          <a:xfrm>
            <a:off x="502920" y="6537960"/>
            <a:ext cx="7314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Catholic University of Rwanda  |  Lecturer: Fadl Musa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TextBox 5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21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Rounded Rectangle 6"/>
          <p:cNvSpPr/>
          <p:nvPr/>
        </p:nvSpPr>
        <p:spPr>
          <a:xfrm>
            <a:off x="914400" y="2011680"/>
            <a:ext cx="2925360" cy="1233720"/>
          </a:xfrm>
          <a:prstGeom prst="roundRect">
            <a:avLst>
              <a:gd name="adj" fmla="val 16667"/>
            </a:avLst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7" name="TextBox 7"/>
          <p:cNvSpPr/>
          <p:nvPr/>
        </p:nvSpPr>
        <p:spPr>
          <a:xfrm>
            <a:off x="914400" y="222192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TRAIN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TextBox 8"/>
          <p:cNvSpPr/>
          <p:nvPr/>
        </p:nvSpPr>
        <p:spPr>
          <a:xfrm>
            <a:off x="914400" y="257868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learn weights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09" name="Connector 9"/>
          <p:cNvCxnSpPr/>
          <p:nvPr/>
        </p:nvCxnSpPr>
        <p:spPr>
          <a:xfrm>
            <a:off x="3840480" y="2624040"/>
            <a:ext cx="549360" cy="720"/>
          </a:xfrm>
          <a:prstGeom prst="straightConnector1">
            <a:avLst/>
          </a:prstGeom>
          <a:ln w="0">
            <a:solidFill>
              <a:srgbClr val="5F6C7A"/>
            </a:solidFill>
          </a:ln>
        </p:spPr>
      </p:cxnSp>
      <p:sp>
        <p:nvSpPr>
          <p:cNvPr id="910" name="Rounded Rectangle 10"/>
          <p:cNvSpPr/>
          <p:nvPr/>
        </p:nvSpPr>
        <p:spPr>
          <a:xfrm>
            <a:off x="4572000" y="2011680"/>
            <a:ext cx="2925360" cy="1233720"/>
          </a:xfrm>
          <a:prstGeom prst="roundRect">
            <a:avLst>
              <a:gd name="adj" fmla="val 16667"/>
            </a:avLst>
          </a:prstGeom>
          <a:solidFill>
            <a:srgbClr val="E7A62D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1" name="TextBox 11"/>
          <p:cNvSpPr/>
          <p:nvPr/>
        </p:nvSpPr>
        <p:spPr>
          <a:xfrm>
            <a:off x="4572000" y="222192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VALIDATION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TextBox 12"/>
          <p:cNvSpPr/>
          <p:nvPr/>
        </p:nvSpPr>
        <p:spPr>
          <a:xfrm>
            <a:off x="4572000" y="257868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choose settings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3" name="Connector 13"/>
          <p:cNvCxnSpPr/>
          <p:nvPr/>
        </p:nvCxnSpPr>
        <p:spPr>
          <a:xfrm>
            <a:off x="7497720" y="2624040"/>
            <a:ext cx="549720" cy="720"/>
          </a:xfrm>
          <a:prstGeom prst="straightConnector1">
            <a:avLst/>
          </a:prstGeom>
          <a:ln w="0">
            <a:solidFill>
              <a:srgbClr val="5F6C7A"/>
            </a:solidFill>
          </a:ln>
        </p:spPr>
      </p:cxnSp>
      <p:sp>
        <p:nvSpPr>
          <p:cNvPr id="914" name="Rounded Rectangle 14"/>
          <p:cNvSpPr/>
          <p:nvPr/>
        </p:nvSpPr>
        <p:spPr>
          <a:xfrm>
            <a:off x="8229600" y="2011680"/>
            <a:ext cx="2925360" cy="1233720"/>
          </a:xfrm>
          <a:prstGeom prst="roundRect">
            <a:avLst>
              <a:gd name="adj" fmla="val 16667"/>
            </a:avLst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5" name="TextBox 15"/>
          <p:cNvSpPr/>
          <p:nvPr/>
        </p:nvSpPr>
        <p:spPr>
          <a:xfrm>
            <a:off x="8229600" y="222192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TEST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TextBox 16"/>
          <p:cNvSpPr/>
          <p:nvPr/>
        </p:nvSpPr>
        <p:spPr>
          <a:xfrm>
            <a:off x="8229600" y="257868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final check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TextBox 17"/>
          <p:cNvSpPr/>
          <p:nvPr/>
        </p:nvSpPr>
        <p:spPr>
          <a:xfrm>
            <a:off x="1097280" y="4297680"/>
            <a:ext cx="10057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22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Never tune the model on the test set: that makes the “final exam” part of practice.</a:t>
            </a:r>
            <a:endParaRPr lang="en-CA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9" name="TextBox 2"/>
          <p:cNvSpPr/>
          <p:nvPr/>
        </p:nvSpPr>
        <p:spPr>
          <a:xfrm>
            <a:off x="502920" y="274320"/>
            <a:ext cx="10972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DEEP LEARNING • 2026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TextBox 3"/>
          <p:cNvSpPr/>
          <p:nvPr/>
        </p:nvSpPr>
        <p:spPr>
          <a:xfrm>
            <a:off x="502920" y="567000"/>
            <a:ext cx="11154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Overfitting: memorizing instead of learning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TextBox 4"/>
          <p:cNvSpPr/>
          <p:nvPr/>
        </p:nvSpPr>
        <p:spPr>
          <a:xfrm>
            <a:off x="502920" y="6537960"/>
            <a:ext cx="7314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Catholic University of Rwanda  |  Lecturer: Fadl Musa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TextBox 5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22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23" name="Connector 6"/>
          <p:cNvCxnSpPr/>
          <p:nvPr/>
        </p:nvCxnSpPr>
        <p:spPr>
          <a:xfrm>
            <a:off x="914400" y="4937760"/>
            <a:ext cx="4389840" cy="720"/>
          </a:xfrm>
          <a:prstGeom prst="straightConnector1">
            <a:avLst/>
          </a:prstGeom>
          <a:ln w="0">
            <a:solidFill>
              <a:srgbClr val="5F6C7A"/>
            </a:solidFill>
          </a:ln>
        </p:spPr>
      </p:cxnSp>
      <p:cxnSp>
        <p:nvCxnSpPr>
          <p:cNvPr id="924" name="Connector 7"/>
          <p:cNvCxnSpPr/>
          <p:nvPr/>
        </p:nvCxnSpPr>
        <p:spPr>
          <a:xfrm flipV="1">
            <a:off x="914400" y="1828800"/>
            <a:ext cx="720" cy="3109680"/>
          </a:xfrm>
          <a:prstGeom prst="straightConnector1">
            <a:avLst/>
          </a:prstGeom>
          <a:ln w="0">
            <a:solidFill>
              <a:srgbClr val="5F6C7A"/>
            </a:solidFill>
          </a:ln>
        </p:spPr>
      </p:cxnSp>
      <p:sp>
        <p:nvSpPr>
          <p:cNvPr id="925" name="Oval 8"/>
          <p:cNvSpPr/>
          <p:nvPr/>
        </p:nvSpPr>
        <p:spPr>
          <a:xfrm>
            <a:off x="1371600" y="4480560"/>
            <a:ext cx="109080" cy="10908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32760" rIns="5472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6" name="TextBox 9"/>
          <p:cNvSpPr/>
          <p:nvPr/>
        </p:nvSpPr>
        <p:spPr>
          <a:xfrm>
            <a:off x="1371600" y="4480560"/>
            <a:ext cx="10908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927" name="Oval 10"/>
          <p:cNvSpPr/>
          <p:nvPr/>
        </p:nvSpPr>
        <p:spPr>
          <a:xfrm>
            <a:off x="2011680" y="3931920"/>
            <a:ext cx="109080" cy="10908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32760" rIns="5472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8" name="TextBox 11"/>
          <p:cNvSpPr/>
          <p:nvPr/>
        </p:nvSpPr>
        <p:spPr>
          <a:xfrm>
            <a:off x="2011680" y="3931920"/>
            <a:ext cx="10908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929" name="Oval 12"/>
          <p:cNvSpPr/>
          <p:nvPr/>
        </p:nvSpPr>
        <p:spPr>
          <a:xfrm>
            <a:off x="2743200" y="3474720"/>
            <a:ext cx="109080" cy="10908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32760" rIns="5472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0" name="TextBox 13"/>
          <p:cNvSpPr/>
          <p:nvPr/>
        </p:nvSpPr>
        <p:spPr>
          <a:xfrm>
            <a:off x="2743200" y="3474720"/>
            <a:ext cx="10908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931" name="Oval 14"/>
          <p:cNvSpPr/>
          <p:nvPr/>
        </p:nvSpPr>
        <p:spPr>
          <a:xfrm>
            <a:off x="3657600" y="2743200"/>
            <a:ext cx="109080" cy="10908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32760" rIns="5472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2" name="TextBox 15"/>
          <p:cNvSpPr/>
          <p:nvPr/>
        </p:nvSpPr>
        <p:spPr>
          <a:xfrm>
            <a:off x="3657600" y="2743200"/>
            <a:ext cx="10908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933" name="Oval 16"/>
          <p:cNvSpPr/>
          <p:nvPr/>
        </p:nvSpPr>
        <p:spPr>
          <a:xfrm>
            <a:off x="4572000" y="2286000"/>
            <a:ext cx="109080" cy="10908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32760" rIns="5472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4" name="TextBox 17"/>
          <p:cNvSpPr/>
          <p:nvPr/>
        </p:nvSpPr>
        <p:spPr>
          <a:xfrm>
            <a:off x="4572000" y="2286000"/>
            <a:ext cx="10908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cxnSp>
        <p:nvCxnSpPr>
          <p:cNvPr id="935" name="Connector 18"/>
          <p:cNvCxnSpPr/>
          <p:nvPr/>
        </p:nvCxnSpPr>
        <p:spPr>
          <a:xfrm flipV="1">
            <a:off x="1097280" y="2194560"/>
            <a:ext cx="3932640" cy="2469600"/>
          </a:xfrm>
          <a:prstGeom prst="straightConnector1">
            <a:avLst/>
          </a:prstGeom>
          <a:ln w="38100">
            <a:solidFill>
              <a:srgbClr val="2A70B4"/>
            </a:solidFill>
            <a:round/>
          </a:ln>
        </p:spPr>
      </p:cxnSp>
      <p:sp>
        <p:nvSpPr>
          <p:cNvPr id="936" name="TextBox 19"/>
          <p:cNvSpPr/>
          <p:nvPr/>
        </p:nvSpPr>
        <p:spPr>
          <a:xfrm>
            <a:off x="1005840" y="5212080"/>
            <a:ext cx="4296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training pattern: smooth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37" name="Connector 20"/>
          <p:cNvCxnSpPr/>
          <p:nvPr/>
        </p:nvCxnSpPr>
        <p:spPr>
          <a:xfrm>
            <a:off x="6400800" y="4937760"/>
            <a:ext cx="4389840" cy="720"/>
          </a:xfrm>
          <a:prstGeom prst="straightConnector1">
            <a:avLst/>
          </a:prstGeom>
          <a:ln w="0">
            <a:solidFill>
              <a:srgbClr val="5F6C7A"/>
            </a:solidFill>
          </a:ln>
        </p:spPr>
      </p:cxnSp>
      <p:cxnSp>
        <p:nvCxnSpPr>
          <p:cNvPr id="938" name="Connector 21"/>
          <p:cNvCxnSpPr/>
          <p:nvPr/>
        </p:nvCxnSpPr>
        <p:spPr>
          <a:xfrm flipV="1">
            <a:off x="6400800" y="1828800"/>
            <a:ext cx="720" cy="3109680"/>
          </a:xfrm>
          <a:prstGeom prst="straightConnector1">
            <a:avLst/>
          </a:prstGeom>
          <a:ln w="0">
            <a:solidFill>
              <a:srgbClr val="5F6C7A"/>
            </a:solidFill>
          </a:ln>
        </p:spPr>
      </p:cxnSp>
      <p:sp>
        <p:nvSpPr>
          <p:cNvPr id="939" name="Oval 22"/>
          <p:cNvSpPr/>
          <p:nvPr/>
        </p:nvSpPr>
        <p:spPr>
          <a:xfrm>
            <a:off x="6858000" y="4480560"/>
            <a:ext cx="109080" cy="10908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32760" rIns="5472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0" name="TextBox 23"/>
          <p:cNvSpPr/>
          <p:nvPr/>
        </p:nvSpPr>
        <p:spPr>
          <a:xfrm>
            <a:off x="6858000" y="4480560"/>
            <a:ext cx="10908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941" name="Oval 24"/>
          <p:cNvSpPr/>
          <p:nvPr/>
        </p:nvSpPr>
        <p:spPr>
          <a:xfrm>
            <a:off x="7498080" y="3931920"/>
            <a:ext cx="109080" cy="10908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32760" rIns="5472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2" name="TextBox 25"/>
          <p:cNvSpPr/>
          <p:nvPr/>
        </p:nvSpPr>
        <p:spPr>
          <a:xfrm>
            <a:off x="7498080" y="3931920"/>
            <a:ext cx="10908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943" name="Oval 26"/>
          <p:cNvSpPr/>
          <p:nvPr/>
        </p:nvSpPr>
        <p:spPr>
          <a:xfrm>
            <a:off x="8229600" y="3474720"/>
            <a:ext cx="109080" cy="10908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32760" rIns="5472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4" name="TextBox 27"/>
          <p:cNvSpPr/>
          <p:nvPr/>
        </p:nvSpPr>
        <p:spPr>
          <a:xfrm>
            <a:off x="8229600" y="3474720"/>
            <a:ext cx="10908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945" name="Oval 28"/>
          <p:cNvSpPr/>
          <p:nvPr/>
        </p:nvSpPr>
        <p:spPr>
          <a:xfrm>
            <a:off x="9144000" y="2743200"/>
            <a:ext cx="109080" cy="10908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32760" rIns="5472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6" name="TextBox 29"/>
          <p:cNvSpPr/>
          <p:nvPr/>
        </p:nvSpPr>
        <p:spPr>
          <a:xfrm>
            <a:off x="9144000" y="2743200"/>
            <a:ext cx="10908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947" name="Oval 30"/>
          <p:cNvSpPr/>
          <p:nvPr/>
        </p:nvSpPr>
        <p:spPr>
          <a:xfrm>
            <a:off x="10058400" y="2286000"/>
            <a:ext cx="109080" cy="109080"/>
          </a:xfrm>
          <a:prstGeom prst="ellipse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32760" rIns="5472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8" name="TextBox 31"/>
          <p:cNvSpPr/>
          <p:nvPr/>
        </p:nvSpPr>
        <p:spPr>
          <a:xfrm>
            <a:off x="10058400" y="2286000"/>
            <a:ext cx="10908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36720" rIns="0" bIns="4500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cxnSp>
        <p:nvCxnSpPr>
          <p:cNvPr id="949" name="Connector 32"/>
          <p:cNvCxnSpPr/>
          <p:nvPr/>
        </p:nvCxnSpPr>
        <p:spPr>
          <a:xfrm flipV="1">
            <a:off x="6583680" y="3657600"/>
            <a:ext cx="549360" cy="1098000"/>
          </a:xfrm>
          <a:prstGeom prst="straightConnector1">
            <a:avLst/>
          </a:prstGeom>
          <a:ln w="38100">
            <a:solidFill>
              <a:srgbClr val="CD4B46"/>
            </a:solidFill>
            <a:round/>
          </a:ln>
        </p:spPr>
      </p:cxnSp>
      <p:cxnSp>
        <p:nvCxnSpPr>
          <p:cNvPr id="950" name="Connector 33"/>
          <p:cNvCxnSpPr/>
          <p:nvPr/>
        </p:nvCxnSpPr>
        <p:spPr>
          <a:xfrm>
            <a:off x="7132320" y="3657600"/>
            <a:ext cx="549360" cy="915120"/>
          </a:xfrm>
          <a:prstGeom prst="straightConnector1">
            <a:avLst/>
          </a:prstGeom>
          <a:ln w="38100">
            <a:solidFill>
              <a:srgbClr val="CD4B46"/>
            </a:solidFill>
            <a:round/>
          </a:ln>
        </p:spPr>
      </p:cxnSp>
      <p:cxnSp>
        <p:nvCxnSpPr>
          <p:cNvPr id="951" name="Connector 34"/>
          <p:cNvCxnSpPr/>
          <p:nvPr/>
        </p:nvCxnSpPr>
        <p:spPr>
          <a:xfrm flipV="1">
            <a:off x="7680960" y="3108960"/>
            <a:ext cx="549360" cy="1463760"/>
          </a:xfrm>
          <a:prstGeom prst="straightConnector1">
            <a:avLst/>
          </a:prstGeom>
          <a:ln w="38100">
            <a:solidFill>
              <a:srgbClr val="CD4B46"/>
            </a:solidFill>
            <a:round/>
          </a:ln>
        </p:spPr>
      </p:cxnSp>
      <p:cxnSp>
        <p:nvCxnSpPr>
          <p:cNvPr id="952" name="Connector 35"/>
          <p:cNvCxnSpPr/>
          <p:nvPr/>
        </p:nvCxnSpPr>
        <p:spPr>
          <a:xfrm>
            <a:off x="8229600" y="3108960"/>
            <a:ext cx="640800" cy="732240"/>
          </a:xfrm>
          <a:prstGeom prst="straightConnector1">
            <a:avLst/>
          </a:prstGeom>
          <a:ln w="38100">
            <a:solidFill>
              <a:srgbClr val="CD4B46"/>
            </a:solidFill>
            <a:round/>
          </a:ln>
        </p:spPr>
      </p:cxnSp>
      <p:cxnSp>
        <p:nvCxnSpPr>
          <p:cNvPr id="953" name="Connector 36"/>
          <p:cNvCxnSpPr/>
          <p:nvPr/>
        </p:nvCxnSpPr>
        <p:spPr>
          <a:xfrm flipV="1">
            <a:off x="8869680" y="2468880"/>
            <a:ext cx="640800" cy="1372320"/>
          </a:xfrm>
          <a:prstGeom prst="straightConnector1">
            <a:avLst/>
          </a:prstGeom>
          <a:ln w="38100">
            <a:solidFill>
              <a:srgbClr val="CD4B46"/>
            </a:solidFill>
            <a:round/>
          </a:ln>
        </p:spPr>
      </p:cxnSp>
      <p:cxnSp>
        <p:nvCxnSpPr>
          <p:cNvPr id="954" name="Connector 37"/>
          <p:cNvCxnSpPr/>
          <p:nvPr/>
        </p:nvCxnSpPr>
        <p:spPr>
          <a:xfrm flipV="1">
            <a:off x="9509760" y="2377440"/>
            <a:ext cx="1006560" cy="92160"/>
          </a:xfrm>
          <a:prstGeom prst="straightConnector1">
            <a:avLst/>
          </a:prstGeom>
          <a:ln w="38100">
            <a:solidFill>
              <a:srgbClr val="CD4B46"/>
            </a:solidFill>
            <a:round/>
          </a:ln>
        </p:spPr>
      </p:cxnSp>
      <p:sp>
        <p:nvSpPr>
          <p:cNvPr id="955" name="TextBox 38"/>
          <p:cNvSpPr/>
          <p:nvPr/>
        </p:nvSpPr>
        <p:spPr>
          <a:xfrm>
            <a:off x="6492240" y="5212080"/>
            <a:ext cx="4296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CD4B46"/>
                </a:solidFill>
                <a:effectLst/>
                <a:uFillTx/>
                <a:latin typeface="Aptos"/>
              </a:rPr>
              <a:t>test pattern: memorized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TextBox 39"/>
          <p:cNvSpPr/>
          <p:nvPr/>
        </p:nvSpPr>
        <p:spPr>
          <a:xfrm>
            <a:off x="2743200" y="1325880"/>
            <a:ext cx="6857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21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A model can be excellent on examples and poor on new cases.</a:t>
            </a:r>
            <a:endParaRPr lang="en-CA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8" name="TextBox 2"/>
          <p:cNvSpPr/>
          <p:nvPr/>
        </p:nvSpPr>
        <p:spPr>
          <a:xfrm>
            <a:off x="502920" y="274320"/>
            <a:ext cx="10972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DEEP LEARNING • 2026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TextBox 3"/>
          <p:cNvSpPr/>
          <p:nvPr/>
        </p:nvSpPr>
        <p:spPr>
          <a:xfrm>
            <a:off x="502920" y="567000"/>
            <a:ext cx="11154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Practical recipe: build a deep-learning project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TextBox 4"/>
          <p:cNvSpPr/>
          <p:nvPr/>
        </p:nvSpPr>
        <p:spPr>
          <a:xfrm>
            <a:off x="502920" y="6537960"/>
            <a:ext cx="7314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Catholic University of Rwanda  |  Lecturer: Fadl Musa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TextBox 5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24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Rounded Rectangle 6"/>
          <p:cNvSpPr/>
          <p:nvPr/>
        </p:nvSpPr>
        <p:spPr>
          <a:xfrm>
            <a:off x="822960" y="1371600"/>
            <a:ext cx="163800" cy="163800"/>
          </a:xfrm>
          <a:prstGeom prst="roundRect">
            <a:avLst>
              <a:gd name="adj" fmla="val 16667"/>
            </a:avLst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080" tIns="45000" rIns="820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3" name="TextBox 7"/>
          <p:cNvSpPr/>
          <p:nvPr/>
        </p:nvSpPr>
        <p:spPr>
          <a:xfrm>
            <a:off x="1115640" y="1371600"/>
            <a:ext cx="62902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Define the question and what “good” means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Rounded Rectangle 8"/>
          <p:cNvSpPr/>
          <p:nvPr/>
        </p:nvSpPr>
        <p:spPr>
          <a:xfrm>
            <a:off x="822960" y="1984320"/>
            <a:ext cx="163800" cy="163800"/>
          </a:xfrm>
          <a:prstGeom prst="roundRect">
            <a:avLst>
              <a:gd name="adj" fmla="val 16667"/>
            </a:avLst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080" tIns="45000" rIns="820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5" name="TextBox 9"/>
          <p:cNvSpPr/>
          <p:nvPr/>
        </p:nvSpPr>
        <p:spPr>
          <a:xfrm>
            <a:off x="1115640" y="1984320"/>
            <a:ext cx="62902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Collect representative, permitted data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Rounded Rectangle 10"/>
          <p:cNvSpPr/>
          <p:nvPr/>
        </p:nvSpPr>
        <p:spPr>
          <a:xfrm>
            <a:off x="822960" y="2597040"/>
            <a:ext cx="163800" cy="163800"/>
          </a:xfrm>
          <a:prstGeom prst="roundRect">
            <a:avLst>
              <a:gd name="adj" fmla="val 16667"/>
            </a:avLst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080" tIns="45000" rIns="820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7" name="TextBox 11"/>
          <p:cNvSpPr/>
          <p:nvPr/>
        </p:nvSpPr>
        <p:spPr>
          <a:xfrm>
            <a:off x="1115640" y="2597040"/>
            <a:ext cx="62902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Clean, label, and split the data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Rounded Rectangle 12"/>
          <p:cNvSpPr/>
          <p:nvPr/>
        </p:nvSpPr>
        <p:spPr>
          <a:xfrm>
            <a:off x="822960" y="3209400"/>
            <a:ext cx="163800" cy="163800"/>
          </a:xfrm>
          <a:prstGeom prst="roundRect">
            <a:avLst>
              <a:gd name="adj" fmla="val 16667"/>
            </a:avLst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080" tIns="45000" rIns="820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9" name="TextBox 13"/>
          <p:cNvSpPr/>
          <p:nvPr/>
        </p:nvSpPr>
        <p:spPr>
          <a:xfrm>
            <a:off x="1115640" y="3209400"/>
            <a:ext cx="62902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Start with a simple baseline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Rounded Rectangle 14"/>
          <p:cNvSpPr/>
          <p:nvPr/>
        </p:nvSpPr>
        <p:spPr>
          <a:xfrm>
            <a:off x="822960" y="3822120"/>
            <a:ext cx="163800" cy="163800"/>
          </a:xfrm>
          <a:prstGeom prst="roundRect">
            <a:avLst>
              <a:gd name="adj" fmla="val 16667"/>
            </a:avLst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080" tIns="45000" rIns="820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1" name="TextBox 15"/>
          <p:cNvSpPr/>
          <p:nvPr/>
        </p:nvSpPr>
        <p:spPr>
          <a:xfrm>
            <a:off x="1115640" y="3822120"/>
            <a:ext cx="62902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Train, validate, inspect errors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Rounded Rectangle 16"/>
          <p:cNvSpPr/>
          <p:nvPr/>
        </p:nvSpPr>
        <p:spPr>
          <a:xfrm>
            <a:off x="822960" y="4434840"/>
            <a:ext cx="163800" cy="163800"/>
          </a:xfrm>
          <a:prstGeom prst="roundRect">
            <a:avLst>
              <a:gd name="adj" fmla="val 16667"/>
            </a:avLst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080" tIns="45000" rIns="820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3" name="TextBox 17"/>
          <p:cNvSpPr/>
          <p:nvPr/>
        </p:nvSpPr>
        <p:spPr>
          <a:xfrm>
            <a:off x="1115640" y="4434840"/>
            <a:ext cx="62902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Test once; document limits and risks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Rounded Rectangle 18"/>
          <p:cNvSpPr/>
          <p:nvPr/>
        </p:nvSpPr>
        <p:spPr>
          <a:xfrm>
            <a:off x="8229600" y="1645920"/>
            <a:ext cx="2742480" cy="3199680"/>
          </a:xfrm>
          <a:prstGeom prst="roundRect">
            <a:avLst>
              <a:gd name="adj" fmla="val 16667"/>
            </a:avLst>
          </a:prstGeom>
          <a:solidFill>
            <a:srgbClr val="F5EEEE"/>
          </a:solidFill>
          <a:ln>
            <a:solidFill>
              <a:srgbClr val="F5EE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5" name="TextBox 19"/>
          <p:cNvSpPr/>
          <p:nvPr/>
        </p:nvSpPr>
        <p:spPr>
          <a:xfrm>
            <a:off x="8394120" y="1755720"/>
            <a:ext cx="2413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Engineer’s habit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TextBox 20"/>
          <p:cNvSpPr/>
          <p:nvPr/>
        </p:nvSpPr>
        <p:spPr>
          <a:xfrm>
            <a:off x="8394120" y="2084760"/>
            <a:ext cx="2413440" cy="26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Ask: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What could fail?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Who could be harmed?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Would a human trust this output?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A model is not the same as truth.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8" name="TextBox 2"/>
          <p:cNvSpPr/>
          <p:nvPr/>
        </p:nvSpPr>
        <p:spPr>
          <a:xfrm>
            <a:off x="502920" y="274320"/>
            <a:ext cx="10972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DEEP LEARNING • 2026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TextBox 3"/>
          <p:cNvSpPr/>
          <p:nvPr/>
        </p:nvSpPr>
        <p:spPr>
          <a:xfrm>
            <a:off x="502920" y="567000"/>
            <a:ext cx="11154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Responsible AI: the model learns from society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TextBox 4"/>
          <p:cNvSpPr/>
          <p:nvPr/>
        </p:nvSpPr>
        <p:spPr>
          <a:xfrm>
            <a:off x="502920" y="6537960"/>
            <a:ext cx="7314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Catholic University of Rwanda  |  Lecturer: Fadl Musa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TextBox 5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25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Rounded Rectangle 6"/>
          <p:cNvSpPr/>
          <p:nvPr/>
        </p:nvSpPr>
        <p:spPr>
          <a:xfrm>
            <a:off x="731520" y="1920240"/>
            <a:ext cx="2331000" cy="201096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>
            <a:solidFill>
              <a:srgbClr val="CD4B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3" name="TextBox 7"/>
          <p:cNvSpPr/>
          <p:nvPr/>
        </p:nvSpPr>
        <p:spPr>
          <a:xfrm>
            <a:off x="868680" y="2240280"/>
            <a:ext cx="2056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1" u="none" strike="noStrike">
                <a:solidFill>
                  <a:srgbClr val="CD4B46"/>
                </a:solidFill>
                <a:effectLst/>
                <a:uFillTx/>
                <a:latin typeface="Aptos"/>
              </a:rPr>
              <a:t>Bias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TextBox 8"/>
          <p:cNvSpPr/>
          <p:nvPr/>
        </p:nvSpPr>
        <p:spPr>
          <a:xfrm>
            <a:off x="914400" y="2834640"/>
            <a:ext cx="19652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Uneven data → uneven errors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Rounded Rectangle 9"/>
          <p:cNvSpPr/>
          <p:nvPr/>
        </p:nvSpPr>
        <p:spPr>
          <a:xfrm>
            <a:off x="3520440" y="1920240"/>
            <a:ext cx="2331000" cy="201096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6" name="TextBox 10"/>
          <p:cNvSpPr/>
          <p:nvPr/>
        </p:nvSpPr>
        <p:spPr>
          <a:xfrm>
            <a:off x="3657600" y="2240280"/>
            <a:ext cx="2056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1" u="none" strike="noStrike">
                <a:solidFill>
                  <a:srgbClr val="E7A62D"/>
                </a:solidFill>
                <a:effectLst/>
                <a:uFillTx/>
                <a:latin typeface="Aptos"/>
              </a:rPr>
              <a:t>Privacy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TextBox 11"/>
          <p:cNvSpPr/>
          <p:nvPr/>
        </p:nvSpPr>
        <p:spPr>
          <a:xfrm>
            <a:off x="3703320" y="2834640"/>
            <a:ext cx="19652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Data may reveal people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Rounded Rectangle 12"/>
          <p:cNvSpPr/>
          <p:nvPr/>
        </p:nvSpPr>
        <p:spPr>
          <a:xfrm>
            <a:off x="6309360" y="1920240"/>
            <a:ext cx="2331000" cy="201096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9" name="TextBox 13"/>
          <p:cNvSpPr/>
          <p:nvPr/>
        </p:nvSpPr>
        <p:spPr>
          <a:xfrm>
            <a:off x="6446520" y="2240280"/>
            <a:ext cx="2056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Reliability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TextBox 14"/>
          <p:cNvSpPr/>
          <p:nvPr/>
        </p:nvSpPr>
        <p:spPr>
          <a:xfrm>
            <a:off x="6492240" y="2834640"/>
            <a:ext cx="19652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Confident ≠ correct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Rounded Rectangle 15"/>
          <p:cNvSpPr/>
          <p:nvPr/>
        </p:nvSpPr>
        <p:spPr>
          <a:xfrm>
            <a:off x="9098280" y="1920240"/>
            <a:ext cx="2331000" cy="201096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2" name="TextBox 16"/>
          <p:cNvSpPr/>
          <p:nvPr/>
        </p:nvSpPr>
        <p:spPr>
          <a:xfrm>
            <a:off x="9235440" y="2240280"/>
            <a:ext cx="2056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Human role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TextBox 17"/>
          <p:cNvSpPr/>
          <p:nvPr/>
        </p:nvSpPr>
        <p:spPr>
          <a:xfrm>
            <a:off x="9281160" y="2834640"/>
            <a:ext cx="19652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Use judgment and oversight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TextBox 18"/>
          <p:cNvSpPr/>
          <p:nvPr/>
        </p:nvSpPr>
        <p:spPr>
          <a:xfrm>
            <a:off x="914400" y="4754880"/>
            <a:ext cx="10057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22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Responsible deep learning = performance + fairness + transparency + safety.</a:t>
            </a:r>
            <a:endParaRPr lang="en-CA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6" name="TextBox 2"/>
          <p:cNvSpPr/>
          <p:nvPr/>
        </p:nvSpPr>
        <p:spPr>
          <a:xfrm>
            <a:off x="502920" y="274320"/>
            <a:ext cx="10972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DEEP LEARNING • 2026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TextBox 3"/>
          <p:cNvSpPr/>
          <p:nvPr/>
        </p:nvSpPr>
        <p:spPr>
          <a:xfrm>
            <a:off x="502920" y="567000"/>
            <a:ext cx="11154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Deep learning in the real world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TextBox 4"/>
          <p:cNvSpPr/>
          <p:nvPr/>
        </p:nvSpPr>
        <p:spPr>
          <a:xfrm>
            <a:off x="502920" y="6537960"/>
            <a:ext cx="7314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Catholic University of Rwanda  |  Lecturer: Fadl Musa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TextBox 5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26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Rounded Rectangle 6"/>
          <p:cNvSpPr/>
          <p:nvPr/>
        </p:nvSpPr>
        <p:spPr>
          <a:xfrm>
            <a:off x="731520" y="1554480"/>
            <a:ext cx="3199680" cy="13251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1" name="TextBox 7"/>
          <p:cNvSpPr/>
          <p:nvPr/>
        </p:nvSpPr>
        <p:spPr>
          <a:xfrm>
            <a:off x="868680" y="173736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7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Health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TextBox 8"/>
          <p:cNvSpPr/>
          <p:nvPr/>
        </p:nvSpPr>
        <p:spPr>
          <a:xfrm>
            <a:off x="868680" y="2194560"/>
            <a:ext cx="2925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assist diagnosis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Rounded Rectangle 9"/>
          <p:cNvSpPr/>
          <p:nvPr/>
        </p:nvSpPr>
        <p:spPr>
          <a:xfrm>
            <a:off x="4526280" y="1554480"/>
            <a:ext cx="3199680" cy="13251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4096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4" name="TextBox 10"/>
          <p:cNvSpPr/>
          <p:nvPr/>
        </p:nvSpPr>
        <p:spPr>
          <a:xfrm>
            <a:off x="4663440" y="173736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700" b="1" u="none" strike="noStrike">
                <a:solidFill>
                  <a:srgbClr val="409660"/>
                </a:solidFill>
                <a:effectLst/>
                <a:uFillTx/>
                <a:latin typeface="Aptos"/>
              </a:rPr>
              <a:t>Agriculture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TextBox 11"/>
          <p:cNvSpPr/>
          <p:nvPr/>
        </p:nvSpPr>
        <p:spPr>
          <a:xfrm>
            <a:off x="4663440" y="2194560"/>
            <a:ext cx="2925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spot crop disease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Rounded Rectangle 12"/>
          <p:cNvSpPr/>
          <p:nvPr/>
        </p:nvSpPr>
        <p:spPr>
          <a:xfrm>
            <a:off x="8321040" y="1554480"/>
            <a:ext cx="3199680" cy="13251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7" name="TextBox 13"/>
          <p:cNvSpPr/>
          <p:nvPr/>
        </p:nvSpPr>
        <p:spPr>
          <a:xfrm>
            <a:off x="8458200" y="173736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7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Language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TextBox 14"/>
          <p:cNvSpPr/>
          <p:nvPr/>
        </p:nvSpPr>
        <p:spPr>
          <a:xfrm>
            <a:off x="8458200" y="2194560"/>
            <a:ext cx="2925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translation &amp; tutoring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Rounded Rectangle 15"/>
          <p:cNvSpPr/>
          <p:nvPr/>
        </p:nvSpPr>
        <p:spPr>
          <a:xfrm>
            <a:off x="731520" y="3566160"/>
            <a:ext cx="3199680" cy="13251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E7A6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0" name="TextBox 16"/>
          <p:cNvSpPr/>
          <p:nvPr/>
        </p:nvSpPr>
        <p:spPr>
          <a:xfrm>
            <a:off x="868680" y="374904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700" b="1" u="none" strike="noStrike">
                <a:solidFill>
                  <a:srgbClr val="E7A62D"/>
                </a:solidFill>
                <a:effectLst/>
                <a:uFillTx/>
                <a:latin typeface="Aptos"/>
              </a:rPr>
              <a:t>Vision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TextBox 17"/>
          <p:cNvSpPr/>
          <p:nvPr/>
        </p:nvSpPr>
        <p:spPr>
          <a:xfrm>
            <a:off x="868680" y="4206240"/>
            <a:ext cx="2925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maps and inspection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Rounded Rectangle 18"/>
          <p:cNvSpPr/>
          <p:nvPr/>
        </p:nvSpPr>
        <p:spPr>
          <a:xfrm>
            <a:off x="4526280" y="3566160"/>
            <a:ext cx="3199680" cy="13251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D4B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3" name="TextBox 19"/>
          <p:cNvSpPr/>
          <p:nvPr/>
        </p:nvSpPr>
        <p:spPr>
          <a:xfrm>
            <a:off x="4663440" y="374904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700" b="1" u="none" strike="noStrike">
                <a:solidFill>
                  <a:srgbClr val="CD4B46"/>
                </a:solidFill>
                <a:effectLst/>
                <a:uFillTx/>
                <a:latin typeface="Aptos"/>
              </a:rPr>
              <a:t>Science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TextBox 20"/>
          <p:cNvSpPr/>
          <p:nvPr/>
        </p:nvSpPr>
        <p:spPr>
          <a:xfrm>
            <a:off x="4663440" y="4206240"/>
            <a:ext cx="2925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discover patterns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6" name="TextBox 2"/>
          <p:cNvSpPr/>
          <p:nvPr/>
        </p:nvSpPr>
        <p:spPr>
          <a:xfrm>
            <a:off x="502920" y="274320"/>
            <a:ext cx="10972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DEEP LEARNING • 2026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TextBox 3"/>
          <p:cNvSpPr/>
          <p:nvPr/>
        </p:nvSpPr>
        <p:spPr>
          <a:xfrm>
            <a:off x="502920" y="567000"/>
            <a:ext cx="11154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Key takeaways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TextBox 4"/>
          <p:cNvSpPr/>
          <p:nvPr/>
        </p:nvSpPr>
        <p:spPr>
          <a:xfrm>
            <a:off x="502920" y="6537960"/>
            <a:ext cx="7314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Catholic University of Rwanda  |  Lecturer: Fadl Musa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TextBox 5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27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Rounded Rectangle 6"/>
          <p:cNvSpPr/>
          <p:nvPr/>
        </p:nvSpPr>
        <p:spPr>
          <a:xfrm>
            <a:off x="822960" y="1325880"/>
            <a:ext cx="163800" cy="163800"/>
          </a:xfrm>
          <a:prstGeom prst="roundRect">
            <a:avLst>
              <a:gd name="adj" fmla="val 16667"/>
            </a:avLst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080" tIns="45000" rIns="820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1" name="TextBox 7"/>
          <p:cNvSpPr/>
          <p:nvPr/>
        </p:nvSpPr>
        <p:spPr>
          <a:xfrm>
            <a:off x="1115640" y="1325880"/>
            <a:ext cx="9947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0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Deep learning learns representations through layers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Rounded Rectangle 8"/>
          <p:cNvSpPr/>
          <p:nvPr/>
        </p:nvSpPr>
        <p:spPr>
          <a:xfrm>
            <a:off x="822960" y="1938600"/>
            <a:ext cx="163800" cy="163800"/>
          </a:xfrm>
          <a:prstGeom prst="roundRect">
            <a:avLst>
              <a:gd name="adj" fmla="val 16667"/>
            </a:avLst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080" tIns="45000" rIns="820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3" name="TextBox 9"/>
          <p:cNvSpPr/>
          <p:nvPr/>
        </p:nvSpPr>
        <p:spPr>
          <a:xfrm>
            <a:off x="1115640" y="1938600"/>
            <a:ext cx="9947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0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A neuron combines inputs using weights, then applies a gate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Rounded Rectangle 10"/>
          <p:cNvSpPr/>
          <p:nvPr/>
        </p:nvSpPr>
        <p:spPr>
          <a:xfrm>
            <a:off x="822960" y="2551320"/>
            <a:ext cx="163800" cy="163800"/>
          </a:xfrm>
          <a:prstGeom prst="roundRect">
            <a:avLst>
              <a:gd name="adj" fmla="val 16667"/>
            </a:avLst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080" tIns="45000" rIns="820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5" name="TextBox 11"/>
          <p:cNvSpPr/>
          <p:nvPr/>
        </p:nvSpPr>
        <p:spPr>
          <a:xfrm>
            <a:off x="1115640" y="2551320"/>
            <a:ext cx="9947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0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Training repeats: prediction → loss → backpropagation → update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Rounded Rectangle 12"/>
          <p:cNvSpPr/>
          <p:nvPr/>
        </p:nvSpPr>
        <p:spPr>
          <a:xfrm>
            <a:off x="822960" y="3163680"/>
            <a:ext cx="163800" cy="163800"/>
          </a:xfrm>
          <a:prstGeom prst="roundRect">
            <a:avLst>
              <a:gd name="adj" fmla="val 16667"/>
            </a:avLst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080" tIns="45000" rIns="820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7" name="TextBox 13"/>
          <p:cNvSpPr/>
          <p:nvPr/>
        </p:nvSpPr>
        <p:spPr>
          <a:xfrm>
            <a:off x="1115640" y="3163680"/>
            <a:ext cx="9947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0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Data splits and evaluation protect us from self-deception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Rounded Rectangle 14"/>
          <p:cNvSpPr/>
          <p:nvPr/>
        </p:nvSpPr>
        <p:spPr>
          <a:xfrm>
            <a:off x="822960" y="3776400"/>
            <a:ext cx="163800" cy="163800"/>
          </a:xfrm>
          <a:prstGeom prst="roundRect">
            <a:avLst>
              <a:gd name="adj" fmla="val 16667"/>
            </a:avLst>
          </a:prstGeom>
          <a:solidFill>
            <a:srgbClr val="009191"/>
          </a:solidFill>
          <a:ln>
            <a:solidFill>
              <a:srgbClr val="00919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080" tIns="45000" rIns="820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9" name="TextBox 15"/>
          <p:cNvSpPr/>
          <p:nvPr/>
        </p:nvSpPr>
        <p:spPr>
          <a:xfrm>
            <a:off x="1115640" y="3776400"/>
            <a:ext cx="9947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0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Good systems pair technical performance with human responsibility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TextBox 16"/>
          <p:cNvSpPr/>
          <p:nvPr/>
        </p:nvSpPr>
        <p:spPr>
          <a:xfrm>
            <a:off x="1828800" y="5440680"/>
            <a:ext cx="8503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22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If you understand the learning loop, you understand the foundation.</a:t>
            </a:r>
            <a:endParaRPr lang="en-CA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2A70B4"/>
          </a:solidFill>
          <a:ln>
            <a:solidFill>
              <a:srgbClr val="2A70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2" name="TextBox 2"/>
          <p:cNvSpPr/>
          <p:nvPr/>
        </p:nvSpPr>
        <p:spPr>
          <a:xfrm>
            <a:off x="502920" y="274320"/>
            <a:ext cx="10972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900" b="1" u="none" strike="noStrike">
                <a:solidFill>
                  <a:srgbClr val="009191"/>
                </a:solidFill>
                <a:effectLst/>
                <a:uFillTx/>
                <a:latin typeface="Aptos"/>
              </a:rPr>
              <a:t>DEEP LEARNING • 2026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TextBox 3"/>
          <p:cNvSpPr/>
          <p:nvPr/>
        </p:nvSpPr>
        <p:spPr>
          <a:xfrm>
            <a:off x="502920" y="567000"/>
            <a:ext cx="11154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Discussion and quick check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TextBox 4"/>
          <p:cNvSpPr/>
          <p:nvPr/>
        </p:nvSpPr>
        <p:spPr>
          <a:xfrm>
            <a:off x="502920" y="6537960"/>
            <a:ext cx="7314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800" b="0" u="none" strike="noStrike">
                <a:solidFill>
                  <a:srgbClr val="5F6C7A"/>
                </a:solidFill>
                <a:effectLst/>
                <a:uFillTx/>
                <a:latin typeface="Aptos"/>
              </a:rPr>
              <a:t>Catholic University of Rwanda  |  Lecturer: Fadl Musa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TextBox 5"/>
          <p:cNvSpPr/>
          <p:nvPr/>
        </p:nvSpPr>
        <p:spPr>
          <a:xfrm>
            <a:off x="11247120" y="6510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28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Rounded Rectangle 6"/>
          <p:cNvSpPr/>
          <p:nvPr/>
        </p:nvSpPr>
        <p:spPr>
          <a:xfrm>
            <a:off x="822960" y="1463040"/>
            <a:ext cx="5028480" cy="3474000"/>
          </a:xfrm>
          <a:prstGeom prst="roundRect">
            <a:avLst>
              <a:gd name="adj" fmla="val 16667"/>
            </a:avLst>
          </a:prstGeom>
          <a:solidFill>
            <a:srgbClr val="EFF6FB"/>
          </a:solidFill>
          <a:ln>
            <a:solidFill>
              <a:srgbClr val="EFF6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7" name="TextBox 7"/>
          <p:cNvSpPr/>
          <p:nvPr/>
        </p:nvSpPr>
        <p:spPr>
          <a:xfrm>
            <a:off x="987480" y="1572840"/>
            <a:ext cx="4699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Explain to a classmate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TextBox 8"/>
          <p:cNvSpPr/>
          <p:nvPr/>
        </p:nvSpPr>
        <p:spPr>
          <a:xfrm>
            <a:off x="987480" y="1901880"/>
            <a:ext cx="4699440" cy="29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1. Why do we need hidden layers?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2. What does the loss number tell us?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3. Why keep test data separate?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4. Give one benefit and one risk of a model.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Rounded Rectangle 9"/>
          <p:cNvSpPr/>
          <p:nvPr/>
        </p:nvSpPr>
        <p:spPr>
          <a:xfrm>
            <a:off x="6400800" y="1463040"/>
            <a:ext cx="4937040" cy="3474000"/>
          </a:xfrm>
          <a:prstGeom prst="roundRect">
            <a:avLst>
              <a:gd name="adj" fmla="val 16667"/>
            </a:avLst>
          </a:prstGeom>
          <a:solidFill>
            <a:srgbClr val="EBF8F5"/>
          </a:solidFill>
          <a:ln>
            <a:solidFill>
              <a:srgbClr val="EBF8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0" name="TextBox 10"/>
          <p:cNvSpPr/>
          <p:nvPr/>
        </p:nvSpPr>
        <p:spPr>
          <a:xfrm>
            <a:off x="6565320" y="1572840"/>
            <a:ext cx="460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2A70B4"/>
                </a:solidFill>
                <a:effectLst/>
                <a:uFillTx/>
                <a:latin typeface="Aptos"/>
              </a:rPr>
              <a:t>One-minute challenge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1" name="TextBox 11"/>
          <p:cNvSpPr/>
          <p:nvPr/>
        </p:nvSpPr>
        <p:spPr>
          <a:xfrm>
            <a:off x="6565320" y="1901880"/>
            <a:ext cx="4608000" cy="29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Draw a network that decides whether a message is spam.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Label: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• two inputs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• one hidden layer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• one output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32A32"/>
                </a:solidFill>
                <a:effectLst/>
                <a:uFillTx/>
                <a:latin typeface="Aptos"/>
              </a:rPr>
              <a:t>Then explain what an error would mean.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TextBox 12"/>
          <p:cNvSpPr/>
          <p:nvPr/>
        </p:nvSpPr>
        <p:spPr>
          <a:xfrm>
            <a:off x="2560320" y="5486400"/>
            <a:ext cx="6948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tIns="36720" rIns="7308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A304D"/>
                </a:solidFill>
                <a:effectLst/>
                <a:uFillTx/>
                <a:latin typeface="Aptos"/>
              </a:rPr>
              <a:t>Thank you — questions?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2913</TotalTime>
  <Application>LibreOffice/26.2.5.2$Windows_X86_64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en-CA</dc:language>
  <cp:lastModifiedBy/>
  <dcterms:modified xsi:type="dcterms:W3CDTF">2026-09-03T05:41:37Z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