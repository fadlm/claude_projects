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0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Reading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Yellow</c:v>
                  </c:pt>
                  <c:pt idx="1">
                    <c:v>Soft</c:v>
                  </c:pt>
                  <c:pt idx="2">
                    <c:v>Sweet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0.6</c:v>
                </c:pt>
                <c:pt idx="2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layers stacked</c:v>
                </c:pt>
              </c:strCache>
            </c:strRef>
          </c:tx>
          <c:spPr>
            <a:solidFill>
              <a:srgbClr val="D64550"/>
            </a:solidFill>
            <a:ln w="381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-5</c:v>
                  </c:pt>
                  <c:pt idx="1">
                    <c:v>-4</c:v>
                  </c:pt>
                  <c:pt idx="2">
                    <c:v>-3</c:v>
                  </c:pt>
                  <c:pt idx="3">
                    <c:v>-2</c:v>
                  </c:pt>
                  <c:pt idx="4">
                    <c:v>-1</c:v>
                  </c:pt>
                  <c:pt idx="5">
                    <c:v>0</c:v>
                  </c:pt>
                  <c:pt idx="6">
                    <c:v>1</c:v>
                  </c:pt>
                  <c:pt idx="7">
                    <c:v>2</c:v>
                  </c:pt>
                  <c:pt idx="8">
                    <c:v>3</c:v>
                  </c:pt>
                  <c:pt idx="9">
                    <c:v>4</c:v>
                  </c:pt>
                  <c:pt idx="10">
                    <c:v>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layers + ReLU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-5</c:v>
                  </c:pt>
                  <c:pt idx="1">
                    <c:v>-4</c:v>
                  </c:pt>
                  <c:pt idx="2">
                    <c:v>-3</c:v>
                  </c:pt>
                  <c:pt idx="3">
                    <c:v>-2</c:v>
                  </c:pt>
                  <c:pt idx="4">
                    <c:v>-1</c:v>
                  </c:pt>
                  <c:pt idx="5">
                    <c:v>0</c:v>
                  </c:pt>
                  <c:pt idx="6">
                    <c:v>1</c:v>
                  </c:pt>
                  <c:pt idx="7">
                    <c:v>2</c:v>
                  </c:pt>
                  <c:pt idx="8">
                    <c:v>3</c:v>
                  </c:pt>
                  <c:pt idx="9">
                    <c:v>4</c:v>
                  </c:pt>
                  <c:pt idx="10">
                    <c:v>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2.6</c:v>
                </c:pt>
                <c:pt idx="8">
                  <c:v>4.2</c:v>
                </c:pt>
                <c:pt idx="9">
                  <c:v>5.8</c:v>
                </c:pt>
                <c:pt idx="10">
                  <c:v>7.4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ReLU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-5.0</c:v>
                  </c:pt>
                  <c:pt idx="1">
                    <c:v>-4.5</c:v>
                  </c:pt>
                  <c:pt idx="2">
                    <c:v>-4.0</c:v>
                  </c:pt>
                  <c:pt idx="3">
                    <c:v>-3.5</c:v>
                  </c:pt>
                  <c:pt idx="4">
                    <c:v>-3.0</c:v>
                  </c:pt>
                  <c:pt idx="5">
                    <c:v>-2.5</c:v>
                  </c:pt>
                  <c:pt idx="6">
                    <c:v>-2.0</c:v>
                  </c:pt>
                  <c:pt idx="7">
                    <c:v>-1.5</c:v>
                  </c:pt>
                  <c:pt idx="8">
                    <c:v>-1.0</c:v>
                  </c:pt>
                  <c:pt idx="9">
                    <c:v>-0.5</c:v>
                  </c:pt>
                  <c:pt idx="10">
                    <c:v>0.0</c:v>
                  </c:pt>
                  <c:pt idx="11">
                    <c:v>0.5</c:v>
                  </c:pt>
                  <c:pt idx="12">
                    <c:v>1.0</c:v>
                  </c:pt>
                  <c:pt idx="13">
                    <c:v>1.5</c:v>
                  </c:pt>
                  <c:pt idx="14">
                    <c:v>2.0</c:v>
                  </c:pt>
                  <c:pt idx="15">
                    <c:v>2.5</c:v>
                  </c:pt>
                  <c:pt idx="16">
                    <c:v>3.0</c:v>
                  </c:pt>
                  <c:pt idx="17">
                    <c:v>3.5</c:v>
                  </c:pt>
                  <c:pt idx="18">
                    <c:v>4.0</c:v>
                  </c:pt>
                  <c:pt idx="19">
                    <c:v>4.5</c:v>
                  </c:pt>
                  <c:pt idx="20">
                    <c:v>5.0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0.5</c:v>
                </c:pt>
                <c:pt idx="12">
                  <c:v>1</c:v>
                </c:pt>
                <c:pt idx="13">
                  <c:v>1.5</c:v>
                </c:pt>
                <c:pt idx="14">
                  <c:v>2</c:v>
                </c:pt>
                <c:pt idx="15">
                  <c:v>2.5</c:v>
                </c:pt>
                <c:pt idx="16">
                  <c:v>3</c:v>
                </c:pt>
                <c:pt idx="17">
                  <c:v>3.5</c:v>
                </c:pt>
                <c:pt idx="18">
                  <c:v>4</c:v>
                </c:pt>
                <c:pt idx="19">
                  <c:v>4.5</c:v>
                </c:pt>
                <c:pt idx="20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3D6C8C"/>
            </a:solidFill>
            <a:ln w="38100" cap="flat">
              <a:solidFill>
                <a:srgbClr val="3D6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6C8C"/>
              </a:solidFill>
              <a:ln w="9525" cap="flat">
                <a:solidFill>
                  <a:srgbClr val="3D6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-5.0</c:v>
                  </c:pt>
                  <c:pt idx="1">
                    <c:v>-4.5</c:v>
                  </c:pt>
                  <c:pt idx="2">
                    <c:v>-4.0</c:v>
                  </c:pt>
                  <c:pt idx="3">
                    <c:v>-3.5</c:v>
                  </c:pt>
                  <c:pt idx="4">
                    <c:v>-3.0</c:v>
                  </c:pt>
                  <c:pt idx="5">
                    <c:v>-2.5</c:v>
                  </c:pt>
                  <c:pt idx="6">
                    <c:v>-2.0</c:v>
                  </c:pt>
                  <c:pt idx="7">
                    <c:v>-1.5</c:v>
                  </c:pt>
                  <c:pt idx="8">
                    <c:v>-1.0</c:v>
                  </c:pt>
                  <c:pt idx="9">
                    <c:v>-0.5</c:v>
                  </c:pt>
                  <c:pt idx="10">
                    <c:v>0.0</c:v>
                  </c:pt>
                  <c:pt idx="11">
                    <c:v>0.5</c:v>
                  </c:pt>
                  <c:pt idx="12">
                    <c:v>1.0</c:v>
                  </c:pt>
                  <c:pt idx="13">
                    <c:v>1.5</c:v>
                  </c:pt>
                  <c:pt idx="14">
                    <c:v>2.0</c:v>
                  </c:pt>
                  <c:pt idx="15">
                    <c:v>2.5</c:v>
                  </c:pt>
                  <c:pt idx="16">
                    <c:v>3.0</c:v>
                  </c:pt>
                  <c:pt idx="17">
                    <c:v>3.5</c:v>
                  </c:pt>
                  <c:pt idx="18">
                    <c:v>4.0</c:v>
                  </c:pt>
                  <c:pt idx="19">
                    <c:v>4.5</c:v>
                  </c:pt>
                  <c:pt idx="20">
                    <c:v>5.0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-1.9732285963028606</c:v>
                </c:pt>
                <c:pt idx="1">
                  <c:v>-1.9560522294776272</c:v>
                </c:pt>
                <c:pt idx="2">
                  <c:v>-1.9280551601516338</c:v>
                </c:pt>
                <c:pt idx="3">
                  <c:v>-1.8827510769945748</c:v>
                </c:pt>
                <c:pt idx="4">
                  <c:v>-1.8102965072897328</c:v>
                </c:pt>
                <c:pt idx="5">
                  <c:v>-1.6965672799150258</c:v>
                </c:pt>
                <c:pt idx="6">
                  <c:v>-1.5231883119115297</c:v>
                </c:pt>
                <c:pt idx="7">
                  <c:v>-1.2702979047745746</c:v>
                </c:pt>
                <c:pt idx="8">
                  <c:v>-0.9242343145200196</c:v>
                </c:pt>
                <c:pt idx="9">
                  <c:v>-0.4898373248074184</c:v>
                </c:pt>
                <c:pt idx="10">
                  <c:v>0</c:v>
                </c:pt>
                <c:pt idx="11">
                  <c:v>0.4898373248074184</c:v>
                </c:pt>
                <c:pt idx="12">
                  <c:v>0.9242343145200196</c:v>
                </c:pt>
                <c:pt idx="13">
                  <c:v>1.2702979047745746</c:v>
                </c:pt>
                <c:pt idx="14">
                  <c:v>1.5231883119115293</c:v>
                </c:pt>
                <c:pt idx="15">
                  <c:v>1.6965672799150262</c:v>
                </c:pt>
                <c:pt idx="16">
                  <c:v>1.8102965072897335</c:v>
                </c:pt>
                <c:pt idx="17">
                  <c:v>1.8827510769945746</c:v>
                </c:pt>
                <c:pt idx="18">
                  <c:v>1.9280551601516338</c:v>
                </c:pt>
                <c:pt idx="19">
                  <c:v>1.9560522294776272</c:v>
                </c:pt>
                <c:pt idx="20">
                  <c:v>1.973228596302861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Tanh</c:v>
                </c:pt>
              </c:strCache>
            </c:strRef>
          </c:tx>
          <c:spPr>
            <a:solidFill>
              <a:srgbClr val="F2994A"/>
            </a:solidFill>
            <a:ln w="38100" cap="flat">
              <a:solidFill>
                <a:srgbClr val="F29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-5.0</c:v>
                  </c:pt>
                  <c:pt idx="1">
                    <c:v>-4.5</c:v>
                  </c:pt>
                  <c:pt idx="2">
                    <c:v>-4.0</c:v>
                  </c:pt>
                  <c:pt idx="3">
                    <c:v>-3.5</c:v>
                  </c:pt>
                  <c:pt idx="4">
                    <c:v>-3.0</c:v>
                  </c:pt>
                  <c:pt idx="5">
                    <c:v>-2.5</c:v>
                  </c:pt>
                  <c:pt idx="6">
                    <c:v>-2.0</c:v>
                  </c:pt>
                  <c:pt idx="7">
                    <c:v>-1.5</c:v>
                  </c:pt>
                  <c:pt idx="8">
                    <c:v>-1.0</c:v>
                  </c:pt>
                  <c:pt idx="9">
                    <c:v>-0.5</c:v>
                  </c:pt>
                  <c:pt idx="10">
                    <c:v>0.0</c:v>
                  </c:pt>
                  <c:pt idx="11">
                    <c:v>0.5</c:v>
                  </c:pt>
                  <c:pt idx="12">
                    <c:v>1.0</c:v>
                  </c:pt>
                  <c:pt idx="13">
                    <c:v>1.5</c:v>
                  </c:pt>
                  <c:pt idx="14">
                    <c:v>2.0</c:v>
                  </c:pt>
                  <c:pt idx="15">
                    <c:v>2.5</c:v>
                  </c:pt>
                  <c:pt idx="16">
                    <c:v>3.0</c:v>
                  </c:pt>
                  <c:pt idx="17">
                    <c:v>3.5</c:v>
                  </c:pt>
                  <c:pt idx="18">
                    <c:v>4.0</c:v>
                  </c:pt>
                  <c:pt idx="19">
                    <c:v>4.5</c:v>
                  </c:pt>
                  <c:pt idx="20">
                    <c:v>5.0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-0.9999092042625951</c:v>
                </c:pt>
                <c:pt idx="1">
                  <c:v>-0.9997532108480275</c:v>
                </c:pt>
                <c:pt idx="2">
                  <c:v>-0.999329299739067</c:v>
                </c:pt>
                <c:pt idx="3">
                  <c:v>-0.9981778976111987</c:v>
                </c:pt>
                <c:pt idx="4">
                  <c:v>-0.9950547536867305</c:v>
                </c:pt>
                <c:pt idx="5">
                  <c:v>-0.9866142981514303</c:v>
                </c:pt>
                <c:pt idx="6">
                  <c:v>-0.9640275800758169</c:v>
                </c:pt>
                <c:pt idx="7">
                  <c:v>-0.9051482536448664</c:v>
                </c:pt>
                <c:pt idx="8">
                  <c:v>-0.7615941559557649</c:v>
                </c:pt>
                <c:pt idx="9">
                  <c:v>-0.46211715726000974</c:v>
                </c:pt>
                <c:pt idx="10">
                  <c:v>0</c:v>
                </c:pt>
                <c:pt idx="11">
                  <c:v>0.46211715726000974</c:v>
                </c:pt>
                <c:pt idx="12">
                  <c:v>0.7615941559557649</c:v>
                </c:pt>
                <c:pt idx="13">
                  <c:v>0.9051482536448664</c:v>
                </c:pt>
                <c:pt idx="14">
                  <c:v>0.9640275800758169</c:v>
                </c:pt>
                <c:pt idx="15">
                  <c:v>0.9866142981514303</c:v>
                </c:pt>
                <c:pt idx="16">
                  <c:v>0.9950547536867305</c:v>
                </c:pt>
                <c:pt idx="17">
                  <c:v>0.9981778976111987</c:v>
                </c:pt>
                <c:pt idx="18">
                  <c:v>0.999329299739067</c:v>
                </c:pt>
                <c:pt idx="19">
                  <c:v>0.9997532108480275</c:v>
                </c:pt>
                <c:pt idx="20">
                  <c:v>0.9999092042625951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3D6C8C"/>
            </a:solidFill>
            <a:ln w="38100" cap="flat">
              <a:solidFill>
                <a:srgbClr val="3D6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6C8C"/>
              </a:solidFill>
              <a:ln w="9525" cap="flat">
                <a:solidFill>
                  <a:srgbClr val="3D6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-6.0</c:v>
                  </c:pt>
                  <c:pt idx="1">
                    <c:v>-5.6</c:v>
                  </c:pt>
                  <c:pt idx="2">
                    <c:v>-5.2</c:v>
                  </c:pt>
                  <c:pt idx="3">
                    <c:v>-4.8</c:v>
                  </c:pt>
                  <c:pt idx="4">
                    <c:v>-4.4</c:v>
                  </c:pt>
                  <c:pt idx="5">
                    <c:v>-4.0</c:v>
                  </c:pt>
                  <c:pt idx="6">
                    <c:v>-3.6</c:v>
                  </c:pt>
                  <c:pt idx="7">
                    <c:v>-3.2</c:v>
                  </c:pt>
                  <c:pt idx="8">
                    <c:v>-2.8</c:v>
                  </c:pt>
                  <c:pt idx="9">
                    <c:v>-2.4</c:v>
                  </c:pt>
                  <c:pt idx="10">
                    <c:v>-2.0</c:v>
                  </c:pt>
                  <c:pt idx="11">
                    <c:v>-1.6</c:v>
                  </c:pt>
                  <c:pt idx="12">
                    <c:v>-1.2</c:v>
                  </c:pt>
                  <c:pt idx="13">
                    <c:v>-0.8</c:v>
                  </c:pt>
                  <c:pt idx="14">
                    <c:v>-0.4</c:v>
                  </c:pt>
                  <c:pt idx="15">
                    <c:v>0.0</c:v>
                  </c:pt>
                  <c:pt idx="16">
                    <c:v>0.4</c:v>
                  </c:pt>
                  <c:pt idx="17">
                    <c:v>0.8</c:v>
                  </c:pt>
                  <c:pt idx="18">
                    <c:v>1.2</c:v>
                  </c:pt>
                  <c:pt idx="19">
                    <c:v>1.6</c:v>
                  </c:pt>
                  <c:pt idx="20">
                    <c:v>2.0</c:v>
                  </c:pt>
                  <c:pt idx="21">
                    <c:v>2.4</c:v>
                  </c:pt>
                  <c:pt idx="22">
                    <c:v>2.8</c:v>
                  </c:pt>
                  <c:pt idx="23">
                    <c:v>3.2</c:v>
                  </c:pt>
                  <c:pt idx="24">
                    <c:v>3.6</c:v>
                  </c:pt>
                  <c:pt idx="25">
                    <c:v>4.0</c:v>
                  </c:pt>
                  <c:pt idx="26">
                    <c:v>4.4</c:v>
                  </c:pt>
                  <c:pt idx="27">
                    <c:v>4.8</c:v>
                  </c:pt>
                  <c:pt idx="28">
                    <c:v>5.2</c:v>
                  </c:pt>
                  <c:pt idx="29">
                    <c:v>5.6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36</c:v>
                </c:pt>
                <c:pt idx="1">
                  <c:v>31.359999999999996</c:v>
                </c:pt>
                <c:pt idx="2">
                  <c:v>27.039999999999992</c:v>
                </c:pt>
                <c:pt idx="3">
                  <c:v>23.03999999999999</c:v>
                </c:pt>
                <c:pt idx="4">
                  <c:v>19.35999999999999</c:v>
                </c:pt>
                <c:pt idx="5">
                  <c:v>15.99999999999999</c:v>
                </c:pt>
                <c:pt idx="6">
                  <c:v>12.95999999999999</c:v>
                </c:pt>
                <c:pt idx="7">
                  <c:v>10.239999999999993</c:v>
                </c:pt>
                <c:pt idx="8">
                  <c:v>7.839999999999994</c:v>
                </c:pt>
                <c:pt idx="9">
                  <c:v>5.759999999999995</c:v>
                </c:pt>
                <c:pt idx="10">
                  <c:v>3.9999999999999964</c:v>
                </c:pt>
                <c:pt idx="11">
                  <c:v>2.5599999999999974</c:v>
                </c:pt>
                <c:pt idx="12">
                  <c:v>1.4399999999999984</c:v>
                </c:pt>
                <c:pt idx="13">
                  <c:v>0.6399999999999988</c:v>
                </c:pt>
                <c:pt idx="14">
                  <c:v>0.1599999999999994</c:v>
                </c:pt>
                <c:pt idx="15">
                  <c:v>6.039716305598372e-31</c:v>
                </c:pt>
                <c:pt idx="16">
                  <c:v>0.16000000000000064</c:v>
                </c:pt>
                <c:pt idx="17">
                  <c:v>0.6400000000000013</c:v>
                </c:pt>
                <c:pt idx="18">
                  <c:v>1.440000000000002</c:v>
                </c:pt>
                <c:pt idx="19">
                  <c:v>2.560000000000003</c:v>
                </c:pt>
                <c:pt idx="20">
                  <c:v>4.0000000000000036</c:v>
                </c:pt>
                <c:pt idx="21">
                  <c:v>5.760000000000004</c:v>
                </c:pt>
                <c:pt idx="22">
                  <c:v>7.840000000000004</c:v>
                </c:pt>
                <c:pt idx="23">
                  <c:v>10.240000000000004</c:v>
                </c:pt>
                <c:pt idx="24">
                  <c:v>12.960000000000004</c:v>
                </c:pt>
                <c:pt idx="25">
                  <c:v>16.000000000000007</c:v>
                </c:pt>
                <c:pt idx="26">
                  <c:v>19.36000000000001</c:v>
                </c:pt>
                <c:pt idx="27">
                  <c:v>23.040000000000017</c:v>
                </c:pt>
                <c:pt idx="28">
                  <c:v>27.04000000000002</c:v>
                </c:pt>
                <c:pt idx="29">
                  <c:v>31.360000000000024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Cat</c:v>
                  </c:pt>
                  <c:pt idx="1">
                    <c:v>Dog</c:v>
                  </c:pt>
                  <c:pt idx="2">
                    <c:v>Rabbit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18</c:v>
                </c:pt>
                <c:pt idx="2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1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3D6C8C"/>
            </a:solidFill>
            <a:ln w="31750" cap="flat">
              <a:solidFill>
                <a:srgbClr val="3D6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6C8C"/>
              </a:solidFill>
              <a:ln w="9525" cap="flat">
                <a:solidFill>
                  <a:srgbClr val="3D6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</c:v>
                  </c:pt>
                  <c:pt idx="1">
                    <c:v>55</c:v>
                  </c:pt>
                  <c:pt idx="2">
                    <c:v>65</c:v>
                  </c:pt>
                  <c:pt idx="3">
                    <c:v>80</c:v>
                  </c:pt>
                  <c:pt idx="4">
                    <c:v>95</c:v>
                  </c:pt>
                  <c:pt idx="5">
                    <c:v>110</c:v>
                  </c:pt>
                  <c:pt idx="6">
                    <c:v>130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71.2</c:v>
                </c:pt>
                <c:pt idx="1">
                  <c:v>90.4</c:v>
                </c:pt>
                <c:pt idx="2">
                  <c:v>103.2</c:v>
                </c:pt>
                <c:pt idx="3">
                  <c:v>122.4</c:v>
                </c:pt>
                <c:pt idx="4">
                  <c:v>141.60000000000002</c:v>
                </c:pt>
                <c:pt idx="5">
                  <c:v>160.8</c:v>
                </c:pt>
                <c:pt idx="6">
                  <c:v>186.4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269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2697A"/>
                    </a:solidFill>
                    <a:latin typeface="Arial"/>
                  </a:rPr>
                  <a:t>size (m²)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69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weight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The</c:v>
                  </c:pt>
                  <c:pt idx="1">
                    <c:v>cat</c:v>
                  </c:pt>
                  <c:pt idx="2">
                    <c:v>sat</c:v>
                  </c:pt>
                  <c:pt idx="3">
                    <c:v>because</c:v>
                  </c:pt>
                  <c:pt idx="4">
                    <c:v>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72</c:v>
                </c:pt>
                <c:pt idx="2">
                  <c:v>10</c:v>
                </c:pt>
                <c:pt idx="3">
                  <c:v>6</c:v>
                </c:pt>
                <c:pt idx="4">
                  <c:v>7.000000000000001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pattern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3.480877878718461</c:v>
                </c:pt>
                <c:pt idx="2">
                  <c:v>3.947347921227895</c:v>
                </c:pt>
                <c:pt idx="3">
                  <c:v>4.386588393923159</c:v>
                </c:pt>
                <c:pt idx="4">
                  <c:v>4.788775160545326</c:v>
                </c:pt>
                <c:pt idx="5">
                  <c:v>5.148163183100706</c:v>
                </c:pt>
                <c:pt idx="6">
                  <c:v>5.463718970730272</c:v>
                </c:pt>
                <c:pt idx="7">
                  <c:v>5.739234352695329</c:v>
                </c:pt>
                <c:pt idx="8">
                  <c:v>5.9829090506543245</c:v>
                </c:pt>
                <c:pt idx="9">
                  <c:v>6.206448003223947</c:v>
                </c:pt>
                <c:pt idx="10">
                  <c:v>6.423772814849806</c:v>
                </c:pt>
                <c:pt idx="11">
                  <c:v>6.649489180564662</c:v>
                </c:pt>
                <c:pt idx="12">
                  <c:v>6.897279001876828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pattern</c:v>
                </c:pt>
              </c:strCache>
            </c:strRef>
          </c:tx>
          <c:spPr>
            <a:solidFill>
              <a:srgbClr val="D64550"/>
            </a:solidFill>
            <a:ln w="3175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1.7633363032760503</c:v>
                </c:pt>
                <c:pt idx="2">
                  <c:v>3.240026016351704</c:v>
                </c:pt>
                <c:pt idx="3">
                  <c:v>5.531303491724372</c:v>
                </c:pt>
                <c:pt idx="4">
                  <c:v>5.289404032049495</c:v>
                </c:pt>
                <c:pt idx="5">
                  <c:v>3.4724206198024152</c:v>
                </c:pt>
                <c:pt idx="6">
                  <c:v>3.8402255623316233</c:v>
                </c:pt>
                <c:pt idx="7">
                  <c:v>6.4390193795792525</c:v>
                </c:pt>
                <c:pt idx="8">
                  <c:v>7.346491266741692</c:v>
                </c:pt>
                <c:pt idx="9">
                  <c:v>5.515215082991018</c:v>
                </c:pt>
                <c:pt idx="10">
                  <c:v>4.7694845146167975</c:v>
                </c:pt>
                <c:pt idx="11">
                  <c:v>7.088398441302718</c:v>
                </c:pt>
                <c:pt idx="12">
                  <c:v>8.999627220256803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315200" y="1676400"/>
            <a:ext cx="1051560" cy="4267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103120"/>
            <a:ext cx="1051560" cy="4267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103120"/>
            <a:ext cx="1051560" cy="128016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103120"/>
            <a:ext cx="1051560" cy="213360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103120"/>
            <a:ext cx="1051560" cy="29870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315200" y="167640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315200" y="252984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3383280"/>
            <a:ext cx="105156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38328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38328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315200" y="1676400"/>
            <a:ext cx="1051560" cy="29870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315200" y="2529840"/>
            <a:ext cx="1051560" cy="213360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315200" y="3383280"/>
            <a:ext cx="1051560" cy="128016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315200" y="4236720"/>
            <a:ext cx="1051560" cy="4267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4663440"/>
            <a:ext cx="1051560" cy="4267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676400"/>
            <a:ext cx="105156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67640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67640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676400"/>
            <a:ext cx="1051560" cy="25603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76400"/>
            <a:ext cx="1051560" cy="341376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366760" y="167640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2529840"/>
            <a:ext cx="105156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252984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252984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2529840"/>
            <a:ext cx="1051560" cy="25603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366760" y="167640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8366760" y="252984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3383280"/>
            <a:ext cx="105156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38328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38328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8366760" y="1676400"/>
            <a:ext cx="1051560" cy="25603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366760" y="252984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8366760" y="338328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4236720"/>
            <a:ext cx="105156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423672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366760" y="1676400"/>
            <a:ext cx="1051560" cy="341376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366760" y="2529840"/>
            <a:ext cx="1051560" cy="25603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366760" y="3383280"/>
            <a:ext cx="1051560" cy="170688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366760" y="4236720"/>
            <a:ext cx="1051560" cy="8534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5090160"/>
            <a:ext cx="105156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0" y="1676400"/>
            <a:ext cx="1051560" cy="17068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8320" y="1676400"/>
            <a:ext cx="1051560" cy="119481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0" y="1676400"/>
            <a:ext cx="1051560" cy="221894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18320" y="1676400"/>
            <a:ext cx="1051560" cy="324307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418320" y="1847088"/>
            <a:ext cx="1051560" cy="68275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8320" y="2529840"/>
            <a:ext cx="1051560" cy="34137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8320" y="2529840"/>
            <a:ext cx="1051560" cy="136550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18320" y="2529840"/>
            <a:ext cx="1051560" cy="238963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418320" y="1847088"/>
            <a:ext cx="1051560" cy="153619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9418320" y="2871216"/>
            <a:ext cx="1051560" cy="51206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18320" y="3383280"/>
            <a:ext cx="1051560" cy="51206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18320" y="3383280"/>
            <a:ext cx="1051560" cy="153619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9418320" y="1847088"/>
            <a:ext cx="1051560" cy="238963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9418320" y="2871216"/>
            <a:ext cx="1051560" cy="136550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9418320" y="3895344"/>
            <a:ext cx="1051560" cy="34137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18320" y="4236720"/>
            <a:ext cx="1051560" cy="68275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9418320" y="1847088"/>
            <a:ext cx="1051560" cy="324307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418320" y="2871216"/>
            <a:ext cx="1051560" cy="221894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9418320" y="3895344"/>
            <a:ext cx="1051560" cy="119481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9418320" y="4919472"/>
            <a:ext cx="1051560" cy="17068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469880" y="1847088"/>
            <a:ext cx="1051560" cy="68275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69880" y="1847088"/>
            <a:ext cx="1051560" cy="238963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0469880" y="2529840"/>
            <a:ext cx="1051560" cy="34137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69880" y="2871216"/>
            <a:ext cx="1051560" cy="136550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0469880" y="2529840"/>
            <a:ext cx="1051560" cy="136550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69880" y="3895344"/>
            <a:ext cx="1051560" cy="34137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0469880" y="2529840"/>
            <a:ext cx="1051560" cy="238963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0469880" y="4236720"/>
            <a:ext cx="1051560" cy="68275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23760" y="2011680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223760" y="3291840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223760" y="4572000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275320" y="1584960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275320" y="2438400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275320" y="3291840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275320" y="4145280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275320" y="4998720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9326880" y="1584960"/>
            <a:ext cx="182880" cy="1828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326880" y="2438400"/>
            <a:ext cx="182880" cy="1828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9326880" y="3291840"/>
            <a:ext cx="182880" cy="1828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9326880" y="4145280"/>
            <a:ext cx="182880" cy="1828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326880" y="4998720"/>
            <a:ext cx="182880" cy="1828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0378440" y="1755648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10378440" y="2779776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0378440" y="3803904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0378440" y="4828032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1430000" y="2438400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11430000" y="4145280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9" name="Text 87"/>
          <p:cNvSpPr txBox="1"/>
          <p:nvPr/>
        </p:nvSpPr>
        <p:spPr>
          <a:xfrm>
            <a:off x="82296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</a:t>
            </a:r>
            <a:endParaRPr lang="en-US" sz="1500" dirty="0"/>
          </a:p>
        </p:txBody>
      </p:sp>
      <p:sp>
        <p:nvSpPr>
          <p:cNvPr id="90" name="Text 88"/>
          <p:cNvSpPr txBox="1"/>
          <p:nvPr/>
        </p:nvSpPr>
        <p:spPr>
          <a:xfrm>
            <a:off x="777240" y="19659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5600" dirty="0"/>
          </a:p>
        </p:txBody>
      </p:sp>
      <p:sp>
        <p:nvSpPr>
          <p:cNvPr id="91" name="Text 89"/>
          <p:cNvSpPr txBox="1"/>
          <p:nvPr/>
        </p:nvSpPr>
        <p:spPr>
          <a:xfrm>
            <a:off x="82296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Neural Networks</a:t>
            </a:r>
            <a:endParaRPr lang="en-US" sz="3200" dirty="0"/>
          </a:p>
        </p:txBody>
      </p:sp>
      <p:sp>
        <p:nvSpPr>
          <p:cNvPr id="92" name="Text 90"/>
          <p:cNvSpPr txBox="1"/>
          <p:nvPr/>
        </p:nvSpPr>
        <p:spPr>
          <a:xfrm>
            <a:off x="82296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learn useful patterns from examples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22960" y="507492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97280" y="5193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Fadl Musa</a:t>
            </a:r>
            <a:endParaRPr lang="en-US" sz="1900" dirty="0"/>
          </a:p>
        </p:txBody>
      </p:sp>
      <p:sp>
        <p:nvSpPr>
          <p:cNvPr id="95" name="Text 93"/>
          <p:cNvSpPr txBox="1"/>
          <p:nvPr/>
        </p:nvSpPr>
        <p:spPr>
          <a:xfrm>
            <a:off x="1097280" y="5596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50" dirty="0"/>
          </a:p>
        </p:txBody>
      </p:sp>
      <p:sp>
        <p:nvSpPr>
          <p:cNvPr id="96" name="Text 94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97" name="Text 95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 ·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deep-learning model is a flexible function.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examples, makes guesses, measures its mistakes, and adjusts itself — many times over — until the guesses become useful.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33272" y="4919472"/>
            <a:ext cx="402336" cy="402336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4919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lecture, that one sentence will make complete sense.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0216" y="1773936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16916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deep learning without heavy mathematics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00216" y="2706624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62432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intuition for neurons, layers, and training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00216" y="3639312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0216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55701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images, text, and sound become numbers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00216" y="4572000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0216" y="4572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48970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common failure modes and responsible-use issues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50516" y="730501"/>
            <a:ext cx="116330" cy="11633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0104" y="4881741"/>
            <a:ext cx="72745" cy="72745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22313" y="5389112"/>
            <a:ext cx="131994" cy="131994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66402" y="6166508"/>
            <a:ext cx="109249" cy="10924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98803" y="5799369"/>
            <a:ext cx="145939" cy="14593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12971" y="2151152"/>
            <a:ext cx="85320" cy="8532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82461" y="1916396"/>
            <a:ext cx="126681" cy="12668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52980" y="4477056"/>
            <a:ext cx="71209" cy="7120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4438" y="945716"/>
            <a:ext cx="137866" cy="13786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38704" y="1710438"/>
            <a:ext cx="117867" cy="11786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31061" y="2640842"/>
            <a:ext cx="57611" cy="5761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68192" y="752214"/>
            <a:ext cx="130882" cy="130882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29649" y="2324462"/>
            <a:ext cx="123706" cy="12370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54345" y="1190100"/>
            <a:ext cx="145377" cy="14537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057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Neurons, layers, and how raw data becomes a decision.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27248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2724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05856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05856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every rule by hand, we show examples and let the computer discover a rule.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46120" cy="2880360"/>
          </a:xfrm>
          <a:prstGeom prst="roundRect">
            <a:avLst>
              <a:gd name="adj" fmla="val 2857"/>
            </a:avLst>
          </a:prstGeom>
          <a:solidFill>
            <a:srgbClr val="FBEAE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7568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way: rules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pixels are mostly dark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label = “cat”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must anticipate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in advance.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849624" y="3771900"/>
            <a:ext cx="393192" cy="914"/>
          </a:xfrm>
          <a:prstGeom prst="line">
            <a:avLst/>
          </a:prstGeom>
          <a:noFill/>
          <a:ln w="28575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2331720"/>
            <a:ext cx="3246120" cy="2880360"/>
          </a:xfrm>
          <a:prstGeom prst="roundRect">
            <a:avLst>
              <a:gd name="adj" fmla="val 2857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7568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0756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way: examples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many photos, each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“cat” or “dog”.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looks for a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that fits them.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98664" y="3771900"/>
            <a:ext cx="393192" cy="914"/>
          </a:xfrm>
          <a:prstGeom prst="line">
            <a:avLst/>
          </a:prstGeom>
          <a:noFill/>
          <a:ln w="28575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46720" y="2331720"/>
            <a:ext cx="3246120" cy="2880360"/>
          </a:xfrm>
          <a:prstGeom prst="roundRect">
            <a:avLst>
              <a:gd name="adj" fmla="val 2857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07568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0756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7889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unseen photo →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“cat”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was discovered,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hand-written.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“deep”?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means a stack of transformations. Early layers notice simple patterns, middle layers combine them, and later layers use those combinations to decide.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120640" cy="3749040"/>
          </a:xfrm>
          <a:prstGeom prst="roundRect">
            <a:avLst>
              <a:gd name="adj" fmla="val 219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05840" y="3227832"/>
            <a:ext cx="1402080" cy="13258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360420"/>
            <a:ext cx="1402080" cy="39776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360420"/>
            <a:ext cx="1402080" cy="92811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360420"/>
            <a:ext cx="1402080" cy="145846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05840" y="3227832"/>
            <a:ext cx="1402080" cy="7955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05840" y="3758184"/>
            <a:ext cx="1402080" cy="26517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023360"/>
            <a:ext cx="1402080" cy="26517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023360"/>
            <a:ext cx="1402080" cy="7955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05840" y="3227832"/>
            <a:ext cx="1402080" cy="145846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05840" y="3758184"/>
            <a:ext cx="1402080" cy="92811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05840" y="4288536"/>
            <a:ext cx="1402080" cy="39776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686300"/>
            <a:ext cx="1402080" cy="13258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07920" y="3227832"/>
            <a:ext cx="140208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7920" y="3227832"/>
            <a:ext cx="1402080" cy="5303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07920" y="3227832"/>
            <a:ext cx="1402080" cy="106070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07920" y="3227832"/>
            <a:ext cx="1402080" cy="159105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407920" y="3227832"/>
            <a:ext cx="1402080" cy="5303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07920" y="3758184"/>
            <a:ext cx="140208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07920" y="3758184"/>
            <a:ext cx="1402080" cy="5303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7920" y="3758184"/>
            <a:ext cx="1402080" cy="106070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407920" y="3227832"/>
            <a:ext cx="1402080" cy="106070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407920" y="3758184"/>
            <a:ext cx="1402080" cy="5303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07920" y="4288536"/>
            <a:ext cx="140208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07920" y="4288536"/>
            <a:ext cx="1402080" cy="5303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407920" y="3227832"/>
            <a:ext cx="1402080" cy="159105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407920" y="3758184"/>
            <a:ext cx="1402080" cy="106070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407920" y="4288536"/>
            <a:ext cx="1402080" cy="5303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07920" y="4818888"/>
            <a:ext cx="140208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0000" y="3227832"/>
            <a:ext cx="1402080" cy="35356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10000" y="3227832"/>
            <a:ext cx="1402080" cy="123748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810000" y="3581400"/>
            <a:ext cx="1402080" cy="17678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10000" y="3758184"/>
            <a:ext cx="1402080" cy="70713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810000" y="3581400"/>
            <a:ext cx="1402080" cy="70713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10000" y="4288536"/>
            <a:ext cx="1402080" cy="17678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810000" y="3581400"/>
            <a:ext cx="1402080" cy="123748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810000" y="4465320"/>
            <a:ext cx="1402080" cy="35356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" y="3223260"/>
            <a:ext cx="274320" cy="2743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68680" y="3886200"/>
            <a:ext cx="274320" cy="2743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" y="4549140"/>
            <a:ext cx="274320" cy="2743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70760" y="3090672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70760" y="3621024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270760" y="4151376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70760" y="4681728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72840" y="3090672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72840" y="362102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72840" y="4151376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72840" y="4681728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074920" y="3444240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74920" y="4328160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502920" y="5486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1905000" y="5486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3307080" y="5486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4709160" y="5486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630936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BUILDING MEANING IN LAYERS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309360" y="278892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537960" y="27889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Letters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8092440" y="27889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o  v  e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8823960" y="3529584"/>
            <a:ext cx="914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309360" y="3685032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37960" y="36850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8092440" y="368503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“love”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8823960" y="4425696"/>
            <a:ext cx="914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309360" y="4581144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537960" y="458114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Sentences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8092440" y="45811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love learning”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8823960" y="5321808"/>
            <a:ext cx="914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309360" y="5477256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37960" y="547725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8092440" y="54772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statement</a:t>
            </a:r>
            <a:endParaRPr lang="en-US" sz="150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neuron: a tiny decision-maker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837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148840"/>
            <a:ext cx="2286000" cy="1645920"/>
          </a:xfrm>
          <a:prstGeom prst="line">
            <a:avLst/>
          </a:prstGeom>
          <a:noFill/>
          <a:ln w="19050">
            <a:solidFill>
              <a:srgbClr val="3D6C8C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856232"/>
            <a:ext cx="585216" cy="585216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6187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54480" y="3794760"/>
            <a:ext cx="2286000" cy="914"/>
          </a:xfrm>
          <a:prstGeom prst="line">
            <a:avLst/>
          </a:prstGeom>
          <a:noFill/>
          <a:ln w="19050">
            <a:solidFill>
              <a:srgbClr val="3D6C8C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3502152"/>
            <a:ext cx="585216" cy="585216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261872" y="3502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V="1">
            <a:off x="1554480" y="3794760"/>
            <a:ext cx="2286000" cy="1554480"/>
          </a:xfrm>
          <a:prstGeom prst="line">
            <a:avLst/>
          </a:prstGeom>
          <a:noFill/>
          <a:ln w="19050">
            <a:solidFill>
              <a:srgbClr val="3D6C8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5056632"/>
            <a:ext cx="585216" cy="585216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261872" y="5056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0" y="3794760"/>
            <a:ext cx="2103120" cy="914"/>
          </a:xfrm>
          <a:prstGeom prst="line">
            <a:avLst/>
          </a:prstGeom>
          <a:noFill/>
          <a:ln w="19050">
            <a:solidFill>
              <a:srgbClr val="3D6C8C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3410712"/>
            <a:ext cx="768096" cy="76809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56432" y="3410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96128" y="3447288"/>
            <a:ext cx="694944" cy="694944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596128" y="34472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× importance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up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40880" y="1737360"/>
            <a:ext cx="4617720" cy="1965960"/>
          </a:xfrm>
          <a:prstGeom prst="roundRect">
            <a:avLst>
              <a:gd name="adj" fmla="val 4186"/>
            </a:avLst>
          </a:prstGeom>
          <a:solidFill>
            <a:srgbClr val="0F2A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69480" y="1901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FORMULA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240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w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w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w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weight (importance)   b = bias (nudge)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32320" y="389534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38862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input by its weight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0" y="426110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4251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results together, plus a bias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0" y="462686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543800" y="46177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becomes the neuron's signal, z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40880" y="5074920"/>
            <a:ext cx="4617720" cy="1280160"/>
          </a:xfrm>
          <a:prstGeom prst="roundRect">
            <a:avLst>
              <a:gd name="adj" fmla="val 6429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69480" y="5184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BIAS?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269480" y="54406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b, the line is forced through zero — if every input is 0, the output must be 0 too. Bias works like a y-intercept: it shifts the threshold, so the neuron can still fire even when the inputs alone don't say so.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algebra we need: a weighted sum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is this fruit ripe?</a:t>
            </a:r>
            <a:endParaRPr lang="en-US" sz="1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4864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× reading:  0.9, 0.7, 1.0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37960" y="1828800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0F2A5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122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0.9(0.8) + 0.7(0.6) + 1.0(0.9)</a:t>
            </a:r>
            <a:endParaRPr lang="en-US" sz="185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2.16  →  “probably ripe”</a:t>
            </a:r>
            <a:endParaRPr lang="en-US" sz="185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3154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E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weight means an input matters more to the final decision. Here, “sweet” carries the most influence.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37960" y="43434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12280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IN ONE LINE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4800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 says how much an input matters to the decision.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 layer needs a “gate”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gate, stacking layers collapses into one straight line — no matter how many layers you add, the whole network behaves like a single simple equation. The gate lets the network bend, learning curves and boundaries instead.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GATE — STILL A LINE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9718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242316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GATE (RELU) — CAN BEND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629400" y="29718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activation functions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hidden neuron applies one of these “gates” to its weighted sum, z, before passing a signal onward.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762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z)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971800"/>
          <a:ext cx="31546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77240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most common default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0116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762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(1 + e⁻ᶻ)</a:t>
            </a:r>
            <a:endParaRPr lang="en-US" sz="14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572000" y="2971800"/>
          <a:ext cx="31546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617720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Squeezes output into (0, 1)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116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458200" y="21762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tanh(z)</a:t>
            </a:r>
            <a:endParaRPr lang="en-US" sz="140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8412480" y="2971800"/>
          <a:ext cx="31546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8458200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Squeezes output into (−1, 1)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neuron to a full network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simple units cooperate.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943600" cy="4297680"/>
          </a:xfrm>
          <a:prstGeom prst="roundRect">
            <a:avLst>
              <a:gd name="adj" fmla="val 191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7280" y="2756263"/>
            <a:ext cx="1615440" cy="188105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944368"/>
            <a:ext cx="1615440" cy="28215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944368"/>
            <a:ext cx="1615440" cy="75242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944368"/>
            <a:ext cx="1615440" cy="122268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944368"/>
            <a:ext cx="1615440" cy="169294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44368"/>
            <a:ext cx="1615440" cy="216320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7280" y="2756263"/>
            <a:ext cx="1615440" cy="84647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97280" y="3226526"/>
            <a:ext cx="1615440" cy="376210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602736"/>
            <a:ext cx="1615440" cy="9405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602736"/>
            <a:ext cx="1615440" cy="564315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602736"/>
            <a:ext cx="1615440" cy="103457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02736"/>
            <a:ext cx="1615440" cy="150484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97280" y="2756263"/>
            <a:ext cx="1615440" cy="150484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97280" y="3226526"/>
            <a:ext cx="1615440" cy="103457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97280" y="3696789"/>
            <a:ext cx="1615440" cy="564315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97280" y="4167051"/>
            <a:ext cx="1615440" cy="9405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4261104"/>
            <a:ext cx="1615440" cy="376210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4261104"/>
            <a:ext cx="1615440" cy="84647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97280" y="2756263"/>
            <a:ext cx="1615440" cy="216320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97280" y="3226526"/>
            <a:ext cx="1615440" cy="169294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97280" y="3696789"/>
            <a:ext cx="1615440" cy="122268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97280" y="4167051"/>
            <a:ext cx="1615440" cy="75242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97280" y="4637314"/>
            <a:ext cx="1615440" cy="28215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919472"/>
            <a:ext cx="1615440" cy="188105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12720" y="2756263"/>
            <a:ext cx="161544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12720" y="2756263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2720" y="2756263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12720" y="2756263"/>
            <a:ext cx="1615440" cy="141078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12720" y="2756263"/>
            <a:ext cx="1615440" cy="188105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12720" y="2756263"/>
            <a:ext cx="1615440" cy="23513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712720" y="2756263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12720" y="3226526"/>
            <a:ext cx="161544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12720" y="3226526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12720" y="3226526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12720" y="3226526"/>
            <a:ext cx="1615440" cy="141078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2720" y="3226526"/>
            <a:ext cx="1615440" cy="188105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712720" y="2756263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712720" y="3226526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12720" y="3696789"/>
            <a:ext cx="161544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12720" y="3696789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12720" y="3696789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12720" y="3696789"/>
            <a:ext cx="1615440" cy="141078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2712720" y="2756263"/>
            <a:ext cx="1615440" cy="141078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2712720" y="3226526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712720" y="3696789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12720" y="4167051"/>
            <a:ext cx="161544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12720" y="4167051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12720" y="4167051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2712720" y="2756263"/>
            <a:ext cx="1615440" cy="188105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2712720" y="3226526"/>
            <a:ext cx="1615440" cy="141078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2712720" y="3696789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712720" y="4167051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12720" y="4637314"/>
            <a:ext cx="161544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12720" y="4637314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2712720" y="2756263"/>
            <a:ext cx="1615440" cy="23513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2712720" y="3226526"/>
            <a:ext cx="1615440" cy="188105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2712720" y="3696789"/>
            <a:ext cx="1615440" cy="141078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2712720" y="4167051"/>
            <a:ext cx="1615440" cy="94052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2712720" y="4637314"/>
            <a:ext cx="1615440" cy="470263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12720" y="5107577"/>
            <a:ext cx="161544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28160" y="2756263"/>
            <a:ext cx="1615440" cy="352697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28160" y="2756263"/>
            <a:ext cx="1615440" cy="1175657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328160" y="2756263"/>
            <a:ext cx="1615440" cy="1998617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4328160" y="3108960"/>
            <a:ext cx="1615440" cy="11756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28160" y="3226526"/>
            <a:ext cx="1615440" cy="70539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28160" y="3226526"/>
            <a:ext cx="1615440" cy="152835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328160" y="3108960"/>
            <a:ext cx="1615440" cy="58782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28160" y="3696789"/>
            <a:ext cx="1615440" cy="23513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28160" y="3696789"/>
            <a:ext cx="1615440" cy="105809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4328160" y="3108960"/>
            <a:ext cx="1615440" cy="105809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4328160" y="3931920"/>
            <a:ext cx="1615440" cy="235131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28160" y="4167051"/>
            <a:ext cx="1615440" cy="587829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4328160" y="3108960"/>
            <a:ext cx="1615440" cy="152835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4328160" y="3931920"/>
            <a:ext cx="1615440" cy="70539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28160" y="4637314"/>
            <a:ext cx="1615440" cy="11756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4328160" y="3108960"/>
            <a:ext cx="1615440" cy="1998617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4328160" y="3931920"/>
            <a:ext cx="1615440" cy="1175657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4328160" y="4754880"/>
            <a:ext cx="1615440" cy="352697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3836" y="2820924"/>
            <a:ext cx="246888" cy="24688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73836" y="3479292"/>
            <a:ext cx="246888" cy="24688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73836" y="4137660"/>
            <a:ext cx="246888" cy="24688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973836" y="4796028"/>
            <a:ext cx="246888" cy="24688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589276" y="2632819"/>
            <a:ext cx="246888" cy="2468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2589276" y="3103082"/>
            <a:ext cx="246888" cy="2468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2589276" y="3573345"/>
            <a:ext cx="246888" cy="2468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589276" y="4043607"/>
            <a:ext cx="246888" cy="2468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2589276" y="4513870"/>
            <a:ext cx="246888" cy="2468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2589276" y="4984133"/>
            <a:ext cx="246888" cy="2468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204716" y="2632819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204716" y="3103082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4204716" y="3573345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4204716" y="4043607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4204716" y="4513870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204716" y="4984133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820156" y="2985516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5820156" y="3808476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5820156" y="4631436"/>
            <a:ext cx="246888" cy="24688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103" name="Text 101"/>
          <p:cNvSpPr txBox="1"/>
          <p:nvPr/>
        </p:nvSpPr>
        <p:spPr>
          <a:xfrm>
            <a:off x="594360" y="5715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104" name="Text 102"/>
          <p:cNvSpPr txBox="1"/>
          <p:nvPr/>
        </p:nvSpPr>
        <p:spPr>
          <a:xfrm>
            <a:off x="2209800" y="5715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50" dirty="0"/>
          </a:p>
        </p:txBody>
      </p:sp>
      <p:sp>
        <p:nvSpPr>
          <p:cNvPr id="105" name="Text 103"/>
          <p:cNvSpPr txBox="1"/>
          <p:nvPr/>
        </p:nvSpPr>
        <p:spPr>
          <a:xfrm>
            <a:off x="3825240" y="5715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50" dirty="0"/>
          </a:p>
        </p:txBody>
      </p:sp>
      <p:sp>
        <p:nvSpPr>
          <p:cNvPr id="106" name="Text 104"/>
          <p:cNvSpPr txBox="1"/>
          <p:nvPr/>
        </p:nvSpPr>
        <p:spPr>
          <a:xfrm>
            <a:off x="5440680" y="5715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07" name="Shape 105"/>
          <p:cNvSpPr/>
          <p:nvPr/>
        </p:nvSpPr>
        <p:spPr>
          <a:xfrm>
            <a:off x="6446520" y="1947672"/>
            <a:ext cx="438912" cy="438912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44652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701344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700" dirty="0"/>
          </a:p>
        </p:txBody>
      </p:sp>
      <p:sp>
        <p:nvSpPr>
          <p:cNvPr id="110" name="Text 108"/>
          <p:cNvSpPr txBox="1"/>
          <p:nvPr/>
        </p:nvSpPr>
        <p:spPr>
          <a:xfrm>
            <a:off x="7013448" y="2203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raw measurements — pixels, words, sensor readings.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6446520" y="2880360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44652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7013448" y="2807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layers</a:t>
            </a:r>
            <a:endParaRPr lang="en-US" sz="1700" dirty="0"/>
          </a:p>
        </p:txBody>
      </p:sp>
      <p:sp>
        <p:nvSpPr>
          <p:cNvPr id="114" name="Text 112"/>
          <p:cNvSpPr txBox="1"/>
          <p:nvPr/>
        </p:nvSpPr>
        <p:spPr>
          <a:xfrm>
            <a:off x="7013448" y="3136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increasingly useful internal representations.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6446520" y="3813048"/>
            <a:ext cx="438912" cy="43891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44652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7013448" y="3739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700" dirty="0"/>
          </a:p>
        </p:txBody>
      </p:sp>
      <p:sp>
        <p:nvSpPr>
          <p:cNvPr id="118" name="Text 116"/>
          <p:cNvSpPr txBox="1"/>
          <p:nvPr/>
        </p:nvSpPr>
        <p:spPr>
          <a:xfrm>
            <a:off x="7013448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final answer — a class or a number.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6446520" y="4718304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720840" y="4873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720840" y="517550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becomes edges, then shapes, then parts, then “cat-ness.”</a:t>
            </a:r>
            <a:endParaRPr lang="en-US" sz="1500" dirty="0"/>
          </a:p>
        </p:txBody>
      </p:sp>
      <p:sp>
        <p:nvSpPr>
          <p:cNvPr id="122" name="Text 120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123" name="Text 121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image becomes numbers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is just a number — a neural network learns to turn those numbers into useful visual summaries.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66928" cy="566928"/>
          </a:xfrm>
          <a:prstGeom prst="rect">
            <a:avLst/>
          </a:prstGeom>
          <a:solidFill>
            <a:srgbClr val="8787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194560"/>
            <a:ext cx="566928" cy="566928"/>
          </a:xfrm>
          <a:prstGeom prst="rect">
            <a:avLst/>
          </a:prstGeom>
          <a:solidFill>
            <a:srgbClr val="A5A5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2194560"/>
            <a:ext cx="566928" cy="566928"/>
          </a:xfrm>
          <a:prstGeom prst="rect">
            <a:avLst/>
          </a:prstGeom>
          <a:solidFill>
            <a:srgbClr val="5555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2194560"/>
            <a:ext cx="566928" cy="566928"/>
          </a:xfrm>
          <a:prstGeom prst="rect">
            <a:avLst/>
          </a:prstGeom>
          <a:solidFill>
            <a:srgbClr val="7979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2194560"/>
            <a:ext cx="566928" cy="566928"/>
          </a:xfrm>
          <a:prstGeom prst="rect">
            <a:avLst/>
          </a:prstGeom>
          <a:solidFill>
            <a:srgbClr val="DCDC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566928" cy="566928"/>
          </a:xfrm>
          <a:prstGeom prst="rect">
            <a:avLst/>
          </a:prstGeom>
          <a:solidFill>
            <a:srgbClr val="9696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2761488"/>
            <a:ext cx="566928" cy="566928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82496" y="2761488"/>
            <a:ext cx="566928" cy="566928"/>
          </a:xfrm>
          <a:prstGeom prst="rect">
            <a:avLst/>
          </a:prstGeom>
          <a:solidFill>
            <a:srgbClr val="8282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9424" y="2761488"/>
            <a:ext cx="566928" cy="566928"/>
          </a:xfrm>
          <a:prstGeom prst="rect">
            <a:avLst/>
          </a:prstGeom>
          <a:solidFill>
            <a:srgbClr val="5252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6352" y="2761488"/>
            <a:ext cx="566928" cy="566928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28416"/>
            <a:ext cx="566928" cy="566928"/>
          </a:xfrm>
          <a:prstGeom prst="rect">
            <a:avLst/>
          </a:prstGeom>
          <a:solidFill>
            <a:srgbClr val="CDCD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" y="3328416"/>
            <a:ext cx="566928" cy="566928"/>
          </a:xfrm>
          <a:prstGeom prst="rect">
            <a:avLst/>
          </a:prstGeom>
          <a:solidFill>
            <a:srgbClr val="4F4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82496" y="3328416"/>
            <a:ext cx="566928" cy="566928"/>
          </a:xfrm>
          <a:prstGeom prst="rect">
            <a:avLst/>
          </a:prstGeom>
          <a:solidFill>
            <a:srgbClr val="6A6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9424" y="3328416"/>
            <a:ext cx="566928" cy="566928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16352" y="3328416"/>
            <a:ext cx="566928" cy="566928"/>
          </a:xfrm>
          <a:prstGeom prst="rect">
            <a:avLst/>
          </a:prstGeom>
          <a:solidFill>
            <a:srgbClr val="D8D8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solidFill>
            <a:srgbClr val="9B9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" y="3895344"/>
            <a:ext cx="566928" cy="566928"/>
          </a:xfrm>
          <a:prstGeom prst="rect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82496" y="3895344"/>
            <a:ext cx="566928" cy="566928"/>
          </a:xfrm>
          <a:prstGeom prst="rect">
            <a:avLst/>
          </a:prstGeom>
          <a:solidFill>
            <a:srgbClr val="8585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9424" y="3895344"/>
            <a:ext cx="566928" cy="566928"/>
          </a:xfrm>
          <a:prstGeom prst="rect">
            <a:avLst/>
          </a:prstGeom>
          <a:solidFill>
            <a:srgbClr val="FEFE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49424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895344"/>
            <a:ext cx="566928" cy="566928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62272"/>
            <a:ext cx="566928" cy="566928"/>
          </a:xfrm>
          <a:prstGeom prst="rect">
            <a:avLst/>
          </a:prstGeom>
          <a:solidFill>
            <a:srgbClr val="5858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568" y="4462272"/>
            <a:ext cx="56692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82496" y="4462272"/>
            <a:ext cx="566928" cy="566928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9424" y="4462272"/>
            <a:ext cx="566928" cy="566928"/>
          </a:xfrm>
          <a:prstGeom prst="rect">
            <a:avLst/>
          </a:prstGeom>
          <a:solidFill>
            <a:srgbClr val="F9F9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16352" y="4462272"/>
            <a:ext cx="566928" cy="566928"/>
          </a:xfrm>
          <a:prstGeom prst="rect">
            <a:avLst/>
          </a:prstGeom>
          <a:solidFill>
            <a:srgbClr val="CACA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166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 grayscale pixels — each cell is a number from 0 (black) to 1 (white)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206240" y="3200400"/>
            <a:ext cx="1470584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06240" y="3200400"/>
            <a:ext cx="1470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713400" y="3611880"/>
            <a:ext cx="246888" cy="914"/>
          </a:xfrm>
          <a:prstGeom prst="line">
            <a:avLst/>
          </a:prstGeom>
          <a:noFill/>
          <a:ln w="2540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996864" y="3200400"/>
            <a:ext cx="1470584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96864" y="3200400"/>
            <a:ext cx="1470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504024" y="3611880"/>
            <a:ext cx="246888" cy="914"/>
          </a:xfrm>
          <a:prstGeom prst="line">
            <a:avLst/>
          </a:prstGeom>
          <a:noFill/>
          <a:ln w="2540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87488" y="3200400"/>
            <a:ext cx="1470584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87488" y="3200400"/>
            <a:ext cx="1470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294647" y="3611880"/>
            <a:ext cx="246888" cy="914"/>
          </a:xfrm>
          <a:prstGeom prst="line">
            <a:avLst/>
          </a:prstGeom>
          <a:noFill/>
          <a:ln w="2540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578111" y="3200400"/>
            <a:ext cx="1470584" cy="822960"/>
          </a:xfrm>
          <a:prstGeom prst="roundRect">
            <a:avLst>
              <a:gd name="adj" fmla="val 10000"/>
            </a:avLst>
          </a:prstGeom>
          <a:solidFill>
            <a:srgbClr val="F2994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78111" y="3200400"/>
            <a:ext cx="1470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50516" y="730501"/>
            <a:ext cx="116330" cy="11633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0104" y="4881741"/>
            <a:ext cx="72745" cy="72745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22313" y="5389112"/>
            <a:ext cx="131994" cy="131994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66402" y="6166508"/>
            <a:ext cx="109249" cy="10924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98803" y="5799369"/>
            <a:ext cx="145939" cy="14593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12971" y="2151152"/>
            <a:ext cx="85320" cy="8532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82461" y="1916396"/>
            <a:ext cx="126681" cy="12668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52980" y="4477056"/>
            <a:ext cx="71209" cy="7120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4438" y="945716"/>
            <a:ext cx="137866" cy="13786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38704" y="1710438"/>
            <a:ext cx="117867" cy="11786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31061" y="2640842"/>
            <a:ext cx="57611" cy="5761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68192" y="752214"/>
            <a:ext cx="130882" cy="130882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29649" y="2324462"/>
            <a:ext cx="123706" cy="12370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54345" y="1190100"/>
            <a:ext cx="145377" cy="14537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057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mistakes into improvements, one small step at a time.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27248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2724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05856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05856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loop: guess → measure → adjust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1901952"/>
            <a:ext cx="548640" cy="5486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3162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makes a prediction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3520440"/>
            <a:ext cx="228600" cy="91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19456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6260" y="1901952"/>
            <a:ext cx="548640" cy="5486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626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560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108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wrong it was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3520440"/>
            <a:ext cx="228600" cy="91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0900" y="1901952"/>
            <a:ext cx="548640" cy="5486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0090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60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direction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108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which way to change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0" y="3520440"/>
            <a:ext cx="228600" cy="91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52560" y="219456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35540" y="1901952"/>
            <a:ext cx="548640" cy="5486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355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560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108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the weights slightly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H="1">
            <a:off x="822960" y="4937760"/>
            <a:ext cx="10469880" cy="914"/>
          </a:xfrm>
          <a:prstGeom prst="line">
            <a:avLst/>
          </a:prstGeom>
          <a:noFill/>
          <a:ln w="22225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663440" y="4983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until mistakes become small.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10789920" cy="548640"/>
          </a:xfrm>
          <a:prstGeom prst="roundRect">
            <a:avLst>
              <a:gd name="adj" fmla="val 15000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806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analogy:  practice a quiz → see errors → change study strategy → try again.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Loss: turning “wrong” into a number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prediction, squared error is easy to compute: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0F2A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(answer − prediction)²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guess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1821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0.09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= 1   prediction = 0.7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4572000" cy="320040"/>
          </a:xfrm>
          <a:prstGeom prst="roundRect">
            <a:avLst>
              <a:gd name="adj" fmla="val 25714"/>
            </a:avLst>
          </a:prstGeom>
          <a:solidFill>
            <a:srgbClr val="E7EC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977640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6634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guess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782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0.49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= 1   prediction = 0.3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4572000" cy="320040"/>
          </a:xfrm>
          <a:prstGeom prst="roundRect">
            <a:avLst>
              <a:gd name="adj" fmla="val 25714"/>
            </a:avLst>
          </a:prstGeom>
          <a:solidFill>
            <a:srgbClr val="E7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577840"/>
            <a:ext cx="2240280" cy="320040"/>
          </a:xfrm>
          <a:prstGeom prst="roundRect">
            <a:avLst>
              <a:gd name="adj" fmla="val 17143"/>
            </a:avLst>
          </a:prstGeom>
          <a:solidFill>
            <a:srgbClr val="D6455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920240"/>
            <a:ext cx="5166360" cy="4389120"/>
          </a:xfrm>
          <a:prstGeom prst="roundRect">
            <a:avLst>
              <a:gd name="adj" fmla="val 1875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2148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5146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0.7 for a true answer of 1 is fairly close — the loss (0.09) is small.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0.3 is much further from 1 — the loss (0.49) is over five times larger.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means bigger mistakes are punished much more heavily than small ones.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75120" y="5257800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257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training tries to make the loss as small as possible.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descent: walking downhill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standing on a hill in thick fog. You can't see the bottom, but you can feel which way the ground slopes — so you take a step downhill, and repeat.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0" cy="4023360"/>
          </a:xfrm>
          <a:prstGeom prst="roundRect">
            <a:avLst>
              <a:gd name="adj" fmla="val 20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31520" y="228600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892808" y="3218688"/>
            <a:ext cx="237744" cy="237744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38728" y="5504688"/>
            <a:ext cx="237744" cy="237744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5742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2148840"/>
            <a:ext cx="4434840" cy="1051560"/>
          </a:xfrm>
          <a:prstGeom prst="roundRect">
            <a:avLst>
              <a:gd name="adj" fmla="val 7826"/>
            </a:avLst>
          </a:prstGeom>
          <a:solidFill>
            <a:srgbClr val="0F2A5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06640" y="2148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← weight − rate × slope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178040" y="3383280"/>
            <a:ext cx="4434840" cy="2788920"/>
          </a:xfrm>
          <a:prstGeom prst="roundRect">
            <a:avLst>
              <a:gd name="adj" fmla="val 2951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3566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= STEP SIZE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6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small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3159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steps — safe, but very slow to reach the bottom.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4937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large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527608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overshoot the bottom and can bounce back and forth.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Backpropagation: giving credit to each weight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error travels backward through the network, asking each connection: “how much did you contribute to this mistake?”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0" cy="4023360"/>
          </a:xfrm>
          <a:prstGeom prst="roundRect">
            <a:avLst>
              <a:gd name="adj" fmla="val 20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7280" y="3081528"/>
            <a:ext cx="1737360" cy="14173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223260"/>
            <a:ext cx="1737360" cy="42519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223260"/>
            <a:ext cx="1737360" cy="99212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23260"/>
            <a:ext cx="1737360" cy="15590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97280" y="3081528"/>
            <a:ext cx="1737360" cy="85039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280" y="3648456"/>
            <a:ext cx="1737360" cy="28346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931920"/>
            <a:ext cx="1737360" cy="28346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931920"/>
            <a:ext cx="1737360" cy="85039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97280" y="3081528"/>
            <a:ext cx="1737360" cy="15590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97280" y="3648456"/>
            <a:ext cx="1737360" cy="99212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97280" y="4215384"/>
            <a:ext cx="1737360" cy="42519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640580"/>
            <a:ext cx="1737360" cy="14173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3081528"/>
            <a:ext cx="173736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081528"/>
            <a:ext cx="1737360" cy="5669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081528"/>
            <a:ext cx="1737360" cy="113385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3081528"/>
            <a:ext cx="1737360" cy="170078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834640" y="3081528"/>
            <a:ext cx="1737360" cy="5669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3648456"/>
            <a:ext cx="173736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648456"/>
            <a:ext cx="1737360" cy="5669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648456"/>
            <a:ext cx="1737360" cy="113385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834640" y="3081528"/>
            <a:ext cx="1737360" cy="113385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834640" y="3648456"/>
            <a:ext cx="1737360" cy="5669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4215384"/>
            <a:ext cx="173736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4215384"/>
            <a:ext cx="1737360" cy="5669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834640" y="3081528"/>
            <a:ext cx="1737360" cy="170078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834640" y="3648456"/>
            <a:ext cx="1737360" cy="113385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834640" y="4215384"/>
            <a:ext cx="1737360" cy="566928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4782312"/>
            <a:ext cx="173736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081528"/>
            <a:ext cx="1737360" cy="3779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081528"/>
            <a:ext cx="1737360" cy="132283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572000" y="3459480"/>
            <a:ext cx="1737360" cy="18897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648456"/>
            <a:ext cx="1737360" cy="75590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572000" y="3459480"/>
            <a:ext cx="1737360" cy="75590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4215384"/>
            <a:ext cx="1737360" cy="188976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572000" y="3459480"/>
            <a:ext cx="1737360" cy="132283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572000" y="4404360"/>
            <a:ext cx="1737360" cy="377952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" y="3086100"/>
            <a:ext cx="274320" cy="2743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60120" y="3794760"/>
            <a:ext cx="274320" cy="2743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60120" y="4503420"/>
            <a:ext cx="274320" cy="2743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697480" y="2944368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697480" y="3511296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697480" y="4078224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697480" y="4645152"/>
            <a:ext cx="274320" cy="2743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34840" y="2944368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34840" y="3511296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34840" y="407822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434840" y="4645152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72200" y="3322320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2200" y="4267200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 flipH="1" flipV="1">
            <a:off x="4572000" y="3941064"/>
            <a:ext cx="1737360" cy="188976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H="1">
            <a:off x="2834640" y="3941064"/>
            <a:ext cx="1737360" cy="91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 flipV="1">
            <a:off x="1097280" y="3657600"/>
            <a:ext cx="1737360" cy="283464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1097280" y="5440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 flows backward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498080" y="2148840"/>
            <a:ext cx="4114800" cy="4023360"/>
          </a:xfrm>
          <a:prstGeom prst="roundRect">
            <a:avLst>
              <a:gd name="adj" fmla="val 2045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7240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INTUITION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772400" y="2807208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77240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827532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pass</a:t>
            </a:r>
            <a:endParaRPr lang="en-US" sz="1550" dirty="0"/>
          </a:p>
        </p:txBody>
      </p:sp>
      <p:sp>
        <p:nvSpPr>
          <p:cNvPr id="64" name="Text 62"/>
          <p:cNvSpPr txBox="1"/>
          <p:nvPr/>
        </p:nvSpPr>
        <p:spPr>
          <a:xfrm>
            <a:off x="827532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prediction.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7772400" y="3813048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7240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827532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pass</a:t>
            </a:r>
            <a:endParaRPr lang="en-US" sz="1550" dirty="0"/>
          </a:p>
        </p:txBody>
      </p:sp>
      <p:sp>
        <p:nvSpPr>
          <p:cNvPr id="68" name="Text 66"/>
          <p:cNvSpPr txBox="1"/>
          <p:nvPr/>
        </p:nvSpPr>
        <p:spPr>
          <a:xfrm>
            <a:off x="8275320" y="4096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responsibility for the error.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7772400" y="4818888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77240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8275320" y="4800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550" dirty="0"/>
          </a:p>
        </p:txBody>
      </p:sp>
      <p:sp>
        <p:nvSpPr>
          <p:cNvPr id="72" name="Text 70"/>
          <p:cNvSpPr txBox="1"/>
          <p:nvPr/>
        </p:nvSpPr>
        <p:spPr>
          <a:xfrm>
            <a:off x="8275320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responsible weights most.</a:t>
            </a:r>
            <a:endParaRPr lang="en-US" sz="135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example: learning “tall”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height, in metres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 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37360" y="2039112"/>
            <a:ext cx="4297680" cy="365760"/>
          </a:xfrm>
          <a:prstGeom prst="roundRect">
            <a:avLst>
              <a:gd name="adj" fmla="val 22500"/>
            </a:avLst>
          </a:prstGeom>
          <a:solidFill>
            <a:srgbClr val="E7ECF2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039112"/>
            <a:ext cx="1074420" cy="365760"/>
          </a:xfrm>
          <a:prstGeom prst="roundRect">
            <a:avLst>
              <a:gd name="adj" fmla="val 15000"/>
            </a:avLst>
          </a:prstGeom>
          <a:solidFill>
            <a:srgbClr val="3D6C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tall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1.75 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737360" y="2816352"/>
            <a:ext cx="4297680" cy="365760"/>
          </a:xfrm>
          <a:prstGeom prst="roundRect">
            <a:avLst>
              <a:gd name="adj" fmla="val 22500"/>
            </a:avLst>
          </a:prstGeom>
          <a:solidFill>
            <a:srgbClr val="E7ECF2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2816352"/>
            <a:ext cx="2363724" cy="365760"/>
          </a:xfrm>
          <a:prstGeom prst="roundRect">
            <a:avLst>
              <a:gd name="adj" fmla="val 15000"/>
            </a:avLst>
          </a:prstGeom>
          <a:solidFill>
            <a:srgbClr val="F29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1.90 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737360" y="3593592"/>
            <a:ext cx="4297680" cy="365760"/>
          </a:xfrm>
          <a:prstGeom prst="roundRect">
            <a:avLst>
              <a:gd name="adj" fmla="val 22500"/>
            </a:avLst>
          </a:prstGeom>
          <a:solidFill>
            <a:srgbClr val="E7EC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3593592"/>
            <a:ext cx="386791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434840"/>
            <a:ext cx="6172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learns a boundary from examples — not a hand-written rule. Nobody told it “1.80 m and above is tall”; it inferred a threshold that fits the labelled examples.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86600" y="1965960"/>
            <a:ext cx="4526280" cy="4160520"/>
          </a:xfrm>
          <a:prstGeom prst="roundRect">
            <a:avLst>
              <a:gd name="adj" fmla="val 197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452360" y="3268980"/>
            <a:ext cx="1874520" cy="754380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4023360"/>
            <a:ext cx="187452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4023360"/>
            <a:ext cx="1874520" cy="754380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3268980"/>
            <a:ext cx="1874520" cy="754380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4023360"/>
            <a:ext cx="1874520" cy="914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326880" y="4023360"/>
            <a:ext cx="1874520" cy="754380"/>
          </a:xfrm>
          <a:prstGeom prst="line">
            <a:avLst/>
          </a:prstGeom>
          <a:noFill/>
          <a:ln w="12700">
            <a:solidFill>
              <a:srgbClr val="D8DEE8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78624" y="3849624"/>
            <a:ext cx="347472" cy="347472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53144" y="3095244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53144" y="3849624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53144" y="4604004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027664" y="3849624"/>
            <a:ext cx="347472" cy="34747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94944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698480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Classification: choosing among labels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1837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73736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554480"/>
            <a:ext cx="4389120" cy="2331720"/>
          </a:xfrm>
          <a:prstGeom prst="roundRect">
            <a:avLst>
              <a:gd name="adj" fmla="val 3529"/>
            </a:avLst>
          </a:prstGeom>
          <a:solidFill>
            <a:srgbClr val="0F2A5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10312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scores into a probability-like list. The highest score becomes the chosen class.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223760" y="4069080"/>
            <a:ext cx="4389120" cy="1965960"/>
          </a:xfrm>
          <a:prstGeom prst="roundRect">
            <a:avLst>
              <a:gd name="adj" fmla="val 4186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4069080"/>
            <a:ext cx="3977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outputs behave like confidence scores that add up to 100% — here, the model is most confident the image shows a cat.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Regression: predicting a number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 a house's price from its size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309360" cy="4160520"/>
          </a:xfrm>
          <a:prstGeom prst="roundRect">
            <a:avLst>
              <a:gd name="adj" fmla="val 197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31520" y="2103120"/>
          <a:ext cx="59436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982980" y="4963478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82140" y="4666297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81580" y="4350544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0740" y="3923347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9900" y="3663315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79060" y="3180397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7940" y="2678906"/>
            <a:ext cx="137160" cy="13716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52360" y="1920240"/>
            <a:ext cx="4160520" cy="1828800"/>
          </a:xfrm>
          <a:prstGeom prst="roundRect">
            <a:avLst>
              <a:gd name="adj" fmla="val 4500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19202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asks “which bucket?”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asks “how much?”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52360" y="3886200"/>
            <a:ext cx="4160520" cy="2423160"/>
          </a:xfrm>
          <a:prstGeom prst="roundRect">
            <a:avLst>
              <a:gd name="adj" fmla="val 339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 THE ERROR?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4334256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turns every error positive, so a −10 and a +10 mistake don't cancel out. It also punishes large errors far more than small ones — the same idea from the loss slide — and it stays smooth everywhere, which makes gradient descent easier to compute.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50516" y="730501"/>
            <a:ext cx="116330" cy="11633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0104" y="4881741"/>
            <a:ext cx="72745" cy="72745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22313" y="5389112"/>
            <a:ext cx="131994" cy="131994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66402" y="6166508"/>
            <a:ext cx="109249" cy="10924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98803" y="5799369"/>
            <a:ext cx="145939" cy="14593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12971" y="2151152"/>
            <a:ext cx="85320" cy="8532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82461" y="1916396"/>
            <a:ext cx="126681" cy="12668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52980" y="4477056"/>
            <a:ext cx="71209" cy="7120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4438" y="945716"/>
            <a:ext cx="137866" cy="13786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38704" y="1710438"/>
            <a:ext cx="117867" cy="11786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31061" y="2640842"/>
            <a:ext cx="57611" cy="5761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68192" y="752214"/>
            <a:ext cx="130882" cy="130882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29649" y="2324462"/>
            <a:ext cx="123706" cy="12370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54345" y="1190100"/>
            <a:ext cx="145377" cy="14537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057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Architectures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network designs for images, sequences, and language.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27248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2724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05856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05856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 (CNNs)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filter slides across an image, looking for one specific pattern wherever it appears.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675120" cy="420624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514600"/>
            <a:ext cx="475488" cy="475488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2514600"/>
            <a:ext cx="475488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2514600"/>
            <a:ext cx="475488" cy="475488"/>
          </a:xfrm>
          <a:prstGeom prst="rect">
            <a:avLst/>
          </a:prstGeom>
          <a:solidFill>
            <a:srgbClr val="6262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23744" y="2514600"/>
            <a:ext cx="475488" cy="475488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2514600"/>
            <a:ext cx="475488" cy="475488"/>
          </a:xfrm>
          <a:prstGeom prst="rect">
            <a:avLst/>
          </a:prstGeom>
          <a:solidFill>
            <a:srgbClr val="A2A2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514600"/>
            <a:ext cx="475488" cy="475488"/>
          </a:xfrm>
          <a:prstGeom prst="rect">
            <a:avLst/>
          </a:prstGeom>
          <a:solidFill>
            <a:srgbClr val="B2B2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990088"/>
            <a:ext cx="475488" cy="475488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2768" y="2990088"/>
            <a:ext cx="475488" cy="475488"/>
          </a:xfrm>
          <a:prstGeom prst="rect">
            <a:avLst/>
          </a:prstGeom>
          <a:solidFill>
            <a:srgbClr val="C9C9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2990088"/>
            <a:ext cx="475488" cy="475488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3744" y="2990088"/>
            <a:ext cx="475488" cy="475488"/>
          </a:xfrm>
          <a:prstGeom prst="rect">
            <a:avLst/>
          </a:prstGeom>
          <a:solidFill>
            <a:srgbClr val="8585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9232" y="2990088"/>
            <a:ext cx="475488" cy="475488"/>
          </a:xfrm>
          <a:prstGeom prst="rect">
            <a:avLst/>
          </a:prstGeom>
          <a:solidFill>
            <a:srgbClr val="C7C7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990088"/>
            <a:ext cx="475488" cy="475488"/>
          </a:xfrm>
          <a:prstGeom prst="rect">
            <a:avLst/>
          </a:prstGeom>
          <a:solidFill>
            <a:srgbClr val="D5D5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465576"/>
            <a:ext cx="475488" cy="475488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3465576"/>
            <a:ext cx="475488" cy="475488"/>
          </a:xfrm>
          <a:prstGeom prst="rect">
            <a:avLst/>
          </a:prstGeom>
          <a:solidFill>
            <a:srgbClr val="A2A2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8256" y="3465576"/>
            <a:ext cx="475488" cy="475488"/>
          </a:xfrm>
          <a:prstGeom prst="rect">
            <a:avLst/>
          </a:prstGeom>
          <a:solidFill>
            <a:srgbClr val="CFCF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3744" y="3465576"/>
            <a:ext cx="475488" cy="475488"/>
          </a:xfrm>
          <a:prstGeom prst="rect">
            <a:avLst/>
          </a:prstGeom>
          <a:solidFill>
            <a:srgbClr val="B7B7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465576"/>
            <a:ext cx="475488" cy="475488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465576"/>
            <a:ext cx="475488" cy="475488"/>
          </a:xfrm>
          <a:prstGeom prst="rect">
            <a:avLst/>
          </a:prstGeom>
          <a:solidFill>
            <a:srgbClr val="A0A0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941064"/>
            <a:ext cx="475488" cy="475488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2768" y="3941064"/>
            <a:ext cx="475488" cy="475488"/>
          </a:xfrm>
          <a:prstGeom prst="rect">
            <a:avLst/>
          </a:prstGeom>
          <a:solidFill>
            <a:srgbClr val="6262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48256" y="3941064"/>
            <a:ext cx="475488" cy="475488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3744" y="3941064"/>
            <a:ext cx="475488" cy="475488"/>
          </a:xfrm>
          <a:prstGeom prst="rect">
            <a:avLst/>
          </a:prstGeom>
          <a:solidFill>
            <a:srgbClr val="7070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941064"/>
            <a:ext cx="475488" cy="475488"/>
          </a:xfrm>
          <a:prstGeom prst="rect">
            <a:avLst/>
          </a:prstGeom>
          <a:solidFill>
            <a:srgbClr val="D0D0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3941064"/>
            <a:ext cx="475488" cy="475488"/>
          </a:xfrm>
          <a:prstGeom prst="rect">
            <a:avLst/>
          </a:prstGeom>
          <a:solidFill>
            <a:srgbClr val="D7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4416552"/>
            <a:ext cx="475488" cy="475488"/>
          </a:xfrm>
          <a:prstGeom prst="rect">
            <a:avLst/>
          </a:prstGeom>
          <a:solidFill>
            <a:srgbClr val="D5D5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72768" y="4416552"/>
            <a:ext cx="475488" cy="475488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48256" y="4416552"/>
            <a:ext cx="475488" cy="475488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23744" y="4416552"/>
            <a:ext cx="475488" cy="475488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99232" y="4416552"/>
            <a:ext cx="475488" cy="475488"/>
          </a:xfrm>
          <a:prstGeom prst="rect">
            <a:avLst/>
          </a:prstGeom>
          <a:solidFill>
            <a:srgbClr val="E1E1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4416552"/>
            <a:ext cx="475488" cy="475488"/>
          </a:xfrm>
          <a:prstGeom prst="rect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92040"/>
            <a:ext cx="475488" cy="475488"/>
          </a:xfrm>
          <a:prstGeom prst="rect">
            <a:avLst/>
          </a:prstGeom>
          <a:solidFill>
            <a:srgbClr val="9D9D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72768" y="4892040"/>
            <a:ext cx="475488" cy="475488"/>
          </a:xfrm>
          <a:prstGeom prst="rect">
            <a:avLst/>
          </a:prstGeom>
          <a:solidFill>
            <a:srgbClr val="9494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48256" y="4892040"/>
            <a:ext cx="475488" cy="475488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23744" y="4892040"/>
            <a:ext cx="475488" cy="475488"/>
          </a:xfrm>
          <a:prstGeom prst="rect">
            <a:avLst/>
          </a:prstGeom>
          <a:solidFill>
            <a:srgbClr val="6464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99232" y="4892040"/>
            <a:ext cx="475488" cy="475488"/>
          </a:xfrm>
          <a:prstGeom prst="rect">
            <a:avLst/>
          </a:prstGeom>
          <a:solidFill>
            <a:srgbClr val="9494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4892040"/>
            <a:ext cx="475488" cy="475488"/>
          </a:xfrm>
          <a:prstGeom prst="rect">
            <a:avLst/>
          </a:prstGeom>
          <a:solidFill>
            <a:srgbClr val="6A6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72768" y="2990088"/>
            <a:ext cx="950976" cy="950976"/>
          </a:xfrm>
          <a:prstGeom prst="rect">
            <a:avLst/>
          </a:prstGeom>
          <a:solidFill>
            <a:srgbClr val="F2994A">
              <a:alpha val="45000"/>
            </a:srgbClr>
          </a:solidFill>
          <a:ln w="31750">
            <a:solidFill>
              <a:srgbClr val="F299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97280" y="550468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kernel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178808" y="3941064"/>
            <a:ext cx="457200" cy="914"/>
          </a:xfrm>
          <a:prstGeom prst="line">
            <a:avLst/>
          </a:prstGeom>
          <a:noFill/>
          <a:ln w="3175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864608" y="2971800"/>
            <a:ext cx="384048" cy="384048"/>
          </a:xfrm>
          <a:prstGeom prst="rect">
            <a:avLst/>
          </a:prstGeom>
          <a:solidFill>
            <a:srgbClr val="4F4F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48656" y="2971800"/>
            <a:ext cx="384048" cy="384048"/>
          </a:xfrm>
          <a:prstGeom prst="rect">
            <a:avLst/>
          </a:prstGeom>
          <a:solidFill>
            <a:srgbClr val="DEDE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32704" y="2971800"/>
            <a:ext cx="384048" cy="384048"/>
          </a:xfrm>
          <a:prstGeom prst="rect">
            <a:avLst/>
          </a:prstGeom>
          <a:solidFill>
            <a:srgbClr val="86868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16752" y="2971800"/>
            <a:ext cx="384048" cy="384048"/>
          </a:xfrm>
          <a:prstGeom prst="rect">
            <a:avLst/>
          </a:prstGeom>
          <a:solidFill>
            <a:srgbClr val="D6D6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64608" y="3355848"/>
            <a:ext cx="384048" cy="384048"/>
          </a:xfrm>
          <a:prstGeom prst="rect">
            <a:avLst/>
          </a:prstGeom>
          <a:solidFill>
            <a:srgbClr val="4646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48656" y="3355848"/>
            <a:ext cx="384048" cy="384048"/>
          </a:xfrm>
          <a:prstGeom prst="rect">
            <a:avLst/>
          </a:prstGeom>
          <a:solidFill>
            <a:srgbClr val="81818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2704" y="3355848"/>
            <a:ext cx="384048" cy="384048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16752" y="3355848"/>
            <a:ext cx="384048" cy="384048"/>
          </a:xfrm>
          <a:prstGeom prst="rect">
            <a:avLst/>
          </a:prstGeom>
          <a:solidFill>
            <a:srgbClr val="C4C4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64608" y="3739896"/>
            <a:ext cx="384048" cy="384048"/>
          </a:xfrm>
          <a:prstGeom prst="rect">
            <a:avLst/>
          </a:prstGeom>
          <a:solidFill>
            <a:srgbClr val="AFAF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48656" y="3739896"/>
            <a:ext cx="384048" cy="384048"/>
          </a:xfrm>
          <a:prstGeom prst="rect">
            <a:avLst/>
          </a:prstGeom>
          <a:solidFill>
            <a:srgbClr val="72727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32704" y="3739896"/>
            <a:ext cx="384048" cy="384048"/>
          </a:xfrm>
          <a:prstGeom prst="rect">
            <a:avLst/>
          </a:prstGeom>
          <a:solidFill>
            <a:srgbClr val="BDBDB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16752" y="3739896"/>
            <a:ext cx="384048" cy="384048"/>
          </a:xfrm>
          <a:prstGeom prst="rect">
            <a:avLst/>
          </a:prstGeom>
          <a:solidFill>
            <a:srgbClr val="D4D4D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64608" y="4123944"/>
            <a:ext cx="384048" cy="384048"/>
          </a:xfrm>
          <a:prstGeom prst="rect">
            <a:avLst/>
          </a:prstGeom>
          <a:solidFill>
            <a:srgbClr val="5050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48656" y="4123944"/>
            <a:ext cx="384048" cy="384048"/>
          </a:xfrm>
          <a:prstGeom prst="rect">
            <a:avLst/>
          </a:prstGeom>
          <a:solidFill>
            <a:srgbClr val="8282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32704" y="4123944"/>
            <a:ext cx="384048" cy="384048"/>
          </a:xfrm>
          <a:prstGeom prst="rect">
            <a:avLst/>
          </a:prstGeom>
          <a:solidFill>
            <a:srgbClr val="3F3F3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16752" y="4123944"/>
            <a:ext cx="384048" cy="384048"/>
          </a:xfrm>
          <a:prstGeom prst="rect">
            <a:avLst/>
          </a:prstGeom>
          <a:solidFill>
            <a:srgbClr val="2D2D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81728" y="464515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7086600" y="2011680"/>
            <a:ext cx="4526280" cy="4206240"/>
          </a:xfrm>
          <a:prstGeom prst="roundRect">
            <a:avLst>
              <a:gd name="adj" fmla="val 1957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520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USEFUL?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7315200" y="256032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small detector can find its pattern anywhere in the image — top-left or bottom-right, it doesn't matter.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parameters than connecting every pixel to every neuron, so CNNs train faster and generalize better on images.</a:t>
            </a:r>
            <a:endParaRPr lang="en-US" sz="155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in action: one worked calculation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vertical-edge filter multiplies and adds numbers wherever it lands on the image.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58368" cy="658368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7008" y="2148840"/>
            <a:ext cx="658368" cy="658368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008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65376" y="2148840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65376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23744" y="2148840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23744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07208"/>
            <a:ext cx="658368" cy="658368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7008" y="2807208"/>
            <a:ext cx="658368" cy="658368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008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865376" y="2807208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23744" y="2807208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23744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3465576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7008" y="3465576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07008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865376" y="3465576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65376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23744" y="3465576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23744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4123944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123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07008" y="4123944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07008" y="4123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865376" y="4123944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65376" y="4123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523744" y="4123944"/>
            <a:ext cx="65836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23744" y="4123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82219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22192" y="2788920"/>
            <a:ext cx="658368" cy="658368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822192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480560" y="2788920"/>
            <a:ext cx="658368" cy="658368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8056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822192" y="3447288"/>
            <a:ext cx="658368" cy="658368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822192" y="3447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480560" y="3447288"/>
            <a:ext cx="658368" cy="658368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80560" y="3447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367528" y="3447288"/>
            <a:ext cx="548640" cy="914"/>
          </a:xfrm>
          <a:prstGeom prst="line">
            <a:avLst/>
          </a:prstGeom>
          <a:noFill/>
          <a:ln w="3175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99048" y="2944368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F2994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99048" y="2944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</a:t>
            </a:r>
            <a:endParaRPr lang="en-US" sz="3200" dirty="0"/>
          </a:p>
        </p:txBody>
      </p:sp>
      <p:sp>
        <p:nvSpPr>
          <p:cNvPr id="50" name="Shape 48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(1×1) + (0×−1) + (1×1) + (0×−1) = 2  →  a strong response: this patch has a left-bright / right-dark edge, exactly what the filter looks for.</a:t>
            </a:r>
            <a:endParaRPr lang="en-US" sz="1650" dirty="0"/>
          </a:p>
        </p:txBody>
      </p:sp>
      <p:sp>
        <p:nvSpPr>
          <p:cNvPr id="52" name="Text 50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same filter to the middle columns (0, 0, 0, 0) and the result is 0 — no edge there. This is exactly how the feature map on the previous slide was built, one patch at a time.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models: remembering 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changes when order changes: “dog bites man” ≠ “man bites dog.”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37560" y="2532888"/>
            <a:ext cx="228600" cy="914"/>
          </a:xfrm>
          <a:prstGeom prst="line">
            <a:avLst/>
          </a:prstGeom>
          <a:noFill/>
          <a:ln w="3175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14884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2532888"/>
            <a:ext cx="228600" cy="914"/>
          </a:xfrm>
          <a:prstGeom prst="line">
            <a:avLst/>
          </a:prstGeom>
          <a:noFill/>
          <a:ln w="3175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214884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32520" y="2532888"/>
            <a:ext cx="228600" cy="914"/>
          </a:xfrm>
          <a:prstGeom prst="line">
            <a:avLst/>
          </a:prstGeom>
          <a:noFill/>
          <a:ln w="31750">
            <a:solidFill>
              <a:srgbClr val="3D6C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06840" y="214884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FBEAE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“Dog bites man”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86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news headline.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80760" y="32918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FBEAE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 bites dog”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886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Front-page news — same words, opposite meaning.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0835640" cy="1051560"/>
          </a:xfrm>
          <a:prstGeom prst="roundRect">
            <a:avLst>
              <a:gd name="adj" fmla="val 7826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DEFAULT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681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handle order using attention: each word looks at the words most relevant to it, rather than reading strictly left to right.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Attention: focusing on what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“read,” attention assigns more focus to “student” and “book” than to “a” or “the.”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 flipH="1">
            <a:off x="1805940" y="2926080"/>
            <a:ext cx="4297680" cy="914"/>
          </a:xfrm>
          <a:prstGeom prst="line">
            <a:avLst/>
          </a:prstGeom>
          <a:noFill/>
          <a:ln w="16510">
            <a:solidFill>
              <a:srgbClr val="F2994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3954780" y="2926080"/>
            <a:ext cx="2148840" cy="914"/>
          </a:xfrm>
          <a:prstGeom prst="line">
            <a:avLst/>
          </a:prstGeom>
          <a:noFill/>
          <a:ln w="33020">
            <a:solidFill>
              <a:srgbClr val="F2994A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3620" y="2926080"/>
            <a:ext cx="2148840" cy="914"/>
          </a:xfrm>
          <a:prstGeom prst="line">
            <a:avLst/>
          </a:prstGeom>
          <a:noFill/>
          <a:ln w="15875">
            <a:solidFill>
              <a:srgbClr val="F2994A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03620" y="2926080"/>
            <a:ext cx="4297680" cy="914"/>
          </a:xfrm>
          <a:prstGeom prst="line">
            <a:avLst/>
          </a:prstGeom>
          <a:noFill/>
          <a:ln w="34925">
            <a:solidFill>
              <a:srgbClr val="F2994A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1752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971800" y="301752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71800" y="3017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20640" y="301752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3017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69480" y="301752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3017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418320" y="301752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0" y="3017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6052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 gold lines = stronger attention. “Read” pays most attention to “student” and “book” — the words that explain what is happening.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0835640" cy="777240"/>
          </a:xfrm>
          <a:prstGeom prst="roundRect">
            <a:avLst>
              <a:gd name="adj" fmla="val 10588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349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classroom discussion — you listen more carefully to the clues that answer the question currently being asked.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Self-attention: how a transformer “focuses”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“The cat sat because it was tired.” To understand “it,” your brain looks back at “cat.” Self-attention makes a model do the same thing — with numbers.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31520" y="2286000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074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while the model processes the word “it”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23760" y="2148840"/>
            <a:ext cx="4389120" cy="1005840"/>
          </a:xfrm>
          <a:prstGeom prst="roundRect">
            <a:avLst>
              <a:gd name="adj" fmla="val 8182"/>
            </a:avLst>
          </a:prstGeom>
          <a:solidFill>
            <a:srgbClr val="0F2A5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06640" y="21488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Attention(Q,K,V) = softmax(QK</a:t>
            </a:r>
            <a:pPr indent="0" marL="0">
              <a:buNone/>
            </a:pPr>
            <a:r>
              <a:rPr lang="en-US" sz="11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/√d</a:t>
            </a:r>
            <a:pPr indent="0" marL="0">
              <a:buNone/>
            </a:pPr>
            <a:r>
              <a:rPr lang="en-US" sz="11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)·V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223760" y="3337560"/>
            <a:ext cx="4389120" cy="868680"/>
          </a:xfrm>
          <a:prstGeom prst="roundRect">
            <a:avLst>
              <a:gd name="adj" fmla="val 9474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52360" y="3410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— Query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37398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word looking for?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4325112"/>
            <a:ext cx="4389120" cy="868680"/>
          </a:xfrm>
          <a:prstGeom prst="roundRect">
            <a:avLst>
              <a:gd name="adj" fmla="val 9474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52360" y="4398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— Key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4727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each word offer?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23760" y="5312664"/>
            <a:ext cx="4389120" cy="868680"/>
          </a:xfrm>
          <a:prstGeom prst="roundRect">
            <a:avLst>
              <a:gd name="adj" fmla="val 9474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52360" y="53858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— Value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5715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information passed along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Self-attention: a tiny numeric walkthrough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“it” attend to “cat” vs. “sat”? Toy numbers, small enough to follow by hand.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126480" cy="86868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71700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score (Q · K)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= 8     sat = 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11880" y="2807208"/>
            <a:ext cx="914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953512"/>
            <a:ext cx="6126480" cy="86868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04972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score (÷√dₖ, dₖ = 4 → √4 = 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= 4     sat = 1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3840480"/>
            <a:ext cx="914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986784"/>
            <a:ext cx="6126480" cy="86868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238244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382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096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weight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462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= 95%     sat = 5%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11880" y="4873752"/>
            <a:ext cx="914" cy="128016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5020056"/>
            <a:ext cx="6126480" cy="86868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271516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2715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129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= weighted sum of V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495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0.95×V(cat)     + 0.05×V(sat)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60920" y="1920240"/>
            <a:ext cx="4434840" cy="2103120"/>
          </a:xfrm>
          <a:prstGeom prst="roundRect">
            <a:avLst>
              <a:gd name="adj" fmla="val 3913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20848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DIVIDE BY √dₖ 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2395728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vector length dₖ grows, raw dot products tend to grow too — pushing softmax into an extreme region where gradients shrink to almost nothing. Dividing by √dₖ rescales the scores back to a stable range, whatever dₖ happens to be.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60920" y="4206240"/>
            <a:ext cx="4434840" cy="219456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0" y="43708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V?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681728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holds each word's actual content — the information that gets passed on. Once the weights are set, the output is just a blend of these value vectors: mostly “cat”'s content here, with a small trace of “sat”'s.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transformer block (1/2): the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never works alone — it's one piece of a block that gets stacked over and over.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126480" cy="603504"/>
          </a:xfrm>
          <a:prstGeom prst="roundRect">
            <a:avLst>
              <a:gd name="adj" fmla="val 13636"/>
            </a:avLst>
          </a:prstGeom>
          <a:solidFill>
            <a:srgbClr val="3D6C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+ Position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659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 into numbers, adds word order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2587752"/>
            <a:ext cx="914" cy="91440"/>
          </a:xfrm>
          <a:prstGeom prst="line">
            <a:avLst/>
          </a:prstGeom>
          <a:noFill/>
          <a:ln w="22225">
            <a:solidFill>
              <a:srgbClr val="6269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6126480" cy="603504"/>
          </a:xfrm>
          <a:prstGeom prst="roundRect">
            <a:avLst>
              <a:gd name="adj" fmla="val 13636"/>
            </a:avLst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Self-Attention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6974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looks at every other word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3319272"/>
            <a:ext cx="914" cy="91440"/>
          </a:xfrm>
          <a:prstGeom prst="line">
            <a:avLst/>
          </a:prstGeom>
          <a:noFill/>
          <a:ln w="22225">
            <a:solidFill>
              <a:srgbClr val="6269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429000"/>
            <a:ext cx="6126480" cy="603504"/>
          </a:xfrm>
          <a:prstGeom prst="roundRect">
            <a:avLst>
              <a:gd name="adj" fmla="val 13636"/>
            </a:avLst>
          </a:prstGeom>
          <a:solidFill>
            <a:srgbClr val="0B1E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290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Normalize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4290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the signal before the next step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11880" y="4050792"/>
            <a:ext cx="914" cy="91440"/>
          </a:xfrm>
          <a:prstGeom prst="line">
            <a:avLst/>
          </a:prstGeom>
          <a:noFill/>
          <a:ln w="22225">
            <a:solidFill>
              <a:srgbClr val="6269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6126480" cy="603504"/>
          </a:xfrm>
          <a:prstGeom prst="roundRect">
            <a:avLst>
              <a:gd name="adj" fmla="val 13636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Feed-Forward Network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1605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neural net refines each word's info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11880" y="4782312"/>
            <a:ext cx="914" cy="91440"/>
          </a:xfrm>
          <a:prstGeom prst="line">
            <a:avLst/>
          </a:prstGeom>
          <a:noFill/>
          <a:ln w="22225">
            <a:solidFill>
              <a:srgbClr val="6269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892040"/>
            <a:ext cx="6126480" cy="603504"/>
          </a:xfrm>
          <a:prstGeom prst="roundRect">
            <a:avLst>
              <a:gd name="adj" fmla="val 13636"/>
            </a:avLst>
          </a:prstGeom>
          <a:solidFill>
            <a:srgbClr val="0B1E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920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Normalize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8920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the signal again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whole block repeats — often 6, 12, or more times, stacked)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1965960"/>
            <a:ext cx="4251960" cy="1920240"/>
          </a:xfrm>
          <a:prstGeom prst="roundRect">
            <a:avLst>
              <a:gd name="adj" fmla="val 4286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423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word a unique “timestamp” so the model knows word order — attention math alone cannot tell order.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PE(pos,2i) = sin(pos/10000^(2i/d))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PE(pos,2i+1) = cos(pos/10000^(2i/d))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4069080"/>
            <a:ext cx="4251960" cy="2057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POSITION, A UNIQUE PATTERN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98664" y="4672584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9866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5166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84464" y="4672584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446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166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70264" y="4672584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7026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166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56064" y="4672584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5606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646920" y="5166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341864" y="4672584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34186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332720" y="5166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532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gets a distinct positional signal added to its embedding.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transformer block (2/2): why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HEADS, IN PARALLEL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365760" cy="3657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1: relationship type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4023360" cy="621792"/>
          </a:xfrm>
          <a:prstGeom prst="line">
            <a:avLst/>
          </a:prstGeom>
          <a:noFill/>
          <a:ln w="19050">
            <a:solidFill>
              <a:srgbClr val="3D6C8C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542032"/>
            <a:ext cx="365760" cy="36576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560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2: relationship type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724912"/>
            <a:ext cx="4023360" cy="914"/>
          </a:xfrm>
          <a:prstGeom prst="line">
            <a:avLst/>
          </a:prstGeom>
          <a:noFill/>
          <a:ln w="19050">
            <a:solidFill>
              <a:srgbClr val="F2994A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163824"/>
            <a:ext cx="365760" cy="3657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3: relationship type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1371600" y="2724912"/>
            <a:ext cx="4023360" cy="621792"/>
          </a:xfrm>
          <a:prstGeom prst="line">
            <a:avLst/>
          </a:prstGeom>
          <a:noFill/>
          <a:ln w="1905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57216" y="2487168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5721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learns a different kind of relationship — one might track grammar, another meaning, another position — then all are combined.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1508760"/>
            <a:ext cx="4937760" cy="4617720"/>
          </a:xfrm>
          <a:prstGeom prst="roundRect">
            <a:avLst>
              <a:gd name="adj" fmla="val 1782"/>
            </a:avLst>
          </a:prstGeom>
          <a:solidFill>
            <a:srgbClr val="0F2A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1737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WORKS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04304" y="2194560"/>
            <a:ext cx="347472" cy="34747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04304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1488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many blocks builds progressively deeper understanding of context.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004304" y="3063240"/>
            <a:ext cx="347472" cy="34747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04304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0175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attention heads run in parallel, each learning different word relationships.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004304" y="3931920"/>
            <a:ext cx="347472" cy="34747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04304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3886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recipe powers GPT, BERT, and most modern language models.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949440" y="4937760"/>
            <a:ext cx="4434840" cy="1005840"/>
          </a:xfrm>
          <a:prstGeom prst="roundRect">
            <a:avLst>
              <a:gd name="adj" fmla="val 8182"/>
            </a:avLst>
          </a:prstGeom>
          <a:solidFill>
            <a:srgbClr val="F2994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49377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next-word probabilities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Embeddings: words as locations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becomes a list of numbers — a point on a “meaning map.” Nearby points often have related uses.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766560" cy="41148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5852160"/>
            <a:ext cx="5669280" cy="914"/>
          </a:xfrm>
          <a:prstGeom prst="line">
            <a:avLst/>
          </a:prstGeom>
          <a:noFill/>
          <a:ln w="1905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468880"/>
            <a:ext cx="914" cy="3383280"/>
          </a:xfrm>
          <a:prstGeom prst="line">
            <a:avLst/>
          </a:prstGeom>
          <a:noFill/>
          <a:ln w="1905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3223260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4832" y="31775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53082" y="2884932"/>
            <a:ext cx="182880" cy="182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81682" y="28392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57800" y="4914900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48691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41264" y="4339742"/>
            <a:ext cx="182880" cy="1828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9864" y="429402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943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1: perhaps “fruit-ness”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2057400"/>
            <a:ext cx="4389120" cy="4114800"/>
          </a:xfrm>
          <a:prstGeom prst="roundRect">
            <a:avLst>
              <a:gd name="adj" fmla="val 2000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6517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coordinates don't have fixed human names — what matters is the relationships between points.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used in similar contexts end up nearby. “King” and “queen” cluster together; “apple” and “banana” cluster elsewhere.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itself is learned automatically from patterns in language, not designed by hand.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50516" y="730501"/>
            <a:ext cx="116330" cy="11633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0104" y="4881741"/>
            <a:ext cx="72745" cy="72745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22313" y="5389112"/>
            <a:ext cx="131994" cy="131994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66402" y="6166508"/>
            <a:ext cx="109249" cy="10924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98803" y="5799369"/>
            <a:ext cx="145939" cy="14593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12971" y="2151152"/>
            <a:ext cx="85320" cy="85320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82461" y="1916396"/>
            <a:ext cx="126681" cy="12668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52980" y="4477056"/>
            <a:ext cx="71209" cy="71209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14438" y="945716"/>
            <a:ext cx="137866" cy="13786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38704" y="1710438"/>
            <a:ext cx="117867" cy="11786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31061" y="2640842"/>
            <a:ext cx="57611" cy="57611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68192" y="752214"/>
            <a:ext cx="130882" cy="130882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29649" y="2324462"/>
            <a:ext cx="123706" cy="123706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54345" y="1190100"/>
            <a:ext cx="145377" cy="145377"/>
          </a:xfrm>
          <a:prstGeom prst="ellipse">
            <a:avLst/>
          </a:prstGeom>
          <a:solidFill>
            <a:srgbClr val="3D6C8C">
              <a:alpha val="2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057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Responsibility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working prototype to a trustworthy, well-evaluated system.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27248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2724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05856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05856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84464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train, validation,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0B1E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weights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05656" y="3246120"/>
            <a:ext cx="201168" cy="914"/>
          </a:xfrm>
          <a:prstGeom prst="line">
            <a:avLst/>
          </a:prstGeom>
          <a:noFill/>
          <a:ln w="25400">
            <a:solidFill>
              <a:srgbClr val="6269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3D6C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settings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00416" y="3246120"/>
            <a:ext cx="201168" cy="914"/>
          </a:xfrm>
          <a:prstGeom prst="line">
            <a:avLst/>
          </a:prstGeom>
          <a:noFill/>
          <a:ln w="25400">
            <a:solidFill>
              <a:srgbClr val="6269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173736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check, once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0835640" cy="1051560"/>
          </a:xfrm>
          <a:prstGeom prst="roundRect">
            <a:avLst>
              <a:gd name="adj" fmla="val 7826"/>
            </a:avLst>
          </a:prstGeom>
          <a:solidFill>
            <a:srgbClr val="FBEAE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074920"/>
            <a:ext cx="10195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tune the model using the test set — doing so turns the “final exam” into extra practice, and your evaluation stops being honest.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Overfitting: memorizing instead of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look excellent on its training examples and still perform poorly on new, unseen cases.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FIT — SMOOTH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606040"/>
          <a:ext cx="4892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205740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BEAE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2240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MEMORIZED — JAGGED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606040"/>
          <a:ext cx="4892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989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pattern: smooth, generalizes well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5989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pattern: chases every point, fails to generalize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recipe for a deep-learning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691640"/>
            <a:ext cx="594360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691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question and what “good” means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377440"/>
            <a:ext cx="594360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23774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representative, permitted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063240"/>
            <a:ext cx="594360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30632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label, and split the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3749040"/>
            <a:ext cx="594360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37490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simple baseline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507992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07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4434840"/>
            <a:ext cx="594360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44348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validate, and inspect the errors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438912" cy="43891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193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5120640"/>
            <a:ext cx="594360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25880" y="5120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once; document limits and risks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6640" y="1691640"/>
            <a:ext cx="4206240" cy="4251960"/>
          </a:xfrm>
          <a:prstGeom prst="roundRect">
            <a:avLst>
              <a:gd name="adj" fmla="val 1957"/>
            </a:avLst>
          </a:prstGeom>
          <a:solidFill>
            <a:srgbClr val="0F2A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8096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ENGINEER'S HABIT: ASK FIRST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could fail?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944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could be harmed?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511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Would a human trust this output?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80960" y="43434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0" y="43434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not the same as truth.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recipe in action: a worked example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an app that spots possible crop disease from a leaf photo, for smallholder farmers.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402336" cy="40233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83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question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783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leaf healthy, or does it show signs of disease X?” — “good” means catching most sick leaves without too many false alarms.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402336" cy="40233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87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877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from local fields, with farmers' permission, covering healthy and diseased leaves in different light and angles.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402336" cy="40233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9242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label, split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924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agronomist labels each photo; images are split into train / validation / test sets.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402336" cy="40233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1970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baseline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197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“mostly green = healthy” as a sanity check before training a network.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402336" cy="40233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0017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inspect errors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500176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CNN; look closely at the leaves it gets wrong, not just the accuracy number.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833872"/>
            <a:ext cx="402336" cy="40233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833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806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once; document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5806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 on the untouched test set, plus known limits — e.g. it hasn't seen every disease or every crop variety yet.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AI: the model learns from society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9052" y="1947672"/>
            <a:ext cx="585216" cy="585216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905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data leads to uneven errors across groups.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3692" y="1947672"/>
            <a:ext cx="585216" cy="585216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9369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may reveal information about real people.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8332" y="1947672"/>
            <a:ext cx="585216" cy="585216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833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answer is not the same as a correct one.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2972" y="1947672"/>
            <a:ext cx="585216" cy="585216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6297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role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human judgment and oversight, always.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0835640" cy="914400"/>
          </a:xfrm>
          <a:prstGeom prst="roundRect">
            <a:avLst>
              <a:gd name="adj" fmla="val 9000"/>
            </a:avLst>
          </a:prstGeom>
          <a:solidFill>
            <a:srgbClr val="0F2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16636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deep learning = performance + fairness + transparency + safety.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RESPONSIBILITY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in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1343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diagnosis from medical images and records.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1343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crop disease early from field photos.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874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1343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tutoring, and speech tools.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06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4515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mapping, and industrial inspection.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4023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206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64515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in large research datasets.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4206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 in East Africa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64515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languages, smallholder agriculture, and under-resourced clinics are active areas for applied deep learning.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1737360"/>
            <a:ext cx="10195560" cy="658368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737360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learns representations through stacked layers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5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2532888"/>
            <a:ext cx="10195560" cy="658368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2532888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combines inputs using weights, then applies a gate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10712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3328416"/>
            <a:ext cx="10195560" cy="658368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3328416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repeats: prediction → loss → backpropagation → update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4123944"/>
            <a:ext cx="10195560" cy="658368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4123944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 and honest evaluation protect us from self-deception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001768"/>
            <a:ext cx="475488" cy="47548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43000" y="4919472"/>
            <a:ext cx="10195560" cy="658368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17320" y="4919472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systems pair technical performance with human responsibility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0F2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8521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understand the learning loop, you understand the foundation.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quick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A CLASSMATE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68296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31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hidden layers?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3191256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54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loss number tell us?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4014216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77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test data separate?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8680" y="4837176"/>
            <a:ext cx="365760" cy="365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00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benefit and one risk of a model.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080760" y="169164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ONE-MINUTE CHALLENGE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240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network that decides whether a message is spam.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720840" y="3535680"/>
            <a:ext cx="2103120" cy="281940"/>
          </a:xfrm>
          <a:prstGeom prst="line">
            <a:avLst/>
          </a:prstGeom>
          <a:noFill/>
          <a:ln w="12700">
            <a:solidFill>
              <a:srgbClr val="D8DEE8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720840" y="3817620"/>
            <a:ext cx="2103120" cy="281940"/>
          </a:xfrm>
          <a:prstGeom prst="line">
            <a:avLst/>
          </a:prstGeom>
          <a:noFill/>
          <a:ln w="12700">
            <a:solidFill>
              <a:srgbClr val="D8DEE8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3817620"/>
            <a:ext cx="2103120" cy="914"/>
          </a:xfrm>
          <a:prstGeom prst="line">
            <a:avLst/>
          </a:prstGeom>
          <a:noFill/>
          <a:ln w="12700">
            <a:solidFill>
              <a:srgbClr val="D8DEE8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74536" y="3389376"/>
            <a:ext cx="292608" cy="29260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74536" y="3953256"/>
            <a:ext cx="292608" cy="29260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77656" y="3671316"/>
            <a:ext cx="292608" cy="292608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780776" y="3671316"/>
            <a:ext cx="292608" cy="292608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9224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inputs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hidden layer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output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D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explain: what would an error mean here?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and example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32104" y="2313432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let the network combine simple patterns into more useful, higher-level ones — a single layer can only draw a straight boundary.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2104" y="3209544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8211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tells us how far a prediction is from the true answer; smaller is better, and training's whole job is to shrink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" y="4105656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78224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evaluation stays honest — a model that has “seen” the test data can look great by memorizing rather than by learning.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" y="5001768"/>
            <a:ext cx="347472" cy="347472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5001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743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can spot patterns humans miss. Risk: confident-but-wrong answers if used without oversight.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1691640"/>
            <a:ext cx="5532120" cy="4343400"/>
          </a:xfrm>
          <a:prstGeom prst="roundRect">
            <a:avLst>
              <a:gd name="adj" fmla="val 1895"/>
            </a:avLst>
          </a:prstGeom>
          <a:solidFill>
            <a:srgbClr val="EAF6F4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874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SOLUTION: SPAM CLASSIFIER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65976" y="2368296"/>
            <a:ext cx="475488" cy="47548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659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65976" y="3557016"/>
            <a:ext cx="475488" cy="475488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665976" y="3557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94192" y="2907792"/>
            <a:ext cx="585216" cy="585216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94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0" y="2926080"/>
            <a:ext cx="548640" cy="54864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0584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2606040"/>
            <a:ext cx="1783080" cy="594360"/>
          </a:xfrm>
          <a:prstGeom prst="line">
            <a:avLst/>
          </a:prstGeom>
          <a:noFill/>
          <a:ln w="19050">
            <a:solidFill>
              <a:srgbClr val="3D6C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903720" y="3200400"/>
            <a:ext cx="1783080" cy="594360"/>
          </a:xfrm>
          <a:prstGeom prst="line">
            <a:avLst/>
          </a:prstGeom>
          <a:noFill/>
          <a:ln w="19050">
            <a:solidFill>
              <a:srgbClr val="3D6C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3200400"/>
            <a:ext cx="1645920" cy="914"/>
          </a:xfrm>
          <a:prstGeom prst="line">
            <a:avLst/>
          </a:prstGeom>
          <a:noFill/>
          <a:ln w="19050">
            <a:solidFill>
              <a:srgbClr val="3D6C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“contains a link”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4069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“!!! free money !!!”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“spam” probability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4297680"/>
            <a:ext cx="4983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42976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error would mean: if the model outputs a high spam probability for a real message, a good email gets buried (a false positive). If it outputs a low probability for actual spam, junk reaches the inbox (a false negative). Neither error is free — which one matters more depends on the use case.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48640" y="1755648"/>
            <a:ext cx="960120" cy="74371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499360"/>
            <a:ext cx="960120" cy="37185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499360"/>
            <a:ext cx="960120" cy="148742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99360"/>
            <a:ext cx="960120" cy="260299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48640" y="1755648"/>
            <a:ext cx="960120" cy="260299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48640" y="2871216"/>
            <a:ext cx="960120" cy="148742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48640" y="3986784"/>
            <a:ext cx="960120" cy="37185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358640"/>
            <a:ext cx="960120" cy="74371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755648"/>
            <a:ext cx="96012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755648"/>
            <a:ext cx="960120" cy="111556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755648"/>
            <a:ext cx="960120" cy="223113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1755648"/>
            <a:ext cx="960120" cy="334670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508760" y="1755648"/>
            <a:ext cx="960120" cy="111556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2871216"/>
            <a:ext cx="96012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2871216"/>
            <a:ext cx="960120" cy="111556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2871216"/>
            <a:ext cx="960120" cy="223113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508760" y="1755648"/>
            <a:ext cx="960120" cy="223113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508760" y="2871216"/>
            <a:ext cx="960120" cy="111556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3986784"/>
            <a:ext cx="96012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3986784"/>
            <a:ext cx="960120" cy="111556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508760" y="1755648"/>
            <a:ext cx="960120" cy="334670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508760" y="2871216"/>
            <a:ext cx="960120" cy="223113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508760" y="3986784"/>
            <a:ext cx="960120" cy="1115568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5102352"/>
            <a:ext cx="960120" cy="91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1755648"/>
            <a:ext cx="960120" cy="27889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1755648"/>
            <a:ext cx="960120" cy="167335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1755648"/>
            <a:ext cx="960120" cy="306781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468880" y="2034540"/>
            <a:ext cx="960120" cy="83667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2871216"/>
            <a:ext cx="960120" cy="55778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2871216"/>
            <a:ext cx="960120" cy="195224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468880" y="2034540"/>
            <a:ext cx="960120" cy="195224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468880" y="3429000"/>
            <a:ext cx="960120" cy="557784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3986784"/>
            <a:ext cx="960120" cy="836676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468880" y="2034540"/>
            <a:ext cx="960120" cy="306781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468880" y="3429000"/>
            <a:ext cx="960120" cy="167335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468880" y="4823460"/>
            <a:ext cx="960120" cy="278892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2034540"/>
            <a:ext cx="960120" cy="4648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2034540"/>
            <a:ext cx="960120" cy="232410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429000" y="2499360"/>
            <a:ext cx="960120" cy="9296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29000" y="3429000"/>
            <a:ext cx="960120" cy="92964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429000" y="2499360"/>
            <a:ext cx="960120" cy="232410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429000" y="4358640"/>
            <a:ext cx="960120" cy="464820"/>
          </a:xfrm>
          <a:prstGeom prst="line">
            <a:avLst/>
          </a:prstGeom>
          <a:noFill/>
          <a:ln w="12700">
            <a:solidFill>
              <a:srgbClr val="D8DEE8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" y="2417064"/>
            <a:ext cx="164592" cy="164592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" y="4276344"/>
            <a:ext cx="164592" cy="164592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426464" y="1673352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426464" y="2788920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426464" y="3904488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426464" y="5020056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386584" y="1673352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386584" y="2788920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386584" y="3904488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386584" y="5020056"/>
            <a:ext cx="164592" cy="164592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346704" y="1952244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346704" y="3346704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346704" y="4741164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306824" y="2417064"/>
            <a:ext cx="164592" cy="164592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06824" y="4276344"/>
            <a:ext cx="164592" cy="164592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B1F2A">
                <a:alpha val="18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4663440" y="23317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0" name="Text 58"/>
          <p:cNvSpPr txBox="1"/>
          <p:nvPr/>
        </p:nvSpPr>
        <p:spPr>
          <a:xfrm>
            <a:off x="4663440" y="32461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1" name="Shape 59"/>
          <p:cNvSpPr/>
          <p:nvPr/>
        </p:nvSpPr>
        <p:spPr>
          <a:xfrm>
            <a:off x="4709160" y="434340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937760" y="4462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Fadl Musa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4937760" y="4864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 — Deep Learning and Neural Networks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University of Rwanda, Lecturer Fadl Musa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2026-09-03T07:14:17Z</dcterms:created>
  <dcterms:modified xsi:type="dcterms:W3CDTF">2026-09-03T07:14:17Z</dcterms:modified>
</cp:coreProperties>
</file>