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Start with intuition; add just enough mechanics to reason about models.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73152" cy="35661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4846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THE BIG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13432"/>
            <a:ext cx="4846320" cy="30358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000" b="0">
                <a:solidFill>
                  <a:srgbClr val="18263D"/>
                </a:solidFill>
                <a:latin typeface="Aptos"/>
              </a:defRPr>
            </a:pPr>
            <a:r>
              <a:t>A deep-learning model is a flexible function.</a:t>
            </a:r>
            <a:br/>
            <a:br/>
            <a:r>
              <a:t>It sees examples → makes guesses → measures mistakes → adjusts itself — many times.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492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73152" cy="356616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984248"/>
            <a:ext cx="50292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BY THE END, YOU CAN…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313432"/>
            <a:ext cx="5029200" cy="30358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Explain deep learning without heavy mathematics</a:t>
            </a:r>
            <a:br/>
            <a:r>
              <a:t>Build intuition for neurons, layers, and training</a:t>
            </a:r>
            <a:br/>
            <a:r>
              <a:t>Understand how images, text, and sound become numbers</a:t>
            </a:r>
            <a:br/>
            <a:r>
              <a:t>Recognize failure modes and responsible-use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Rules are discovered from examples instead of hand-written for every case.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1089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73152" cy="2560320"/>
          </a:xfrm>
          <a:prstGeom prst="rect">
            <a:avLst/>
          </a:prstGeom>
          <a:solidFill>
            <a:srgbClr val="5B6C82"/>
          </a:solidFill>
          <a:ln>
            <a:solidFill>
              <a:srgbClr val="5B6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2788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B6C82"/>
                </a:solidFill>
                <a:latin typeface="Aptos"/>
              </a:defRPr>
            </a:pPr>
            <a:r>
              <a:t>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2788920" cy="202996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800" b="0">
                <a:solidFill>
                  <a:srgbClr val="18263D"/>
                </a:solidFill>
                <a:latin typeface="Aptos"/>
              </a:defRPr>
            </a:pPr>
            <a:r>
              <a:t>IF pixels are dark</a:t>
            </a:r>
            <a:br/>
            <a:r>
              <a:t>THEN “cat”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3246120"/>
            <a:ext cx="594361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498848" y="317296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965960"/>
            <a:ext cx="31089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965960"/>
            <a:ext cx="73152" cy="256032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7" y="2075688"/>
            <a:ext cx="2788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38BD6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404872"/>
            <a:ext cx="2788920" cy="202996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800" b="0">
                <a:solidFill>
                  <a:srgbClr val="18263D"/>
                </a:solidFill>
                <a:latin typeface="Aptos"/>
              </a:defRPr>
            </a:pPr>
            <a:r>
              <a:t>photos + labels</a:t>
            </a:r>
            <a:br/>
            <a:r>
              <a:t>(cat / dog)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3246120"/>
            <a:ext cx="59436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430768" y="317296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1965960"/>
            <a:ext cx="28346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965960"/>
            <a:ext cx="73152" cy="256032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2075688"/>
            <a:ext cx="2514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LEARNED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404872"/>
            <a:ext cx="2514600" cy="202996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800" b="0">
                <a:solidFill>
                  <a:srgbClr val="18263D"/>
                </a:solidFill>
                <a:latin typeface="Aptos"/>
              </a:defRPr>
            </a:pPr>
            <a:r>
              <a:t>new photo →</a:t>
            </a:r>
            <a:br/>
            <a:r>
              <a:t>likely “cat”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Why “deep”?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Depth = a stack of transformations. Each layer builds on the previous representation.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340863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2624328"/>
            <a:ext cx="1508760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2624328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0" y="2624328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2624328"/>
            <a:ext cx="1508760" cy="198424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828800" y="2340863"/>
            <a:ext cx="1508760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828800" y="2907791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3191256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8800" y="3191256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3191256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28800" y="2340863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28800" y="2907791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28800" y="3474720"/>
            <a:ext cx="1508760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3758183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3758183"/>
            <a:ext cx="1508760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828800" y="2340863"/>
            <a:ext cx="1508760" cy="1984249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28800" y="2907791"/>
            <a:ext cx="1508760" cy="1417321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28800" y="3474720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828800" y="4041648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0" y="4325112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37560" y="2340863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37560" y="2340863"/>
            <a:ext cx="1508760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37560" y="2340863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37560" y="2340863"/>
            <a:ext cx="1508760" cy="1984249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337560" y="2624328"/>
            <a:ext cx="1508760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37560" y="2907791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2907791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37560" y="2907791"/>
            <a:ext cx="1508760" cy="1417321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37560" y="2624328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337560" y="3191256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37560" y="3474720"/>
            <a:ext cx="1508760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337560" y="3474720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337560" y="2624328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337560" y="3191256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37560" y="3758183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337560" y="4041648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337560" y="2624328"/>
            <a:ext cx="1508760" cy="198424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337560" y="3191256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37560" y="3758183"/>
            <a:ext cx="1508760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337560" y="4325112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846320" y="2624328"/>
            <a:ext cx="1508759" cy="56692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46320" y="2624328"/>
            <a:ext cx="1508759" cy="113385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46320" y="3191256"/>
            <a:ext cx="1508759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46320" y="3191256"/>
            <a:ext cx="1508759" cy="56692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846320" y="3191256"/>
            <a:ext cx="1508759" cy="56692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846320" y="3758183"/>
            <a:ext cx="1508759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846320" y="3191256"/>
            <a:ext cx="1508759" cy="1133856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46320" y="3758183"/>
            <a:ext cx="1508759" cy="566929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682496" y="2478024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82496" y="3044951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82496" y="3611879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82496" y="4178807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91256" y="2194559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191256" y="2761487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191256" y="3328415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191256" y="3895344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191256" y="4462272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700016" y="2478024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700016" y="3044951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700016" y="3611879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700016" y="4178807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08775" y="3044951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208775" y="3611879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34440" y="5166360"/>
            <a:ext cx="12801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5B6C8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0" y="5166360"/>
            <a:ext cx="201168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23AAA0"/>
                </a:solidFill>
                <a:latin typeface="Aptos"/>
              </a:defRPr>
            </a:pPr>
            <a:r>
              <a:t>hidden layers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5166360"/>
            <a:ext cx="1371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F28B39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06640" y="1874519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06640" y="1874519"/>
            <a:ext cx="73152" cy="150876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07808" y="1984248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ANALOGY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07808" y="2313432"/>
            <a:ext cx="3520440" cy="97840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Letters → words → sentences → meaning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A neuron: a tiny decision-maker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A neuron combines inputs according to their importance, then produces a prediction.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057400"/>
            <a:ext cx="457200" cy="457200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4572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x₁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00200" y="2286000"/>
            <a:ext cx="2697480" cy="914400"/>
          </a:xfrm>
          <a:prstGeom prst="line">
            <a:avLst/>
          </a:prstGeom>
          <a:ln w="1905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4560" y="2121408"/>
            <a:ext cx="109728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× importance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2880360"/>
            <a:ext cx="457200" cy="457200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80360"/>
            <a:ext cx="4572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x₂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00200" y="3108960"/>
            <a:ext cx="2697480" cy="91440"/>
          </a:xfrm>
          <a:prstGeom prst="line">
            <a:avLst/>
          </a:prstGeom>
          <a:ln w="1905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94560" y="2944368"/>
            <a:ext cx="109728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× importance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3703320"/>
            <a:ext cx="457200" cy="457200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4572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x₃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600200" y="3200400"/>
            <a:ext cx="2697480" cy="731520"/>
          </a:xfrm>
          <a:prstGeom prst="line">
            <a:avLst/>
          </a:prstGeom>
          <a:ln w="1905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94560" y="3767328"/>
            <a:ext cx="109728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× importance</a:t>
            </a:r>
          </a:p>
        </p:txBody>
      </p:sp>
      <p:sp>
        <p:nvSpPr>
          <p:cNvPr id="20" name="Oval 19"/>
          <p:cNvSpPr/>
          <p:nvPr/>
        </p:nvSpPr>
        <p:spPr>
          <a:xfrm>
            <a:off x="4251959" y="2788920"/>
            <a:ext cx="822960" cy="822960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2788920"/>
            <a:ext cx="822960" cy="8229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200400"/>
            <a:ext cx="169164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20840" y="2788920"/>
            <a:ext cx="822960" cy="822960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788920"/>
            <a:ext cx="822960" cy="8229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834640"/>
            <a:ext cx="2651760" cy="8229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1">
                <a:solidFill>
                  <a:srgbClr val="18263D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892040"/>
            <a:ext cx="6309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4892040"/>
            <a:ext cx="73152" cy="8229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4368" y="5001768"/>
            <a:ext cx="5989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ONE FORMULA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5330952"/>
            <a:ext cx="598932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900" b="0">
                <a:solidFill>
                  <a:srgbClr val="18263D"/>
                </a:solidFill>
                <a:latin typeface="Aptos"/>
              </a:defRPr>
            </a:pPr>
            <a:r>
              <a:t>z = w₁x₁ + w₂x₂ + w₃x₃ +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The only algebra we need: weighted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Example: is this fruit ripe?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840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38BD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3520440" cy="29443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200" b="0">
                <a:solidFill>
                  <a:srgbClr val="18263D"/>
                </a:solidFill>
                <a:latin typeface="Aptos"/>
              </a:defRPr>
            </a:pPr>
            <a:r>
              <a:t>yellow      0.8</a:t>
            </a:r>
            <a:br/>
            <a:r>
              <a:t>soft          0.6</a:t>
            </a:r>
            <a:br/>
            <a:r>
              <a:t>sweet        0.9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828800"/>
            <a:ext cx="6309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1828800"/>
            <a:ext cx="73152" cy="347472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7" y="1938528"/>
            <a:ext cx="5989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IMPORTANCE ×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2267712"/>
            <a:ext cx="5989320" cy="29443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900" b="0">
                <a:solidFill>
                  <a:srgbClr val="18263D"/>
                </a:solidFill>
                <a:latin typeface="Aptos"/>
              </a:defRPr>
            </a:pPr>
            <a:r>
              <a:t>z = 0.9(0.8) + 0.7(0.6) + 1.0(0.9)</a:t>
            </a:r>
            <a:br/>
            <a:br/>
            <a:r>
              <a:t>= 2.16  →  “probably ripe”</a:t>
            </a:r>
            <a:br/>
            <a:br/>
            <a:r>
              <a:t>A weight says how much an input matters.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Activation functions: a useful “gate”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Without a gate, stacked layers behave like one straight line. The gate lets the network learn curves and boundaries.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40233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73152" cy="256032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3703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ReLU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3703320" cy="202996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800" b="0">
                <a:solidFill>
                  <a:srgbClr val="18263D"/>
                </a:solidFill>
                <a:latin typeface="Aptos"/>
              </a:defRPr>
            </a:pPr>
            <a:r>
              <a:t>ReLU(z) = max(0, z)</a:t>
            </a:r>
            <a:br/>
            <a:br/>
            <a:r>
              <a:t>negative signal → 0</a:t>
            </a:r>
            <a:br/>
            <a:r>
              <a:t>positive signal → passes through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486400" y="2057400"/>
            <a:ext cx="0" cy="2606040"/>
          </a:xfrm>
          <a:prstGeom prst="line">
            <a:avLst/>
          </a:prstGeom>
          <a:ln w="12700">
            <a:solidFill>
              <a:srgbClr val="5B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4023360"/>
            <a:ext cx="6217920" cy="0"/>
          </a:xfrm>
          <a:prstGeom prst="line">
            <a:avLst/>
          </a:prstGeom>
          <a:ln w="12700">
            <a:solidFill>
              <a:srgbClr val="5B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86400" y="2286000"/>
            <a:ext cx="4937760" cy="1737360"/>
          </a:xfrm>
          <a:prstGeom prst="line">
            <a:avLst/>
          </a:prstGeom>
          <a:ln w="381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87000" y="1965960"/>
            <a:ext cx="7315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51960"/>
            <a:ext cx="7315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From one neuron to a 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Many simple units cooperate to build representations.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280160" y="2340863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2624328"/>
            <a:ext cx="1508760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0160" y="2624328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2624328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2624328"/>
            <a:ext cx="1508760" cy="198424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80160" y="2340863"/>
            <a:ext cx="1508760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80160" y="2907791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0160" y="3191256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80160" y="3191256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" y="3191256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80160" y="2340863"/>
            <a:ext cx="1508760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80160" y="2907791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80160" y="3474720"/>
            <a:ext cx="1508760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80160" y="3758183"/>
            <a:ext cx="1508760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" y="3758183"/>
            <a:ext cx="1508760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80160" y="2340863"/>
            <a:ext cx="1508760" cy="1984249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80160" y="2907791"/>
            <a:ext cx="1508760" cy="1417321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80160" y="3474720"/>
            <a:ext cx="1508760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280160" y="4041648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0160" y="4325112"/>
            <a:ext cx="1508760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340863"/>
            <a:ext cx="1508759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88920" y="2340863"/>
            <a:ext cx="1508759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88920" y="2340863"/>
            <a:ext cx="1508759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88920" y="2340863"/>
            <a:ext cx="1508759" cy="1984249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788920" y="2624328"/>
            <a:ext cx="1508759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88920" y="2907791"/>
            <a:ext cx="1508759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88920" y="2907791"/>
            <a:ext cx="1508759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88920" y="2907791"/>
            <a:ext cx="1508759" cy="1417321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88920" y="2624328"/>
            <a:ext cx="1508759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788920" y="3191256"/>
            <a:ext cx="1508759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88920" y="3474720"/>
            <a:ext cx="1508759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88920" y="3474720"/>
            <a:ext cx="1508759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88920" y="2624328"/>
            <a:ext cx="1508759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88920" y="3191256"/>
            <a:ext cx="1508759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88920" y="3758183"/>
            <a:ext cx="1508759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88920" y="4041648"/>
            <a:ext cx="1508759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788920" y="2624328"/>
            <a:ext cx="1508759" cy="198424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788920" y="3191256"/>
            <a:ext cx="1508759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88920" y="3758183"/>
            <a:ext cx="1508759" cy="85039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88920" y="4325112"/>
            <a:ext cx="1508759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297679" y="2624328"/>
            <a:ext cx="1508761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297679" y="2624328"/>
            <a:ext cx="1508761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97679" y="2624328"/>
            <a:ext cx="1508761" cy="141732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97679" y="2907791"/>
            <a:ext cx="1508761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297679" y="3191256"/>
            <a:ext cx="1508761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97679" y="3191256"/>
            <a:ext cx="1508761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97679" y="2907791"/>
            <a:ext cx="1508761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297679" y="3474720"/>
            <a:ext cx="1508761" cy="28346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297679" y="3758183"/>
            <a:ext cx="1508761" cy="283465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297679" y="2907791"/>
            <a:ext cx="1508761" cy="1417321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297679" y="3474720"/>
            <a:ext cx="1508761" cy="85039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297679" y="4041648"/>
            <a:ext cx="1508761" cy="283464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133856" y="2478024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3856" y="3044951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33856" y="3611879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33856" y="4178807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642615" y="2194559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642615" y="2761487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642615" y="3328415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642615" y="3895344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642615" y="4462272"/>
            <a:ext cx="292608" cy="292608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51375" y="2478024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151375" y="3044951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151375" y="3611879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151375" y="4178807"/>
            <a:ext cx="292608" cy="292608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660136" y="2761487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660136" y="3328415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660136" y="3895344"/>
            <a:ext cx="292608" cy="292608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498079" y="1828800"/>
            <a:ext cx="3840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98079" y="1828800"/>
            <a:ext cx="73152" cy="347472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99248" y="1938528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REPRESENTATION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99248" y="2267712"/>
            <a:ext cx="3520440" cy="29443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0">
                <a:solidFill>
                  <a:srgbClr val="18263D"/>
                </a:solidFill>
                <a:latin typeface="Aptos"/>
              </a:defRPr>
            </a:pPr>
            <a:r>
              <a:t>Input layer: receives measurements</a:t>
            </a:r>
            <a:br/>
            <a:r>
              <a:t>Hidden layers: build representations</a:t>
            </a:r>
            <a:br/>
            <a:r>
              <a:t>Output layer: gives the answer</a:t>
            </a:r>
            <a:br/>
            <a:br/>
            <a:r>
              <a:t>A photo becomes edges, shapes, parts, then “cat-ness”.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How an image becomes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A neural network learns useful visual summaries — not a human-designed checklist.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365760" cy="365760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53312" y="2057400"/>
            <a:ext cx="365760" cy="36576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92224" y="2057400"/>
            <a:ext cx="365760" cy="365760"/>
          </a:xfrm>
          <a:prstGeom prst="rect">
            <a:avLst/>
          </a:prstGeom>
          <a:solidFill>
            <a:srgbClr val="E0DCF5"/>
          </a:solidFill>
          <a:ln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31136" y="2057400"/>
            <a:ext cx="365760" cy="3657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0048" y="2057400"/>
            <a:ext cx="365760" cy="365760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23774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B6C82"/>
                </a:solidFill>
                <a:latin typeface="Aptos"/>
              </a:defRPr>
            </a:pPr>
            <a:r>
              <a:t>5 × 5 grayscale pixels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496312"/>
            <a:ext cx="365760" cy="36576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53312" y="2496312"/>
            <a:ext cx="365760" cy="365760"/>
          </a:xfrm>
          <a:prstGeom prst="rect">
            <a:avLst/>
          </a:prstGeom>
          <a:solidFill>
            <a:srgbClr val="E0DCF5"/>
          </a:solidFill>
          <a:ln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92224" y="2496312"/>
            <a:ext cx="365760" cy="3657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31136" y="2496312"/>
            <a:ext cx="365760" cy="365760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70048" y="2496312"/>
            <a:ext cx="365760" cy="36576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23774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B6C82"/>
                </a:solidFill>
                <a:latin typeface="Aptos"/>
              </a:defRPr>
            </a:pPr>
            <a:r>
              <a:t>5 × 5 grayscale pixels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35224"/>
            <a:ext cx="365760" cy="365760"/>
          </a:xfrm>
          <a:prstGeom prst="rect">
            <a:avLst/>
          </a:prstGeom>
          <a:solidFill>
            <a:srgbClr val="E0DCF5"/>
          </a:solidFill>
          <a:ln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53312" y="2935224"/>
            <a:ext cx="365760" cy="3657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92224" y="2935224"/>
            <a:ext cx="365760" cy="365760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31136" y="2935224"/>
            <a:ext cx="365760" cy="36576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70048" y="2935224"/>
            <a:ext cx="365760" cy="365760"/>
          </a:xfrm>
          <a:prstGeom prst="rect">
            <a:avLst/>
          </a:prstGeom>
          <a:solidFill>
            <a:srgbClr val="E0DCF5"/>
          </a:solidFill>
          <a:ln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23774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B6C82"/>
                </a:solidFill>
                <a:latin typeface="Aptos"/>
              </a:defRPr>
            </a:pPr>
            <a:r>
              <a:t>5 × 5 grayscale pixels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374136"/>
            <a:ext cx="365760" cy="3657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53312" y="3374136"/>
            <a:ext cx="365760" cy="365760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92224" y="3374136"/>
            <a:ext cx="365760" cy="36576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31136" y="3374136"/>
            <a:ext cx="365760" cy="365760"/>
          </a:xfrm>
          <a:prstGeom prst="rect">
            <a:avLst/>
          </a:prstGeom>
          <a:solidFill>
            <a:srgbClr val="E0DCF5"/>
          </a:solidFill>
          <a:ln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70048" y="3374136"/>
            <a:ext cx="365760" cy="3657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34840"/>
            <a:ext cx="23774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B6C82"/>
                </a:solidFill>
                <a:latin typeface="Aptos"/>
              </a:defRPr>
            </a:pPr>
            <a:r>
              <a:t>5 × 5 grayscale pixels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813048"/>
            <a:ext cx="365760" cy="365760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53312" y="3813048"/>
            <a:ext cx="365760" cy="36576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92224" y="3813048"/>
            <a:ext cx="365760" cy="365760"/>
          </a:xfrm>
          <a:prstGeom prst="rect">
            <a:avLst/>
          </a:prstGeom>
          <a:solidFill>
            <a:srgbClr val="E0DCF5"/>
          </a:solidFill>
          <a:ln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31136" y="3813048"/>
            <a:ext cx="365760" cy="36576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70048" y="3813048"/>
            <a:ext cx="365760" cy="365760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34840"/>
            <a:ext cx="23774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B6C82"/>
                </a:solidFill>
                <a:latin typeface="Aptos"/>
              </a:defRPr>
            </a:pPr>
            <a:r>
              <a:t>5 × 5 grayscale pixels</a:t>
            </a:r>
          </a:p>
        </p:txBody>
      </p:sp>
      <p:sp>
        <p:nvSpPr>
          <p:cNvPr id="38" name="Oval 37"/>
          <p:cNvSpPr/>
          <p:nvPr/>
        </p:nvSpPr>
        <p:spPr>
          <a:xfrm>
            <a:off x="3246120" y="2560320"/>
            <a:ext cx="822960" cy="822960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657600"/>
            <a:ext cx="12801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63D"/>
                </a:solidFill>
                <a:latin typeface="Aptos"/>
              </a:defRPr>
            </a:pPr>
            <a:r>
              <a:t>pixels</a:t>
            </a:r>
          </a:p>
        </p:txBody>
      </p:sp>
      <p:sp>
        <p:nvSpPr>
          <p:cNvPr id="40" name="Oval 39"/>
          <p:cNvSpPr/>
          <p:nvPr/>
        </p:nvSpPr>
        <p:spPr>
          <a:xfrm>
            <a:off x="5257800" y="2560320"/>
            <a:ext cx="822960" cy="822960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3657600"/>
            <a:ext cx="12801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63D"/>
                </a:solidFill>
                <a:latin typeface="Aptos"/>
              </a:defRPr>
            </a:pPr>
            <a:r>
              <a:t>edges</a:t>
            </a:r>
          </a:p>
        </p:txBody>
      </p:sp>
      <p:sp>
        <p:nvSpPr>
          <p:cNvPr id="42" name="Oval 41"/>
          <p:cNvSpPr/>
          <p:nvPr/>
        </p:nvSpPr>
        <p:spPr>
          <a:xfrm>
            <a:off x="7269480" y="2560320"/>
            <a:ext cx="822960" cy="822960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3657600"/>
            <a:ext cx="12801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63D"/>
                </a:solidFill>
                <a:latin typeface="Aptos"/>
              </a:defRPr>
            </a:pPr>
            <a:r>
              <a:t>shapes</a:t>
            </a:r>
          </a:p>
        </p:txBody>
      </p:sp>
      <p:sp>
        <p:nvSpPr>
          <p:cNvPr id="44" name="Oval 43"/>
          <p:cNvSpPr/>
          <p:nvPr/>
        </p:nvSpPr>
        <p:spPr>
          <a:xfrm>
            <a:off x="9281160" y="2560320"/>
            <a:ext cx="822960" cy="822960"/>
          </a:xfrm>
          <a:prstGeom prst="ellipse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657600"/>
            <a:ext cx="12801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63D"/>
                </a:solidFill>
                <a:latin typeface="Aptos"/>
              </a:defRPr>
            </a:pPr>
            <a:r>
              <a:t>class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71800" y="2971800"/>
            <a:ext cx="50292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401568" y="289864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983480" y="2971800"/>
            <a:ext cx="50292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413248" y="289864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6995160" y="2971800"/>
            <a:ext cx="50292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424928" y="289864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006840" y="2971800"/>
            <a:ext cx="50292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9436608" y="289864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Training loop: guess → measure → adjust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Repeat until mistakes become small.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353312" y="2359152"/>
            <a:ext cx="768096" cy="768096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359152"/>
            <a:ext cx="768096" cy="7680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83280"/>
            <a:ext cx="1371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Guess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201168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538BD6"/>
                </a:solidFill>
                <a:latin typeface="Aptos"/>
              </a:defRPr>
            </a:pPr>
            <a:r>
              <a:t>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2743200"/>
            <a:ext cx="73152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98648" y="267004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4846320"/>
            <a:ext cx="6309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4846320"/>
            <a:ext cx="73152" cy="77724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4956048"/>
            <a:ext cx="5989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CLASSROOM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5285231"/>
            <a:ext cx="5989320" cy="2468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0">
                <a:solidFill>
                  <a:srgbClr val="18263D"/>
                </a:solidFill>
                <a:latin typeface="Aptos"/>
              </a:defRPr>
            </a:pPr>
            <a:r>
              <a:t>Practice a quiz → see errors → change study strategy → try again.</a:t>
            </a:r>
          </a:p>
        </p:txBody>
      </p:sp>
      <p:sp>
        <p:nvSpPr>
          <p:cNvPr id="18" name="Oval 17"/>
          <p:cNvSpPr/>
          <p:nvPr/>
        </p:nvSpPr>
        <p:spPr>
          <a:xfrm>
            <a:off x="4142231" y="2359152"/>
            <a:ext cx="768096" cy="768096"/>
          </a:xfrm>
          <a:prstGeom prst="ellipse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1" y="2359152"/>
            <a:ext cx="768096" cy="7680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3383280"/>
            <a:ext cx="1371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3767328"/>
            <a:ext cx="201168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DE5B5B"/>
                </a:solidFill>
                <a:latin typeface="Aptos"/>
              </a:defRPr>
            </a:pPr>
            <a:r>
              <a:t>loss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0" y="2743200"/>
            <a:ext cx="73152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687568" y="267004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26080" y="4846320"/>
            <a:ext cx="6309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4846320"/>
            <a:ext cx="73152" cy="77724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4956048"/>
            <a:ext cx="5989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CLASSROOM ANALOGY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285231"/>
            <a:ext cx="5989320" cy="2468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0">
                <a:solidFill>
                  <a:srgbClr val="18263D"/>
                </a:solidFill>
                <a:latin typeface="Aptos"/>
              </a:defRPr>
            </a:pPr>
            <a:r>
              <a:t>Practice a quiz → see errors → change study strategy → try again.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2359152"/>
            <a:ext cx="768096" cy="768096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2359152"/>
            <a:ext cx="768096" cy="7680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383280"/>
            <a:ext cx="1371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Find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67328"/>
            <a:ext cx="201168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F28B39"/>
                </a:solidFill>
                <a:latin typeface="Aptos"/>
              </a:defRPr>
            </a:pPr>
            <a:r>
              <a:t>gradient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18120" y="2743200"/>
            <a:ext cx="73152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76488" y="267004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26080" y="4846320"/>
            <a:ext cx="6309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0" y="4846320"/>
            <a:ext cx="73152" cy="77724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27248" y="4956048"/>
            <a:ext cx="5989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CLASSROOM ANALOGY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7248" y="5285231"/>
            <a:ext cx="5989320" cy="2468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0">
                <a:solidFill>
                  <a:srgbClr val="18263D"/>
                </a:solidFill>
                <a:latin typeface="Aptos"/>
              </a:defRPr>
            </a:pPr>
            <a:r>
              <a:t>Practice a quiz → see errors → change study strategy → try again.</a:t>
            </a:r>
          </a:p>
        </p:txBody>
      </p:sp>
      <p:sp>
        <p:nvSpPr>
          <p:cNvPr id="38" name="Oval 37"/>
          <p:cNvSpPr/>
          <p:nvPr/>
        </p:nvSpPr>
        <p:spPr>
          <a:xfrm>
            <a:off x="9720072" y="2359152"/>
            <a:ext cx="768096" cy="76809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0072" y="2359152"/>
            <a:ext cx="768096" cy="7680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19" y="3383280"/>
            <a:ext cx="1371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Adjust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767328"/>
            <a:ext cx="201168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23AAA0"/>
                </a:solidFill>
                <a:latin typeface="Aptos"/>
              </a:defRPr>
            </a:pPr>
            <a:r>
              <a:t>weights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4846320"/>
            <a:ext cx="6309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26080" y="4846320"/>
            <a:ext cx="73152" cy="77724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7248" y="4956048"/>
            <a:ext cx="5989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CLASSROOM ANALOGY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27248" y="5285231"/>
            <a:ext cx="5989320" cy="2468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0">
                <a:solidFill>
                  <a:srgbClr val="18263D"/>
                </a:solidFill>
                <a:latin typeface="Aptos"/>
              </a:defRPr>
            </a:pPr>
            <a:r>
              <a:t>Practice a quiz → see errors → change study strategy → try again.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Loss: turning “wrong” into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Training tries to make the loss smaller.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754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73152" cy="3200400"/>
          </a:xfrm>
          <a:prstGeom prst="rect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29968"/>
            <a:ext cx="44348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DE5B5B"/>
                </a:solidFill>
                <a:latin typeface="Aptos"/>
              </a:defRPr>
            </a:pPr>
            <a:r>
              <a:t>ONE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59152"/>
            <a:ext cx="4434840" cy="2670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000" b="0">
                <a:solidFill>
                  <a:srgbClr val="18263D"/>
                </a:solidFill>
                <a:latin typeface="Aptos"/>
              </a:defRPr>
            </a:pPr>
            <a:r>
              <a:t>True answer = 1</a:t>
            </a:r>
            <a:br/>
            <a:r>
              <a:t>Prediction = 0.7</a:t>
            </a:r>
            <a:br/>
            <a:br/>
            <a:r>
              <a:t>loss = (answer − prediction)²</a:t>
            </a:r>
            <a:br/>
            <a:r>
              <a:t>loss = (1 − 0.7)² = 0.09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920240"/>
            <a:ext cx="53035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920240"/>
            <a:ext cx="73152" cy="320040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029968"/>
            <a:ext cx="498348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A SCALE OF MISTAKES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359152"/>
            <a:ext cx="4983480" cy="2670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800" b="0">
                <a:solidFill>
                  <a:srgbClr val="18263D"/>
                </a:solidFill>
                <a:latin typeface="Aptos"/>
              </a:defRPr>
            </a:pPr>
            <a:r>
              <a:t>good guess       0.09</a:t>
            </a:r>
            <a:br/>
            <a:r>
              <a:t>poor guess      0.81</a:t>
            </a:r>
            <a:br/>
            <a:br/>
            <a:r>
              <a:t>Same target, different distance.</a:t>
            </a:r>
            <a:br/>
            <a:r>
              <a:t>Loss gives the optimizer a direction to improve.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Gradient descent: walking downhill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The slope tells us which way is downhill. The learning rate controls the step size.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" y="3840480"/>
            <a:ext cx="914400" cy="64008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828800" y="3108960"/>
            <a:ext cx="914400" cy="73152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743200" y="2514600"/>
            <a:ext cx="914400" cy="59436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657600" y="2148840"/>
            <a:ext cx="914400" cy="36576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572000" y="1965960"/>
            <a:ext cx="914400" cy="18288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1965960"/>
            <a:ext cx="914400" cy="13716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2103120"/>
            <a:ext cx="914400" cy="54864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2651760"/>
            <a:ext cx="914400" cy="82296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3474720"/>
            <a:ext cx="914400" cy="914400"/>
          </a:xfrm>
          <a:prstGeom prst="line">
            <a:avLst/>
          </a:prstGeom>
          <a:ln w="38100">
            <a:solidFill>
              <a:srgbClr val="538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719072" y="3730752"/>
            <a:ext cx="219456" cy="219456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47872" y="2404872"/>
            <a:ext cx="219456" cy="219456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76672" y="1856231"/>
            <a:ext cx="219456" cy="219456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23960" y="1965960"/>
            <a:ext cx="2377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965960"/>
            <a:ext cx="73152" cy="237744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2075688"/>
            <a:ext cx="20574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404872"/>
            <a:ext cx="2057400" cy="18470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300" b="0">
                <a:solidFill>
                  <a:srgbClr val="18263D"/>
                </a:solidFill>
                <a:latin typeface="Aptos"/>
              </a:defRPr>
            </a:pPr>
            <a:r>
              <a:t>weight ← weight − learning rate × slope</a:t>
            </a:r>
            <a:br/>
            <a:br/>
            <a:r>
              <a:t>Too small = slow</a:t>
            </a:r>
            <a:br/>
            <a:r>
              <a:t>Too large = overshoot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Backpropagation: giving credit to each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The final error travels backward, asking: “Which connection caused how much?”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13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71600" y="2572207"/>
            <a:ext cx="1357884" cy="25511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2827324"/>
            <a:ext cx="1357884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2827324"/>
            <a:ext cx="1357884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2827324"/>
            <a:ext cx="1357884" cy="127558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71600" y="2572207"/>
            <a:ext cx="1357884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1600" y="3082442"/>
            <a:ext cx="1357884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71600" y="3337560"/>
            <a:ext cx="1357884" cy="25511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1600" y="3337560"/>
            <a:ext cx="1357884" cy="76535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71600" y="2572207"/>
            <a:ext cx="1357884" cy="127558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71600" y="3082442"/>
            <a:ext cx="1357884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71600" y="3592677"/>
            <a:ext cx="1357884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71600" y="3847795"/>
            <a:ext cx="1357884" cy="25511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29484" y="2572207"/>
            <a:ext cx="1357884" cy="25511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29484" y="2572207"/>
            <a:ext cx="1357884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29484" y="2572207"/>
            <a:ext cx="1357884" cy="127558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729484" y="2827324"/>
            <a:ext cx="1357884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29484" y="3082442"/>
            <a:ext cx="1357884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29484" y="3082442"/>
            <a:ext cx="1357884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29484" y="2827324"/>
            <a:ext cx="1357884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729484" y="3337560"/>
            <a:ext cx="1357884" cy="25511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29484" y="3592677"/>
            <a:ext cx="1357884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729484" y="2827324"/>
            <a:ext cx="1357884" cy="127558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29484" y="3337560"/>
            <a:ext cx="1357884" cy="765352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29484" y="3847795"/>
            <a:ext cx="1357884" cy="25511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87368" y="2827324"/>
            <a:ext cx="1357883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087368" y="2827324"/>
            <a:ext cx="1357883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087368" y="3082442"/>
            <a:ext cx="1357883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87368" y="3337560"/>
            <a:ext cx="1357883" cy="255117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87368" y="3082442"/>
            <a:ext cx="1357883" cy="765353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87368" y="3592677"/>
            <a:ext cx="1357883" cy="255118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239926" y="2695651"/>
            <a:ext cx="263347" cy="263347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39926" y="3205886"/>
            <a:ext cx="263347" cy="263347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39926" y="3716121"/>
            <a:ext cx="263347" cy="263347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7810" y="2440533"/>
            <a:ext cx="263347" cy="263347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97810" y="2950768"/>
            <a:ext cx="263347" cy="263347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597810" y="3461003"/>
            <a:ext cx="263347" cy="263347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97810" y="3971239"/>
            <a:ext cx="263347" cy="263347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55694" y="2695651"/>
            <a:ext cx="263347" cy="263347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955694" y="3205886"/>
            <a:ext cx="263347" cy="263347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955694" y="3716121"/>
            <a:ext cx="263347" cy="263347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13578" y="2950768"/>
            <a:ext cx="263347" cy="263347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13578" y="3461003"/>
            <a:ext cx="263347" cy="263347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1">
                <a:solidFill>
                  <a:srgbClr val="18263D"/>
                </a:solidFill>
                <a:latin typeface="Aptos"/>
              </a:defRPr>
            </a:pPr>
            <a:r>
              <a:t>Forward pass: make a prediction.   ←   Backward pass: assign responsibility.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5120640" y="2103120"/>
            <a:ext cx="4572000" cy="0"/>
          </a:xfrm>
          <a:prstGeom prst="line">
            <a:avLst/>
          </a:prstGeom>
          <a:ln w="25400">
            <a:solidFill>
              <a:srgbClr val="DE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498079" y="1783080"/>
            <a:ext cx="30175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DE5B5B"/>
                </a:solidFill>
                <a:latin typeface="Aptos"/>
              </a:defRPr>
            </a:pPr>
            <a:r>
              <a:t>error signal flows backward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A simple worked example: learning “tall”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The network learns a boundary from examples — not a hand-written rule.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97479"/>
            <a:ext cx="640080" cy="640080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10058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18263D"/>
                </a:solidFill>
                <a:latin typeface="Aptos"/>
              </a:defRPr>
            </a:pPr>
            <a:r>
              <a:t>1.60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14630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538BD6"/>
                </a:solidFill>
                <a:latin typeface="Aptos"/>
              </a:defRPr>
            </a:pPr>
            <a:r>
              <a:t>not tall</a:t>
            </a:r>
          </a:p>
        </p:txBody>
      </p:sp>
      <p:sp>
        <p:nvSpPr>
          <p:cNvPr id="11" name="Oval 10"/>
          <p:cNvSpPr/>
          <p:nvPr/>
        </p:nvSpPr>
        <p:spPr>
          <a:xfrm>
            <a:off x="2697479" y="2697479"/>
            <a:ext cx="640080" cy="640080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3657600"/>
            <a:ext cx="10058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18263D"/>
                </a:solidFill>
                <a:latin typeface="Aptos"/>
              </a:defRPr>
            </a:pPr>
            <a:r>
              <a:t>1.75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069080"/>
            <a:ext cx="14630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F28B39"/>
                </a:solidFill>
                <a:latin typeface="Aptos"/>
              </a:defRPr>
            </a:pPr>
            <a:r>
              <a:t>borderline</a:t>
            </a:r>
          </a:p>
        </p:txBody>
      </p:sp>
      <p:sp>
        <p:nvSpPr>
          <p:cNvPr id="14" name="Oval 13"/>
          <p:cNvSpPr/>
          <p:nvPr/>
        </p:nvSpPr>
        <p:spPr>
          <a:xfrm>
            <a:off x="4526280" y="2697479"/>
            <a:ext cx="640080" cy="640080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657600"/>
            <a:ext cx="10058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18263D"/>
                </a:solidFill>
                <a:latin typeface="Aptos"/>
              </a:defRPr>
            </a:pPr>
            <a:r>
              <a:t>1.90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069080"/>
            <a:ext cx="14630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23AAA0"/>
                </a:solidFill>
                <a:latin typeface="Aptos"/>
              </a:defRPr>
            </a:pPr>
            <a:r>
              <a:t>tall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3017520"/>
            <a:ext cx="5120640" cy="0"/>
          </a:xfrm>
          <a:prstGeom prst="line">
            <a:avLst/>
          </a:prstGeom>
          <a:ln w="25400">
            <a:solidFill>
              <a:srgbClr val="18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1920240"/>
            <a:ext cx="0" cy="2560320"/>
          </a:xfrm>
          <a:prstGeom prst="line">
            <a:avLst/>
          </a:prstGeom>
          <a:ln w="25400">
            <a:solidFill>
              <a:srgbClr val="DE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4709160"/>
            <a:ext cx="155448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DE5B5B"/>
                </a:solidFill>
                <a:latin typeface="Aptos"/>
              </a:defRPr>
            </a:pPr>
            <a:r>
              <a:t>learned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600" b="1">
                <a:solidFill>
                  <a:srgbClr val="5B6C82"/>
                </a:solidFill>
                <a:latin typeface="Aptos"/>
              </a:defRPr>
            </a:pPr>
            <a:r>
              <a:t>Input: height in metres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Classification: choosing among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Softmax converts raw scores into a probability-like list. Highest score = chosen class.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9728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1">
                <a:solidFill>
                  <a:srgbClr val="18263D"/>
                </a:solidFill>
                <a:latin typeface="Aptos"/>
              </a:defRPr>
            </a:pPr>
            <a:r>
              <a:t>cat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057400"/>
            <a:ext cx="5669280" cy="256032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057400"/>
            <a:ext cx="4081881" cy="256032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10058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1">
                <a:solidFill>
                  <a:srgbClr val="23AAA0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514600"/>
            <a:ext cx="13716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23AAA0"/>
                </a:solidFill>
                <a:latin typeface="Aptos"/>
              </a:defRPr>
            </a:pPr>
            <a:r>
              <a:t>chosen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109728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1">
                <a:solidFill>
                  <a:srgbClr val="18263D"/>
                </a:solidFill>
                <a:latin typeface="Aptos"/>
              </a:defRPr>
            </a:pPr>
            <a:r>
              <a:t>dog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880360"/>
            <a:ext cx="5669280" cy="256032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880360"/>
            <a:ext cx="1020470" cy="256032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10058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1">
                <a:solidFill>
                  <a:srgbClr val="538BD6"/>
                </a:solidFill>
                <a:latin typeface="Aptos"/>
              </a:defRPr>
            </a:pPr>
            <a: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514600"/>
            <a:ext cx="13716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23AAA0"/>
                </a:solidFill>
                <a:latin typeface="Aptos"/>
              </a:defRPr>
            </a:pPr>
            <a:r>
              <a:t>chosen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109728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1">
                <a:solidFill>
                  <a:srgbClr val="18263D"/>
                </a:solidFill>
                <a:latin typeface="Aptos"/>
              </a:defRPr>
            </a:pPr>
            <a:r>
              <a:t>rabbit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703320"/>
            <a:ext cx="5669280" cy="256032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3703320"/>
            <a:ext cx="566928" cy="256032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657600"/>
            <a:ext cx="10058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1">
                <a:solidFill>
                  <a:srgbClr val="F28B39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514600"/>
            <a:ext cx="13716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23AAA0"/>
                </a:solidFill>
                <a:latin typeface="Aptos"/>
              </a:defRPr>
            </a:pPr>
            <a:r>
              <a:t>chosen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Regression: predicting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Classification asks “which bucket?” Regression asks “how much?”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73152" cy="292608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29968"/>
            <a:ext cx="33375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38BD6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3337560" cy="23957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900" b="0">
                <a:solidFill>
                  <a:srgbClr val="18263D"/>
                </a:solidFill>
                <a:latin typeface="Aptos"/>
              </a:defRPr>
            </a:pPr>
            <a:r>
              <a:t>Predict house price</a:t>
            </a:r>
            <a:br/>
            <a:r>
              <a:t>from size</a:t>
            </a:r>
            <a:br/>
            <a:br/>
            <a:r>
              <a:t>1,200 sq ft → $?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4572000"/>
            <a:ext cx="5303520" cy="0"/>
          </a:xfrm>
          <a:prstGeom prst="line">
            <a:avLst/>
          </a:prstGeom>
          <a:ln w="12700">
            <a:solidFill>
              <a:srgbClr val="5B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486400" y="1828800"/>
            <a:ext cx="0" cy="2743200"/>
          </a:xfrm>
          <a:prstGeom prst="line">
            <a:avLst/>
          </a:prstGeom>
          <a:ln w="12700">
            <a:solidFill>
              <a:srgbClr val="5B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669280" y="2286000"/>
            <a:ext cx="4663440" cy="1920240"/>
          </a:xfrm>
          <a:prstGeom prst="line">
            <a:avLst/>
          </a:prstGeom>
          <a:ln w="38100">
            <a:solidFill>
              <a:srgbClr val="23A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135624" y="3895344"/>
            <a:ext cx="164592" cy="164592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32904" y="3575304"/>
            <a:ext cx="164592" cy="164592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21624" y="3026664"/>
            <a:ext cx="164592" cy="164592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01784" y="2478024"/>
            <a:ext cx="164592" cy="164592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5B6C82"/>
                </a:solidFill>
                <a:latin typeface="Aptos"/>
              </a:defRPr>
            </a:pPr>
            <a:r>
              <a:t>size →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1371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predicted 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Convolutional neural networks (CNNs)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A small filter slides across an image to detect a pattern.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92607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33756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74903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210312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25880" y="251460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25880" y="292607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25880" y="333756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374903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37360" y="210312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37360" y="251460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37360" y="292607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7360" y="333756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37360" y="374903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48840" y="210312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48840" y="251460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48840" y="292607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48840" y="333756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48840" y="374903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210312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0" y="251460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292607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333756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3749039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37360" y="2926080"/>
            <a:ext cx="12344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572000"/>
            <a:ext cx="2560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5B6C82"/>
                </a:solidFill>
                <a:latin typeface="Aptos"/>
              </a:defRPr>
            </a:pPr>
            <a:r>
              <a:t>image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474720" y="3474720"/>
            <a:ext cx="109728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498848" y="340156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54880" y="2514600"/>
            <a:ext cx="1645920" cy="1645920"/>
          </a:xfrm>
          <a:prstGeom prst="roundRect">
            <a:avLst/>
          </a:prstGeom>
          <a:solidFill>
            <a:srgbClr val="E0DCF5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2880360"/>
            <a:ext cx="1371600" cy="8229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F28B39"/>
                </a:solidFill>
                <a:latin typeface="Aptos"/>
              </a:defRPr>
            </a:pPr>
            <a:r>
              <a:t>filter</a:t>
            </a:r>
            <a:br/>
            <a:r>
              <a:t>/kernel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675120" y="3474720"/>
            <a:ext cx="1097280" cy="0"/>
          </a:xfrm>
          <a:prstGeom prst="line">
            <a:avLst/>
          </a:prstGeom>
          <a:ln w="254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699248" y="3401568"/>
            <a:ext cx="146304" cy="14630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79" y="2743200"/>
            <a:ext cx="338328" cy="338328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3154680"/>
            <a:ext cx="338328" cy="338328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356616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18120" y="4251960"/>
            <a:ext cx="18288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5B6C82"/>
                </a:solidFill>
                <a:latin typeface="Aptos"/>
              </a:defRPr>
            </a:pPr>
            <a:r>
              <a:t>feature 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5257800"/>
            <a:ext cx="73152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Same detector can find an edge anywhere • fewer parameters than full pixel-to-neuron wiring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59" y="2743200"/>
            <a:ext cx="338328" cy="338328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6759" y="315468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66759" y="3566160"/>
            <a:ext cx="338328" cy="338328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4251960"/>
            <a:ext cx="18288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5B6C82"/>
                </a:solidFill>
                <a:latin typeface="Aptos"/>
              </a:defRPr>
            </a:pPr>
            <a:r>
              <a:t>feature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5257800"/>
            <a:ext cx="73152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Same detector can find an edge anywhere • fewer parameters than full pixel-to-neuron wiring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743200"/>
            <a:ext cx="338328" cy="338328"/>
          </a:xfrm>
          <a:prstGeom prst="rect">
            <a:avLst/>
          </a:prstGeom>
          <a:solidFill>
            <a:srgbClr val="E7EDF1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3154680"/>
            <a:ext cx="338328" cy="338328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78240" y="3566160"/>
            <a:ext cx="338328" cy="338328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8120" y="4251960"/>
            <a:ext cx="18288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5B6C82"/>
                </a:solidFill>
                <a:latin typeface="Aptos"/>
              </a:defRPr>
            </a:pPr>
            <a:r>
              <a:t>feature map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5257800"/>
            <a:ext cx="73152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Same detector can find an edge anywhere • fewer parameters than full pixel-to-neuron wiring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Sequence models: remembering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Meaning changes when order changes: “dog bites man” ≠ “man bites dog”.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371600" cy="685800"/>
          </a:xfrm>
          <a:prstGeom prst="round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37160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1371600" cy="685800"/>
          </a:xfrm>
          <a:prstGeom prst="round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137160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love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240280"/>
            <a:ext cx="1371600" cy="685800"/>
          </a:xfrm>
          <a:prstGeom prst="round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137160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240280"/>
            <a:ext cx="1371600" cy="685800"/>
          </a:xfrm>
          <a:prstGeom prst="roundRect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31720"/>
            <a:ext cx="137160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learning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2578608"/>
            <a:ext cx="411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670048" y="2505456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343400" y="2578608"/>
            <a:ext cx="411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681728" y="2505456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355080" y="2578608"/>
            <a:ext cx="411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693408" y="2505456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0" y="3977639"/>
            <a:ext cx="8503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977639"/>
            <a:ext cx="73152" cy="109728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9968" y="4087368"/>
            <a:ext cx="818388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MODERN 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416552"/>
            <a:ext cx="8183880" cy="566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600" b="0">
                <a:solidFill>
                  <a:srgbClr val="18263D"/>
                </a:solidFill>
                <a:latin typeface="Aptos"/>
              </a:defRPr>
            </a:pPr>
            <a:r>
              <a:t>Transformers use attention: each word looks at the words most relevant to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Attention: focusing on what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Each word assigns more focus to the clues that answer the current question.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578608"/>
            <a:ext cx="694944" cy="6949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578608"/>
            <a:ext cx="694944" cy="69494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The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2578608"/>
            <a:ext cx="694944" cy="6949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2578608"/>
            <a:ext cx="694944" cy="69494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2" name="Oval 11"/>
          <p:cNvSpPr/>
          <p:nvPr/>
        </p:nvSpPr>
        <p:spPr>
          <a:xfrm>
            <a:off x="4224528" y="2578608"/>
            <a:ext cx="694944" cy="6949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2578608"/>
            <a:ext cx="694944" cy="69494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4" name="Oval 13"/>
          <p:cNvSpPr/>
          <p:nvPr/>
        </p:nvSpPr>
        <p:spPr>
          <a:xfrm>
            <a:off x="6053328" y="2578608"/>
            <a:ext cx="694944" cy="6949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2578608"/>
            <a:ext cx="694944" cy="69494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7882127" y="2578608"/>
            <a:ext cx="694944" cy="6949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2578608"/>
            <a:ext cx="694944" cy="69494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book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914400" y="2926080"/>
            <a:ext cx="3657600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743200" y="2926080"/>
            <a:ext cx="1828800" cy="0"/>
          </a:xfrm>
          <a:prstGeom prst="line">
            <a:avLst/>
          </a:prstGeom>
          <a:ln w="381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2926080"/>
            <a:ext cx="0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2926080"/>
            <a:ext cx="1828800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2926080"/>
            <a:ext cx="3657600" cy="0"/>
          </a:xfrm>
          <a:prstGeom prst="line">
            <a:avLst/>
          </a:prstGeom>
          <a:ln w="38100">
            <a:solidFill>
              <a:srgbClr val="F28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71800" y="3794760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500" b="1">
                <a:solidFill>
                  <a:srgbClr val="F28B39"/>
                </a:solidFill>
                <a:latin typeface="Aptos"/>
              </a:defRPr>
            </a:pPr>
            <a:r>
              <a:t>current word: “read”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80560"/>
            <a:ext cx="292608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0">
                <a:solidFill>
                  <a:srgbClr val="18263D"/>
                </a:solidFill>
                <a:latin typeface="Aptos"/>
              </a:defRPr>
            </a:pPr>
            <a:r>
              <a:t>Classroom analogy:</a:t>
            </a:r>
            <a:br/>
            <a:r>
              <a:t>listen harder to relevant clues.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Embeddings: words as locations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A word becomes a list of numbers — a point in a “meaning map”. Relationships matter.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2578608" y="2578608"/>
            <a:ext cx="329184" cy="329184"/>
          </a:xfrm>
          <a:prstGeom prst="ellipse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017520"/>
            <a:ext cx="9144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18263D"/>
                </a:solidFill>
                <a:latin typeface="Aptos"/>
              </a:defRPr>
            </a:pPr>
            <a:r>
              <a:t>apple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3035808"/>
            <a:ext cx="329184" cy="329184"/>
          </a:xfrm>
          <a:prstGeom prst="ellipse">
            <a:avLst/>
          </a:prstGeom>
          <a:solidFill>
            <a:srgbClr val="F4C14A"/>
          </a:solidFill>
          <a:ln>
            <a:solidFill>
              <a:srgbClr val="F4C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9144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18263D"/>
                </a:solidFill>
                <a:latin typeface="Aptos"/>
              </a:defRPr>
            </a:pPr>
            <a:r>
              <a:t>banana</a:t>
            </a:r>
          </a:p>
        </p:txBody>
      </p:sp>
      <p:sp>
        <p:nvSpPr>
          <p:cNvPr id="12" name="Oval 11"/>
          <p:cNvSpPr/>
          <p:nvPr/>
        </p:nvSpPr>
        <p:spPr>
          <a:xfrm>
            <a:off x="7150608" y="2121408"/>
            <a:ext cx="329184" cy="32918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9144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18263D"/>
                </a:solidFill>
                <a:latin typeface="Aptos"/>
              </a:defRPr>
            </a:pPr>
            <a:r>
              <a:t>king</a:t>
            </a:r>
          </a:p>
        </p:txBody>
      </p:sp>
      <p:sp>
        <p:nvSpPr>
          <p:cNvPr id="14" name="Oval 13"/>
          <p:cNvSpPr/>
          <p:nvPr/>
        </p:nvSpPr>
        <p:spPr>
          <a:xfrm>
            <a:off x="7882128" y="3218688"/>
            <a:ext cx="329184" cy="32918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657600"/>
            <a:ext cx="9144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18263D"/>
                </a:solidFill>
                <a:latin typeface="Aptos"/>
              </a:defRPr>
            </a:pPr>
            <a:r>
              <a:t>queen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4572000"/>
            <a:ext cx="7772400" cy="0"/>
          </a:xfrm>
          <a:prstGeom prst="line">
            <a:avLst/>
          </a:prstGeom>
          <a:ln w="12700">
            <a:solidFill>
              <a:srgbClr val="5B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28800" y="1828800"/>
            <a:ext cx="0" cy="2743200"/>
          </a:xfrm>
          <a:prstGeom prst="line">
            <a:avLst/>
          </a:prstGeom>
          <a:ln w="12700">
            <a:solidFill>
              <a:srgbClr val="5B6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08960" y="4709160"/>
            <a:ext cx="2560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dimension 1: perhaps “fruit-ness”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1645920"/>
            <a:ext cx="18288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dimension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920240"/>
            <a:ext cx="1463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1920240"/>
            <a:ext cx="73152" cy="228600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6688" y="2029968"/>
            <a:ext cx="11430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2359152"/>
            <a:ext cx="1143000" cy="17556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0">
                <a:solidFill>
                  <a:srgbClr val="18263D"/>
                </a:solidFill>
                <a:latin typeface="Aptos"/>
              </a:defRPr>
            </a:pPr>
            <a:r>
              <a:t>Coordinates have no fixed human names.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Data: train, validation,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Never tune the model on the test set: that makes the “final exam” part of practice.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4572000" cy="1234440"/>
          </a:xfrm>
          <a:prstGeom prst="round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3891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389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learn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987552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000" b="1">
                <a:solidFill>
                  <a:srgbClr val="18263D"/>
                </a:solidFill>
                <a:latin typeface="Aptos"/>
              </a:defRPr>
            </a:pPr>
            <a:r>
              <a:t>Train = practice   •   validation = choose strategy   •   test = honest final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194560"/>
            <a:ext cx="2743200" cy="1234440"/>
          </a:xfrm>
          <a:prstGeom prst="round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331720"/>
            <a:ext cx="25603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743200"/>
            <a:ext cx="25603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choose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987552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000" b="1">
                <a:solidFill>
                  <a:srgbClr val="18263D"/>
                </a:solidFill>
                <a:latin typeface="Aptos"/>
              </a:defRPr>
            </a:pPr>
            <a:r>
              <a:t>Train = practice   •   validation = choose strategy   •   test = honest final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94560"/>
            <a:ext cx="1828800" cy="1234440"/>
          </a:xfrm>
          <a:prstGeom prst="round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1645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1645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final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987552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000" b="1">
                <a:solidFill>
                  <a:srgbClr val="18263D"/>
                </a:solidFill>
                <a:latin typeface="Aptos"/>
              </a:defRPr>
            </a:pPr>
            <a:r>
              <a:t>Train = practice   •   validation = choose strategy   •   test = honest final check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Overfitting: memorizing instead of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A model can be excellent on examples and poor on new cases.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73152" cy="347472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84248"/>
            <a:ext cx="47091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13432"/>
            <a:ext cx="4709160" cy="29443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800" b="0">
                <a:solidFill>
                  <a:srgbClr val="18263D"/>
                </a:solidFill>
                <a:latin typeface="Aptos"/>
              </a:defRPr>
            </a:pPr>
            <a:r>
              <a:t>training pattern: smooth</a:t>
            </a:r>
            <a:br/>
            <a:br/>
            <a:r>
              <a:t>Finds the useful signal, ignores small quirks.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73152" cy="3474720"/>
          </a:xfrm>
          <a:prstGeom prst="rect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84248"/>
            <a:ext cx="47091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DE5B5B"/>
                </a:solidFill>
                <a:latin typeface="Aptos"/>
              </a:defRPr>
            </a:pPr>
            <a:r>
              <a:t>MEMORIZING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313432"/>
            <a:ext cx="4709160" cy="29443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800" b="0">
                <a:solidFill>
                  <a:srgbClr val="18263D"/>
                </a:solidFill>
                <a:latin typeface="Aptos"/>
              </a:defRPr>
            </a:pPr>
            <a:r>
              <a:t>test pattern: memorized</a:t>
            </a:r>
            <a:br/>
            <a:br/>
            <a:r>
              <a:t>Copies quirks from the examples; fails to generalize.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How we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Choose metrics that match the cost of mistakes.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32588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46177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38BD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461772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How often right?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132588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38528"/>
            <a:ext cx="46177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67712"/>
            <a:ext cx="461772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When it says “yes,” is it right?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73152" cy="132588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30168"/>
            <a:ext cx="46177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59352"/>
            <a:ext cx="461772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Did it find the real “yes” cases?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2044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73152" cy="1325880"/>
          </a:xfrm>
          <a:prstGeom prst="rect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630168"/>
            <a:ext cx="46177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DE5B5B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959352"/>
            <a:ext cx="461772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Balance precision and recall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Practical recipe: build a deep-learning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A model is not the same as truth.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1947672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14476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Define the question and what “good” means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2423160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04288"/>
            <a:ext cx="614476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Collect representative, permitted data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2898648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779776"/>
            <a:ext cx="614476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Clean, label, and split the data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3374136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255264"/>
            <a:ext cx="614476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Start with a simple baseline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" y="3849624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30752"/>
            <a:ext cx="614476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Train, validate, inspect errors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" y="4325112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206240"/>
            <a:ext cx="614476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Test once; document limits and risks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874519"/>
            <a:ext cx="73152" cy="338328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984248"/>
            <a:ext cx="30632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ENGINEER’S HABIT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313432"/>
            <a:ext cx="3063240" cy="28529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0">
                <a:solidFill>
                  <a:srgbClr val="18263D"/>
                </a:solidFill>
                <a:latin typeface="Aptos"/>
              </a:defRPr>
            </a:pPr>
            <a:r>
              <a:t>What could fail?</a:t>
            </a:r>
            <a:br/>
            <a:r>
              <a:t>Who could be harmed?</a:t>
            </a:r>
            <a:br/>
            <a:r>
              <a:t>Would a human trust this output?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1">
                <a:solidFill>
                  <a:srgbClr val="F4C14A"/>
                </a:solidFill>
                <a:latin typeface="Aptos"/>
              </a:defRPr>
            </a:pPr>
            <a:r>
              <a:t>CATHOLIC UNIVERSITY OF RWANDA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8686800" cy="11887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Deep</a:t>
            </a:r>
            <a:br/>
            <a: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768096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000" b="0">
                <a:solidFill>
                  <a:srgbClr val="E7EDF1"/>
                </a:solidFill>
                <a:latin typeface="Aptos"/>
              </a:defRPr>
            </a:pPr>
            <a:r>
              <a:t>How computers learn useful patterns from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983480"/>
            <a:ext cx="3840480" cy="658368"/>
          </a:xfrm>
          <a:prstGeom prst="round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347472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Lecturer: Fadl Musa  • 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2377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13647" y="189280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16567" y="289864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19487" y="189280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22407" y="289864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1600200"/>
            <a:ext cx="23774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25128" y="239572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28048" y="340156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30967" y="239572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33888" y="340156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2103120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36607" y="289864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39528" y="390448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42447" y="289864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5367" y="390448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E7EDF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Responsible AI: the model learns from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Responsible deep learning = performance + fairness + transparency + safety.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73152" cy="2834640"/>
          </a:xfrm>
          <a:prstGeom prst="rect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21945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DE5B5B"/>
                </a:solidFill>
                <a:latin typeface="Aptos"/>
              </a:defRPr>
            </a:pPr>
            <a:r>
              <a:t>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2194560" cy="23042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Uneven data → uneven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05740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057400"/>
            <a:ext cx="73152" cy="283464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2167128"/>
            <a:ext cx="21945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2496312"/>
            <a:ext cx="2194560" cy="23042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Data may reveal people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5740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2057400"/>
            <a:ext cx="73152" cy="283464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7" y="2167128"/>
            <a:ext cx="21945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38BD6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2496312"/>
            <a:ext cx="2194560" cy="23042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Confident ≠ correct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05740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057400"/>
            <a:ext cx="73152" cy="2834640"/>
          </a:xfrm>
          <a:prstGeom prst="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2167128"/>
            <a:ext cx="21945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23AAA0"/>
                </a:solidFill>
                <a:latin typeface="Aptos"/>
              </a:defRPr>
            </a:pPr>
            <a:r>
              <a:t>Human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496312"/>
            <a:ext cx="2194560" cy="230428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Use judgment and oversight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Deep learning in the real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The same learning loop appears across domains — with different consequences.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377439"/>
            <a:ext cx="1005840" cy="1005840"/>
          </a:xfrm>
          <a:prstGeom prst="ellipse">
            <a:avLst/>
          </a:prstGeom>
          <a:solidFill>
            <a:srgbClr val="DE5B5B"/>
          </a:solidFill>
          <a:ln>
            <a:solidFill>
              <a:srgbClr val="D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3657600"/>
            <a:ext cx="1645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05072"/>
            <a:ext cx="1737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5B6C82"/>
                </a:solidFill>
                <a:latin typeface="Aptos"/>
              </a:defRPr>
            </a:pPr>
            <a:r>
              <a:t>assist diagnosis</a:t>
            </a:r>
          </a:p>
        </p:txBody>
      </p:sp>
      <p:sp>
        <p:nvSpPr>
          <p:cNvPr id="11" name="Oval 10"/>
          <p:cNvSpPr/>
          <p:nvPr/>
        </p:nvSpPr>
        <p:spPr>
          <a:xfrm>
            <a:off x="3337560" y="2377439"/>
            <a:ext cx="1005840" cy="1005840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657600"/>
            <a:ext cx="1645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Agriculture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005072"/>
            <a:ext cx="1737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5B6C82"/>
                </a:solidFill>
                <a:latin typeface="Aptos"/>
              </a:defRPr>
            </a:pPr>
            <a:r>
              <a:t>spot crop disease</a:t>
            </a:r>
          </a:p>
        </p:txBody>
      </p:sp>
      <p:sp>
        <p:nvSpPr>
          <p:cNvPr id="14" name="Oval 13"/>
          <p:cNvSpPr/>
          <p:nvPr/>
        </p:nvSpPr>
        <p:spPr>
          <a:xfrm>
            <a:off x="5623560" y="2377439"/>
            <a:ext cx="1005840" cy="1005840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657600"/>
            <a:ext cx="1645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4005072"/>
            <a:ext cx="1737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5B6C82"/>
                </a:solidFill>
                <a:latin typeface="Aptos"/>
              </a:defRPr>
            </a:pPr>
            <a:r>
              <a:t>translation &amp; tutoring</a:t>
            </a:r>
          </a:p>
        </p:txBody>
      </p:sp>
      <p:sp>
        <p:nvSpPr>
          <p:cNvPr id="17" name="Oval 16"/>
          <p:cNvSpPr/>
          <p:nvPr/>
        </p:nvSpPr>
        <p:spPr>
          <a:xfrm>
            <a:off x="7909559" y="2377439"/>
            <a:ext cx="1005840" cy="1005840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3657600"/>
            <a:ext cx="1645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005072"/>
            <a:ext cx="1737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5B6C82"/>
                </a:solidFill>
                <a:latin typeface="Aptos"/>
              </a:defRPr>
            </a:pPr>
            <a:r>
              <a:t>maps and inspection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195559" y="2377439"/>
            <a:ext cx="1005840" cy="1005840"/>
          </a:xfrm>
          <a:prstGeom prst="ellipse">
            <a:avLst/>
          </a:prstGeom>
          <a:solidFill>
            <a:srgbClr val="F4C14A"/>
          </a:solidFill>
          <a:ln>
            <a:solidFill>
              <a:srgbClr val="F4C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3657600"/>
            <a:ext cx="16459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400" b="1">
                <a:solidFill>
                  <a:srgbClr val="18263D"/>
                </a:solidFill>
                <a:latin typeface="Aptos"/>
              </a:defRPr>
            </a:pPr>
            <a:r>
              <a:t>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4005072"/>
            <a:ext cx="1737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0">
                <a:solidFill>
                  <a:srgbClr val="5B6C82"/>
                </a:solidFill>
                <a:latin typeface="Aptos"/>
              </a:defRPr>
            </a:pPr>
            <a:r>
              <a:t>discover patterns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If you understand the learning loop, you understand the foundation.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1947672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1016812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0">
                <a:solidFill>
                  <a:srgbClr val="18263D"/>
                </a:solidFill>
                <a:latin typeface="Aptos"/>
              </a:defRPr>
            </a:pPr>
            <a:r>
              <a:t>Deep learning learns representations through layers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2423160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04288"/>
            <a:ext cx="1016812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0">
                <a:solidFill>
                  <a:srgbClr val="18263D"/>
                </a:solidFill>
                <a:latin typeface="Aptos"/>
              </a:defRPr>
            </a:pPr>
            <a:r>
              <a:t>A neuron combines inputs using weights, then applies a gate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2898648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779776"/>
            <a:ext cx="1016812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0">
                <a:solidFill>
                  <a:srgbClr val="18263D"/>
                </a:solidFill>
                <a:latin typeface="Aptos"/>
              </a:defRPr>
            </a:pPr>
            <a:r>
              <a:t>Training repeats: prediction → loss → backpropagation → update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3374136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255264"/>
            <a:ext cx="1016812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0">
                <a:solidFill>
                  <a:srgbClr val="18263D"/>
                </a:solidFill>
                <a:latin typeface="Aptos"/>
              </a:defRPr>
            </a:pPr>
            <a:r>
              <a:t>Data splits and evaluation protect us from self-deception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" y="3849624"/>
            <a:ext cx="128016" cy="128016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30752"/>
            <a:ext cx="1016812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700" b="0">
                <a:solidFill>
                  <a:srgbClr val="18263D"/>
                </a:solidFill>
                <a:latin typeface="Aptos"/>
              </a:defRPr>
            </a:pPr>
            <a:r>
              <a:t>Good systems pair technical performance with human responsibility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1">
                <a:solidFill>
                  <a:srgbClr val="F4C14A"/>
                </a:solidFill>
                <a:latin typeface="Aptos"/>
              </a:defRPr>
            </a:pPr>
            <a:r>
              <a:t>CATHOLIC UNIVERSITY OF RWANDA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8686800" cy="11887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Deep</a:t>
            </a:r>
            <a:br/>
            <a: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768096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000" b="0">
                <a:solidFill>
                  <a:srgbClr val="E7EDF1"/>
                </a:solidFill>
                <a:latin typeface="Aptos"/>
              </a:defRPr>
            </a:pPr>
            <a:r>
              <a:t>How computers learn useful patterns from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983480"/>
            <a:ext cx="3840480" cy="658368"/>
          </a:xfrm>
          <a:prstGeom prst="roundRect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347472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Lecturer: Fadl Musa  • 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2377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13647" y="189280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16567" y="289864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19487" y="189280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22407" y="2898648"/>
            <a:ext cx="237744" cy="237744"/>
          </a:xfrm>
          <a:prstGeom prst="ellipse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1600200"/>
            <a:ext cx="23774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25128" y="239572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28048" y="340156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30967" y="239572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33888" y="3401568"/>
            <a:ext cx="237744" cy="237744"/>
          </a:xfrm>
          <a:prstGeom prst="ellipse">
            <a:avLst/>
          </a:prstGeom>
          <a:solidFill>
            <a:srgbClr val="23AAA0"/>
          </a:solidFill>
          <a:ln>
            <a:solidFill>
              <a:srgbClr val="23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2103120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36607" y="289864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39528" y="390448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42447" y="289864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5367" y="3904488"/>
            <a:ext cx="237744" cy="237744"/>
          </a:xfrm>
          <a:prstGeom prst="ellipse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E7EDF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900" b="1">
                <a:solidFill>
                  <a:srgbClr val="23AAA0"/>
                </a:solidFill>
                <a:latin typeface="Aptos"/>
              </a:defRPr>
            </a:pPr>
            <a:r>
              <a:t>DEEP LEARNING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2700" b="1">
                <a:solidFill>
                  <a:srgbClr val="0D1930"/>
                </a:solidFill>
                <a:latin typeface="Aptos"/>
              </a:defRPr>
            </a:pPr>
            <a:r>
              <a:t>Discussion and 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5B6C82"/>
                </a:solidFill>
                <a:latin typeface="Aptos"/>
              </a:defRPr>
            </a:pPr>
            <a:r>
              <a:t>Explain to a classmate, then draw a tiny network.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481328"/>
            <a:ext cx="11000232" cy="0"/>
          </a:xfrm>
          <a:prstGeom prst="line">
            <a:avLst/>
          </a:prstGeom>
          <a:ln w="12700">
            <a:solidFill>
              <a:srgbClr val="E7E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800" b="1">
                <a:solidFill>
                  <a:srgbClr val="5B6C82"/>
                </a:solidFill>
                <a:latin typeface="Aptos"/>
              </a:defRPr>
            </a:pPr>
            <a:r>
              <a:t>CATHOLIC UNIVERSITY OF RWANDA  |  FADL MUSA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900" b="1">
                <a:solidFill>
                  <a:srgbClr val="5B6C82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538BD6"/>
          </a:solidFill>
          <a:ln>
            <a:solidFill>
              <a:srgbClr val="53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48920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538BD6"/>
                </a:solidFill>
                <a:latin typeface="Aptos"/>
              </a:defRPr>
            </a:pPr>
            <a:r>
              <a:t>EXPLAIN TO A CLASSMATE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267712"/>
            <a:ext cx="4892040" cy="29443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1. Why do we need hidden layers?</a:t>
            </a:r>
            <a:br/>
            <a:r>
              <a:t>2. What does the loss number tell us?</a:t>
            </a:r>
            <a:br/>
            <a:r>
              <a:t>3. Why keep test data separate?</a:t>
            </a:r>
            <a:br/>
            <a:r>
              <a:t>4. Give one benefit and one risk of a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F28B39"/>
          </a:solidFill>
          <a:ln>
            <a:solidFill>
              <a:srgbClr val="F2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938528"/>
            <a:ext cx="4800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F28B39"/>
                </a:solidFill>
                <a:latin typeface="Aptos"/>
              </a:defRPr>
            </a:pPr>
            <a:r>
              <a:t>ONE-MINUTE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267712"/>
            <a:ext cx="4800600" cy="29443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500" b="0">
                <a:solidFill>
                  <a:srgbClr val="18263D"/>
                </a:solidFill>
                <a:latin typeface="Aptos"/>
              </a:defRPr>
            </a:pPr>
            <a:r>
              <a:t>Draw a network that decides whether a message is spam.</a:t>
            </a:r>
            <a:br/>
            <a:br/>
            <a:r>
              <a:t>Label: two inputs • one hidden layer • one output</a:t>
            </a:r>
            <a:br/>
            <a:br/>
            <a:r>
              <a:t>Then explain what an error would mean.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715000"/>
            <a:ext cx="48463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2200" b="1">
                <a:solidFill>
                  <a:srgbClr val="0D1930"/>
                </a:solidFill>
                <a:latin typeface="Aptos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— Fadl Musa — August 2026</dc:title>
  <dc:subject/>
  <dc:creator>Fadl Musa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