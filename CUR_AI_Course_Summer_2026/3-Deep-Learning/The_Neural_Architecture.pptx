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AE1D2E-C61D-446D-9F9A-A94DFD9ACF3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sldImg"/>
          </p:nvPr>
        </p:nvSpPr>
        <p:spPr>
          <a:xfrm>
            <a:off x="756000" y="1002240"/>
            <a:ext cx="6047640" cy="2706120"/>
          </a:xfrm>
          <a:prstGeom prst="rect">
            <a:avLst/>
          </a:prstGeom>
          <a:ln w="0">
            <a:noFill/>
          </a:ln>
        </p:spPr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756000" y="3858840"/>
            <a:ext cx="6047640" cy="31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sldNum" idx="37"/>
          </p:nvPr>
        </p:nvSpPr>
        <p:spPr>
          <a:xfrm>
            <a:off x="4282200" y="7616520"/>
            <a:ext cx="3275640" cy="4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FBAE7E-D0BD-4835-86C1-AA1838DCEE8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sldImg"/>
          </p:nvPr>
        </p:nvSpPr>
        <p:spPr>
          <a:xfrm>
            <a:off x="756000" y="1002240"/>
            <a:ext cx="6047640" cy="2706120"/>
          </a:xfrm>
          <a:prstGeom prst="rect">
            <a:avLst/>
          </a:prstGeom>
          <a:ln w="0">
            <a:noFill/>
          </a:ln>
        </p:spPr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56000" y="3858840"/>
            <a:ext cx="6047640" cy="31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sldNum" idx="38"/>
          </p:nvPr>
        </p:nvSpPr>
        <p:spPr>
          <a:xfrm>
            <a:off x="4282200" y="7616520"/>
            <a:ext cx="3275640" cy="40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9B1CCF-4771-4B5F-A374-2E0CEC32CF9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37A989-4F61-48FF-95C6-2A55BB0D6A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29680" cy="1526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29680" cy="5302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166DC8E-5A21-4D7B-8C80-B0F8561078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1BE754C-EA80-4FF2-9B61-BE6C7BECB5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105C872-ED4A-455E-9F90-ED00DABC6B9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E91EED2-3968-4674-9A58-AE0A5A2086D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78D89B4-84B3-4907-B1FF-A6C9024F1EE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A7E383A-B775-494A-A4B3-1A98AB7D42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B503341-9A74-4530-8DD4-EE0D3995F4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5988D8B-221E-42A6-81E2-4BA15D3ECA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CCD9D8-3738-433D-A5DC-82DBDD174F0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01AFA0-2837-4B95-97DB-A19B925E2B1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812520" y="2139120"/>
            <a:ext cx="14630040" cy="53031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0" tIns="0" rIns="0" bIns="0" anchor="t">
            <a:noAutofit/>
          </a:bodyPr>
          <a:lstStyle>
            <a:lvl1pPr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2pPr>
            <a:lvl3pPr lvl="2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3pPr>
            <a:lvl4pPr lvl="3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4pPr>
            <a:lvl5pPr lvl="4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5pPr>
            <a:lvl6pPr lvl="5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6pPr>
            <a:lvl7pPr lvl="6" algn="l"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7pPr>
          </a:lstStyle>
          <a:p>
            <a:pPr marL="216000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432000" lvl="1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648000" lvl="2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3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080000" lvl="4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Fifth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296000" lvl="5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1512000" lvl="6" indent="-216000" algn="l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Image 0" descr="bg.png"/>
          <p:cNvPicPr/>
          <p:nvPr/>
        </p:nvPicPr>
        <p:blipFill>
          <a:blip r:embed="rId1"/>
          <a:stretch/>
        </p:blipFill>
        <p:spPr>
          <a:xfrm>
            <a:off x="0" y="0"/>
            <a:ext cx="1625508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Text 2"/>
          <p:cNvSpPr/>
          <p:nvPr/>
        </p:nvSpPr>
        <p:spPr>
          <a:xfrm>
            <a:off x="812520" y="711000"/>
            <a:ext cx="146300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pc="-51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Why ReLU Powers Deep Networks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Text 5"/>
          <p:cNvSpPr/>
          <p:nvPr/>
        </p:nvSpPr>
        <p:spPr>
          <a:xfrm>
            <a:off x="812520" y="1498320"/>
            <a:ext cx="13715640" cy="66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A simple non-negative threshold that creates sparse, lightning-fast representations without vanishing gradients</a:t>
            </a:r>
            <a:r>
              <a:rPr lang="en-US" sz="15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Shape 1"/>
          <p:cNvSpPr/>
          <p:nvPr/>
        </p:nvSpPr>
        <p:spPr>
          <a:xfrm>
            <a:off x="812520" y="2615760"/>
            <a:ext cx="4707000" cy="3238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 8"/>
          <p:cNvSpPr/>
          <p:nvPr/>
        </p:nvSpPr>
        <p:spPr>
          <a:xfrm>
            <a:off x="1117440" y="2870280"/>
            <a:ext cx="40971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563EB"/>
                </a:solidFill>
                <a:effectLst/>
                <a:uFillTx/>
                <a:latin typeface="Arial"/>
                <a:ea typeface="Arial"/>
              </a:rPr>
              <a:t>●  </a:t>
            </a: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Range [0, ∞]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Text 11"/>
          <p:cNvSpPr/>
          <p:nvPr/>
        </p:nvSpPr>
        <p:spPr>
          <a:xfrm>
            <a:off x="1117440" y="3327120"/>
            <a:ext cx="4097160" cy="22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Outputs strictly non-negative values. Because positive signals pass through unscaled, gradients never saturate or vanish across 50+ stacked layers.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Shape 3"/>
          <p:cNvSpPr/>
          <p:nvPr/>
        </p:nvSpPr>
        <p:spPr>
          <a:xfrm>
            <a:off x="5774040" y="2615760"/>
            <a:ext cx="4707000" cy="3238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 14"/>
          <p:cNvSpPr/>
          <p:nvPr/>
        </p:nvSpPr>
        <p:spPr>
          <a:xfrm>
            <a:off x="6078960" y="2870280"/>
            <a:ext cx="40971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10B981"/>
                </a:solidFill>
                <a:effectLst/>
                <a:uFillTx/>
                <a:latin typeface="Arial"/>
                <a:ea typeface="Arial"/>
              </a:rPr>
              <a:t>●  </a:t>
            </a: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Sparse Activation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 17"/>
          <p:cNvSpPr/>
          <p:nvPr/>
        </p:nvSpPr>
        <p:spPr>
          <a:xfrm>
            <a:off x="6078960" y="3327120"/>
            <a:ext cx="4097160" cy="22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Silences negative neurons to absolute zero. Only a selective subset fires at any time, mimicking biological brain efficiency and preventing co-adaptation.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Shape 4"/>
          <p:cNvSpPr/>
          <p:nvPr/>
        </p:nvSpPr>
        <p:spPr>
          <a:xfrm>
            <a:off x="10735560" y="2615760"/>
            <a:ext cx="4707000" cy="323820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5E7EB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 18"/>
          <p:cNvSpPr/>
          <p:nvPr/>
        </p:nvSpPr>
        <p:spPr>
          <a:xfrm>
            <a:off x="11040480" y="2870280"/>
            <a:ext cx="4097160" cy="35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59E0B"/>
                </a:solidFill>
                <a:effectLst/>
                <a:uFillTx/>
                <a:latin typeface="Arial"/>
                <a:ea typeface="Arial"/>
              </a:rPr>
              <a:t>●  </a:t>
            </a: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Computational Speed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11040480" y="3327120"/>
            <a:ext cx="4097160" cy="227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A simple threshold check max(0, z) avoids costly exponential math, computing 6x faster than sigmoid and significantly cutting training times.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Shape 6"/>
          <p:cNvSpPr/>
          <p:nvPr/>
        </p:nvSpPr>
        <p:spPr>
          <a:xfrm>
            <a:off x="812520" y="6108480"/>
            <a:ext cx="14629680" cy="142164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E5E7EB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Text 20"/>
          <p:cNvSpPr/>
          <p:nvPr/>
        </p:nvSpPr>
        <p:spPr>
          <a:xfrm>
            <a:off x="1193760" y="6108480"/>
            <a:ext cx="457164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u="none" strike="noStrike">
                <a:solidFill>
                  <a:srgbClr val="1E293B"/>
                </a:solidFill>
                <a:effectLst/>
                <a:uFillTx/>
                <a:latin typeface="Cambria Math"/>
                <a:ea typeface="Cambria Math"/>
              </a:rPr>
              <a:t>ReLU(z) = max(0, z)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Text 21"/>
          <p:cNvSpPr/>
          <p:nvPr/>
        </p:nvSpPr>
        <p:spPr>
          <a:xfrm>
            <a:off x="6146640" y="6108480"/>
            <a:ext cx="8915040" cy="142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2000" b="1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Negative Input (z &lt; 0): </a:t>
            </a:r>
            <a:r>
              <a:rPr lang="en-US" sz="20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Clamped to 0.0 (Neuron stays inactive)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Positive Input (z ≥ 0): </a:t>
            </a:r>
            <a:r>
              <a:rPr lang="en-US" sz="2000" b="0" u="none" strike="noStrike">
                <a:solidFill>
                  <a:srgbClr val="475569"/>
                </a:solidFill>
                <a:effectLst/>
                <a:uFillTx/>
                <a:latin typeface="Arial"/>
                <a:ea typeface="Arial"/>
              </a:rPr>
              <a:t>Output equals z (Signal passes straight through)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812520" y="8076960"/>
            <a:ext cx="14630400" cy="360"/>
          </a:xfrm>
          <a:prstGeom prst="line">
            <a:avLst/>
          </a:prstGeom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Text 22"/>
          <p:cNvSpPr/>
          <p:nvPr/>
        </p:nvSpPr>
        <p:spPr>
          <a:xfrm>
            <a:off x="812520" y="8204040"/>
            <a:ext cx="73148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Catholic University of Rwanda (CUR) • Class III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 23"/>
          <p:cNvSpPr/>
          <p:nvPr/>
        </p:nvSpPr>
        <p:spPr>
          <a:xfrm>
            <a:off x="8127720" y="8204040"/>
            <a:ext cx="73148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Lecturer: Fadl Musa • September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Image 2" descr="bg.png"/>
          <p:cNvPicPr/>
          <p:nvPr/>
        </p:nvPicPr>
        <p:blipFill>
          <a:blip r:embed="rId1"/>
          <a:stretch/>
        </p:blipFill>
        <p:spPr>
          <a:xfrm>
            <a:off x="0" y="0"/>
            <a:ext cx="16255080" cy="914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 4"/>
          <p:cNvSpPr/>
          <p:nvPr/>
        </p:nvSpPr>
        <p:spPr>
          <a:xfrm>
            <a:off x="812520" y="711000"/>
            <a:ext cx="14630040" cy="71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300" b="1" u="none" spc="-51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Sigmoid: The Probability Gate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Text 7"/>
          <p:cNvSpPr/>
          <p:nvPr/>
        </p:nvSpPr>
        <p:spPr>
          <a:xfrm>
            <a:off x="812520" y="1498320"/>
            <a:ext cx="13715640" cy="66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Compresses any real-valued score into a smooth S-curve between 0 and 1, acting as the primary decision threshold for binary outcomes.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Shape 5"/>
          <p:cNvSpPr/>
          <p:nvPr/>
        </p:nvSpPr>
        <p:spPr>
          <a:xfrm>
            <a:off x="812520" y="2615760"/>
            <a:ext cx="6510960" cy="54604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1117080" y="2870280"/>
            <a:ext cx="5901840" cy="32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11827"/>
                </a:solidFill>
                <a:effectLst/>
                <a:uFillTx/>
                <a:latin typeface="Arial"/>
                <a:ea typeface="Arial"/>
              </a:rPr>
              <a:t>Mathematical Gate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Shape 9"/>
          <p:cNvSpPr/>
          <p:nvPr/>
        </p:nvSpPr>
        <p:spPr>
          <a:xfrm>
            <a:off x="1117440" y="3352680"/>
            <a:ext cx="5901480" cy="812160"/>
          </a:xfrm>
          <a:prstGeom prst="roundRect">
            <a:avLst>
              <a:gd name="adj" fmla="val 15625"/>
            </a:avLst>
          </a:prstGeom>
          <a:solidFill>
            <a:srgbClr val="F8FAFC"/>
          </a:solidFill>
          <a:ln w="15875">
            <a:solidFill>
              <a:srgbClr val="CBD5E1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1117080" y="3352680"/>
            <a:ext cx="5901840" cy="81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0F172A"/>
                </a:solidFill>
                <a:effectLst/>
                <a:uFillTx/>
                <a:latin typeface="Cambria Math"/>
                <a:ea typeface="Cambria Math"/>
              </a:rPr>
              <a:t>σ(z) = 1 / (1 + e⁻ᶻ)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1117080" y="4394160"/>
            <a:ext cx="590184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r>
              <a:rPr lang="en-US" sz="2000" b="1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•  Range (0, 1): </a:t>
            </a:r>
            <a:r>
              <a:rPr lang="en-US" sz="20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Converts unconstrained numbers into calibrated probabilities.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r>
              <a:rPr lang="en-US" sz="2000" b="1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•  Output Specialist: </a:t>
            </a:r>
            <a:r>
              <a:rPr lang="en-US" sz="20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Standard choice for binary classification (Dog vs. Cat, Fraud vs. Normal).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defTabSz="914400">
              <a:lnSpc>
                <a:spcPct val="135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•  Smooth Gradient: </a:t>
            </a:r>
            <a:r>
              <a:rPr lang="en-US" sz="2000" b="0" u="none" strike="noStrike">
                <a:solidFill>
                  <a:srgbClr val="4B5563"/>
                </a:solidFill>
                <a:effectLst/>
                <a:uFillTx/>
                <a:latin typeface="Arial"/>
                <a:ea typeface="Arial"/>
              </a:rPr>
              <a:t>Differentiable everywhere, providing continuous error slopes for gradient descent.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Shape 10"/>
          <p:cNvSpPr/>
          <p:nvPr/>
        </p:nvSpPr>
        <p:spPr>
          <a:xfrm>
            <a:off x="7628760" y="2615760"/>
            <a:ext cx="7813440" cy="546048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9525">
            <a:solidFill>
              <a:srgbClr val="E5E7EB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2" name="Image 3" descr="sigmoid.png"/>
          <p:cNvPicPr/>
          <p:nvPr/>
        </p:nvPicPr>
        <p:blipFill>
          <a:blip r:embed="rId2"/>
          <a:stretch/>
        </p:blipFill>
        <p:spPr>
          <a:xfrm>
            <a:off x="7832520" y="3494880"/>
            <a:ext cx="7407000" cy="370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Shape 11"/>
          <p:cNvSpPr/>
          <p:nvPr/>
        </p:nvSpPr>
        <p:spPr>
          <a:xfrm>
            <a:off x="812520" y="8076960"/>
            <a:ext cx="14630400" cy="360"/>
          </a:xfrm>
          <a:prstGeom prst="line">
            <a:avLst/>
          </a:prstGeom>
          <a:ln w="12700">
            <a:solidFill>
              <a:srgbClr val="E5E7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Text 16"/>
          <p:cNvSpPr/>
          <p:nvPr/>
        </p:nvSpPr>
        <p:spPr>
          <a:xfrm>
            <a:off x="812520" y="8204040"/>
            <a:ext cx="73148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Catholic University of Rwanda (CUR) • Class III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 24"/>
          <p:cNvSpPr/>
          <p:nvPr/>
        </p:nvSpPr>
        <p:spPr>
          <a:xfrm>
            <a:off x="8127720" y="8204040"/>
            <a:ext cx="7314840" cy="30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CA3AF"/>
                </a:solidFill>
                <a:effectLst/>
                <a:uFillTx/>
                <a:latin typeface="Arial"/>
                <a:ea typeface="Arial"/>
              </a:rPr>
              <a:t>Lecturer: Fadl Musa • September 2026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440" cy="9066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2026-09-04T04:25:16Z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