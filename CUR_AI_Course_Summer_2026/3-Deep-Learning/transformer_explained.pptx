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Self-Attention: How a Transformer “Focuses”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this: “The cat sat because it was tired.” To understand “it,” your brain looks back at “cat.” Self-attention makes a model do the same thing — with math.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weights when the model processes the word “it”: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10996" y="25328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05356" y="2788920"/>
            <a:ext cx="548640" cy="91440"/>
          </a:xfrm>
          <a:prstGeom prst="rect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10996" y="288036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9525"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168396" y="1702613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62756" y="1958645"/>
            <a:ext cx="548640" cy="921715"/>
          </a:xfrm>
          <a:prstGeom prst="rect">
            <a:avLst/>
          </a:prstGeom>
          <a:solidFill>
            <a:srgbClr val="E8871E"/>
          </a:solidFill>
          <a:ln w="6350">
            <a:solidFill>
              <a:srgbClr val="E887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68396" y="288036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E8871E"/>
          </a:solidFill>
          <a:ln w="25400">
            <a:solidFill>
              <a:srgbClr val="0B3D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25796" y="25328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20156" y="2788920"/>
            <a:ext cx="548640" cy="91440"/>
          </a:xfrm>
          <a:prstGeom prst="rect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25796" y="288036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9525"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283196" y="25328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77556" y="2788920"/>
            <a:ext cx="548640" cy="91440"/>
          </a:xfrm>
          <a:prstGeom prst="rect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83196" y="288036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9525"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340596" y="24963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934956" y="2752344"/>
            <a:ext cx="548640" cy="128016"/>
          </a:xfrm>
          <a:prstGeom prst="rect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40596" y="288036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9525"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436876" y="3703320"/>
            <a:ext cx="73152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B3D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Attention(Q, K, V) = softmax( QKᵀ / √d_k ) · V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574292" y="4846320"/>
            <a:ext cx="914400" cy="914400"/>
          </a:xfrm>
          <a:prstGeom prst="ellipse">
            <a:avLst/>
          </a:prstGeom>
          <a:solidFill>
            <a:srgbClr val="0B3D62"/>
          </a:solidFill>
          <a:ln>
            <a:solidFill>
              <a:srgbClr val="0B3D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5852160"/>
            <a:ext cx="3148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— What is this word looking for?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637276" y="4846320"/>
            <a:ext cx="914400" cy="914400"/>
          </a:xfrm>
          <a:prstGeom prst="ellipse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4520184" y="5852160"/>
            <a:ext cx="3148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— What can each word offer?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700260" y="4846320"/>
            <a:ext cx="914400" cy="914400"/>
          </a:xfrm>
          <a:prstGeom prst="ellipse">
            <a:avLst/>
          </a:prstGeom>
          <a:solidFill>
            <a:srgbClr val="E8871E"/>
          </a:solidFill>
          <a:ln>
            <a:solidFill>
              <a:srgbClr val="E887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8583168" y="5852160"/>
            <a:ext cx="3148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— The actual info passed along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a Transformer Block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doesn’t work alone — it’s one piece of a block that gets stacked over and over.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4572000" cy="685800"/>
          </a:xfrm>
          <a:prstGeom prst="roundRect">
            <a:avLst>
              <a:gd name="adj" fmla="val 9333"/>
            </a:avLst>
          </a:prstGeom>
          <a:solidFill>
            <a:srgbClr val="0B3D62"/>
          </a:solidFill>
          <a:ln w="9525">
            <a:solidFill>
              <a:srgbClr val="0B3D6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Position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words into numbers, adds word order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834640" y="2103120"/>
            <a:ext cx="0" cy="182880"/>
          </a:xfrm>
          <a:prstGeom prst="line">
            <a:avLst/>
          </a:prstGeom>
          <a:noFill/>
          <a:ln w="22225">
            <a:solidFill>
              <a:srgbClr val="0B3D62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548640" y="2286000"/>
            <a:ext cx="4572000" cy="685800"/>
          </a:xfrm>
          <a:prstGeom prst="roundRect">
            <a:avLst>
              <a:gd name="adj" fmla="val 9333"/>
            </a:avLst>
          </a:prstGeom>
          <a:solidFill>
            <a:srgbClr val="E8871E"/>
          </a:solidFill>
          <a:ln w="25400">
            <a:solidFill>
              <a:srgbClr val="0B3D6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Self-Attention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word looks at every other word (Slide 1 math)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834640" y="2971800"/>
            <a:ext cx="0" cy="182880"/>
          </a:xfrm>
          <a:prstGeom prst="line">
            <a:avLst/>
          </a:prstGeom>
          <a:noFill/>
          <a:ln w="22225">
            <a:solidFill>
              <a:srgbClr val="0B3D62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4572000" cy="502920"/>
          </a:xfrm>
          <a:prstGeom prst="roundRect">
            <a:avLst>
              <a:gd name="adj" fmla="val 12727"/>
            </a:avLst>
          </a:prstGeom>
          <a:solidFill>
            <a:srgbClr val="1C7293"/>
          </a:solidFill>
          <a:ln w="9525">
            <a:solidFill>
              <a:srgbClr val="1C7293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Normalize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34640" y="3657600"/>
            <a:ext cx="0" cy="182880"/>
          </a:xfrm>
          <a:prstGeom prst="line">
            <a:avLst/>
          </a:prstGeom>
          <a:noFill/>
          <a:ln w="22225">
            <a:solidFill>
              <a:srgbClr val="0B3D62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548640" y="3840480"/>
            <a:ext cx="4572000" cy="685800"/>
          </a:xfrm>
          <a:prstGeom prst="roundRect">
            <a:avLst>
              <a:gd name="adj" fmla="val 9333"/>
            </a:avLst>
          </a:prstGeom>
          <a:solidFill>
            <a:srgbClr val="0B3D62"/>
          </a:solidFill>
          <a:ln w="9525">
            <a:solidFill>
              <a:srgbClr val="0B3D6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Network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 neural net improves each word's info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34640" y="4526280"/>
            <a:ext cx="0" cy="182880"/>
          </a:xfrm>
          <a:prstGeom prst="line">
            <a:avLst/>
          </a:prstGeom>
          <a:noFill/>
          <a:ln w="22225">
            <a:solidFill>
              <a:srgbClr val="0B3D62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548640" y="4709160"/>
            <a:ext cx="4572000" cy="502920"/>
          </a:xfrm>
          <a:prstGeom prst="roundRect">
            <a:avLst>
              <a:gd name="adj" fmla="val 12727"/>
            </a:avLst>
          </a:prstGeom>
          <a:solidFill>
            <a:srgbClr val="1C7293"/>
          </a:solidFill>
          <a:ln w="9525">
            <a:solidFill>
              <a:srgbClr val="1C7293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Normalize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834640" y="5212080"/>
            <a:ext cx="0" cy="182880"/>
          </a:xfrm>
          <a:prstGeom prst="line">
            <a:avLst/>
          </a:prstGeom>
          <a:noFill/>
          <a:ln w="22225">
            <a:solidFill>
              <a:srgbClr val="0B3D62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548640" y="5394960"/>
            <a:ext cx="4572000" cy="594360"/>
          </a:xfrm>
          <a:prstGeom prst="roundRect">
            <a:avLst>
              <a:gd name="adj" fmla="val 10769"/>
            </a:avLst>
          </a:prstGeom>
          <a:solidFill>
            <a:srgbClr val="0B3D62"/>
          </a:solidFill>
          <a:ln w="9525">
            <a:solidFill>
              <a:srgbClr val="0B3D6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Next-Word Probabilities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053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(this whole block repeats — often 6, 12, or more times, stacked)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57800" y="2286000"/>
            <a:ext cx="0" cy="292608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66360" y="2267712"/>
            <a:ext cx="182880" cy="36576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66360" y="5193792"/>
            <a:ext cx="182880" cy="36576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49240" y="3429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×N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1417320"/>
            <a:ext cx="5394960" cy="320040"/>
          </a:xfrm>
          <a:prstGeom prst="roundRect">
            <a:avLst>
              <a:gd name="adj" fmla="val 17143"/>
            </a:avLst>
          </a:prstGeom>
          <a:solidFill>
            <a:srgbClr val="0B3D62"/>
          </a:solidFill>
          <a:ln>
            <a:solidFill>
              <a:srgbClr val="0B3D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173736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0B3D62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PE(pos, 2i)   = sin( pos / 10000^(2i/d) )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PE(pos, 2i+1) = cos( pos / 10000^(2i/d) 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27889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each word a unique “timestamp” so the model knows word order — attention math alone can’t tell order.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33832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position gets its own unique pattern: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3749040"/>
            <a:ext cx="457200" cy="457200"/>
          </a:xfrm>
          <a:prstGeom prst="ellipse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4251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0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3749040"/>
            <a:ext cx="457200" cy="457200"/>
          </a:xfrm>
          <a:prstGeom prst="ellipse">
            <a:avLst/>
          </a:prstGeom>
          <a:solidFill>
            <a:srgbClr val="0B3D62"/>
          </a:solidFill>
          <a:ln>
            <a:solidFill>
              <a:srgbClr val="0B3D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0" y="4251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1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778240" y="3749040"/>
            <a:ext cx="457200" cy="457200"/>
          </a:xfrm>
          <a:prstGeom prst="ellipse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4251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2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9509760" y="3749040"/>
            <a:ext cx="457200" cy="457200"/>
          </a:xfrm>
          <a:prstGeom prst="ellipse">
            <a:avLst/>
          </a:prstGeom>
          <a:solidFill>
            <a:srgbClr val="0B3D62"/>
          </a:solidFill>
          <a:ln>
            <a:solidFill>
              <a:srgbClr val="0B3D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0" y="4251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3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241280" y="3749040"/>
            <a:ext cx="457200" cy="457200"/>
          </a:xfrm>
          <a:prstGeom prst="ellipse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0149840" y="4251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4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6309360" y="47091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Structure Works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309360" y="5029200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DCEAF5"/>
          </a:solidFill>
          <a:ln>
            <a:solidFill>
              <a:srgbClr val="DCEAF5"/>
            </a:solidFill>
          </a:ln>
        </p:spPr>
        <p:txBody>
          <a:bodyPr wrap="square" lIns="1524" tIns="1524" rIns="1524" bIns="1524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many blocks builds deeper understanding of context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attention “heads” run in parallel, each learning different word relationships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recipe powers GPT, BERT, and most modern language models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2026-08-31T05:26:49Z</dcterms:created>
  <dcterms:modified xsi:type="dcterms:W3CDTF">2026-08-31T05:26:49Z</dcterms:modified>
</cp:coreProperties>
</file>