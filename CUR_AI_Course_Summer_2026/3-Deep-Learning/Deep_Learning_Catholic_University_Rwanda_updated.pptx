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2.xml" ContentType="application/vnd.ms-office.chartcolorstyle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1.xml" ContentType="application/vnd.ms-office.chartcolorstyle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0.xml" ContentType="application/vnd.ms-office.chartcolorstyle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colors5.xml" ContentType="application/vnd.ms-office.chartcolorstyle+xml"/>
  <Override PartName="/ppt/charts/style4.xml" ContentType="application/vnd.ms-office.chartstyle+xml"/>
  <Override PartName="/ppt/charts/style5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7.xml" ContentType="application/vnd.ms-office.chartcolorstyle+xml"/>
  <Override PartName="/ppt/charts/style6.xml" ContentType="application/vnd.ms-office.chartstyle+xml"/>
  <Override PartName="/ppt/charts/style7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9.xml" ContentType="application/vnd.ms-office.chartcolorstyle+xml"/>
  <Override PartName="/ppt/charts/style8.xml" ContentType="application/vnd.ms-office.chartstyle+xml"/>
  <Override PartName="/ppt/charts/style9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11.xml" ContentType="application/vnd.ms-office.chart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style12.xml" ContentType="application/vnd.ms-office.chartstyl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_rels/chart6.xml.rels><?xml version="1.0" encoding="UTF-8"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
</Relationships>
</file>

<file path=ppt/charts/_rels/chart7.xml.rels><?xml version="1.0" encoding="UTF-8"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
</Relationships>
</file>

<file path=ppt/charts/_rels/chart8.xml.rels><?xml version="1.0" encoding="UTF-8"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
</Relationships>
</file>

<file path=ppt/charts/_rels/chart9.xml.rels><?xml version="1.0" encoding="UTF-8"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
</Relationships>
</file>

<file path=ppt/charts/_rels/chart10.xml.rels><?xml version="1.0" encoding="UTF-8"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
</Relationships>
</file>

<file path=ppt/charts/_rels/chart11.xml.rels><?xml version="1.0" encoding="UTF-8"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
</Relationships>
</file>

<file path=ppt/charts/_rels/chart12.xml.rels><?xml version="1.0" encoding="UTF-8"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Reading</c:v>
                </c:pt>
              </c:strCache>
            </c:strRef>
          </c:tx>
          <c:spPr>
            <a:solidFill>
              <a:srgbClr val="00A89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300" b="1" u="none" strike="noStrike">
                    <a:solidFill>
                      <a:srgbClr val="0B1E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Yellow</c:v>
                </c:pt>
                <c:pt idx="1">
                  <c:v>Soft</c:v>
                </c:pt>
                <c:pt idx="2">
                  <c:v>Sweet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0.8</c:v>
                </c:pt>
                <c:pt idx="1">
                  <c:v>0.6</c:v>
                </c:pt>
                <c:pt idx="2">
                  <c:v>0.9</c:v>
                </c:pt>
              </c:numCache>
            </c:numRef>
          </c:val>
        </c:ser>
        <c:gapWidth val="45"/>
        <c:overlap val="0"/>
        <c:axId val="18444937"/>
        <c:axId val="12040184"/>
      </c:barChart>
      <c:catAx>
        <c:axId val="1844493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400" b="1" u="none" strike="noStrike">
                <a:solidFill>
                  <a:srgbClr val="1B1F2A"/>
                </a:solidFill>
                <a:uFillTx/>
                <a:latin typeface="Arial"/>
              </a:defRPr>
            </a:pPr>
          </a:p>
        </c:txPr>
        <c:crossAx val="12040184"/>
        <c:crosses val="autoZero"/>
        <c:auto val="1"/>
        <c:lblAlgn val="ctr"/>
        <c:lblOffset val="100"/>
        <c:noMultiLvlLbl val="0"/>
      </c:catAx>
      <c:valAx>
        <c:axId val="12040184"/>
        <c:scaling>
          <c:orientation val="minMax"/>
          <c:max val="1.15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8444937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layers stacked</c:v>
                </c:pt>
              </c:strCache>
            </c:strRef>
          </c:tx>
          <c:spPr>
            <a:solidFill>
              <a:srgbClr val="D64550"/>
            </a:solidFill>
            <a:ln w="38160">
              <a:solidFill>
                <a:srgbClr val="D64550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58065968"/>
        <c:axId val="58415483"/>
      </c:lineChart>
      <c:catAx>
        <c:axId val="58065968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8415483"/>
        <c:auto val="1"/>
        <c:lblAlgn val="ctr"/>
        <c:lblOffset val="100"/>
        <c:noMultiLvlLbl val="0"/>
      </c:catAx>
      <c:valAx>
        <c:axId val="5841548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8065968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layers + ReLU</c:v>
                </c:pt>
              </c:strCache>
            </c:strRef>
          </c:tx>
          <c:spPr>
            <a:solidFill>
              <a:srgbClr val="00A896"/>
            </a:solidFill>
            <a:ln w="38160">
              <a:solidFill>
                <a:srgbClr val="00A896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2.6</c:v>
                </c:pt>
                <c:pt idx="8">
                  <c:v>4.2</c:v>
                </c:pt>
                <c:pt idx="9">
                  <c:v>5.8</c:v>
                </c:pt>
                <c:pt idx="10">
                  <c:v>7.4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47201996"/>
        <c:axId val="10084079"/>
      </c:lineChart>
      <c:catAx>
        <c:axId val="47201996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0084079"/>
        <c:auto val="1"/>
        <c:lblAlgn val="ctr"/>
        <c:lblOffset val="100"/>
        <c:noMultiLvlLbl val="0"/>
      </c:catAx>
      <c:valAx>
        <c:axId val="1008407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720199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ReLU</c:v>
                </c:pt>
              </c:strCache>
            </c:strRef>
          </c:tx>
          <c:spPr>
            <a:solidFill>
              <a:srgbClr val="00A896"/>
            </a:solidFill>
            <a:ln w="38160">
              <a:solidFill>
                <a:srgbClr val="00A896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0.5</c:v>
                </c:pt>
                <c:pt idx="12">
                  <c:v>1</c:v>
                </c:pt>
                <c:pt idx="13">
                  <c:v>1.5</c:v>
                </c:pt>
                <c:pt idx="14">
                  <c:v>2</c:v>
                </c:pt>
                <c:pt idx="15">
                  <c:v>2.5</c:v>
                </c:pt>
                <c:pt idx="16">
                  <c:v>3</c:v>
                </c:pt>
                <c:pt idx="17">
                  <c:v>3.5</c:v>
                </c:pt>
                <c:pt idx="18">
                  <c:v>4</c:v>
                </c:pt>
                <c:pt idx="19">
                  <c:v>4.5</c:v>
                </c:pt>
                <c:pt idx="20">
                  <c:v>5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72293149"/>
        <c:axId val="40515486"/>
      </c:lineChart>
      <c:catAx>
        <c:axId val="72293149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0515486"/>
        <c:auto val="1"/>
        <c:lblAlgn val="ctr"/>
        <c:lblOffset val="100"/>
        <c:noMultiLvlLbl val="0"/>
      </c:catAx>
      <c:valAx>
        <c:axId val="4051548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2293149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3D6C8C"/>
            </a:solidFill>
            <a:ln w="38160">
              <a:solidFill>
                <a:srgbClr val="3D6C8C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1"/>
                <c:pt idx="0">
                  <c:v>-1.97322859630286</c:v>
                </c:pt>
                <c:pt idx="1">
                  <c:v>-1.95605222947763</c:v>
                </c:pt>
                <c:pt idx="2">
                  <c:v>-1.92805516015163</c:v>
                </c:pt>
                <c:pt idx="3">
                  <c:v>-1.88275107699457</c:v>
                </c:pt>
                <c:pt idx="4">
                  <c:v>-1.81029650728973</c:v>
                </c:pt>
                <c:pt idx="5">
                  <c:v>-1.69656727991503</c:v>
                </c:pt>
                <c:pt idx="6">
                  <c:v>-1.52318831191153</c:v>
                </c:pt>
                <c:pt idx="7">
                  <c:v>-1.27029790477457</c:v>
                </c:pt>
                <c:pt idx="8">
                  <c:v>-0.92423431452002</c:v>
                </c:pt>
                <c:pt idx="9">
                  <c:v>-0.489837324807418</c:v>
                </c:pt>
                <c:pt idx="10">
                  <c:v>0</c:v>
                </c:pt>
                <c:pt idx="11">
                  <c:v>0.489837324807418</c:v>
                </c:pt>
                <c:pt idx="12">
                  <c:v>0.92423431452002</c:v>
                </c:pt>
                <c:pt idx="13">
                  <c:v>1.27029790477457</c:v>
                </c:pt>
                <c:pt idx="14">
                  <c:v>1.52318831191153</c:v>
                </c:pt>
                <c:pt idx="15">
                  <c:v>1.69656727991503</c:v>
                </c:pt>
                <c:pt idx="16">
                  <c:v>1.81029650728973</c:v>
                </c:pt>
                <c:pt idx="17">
                  <c:v>1.88275107699457</c:v>
                </c:pt>
                <c:pt idx="18">
                  <c:v>1.92805516015163</c:v>
                </c:pt>
                <c:pt idx="19">
                  <c:v>1.95605222947763</c:v>
                </c:pt>
                <c:pt idx="20">
                  <c:v>1.97322859630286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22823373"/>
        <c:axId val="15120503"/>
      </c:lineChart>
      <c:catAx>
        <c:axId val="22823373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5120503"/>
        <c:auto val="1"/>
        <c:lblAlgn val="ctr"/>
        <c:lblOffset val="100"/>
        <c:noMultiLvlLbl val="0"/>
      </c:catAx>
      <c:valAx>
        <c:axId val="1512050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282337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Tanh</c:v>
                </c:pt>
              </c:strCache>
            </c:strRef>
          </c:tx>
          <c:spPr>
            <a:solidFill>
              <a:srgbClr val="F2994A"/>
            </a:solidFill>
            <a:ln w="38160">
              <a:solidFill>
                <a:srgbClr val="F2994A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-5.0</c:v>
                </c:pt>
                <c:pt idx="1">
                  <c:v>-4.5</c:v>
                </c:pt>
                <c:pt idx="2">
                  <c:v>-4.0</c:v>
                </c:pt>
                <c:pt idx="3">
                  <c:v>-3.5</c:v>
                </c:pt>
                <c:pt idx="4">
                  <c:v>-3.0</c:v>
                </c:pt>
                <c:pt idx="5">
                  <c:v>-2.5</c:v>
                </c:pt>
                <c:pt idx="6">
                  <c:v>-2.0</c:v>
                </c:pt>
                <c:pt idx="7">
                  <c:v>-1.5</c:v>
                </c:pt>
                <c:pt idx="8">
                  <c:v>-1.0</c:v>
                </c:pt>
                <c:pt idx="9">
                  <c:v>-0.5</c:v>
                </c:pt>
                <c:pt idx="10">
                  <c:v>0.0</c:v>
                </c:pt>
                <c:pt idx="11">
                  <c:v>0.5</c:v>
                </c:pt>
                <c:pt idx="12">
                  <c:v>1.0</c:v>
                </c:pt>
                <c:pt idx="13">
                  <c:v>1.5</c:v>
                </c:pt>
                <c:pt idx="14">
                  <c:v>2.0</c:v>
                </c:pt>
                <c:pt idx="15">
                  <c:v>2.5</c:v>
                </c:pt>
                <c:pt idx="16">
                  <c:v>3.0</c:v>
                </c:pt>
                <c:pt idx="17">
                  <c:v>3.5</c:v>
                </c:pt>
                <c:pt idx="18">
                  <c:v>4.0</c:v>
                </c:pt>
                <c:pt idx="19">
                  <c:v>4.5</c:v>
                </c:pt>
                <c:pt idx="20">
                  <c:v>5.0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1"/>
                <c:pt idx="0">
                  <c:v>-0.999909204262595</c:v>
                </c:pt>
                <c:pt idx="1">
                  <c:v>-0.999753210848028</c:v>
                </c:pt>
                <c:pt idx="2">
                  <c:v>-0.999329299739067</c:v>
                </c:pt>
                <c:pt idx="3">
                  <c:v>-0.998177897611199</c:v>
                </c:pt>
                <c:pt idx="4">
                  <c:v>-0.995054753686731</c:v>
                </c:pt>
                <c:pt idx="5">
                  <c:v>-0.98661429815143</c:v>
                </c:pt>
                <c:pt idx="6">
                  <c:v>-0.964027580075817</c:v>
                </c:pt>
                <c:pt idx="7">
                  <c:v>-0.905148253644866</c:v>
                </c:pt>
                <c:pt idx="8">
                  <c:v>-0.761594155955765</c:v>
                </c:pt>
                <c:pt idx="9">
                  <c:v>-0.46211715726001</c:v>
                </c:pt>
                <c:pt idx="10">
                  <c:v>0</c:v>
                </c:pt>
                <c:pt idx="11">
                  <c:v>0.46211715726001</c:v>
                </c:pt>
                <c:pt idx="12">
                  <c:v>0.761594155955765</c:v>
                </c:pt>
                <c:pt idx="13">
                  <c:v>0.905148253644866</c:v>
                </c:pt>
                <c:pt idx="14">
                  <c:v>0.964027580075817</c:v>
                </c:pt>
                <c:pt idx="15">
                  <c:v>0.98661429815143</c:v>
                </c:pt>
                <c:pt idx="16">
                  <c:v>0.995054753686731</c:v>
                </c:pt>
                <c:pt idx="17">
                  <c:v>0.998177897611199</c:v>
                </c:pt>
                <c:pt idx="18">
                  <c:v>0.999329299739067</c:v>
                </c:pt>
                <c:pt idx="19">
                  <c:v>0.999753210848028</c:v>
                </c:pt>
                <c:pt idx="20">
                  <c:v>0.999909204262595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27354837"/>
        <c:axId val="23963299"/>
      </c:lineChart>
      <c:catAx>
        <c:axId val="27354837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3963299"/>
        <c:auto val="1"/>
        <c:lblAlgn val="ctr"/>
        <c:lblOffset val="100"/>
        <c:noMultiLvlLbl val="0"/>
      </c:catAx>
      <c:valAx>
        <c:axId val="2396329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7354837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3D6C8C"/>
            </a:solidFill>
            <a:ln w="38160">
              <a:solidFill>
                <a:srgbClr val="3D6C8C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0"/>
                <c:pt idx="0">
                  <c:v>-6.0</c:v>
                </c:pt>
                <c:pt idx="1">
                  <c:v>-5.6</c:v>
                </c:pt>
                <c:pt idx="2">
                  <c:v>-5.2</c:v>
                </c:pt>
                <c:pt idx="3">
                  <c:v>-4.8</c:v>
                </c:pt>
                <c:pt idx="4">
                  <c:v>-4.4</c:v>
                </c:pt>
                <c:pt idx="5">
                  <c:v>-4.0</c:v>
                </c:pt>
                <c:pt idx="6">
                  <c:v>-3.6</c:v>
                </c:pt>
                <c:pt idx="7">
                  <c:v>-3.2</c:v>
                </c:pt>
                <c:pt idx="8">
                  <c:v>-2.8</c:v>
                </c:pt>
                <c:pt idx="9">
                  <c:v>-2.4</c:v>
                </c:pt>
                <c:pt idx="10">
                  <c:v>-2.0</c:v>
                </c:pt>
                <c:pt idx="11">
                  <c:v>-1.6</c:v>
                </c:pt>
                <c:pt idx="12">
                  <c:v>-1.2</c:v>
                </c:pt>
                <c:pt idx="13">
                  <c:v>-0.8</c:v>
                </c:pt>
                <c:pt idx="14">
                  <c:v>-0.4</c:v>
                </c:pt>
                <c:pt idx="15">
                  <c:v>0.0</c:v>
                </c:pt>
                <c:pt idx="16">
                  <c:v>0.4</c:v>
                </c:pt>
                <c:pt idx="17">
                  <c:v>0.8</c:v>
                </c:pt>
                <c:pt idx="18">
                  <c:v>1.2</c:v>
                </c:pt>
                <c:pt idx="19">
                  <c:v>1.6</c:v>
                </c:pt>
                <c:pt idx="20">
                  <c:v>2.0</c:v>
                </c:pt>
                <c:pt idx="21">
                  <c:v>2.4</c:v>
                </c:pt>
                <c:pt idx="22">
                  <c:v>2.8</c:v>
                </c:pt>
                <c:pt idx="23">
                  <c:v>3.2</c:v>
                </c:pt>
                <c:pt idx="24">
                  <c:v>3.6</c:v>
                </c:pt>
                <c:pt idx="25">
                  <c:v>4.0</c:v>
                </c:pt>
                <c:pt idx="26">
                  <c:v>4.4</c:v>
                </c:pt>
                <c:pt idx="27">
                  <c:v>4.8</c:v>
                </c:pt>
                <c:pt idx="28">
                  <c:v>5.2</c:v>
                </c:pt>
                <c:pt idx="29">
                  <c:v>5.6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0"/>
                <c:pt idx="0">
                  <c:v>36</c:v>
                </c:pt>
                <c:pt idx="1">
                  <c:v>31.36</c:v>
                </c:pt>
                <c:pt idx="2">
                  <c:v>27.04</c:v>
                </c:pt>
                <c:pt idx="3">
                  <c:v>23.04</c:v>
                </c:pt>
                <c:pt idx="4">
                  <c:v>19.36</c:v>
                </c:pt>
                <c:pt idx="5">
                  <c:v>16</c:v>
                </c:pt>
                <c:pt idx="6">
                  <c:v>12.96</c:v>
                </c:pt>
                <c:pt idx="7">
                  <c:v>10.24</c:v>
                </c:pt>
                <c:pt idx="8">
                  <c:v>7.83999999999999</c:v>
                </c:pt>
                <c:pt idx="9">
                  <c:v>5.76</c:v>
                </c:pt>
                <c:pt idx="10">
                  <c:v>4</c:v>
                </c:pt>
                <c:pt idx="11">
                  <c:v>2.56</c:v>
                </c:pt>
                <c:pt idx="12">
                  <c:v>1.44</c:v>
                </c:pt>
                <c:pt idx="13">
                  <c:v>0.639999999999999</c:v>
                </c:pt>
                <c:pt idx="14">
                  <c:v>0.159999999999999</c:v>
                </c:pt>
                <c:pt idx="15">
                  <c:v>6.03971630559837E-031</c:v>
                </c:pt>
                <c:pt idx="16">
                  <c:v>0.160000000000001</c:v>
                </c:pt>
                <c:pt idx="17">
                  <c:v>0.640000000000001</c:v>
                </c:pt>
                <c:pt idx="18">
                  <c:v>1.44</c:v>
                </c:pt>
                <c:pt idx="19">
                  <c:v>2.56</c:v>
                </c:pt>
                <c:pt idx="20">
                  <c:v>4</c:v>
                </c:pt>
                <c:pt idx="21">
                  <c:v>5.76</c:v>
                </c:pt>
                <c:pt idx="22">
                  <c:v>7.84</c:v>
                </c:pt>
                <c:pt idx="23">
                  <c:v>10.24</c:v>
                </c:pt>
                <c:pt idx="24">
                  <c:v>12.96</c:v>
                </c:pt>
                <c:pt idx="25">
                  <c:v>16</c:v>
                </c:pt>
                <c:pt idx="26">
                  <c:v>19.36</c:v>
                </c:pt>
                <c:pt idx="27">
                  <c:v>23.04</c:v>
                </c:pt>
                <c:pt idx="28">
                  <c:v>27.04</c:v>
                </c:pt>
                <c:pt idx="29">
                  <c:v>31.36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26125099"/>
        <c:axId val="89076145"/>
      </c:lineChart>
      <c:catAx>
        <c:axId val="26125099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9076145"/>
        <c:auto val="1"/>
        <c:lblAlgn val="ctr"/>
        <c:lblOffset val="100"/>
        <c:noMultiLvlLbl val="0"/>
      </c:catAx>
      <c:valAx>
        <c:axId val="8907614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6125099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00A896"/>
            </a:solidFill>
            <a:ln w="0">
              <a:noFill/>
            </a:ln>
          </c:spPr>
          <c:invertIfNegative val="0"/>
          <c:dLbls>
            <c:numFmt formatCode="0\%" sourceLinked="0"/>
            <c:txPr>
              <a:bodyPr wrap="square"/>
              <a:lstStyle/>
              <a:p>
                <a:pPr>
                  <a:defRPr sz="1400" b="1" u="none" strike="noStrike">
                    <a:solidFill>
                      <a:srgbClr val="0B1E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Cat</c:v>
                </c:pt>
                <c:pt idx="1">
                  <c:v>Dog</c:v>
                </c:pt>
                <c:pt idx="2">
                  <c:v>Rabbit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72</c:v>
                </c:pt>
                <c:pt idx="1">
                  <c:v>18</c:v>
                </c:pt>
                <c:pt idx="2">
                  <c:v>10</c:v>
                </c:pt>
              </c:numCache>
            </c:numRef>
          </c:val>
        </c:ser>
        <c:gapWidth val="40"/>
        <c:overlap val="0"/>
        <c:axId val="98247008"/>
        <c:axId val="27766860"/>
      </c:barChart>
      <c:catAx>
        <c:axId val="982470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500" b="1" u="none" strike="noStrike">
                <a:solidFill>
                  <a:srgbClr val="1B1F2A"/>
                </a:solidFill>
                <a:uFillTx/>
                <a:latin typeface="Arial"/>
              </a:defRPr>
            </a:pPr>
          </a:p>
        </c:txPr>
        <c:crossAx val="27766860"/>
        <c:crosses val="autoZero"/>
        <c:auto val="1"/>
        <c:lblAlgn val="ctr"/>
        <c:lblOffset val="100"/>
        <c:noMultiLvlLbl val="0"/>
      </c:catAx>
      <c:valAx>
        <c:axId val="27766860"/>
        <c:scaling>
          <c:orientation val="minMax"/>
          <c:max val="85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8247008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3D6C8C"/>
            </a:solidFill>
            <a:ln w="31680">
              <a:solidFill>
                <a:srgbClr val="3D6C8C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40</c:v>
                </c:pt>
                <c:pt idx="1">
                  <c:v>55</c:v>
                </c:pt>
                <c:pt idx="2">
                  <c:v>65</c:v>
                </c:pt>
                <c:pt idx="3">
                  <c:v>80</c:v>
                </c:pt>
                <c:pt idx="4">
                  <c:v>95</c:v>
                </c:pt>
                <c:pt idx="5">
                  <c:v>110</c:v>
                </c:pt>
                <c:pt idx="6">
                  <c:v>130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71.2</c:v>
                </c:pt>
                <c:pt idx="1">
                  <c:v>90.4</c:v>
                </c:pt>
                <c:pt idx="2">
                  <c:v>103.2</c:v>
                </c:pt>
                <c:pt idx="3">
                  <c:v>122.4</c:v>
                </c:pt>
                <c:pt idx="4">
                  <c:v>141.6</c:v>
                </c:pt>
                <c:pt idx="5">
                  <c:v>160.8</c:v>
                </c:pt>
                <c:pt idx="6">
                  <c:v>186.4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64159536"/>
        <c:axId val="85377185"/>
      </c:lineChart>
      <c:catAx>
        <c:axId val="641595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200" b="0" u="none" strike="noStrike">
                    <a:solidFill>
                      <a:srgbClr val="62697A"/>
                    </a:solidFill>
                    <a:uFillTx/>
                    <a:latin typeface="Arial"/>
                  </a:rPr>
                  <a:t>size (m²)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62697A"/>
                </a:solidFill>
                <a:uFillTx/>
                <a:latin typeface="Arial"/>
              </a:defRPr>
            </a:pPr>
          </a:p>
        </c:txPr>
        <c:crossAx val="85377185"/>
        <c:crosses val="autoZero"/>
        <c:auto val="1"/>
        <c:lblAlgn val="ctr"/>
        <c:lblOffset val="100"/>
        <c:noMultiLvlLbl val="0"/>
      </c:catAx>
      <c:valAx>
        <c:axId val="8537718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415953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attention weight</c:v>
                </c:pt>
              </c:strCache>
            </c:strRef>
          </c:tx>
          <c:spPr>
            <a:solidFill>
              <a:srgbClr val="F2994A"/>
            </a:solidFill>
            <a:ln w="0">
              <a:noFill/>
            </a:ln>
          </c:spPr>
          <c:invertIfNegative val="0"/>
          <c:dLbls>
            <c:numFmt formatCode="0\%" sourceLinked="0"/>
            <c:txPr>
              <a:bodyPr wrap="square"/>
              <a:lstStyle/>
              <a:p>
                <a:pPr>
                  <a:defRPr sz="1200" b="1" u="none" strike="noStrike">
                    <a:solidFill>
                      <a:srgbClr val="0B1E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The</c:v>
                </c:pt>
                <c:pt idx="1">
                  <c:v>cat</c:v>
                </c:pt>
                <c:pt idx="2">
                  <c:v>sat</c:v>
                </c:pt>
                <c:pt idx="3">
                  <c:v>because</c:v>
                </c:pt>
                <c:pt idx="4">
                  <c:v>it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72</c:v>
                </c:pt>
                <c:pt idx="2">
                  <c:v>10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gapWidth val="150"/>
        <c:overlap val="0"/>
        <c:axId val="25428016"/>
        <c:axId val="65219123"/>
      </c:barChart>
      <c:catAx>
        <c:axId val="254280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1" u="none" strike="noStrike">
                <a:solidFill>
                  <a:srgbClr val="1B1F2A"/>
                </a:solidFill>
                <a:uFillTx/>
                <a:latin typeface="Arial"/>
              </a:defRPr>
            </a:pPr>
          </a:p>
        </c:txPr>
        <c:crossAx val="65219123"/>
        <c:crosses val="autoZero"/>
        <c:auto val="1"/>
        <c:lblAlgn val="ctr"/>
        <c:lblOffset val="100"/>
        <c:noMultiLvlLbl val="0"/>
      </c:catAx>
      <c:valAx>
        <c:axId val="65219123"/>
        <c:scaling>
          <c:orientation val="minMax"/>
          <c:max val="8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542801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pattern</c:v>
                </c:pt>
              </c:strCache>
            </c:strRef>
          </c:tx>
          <c:spPr>
            <a:solidFill>
              <a:srgbClr val="00A896"/>
            </a:solidFill>
            <a:ln w="38160">
              <a:solidFill>
                <a:srgbClr val="00A896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</c:v>
                </c:pt>
                <c:pt idx="1">
                  <c:v>3.48087787871846</c:v>
                </c:pt>
                <c:pt idx="2">
                  <c:v>3.9473479212279</c:v>
                </c:pt>
                <c:pt idx="3">
                  <c:v>4.38658839392316</c:v>
                </c:pt>
                <c:pt idx="4">
                  <c:v>4.78877516054533</c:v>
                </c:pt>
                <c:pt idx="5">
                  <c:v>5.14816318310071</c:v>
                </c:pt>
                <c:pt idx="6">
                  <c:v>5.46371897073027</c:v>
                </c:pt>
                <c:pt idx="7">
                  <c:v>5.73923435269533</c:v>
                </c:pt>
                <c:pt idx="8">
                  <c:v>5.98290905065432</c:v>
                </c:pt>
                <c:pt idx="9">
                  <c:v>6.20644800322395</c:v>
                </c:pt>
                <c:pt idx="10">
                  <c:v>6.42377281484981</c:v>
                </c:pt>
                <c:pt idx="11">
                  <c:v>6.64948918056466</c:v>
                </c:pt>
                <c:pt idx="12">
                  <c:v>6.89727900187683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60727766"/>
        <c:axId val="176553"/>
      </c:lineChart>
      <c:catAx>
        <c:axId val="60727766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76553"/>
        <c:auto val="1"/>
        <c:lblAlgn val="ctr"/>
        <c:lblOffset val="100"/>
        <c:noMultiLvlLbl val="0"/>
      </c:catAx>
      <c:valAx>
        <c:axId val="17655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072776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pattern</c:v>
                </c:pt>
              </c:strCache>
            </c:strRef>
          </c:tx>
          <c:spPr>
            <a:solidFill>
              <a:srgbClr val="D64550"/>
            </a:solidFill>
            <a:ln w="31680">
              <a:solidFill>
                <a:srgbClr val="D64550"/>
              </a:solidFill>
              <a:round/>
            </a:ln>
          </c:spPr>
          <c:marker>
            <c:symbol val="circle"/>
            <c:size val="5"/>
            <c:spPr>
              <a:solidFill>
                <a:srgbClr val="D64550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</c:v>
                </c:pt>
                <c:pt idx="1">
                  <c:v>1.76333630327605</c:v>
                </c:pt>
                <c:pt idx="2">
                  <c:v>3.2400260163517</c:v>
                </c:pt>
                <c:pt idx="3">
                  <c:v>5.53130349172437</c:v>
                </c:pt>
                <c:pt idx="4">
                  <c:v>5.2894040320495</c:v>
                </c:pt>
                <c:pt idx="5">
                  <c:v>3.47242061980242</c:v>
                </c:pt>
                <c:pt idx="6">
                  <c:v>3.84022556233162</c:v>
                </c:pt>
                <c:pt idx="7">
                  <c:v>6.43901937957925</c:v>
                </c:pt>
                <c:pt idx="8">
                  <c:v>7.34649126674169</c:v>
                </c:pt>
                <c:pt idx="9">
                  <c:v>5.51521508299102</c:v>
                </c:pt>
                <c:pt idx="10">
                  <c:v>4.7694845146168</c:v>
                </c:pt>
                <c:pt idx="11">
                  <c:v>7.08839844130272</c:v>
                </c:pt>
                <c:pt idx="12">
                  <c:v>8.9996272202568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5537487"/>
        <c:axId val="28857554"/>
      </c:lineChart>
      <c:catAx>
        <c:axId val="25537487"/>
        <c:scaling>
          <c:orientation val="minMax"/>
        </c:scaling>
        <c:delete val="1"/>
        <c:axPos val="b"/>
        <c:numFmt formatCode="[$-1009]yyyy/mm/dd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8857554"/>
        <c:auto val="1"/>
        <c:lblAlgn val="ctr"/>
        <c:lblOffset val="100"/>
        <c:noMultiLvlLbl val="0"/>
      </c:catAx>
      <c:valAx>
        <c:axId val="28857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5537487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7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8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9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0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406478-03B4-4640-A375-409CDD7B1FB8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EA5047-98EE-45F7-938B-2972A54BCA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5E61D2-3546-4630-80DE-6D87E874BF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E3CEC1-C20E-4977-A8C7-518B49D7A3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B482E7-40B6-4D62-A139-FED1D9E9B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55D88B-70D4-481F-8EC4-1C0F9B531C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186A9C-28A9-4989-A8B0-CBF9290570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C9D5C3-BE3C-4588-BB87-B7415FE918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D63D21-4E63-447C-99D5-64F3F9465A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D7B4F5-4609-4F96-ADB7-0FA60529B0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14D489-3D0E-4BEA-ADE2-3A80A17193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D67688-BB96-4BDD-AD89-807A1AF504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096641-7AF0-4899-A9B7-DBA66490F9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DFA651-F5D7-4FE0-8D59-6F79D2FD33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3B92FD-E3ED-40B4-BF2C-FD695F395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56E0F1-12E0-4FA2-99A1-70387089EA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C87622-4E6C-4B85-AD25-5A540ED229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019171-91DD-461B-B29A-8C76F3623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0021CD-8A14-4223-AAB9-2F1DFA08D0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906D7A-8690-4F89-ADF7-CD85665C2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D3D7F8-598C-46AA-B498-19FC873A9A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12B86C-8E70-4164-AAF6-C1DCD6C8CC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B1C795-B7EC-4CB1-ADF0-180FF9FBDD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79C065-E831-4B0A-AA80-258F54A3EE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970CE3-1DA4-49B8-8C95-6503A94A72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E83ADC-83BB-4CA7-8B2D-29ED8B7071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D90FCF-08E8-4128-B9C7-FF469C4E97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68878A-0D85-4C5D-9819-48D0E5B37B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F83C49-F96E-4AC2-9239-95F7332BDB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8C5CA6-6539-4B0E-9CC7-CC601887A7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307986-A796-41D5-B65A-953F2E19A9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58E2C9-2A77-4E3F-989D-EA3BBD1B0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7B4B20-E1DC-4957-A390-46B120AE76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3A4E0F-3118-43F5-B49B-FE5621D8ED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756D75-CBD8-4FE8-B3E2-D0652B5641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A6C1DC-9B46-41B1-9D15-C146C6D1BC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1C2348-EA86-4209-80AB-30F801F2F0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6C7DD4-FDBE-484F-B7AB-48ACD5FDE4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A0C9A1-FC06-443C-9F5A-B07540E434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420F36-6421-4979-A89C-86D6F7E06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84ACB2-D65B-40AE-997B-D085AEEEDB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79A5FF-10CB-4CB9-98A9-8DD3C814BE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7116D5-6D2D-4E2F-A07C-0A66FBA304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FA0494-6C7E-4363-A27F-DC7E378BC1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64C97F-D33F-4E0E-824D-0CC40296A7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flipV="1">
            <a:off x="7315200" y="1676160"/>
            <a:ext cx="1051560" cy="4269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315200" y="2103120"/>
            <a:ext cx="1051560" cy="4266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15200" y="2103120"/>
            <a:ext cx="1051560" cy="1280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0" y="2103120"/>
            <a:ext cx="1051560" cy="21333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315200" y="2103120"/>
            <a:ext cx="1051560" cy="2986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 flipV="1">
            <a:off x="7315200" y="1676160"/>
            <a:ext cx="1051560" cy="17071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 flipV="1">
            <a:off x="7315200" y="252972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315200" y="3383280"/>
            <a:ext cx="105156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315200" y="3383280"/>
            <a:ext cx="1051560" cy="8532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315200" y="3383280"/>
            <a:ext cx="1051560" cy="1706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 flipV="1">
            <a:off x="7315200" y="1676160"/>
            <a:ext cx="1051560" cy="2987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 flipV="1">
            <a:off x="7315200" y="2529720"/>
            <a:ext cx="1051560" cy="2133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 flipV="1">
            <a:off x="7315200" y="3383280"/>
            <a:ext cx="1051560" cy="1280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 flipV="1">
            <a:off x="7315200" y="4236480"/>
            <a:ext cx="1051560" cy="4269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7315200" y="4663440"/>
            <a:ext cx="1051560" cy="4266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8366760" y="1676160"/>
            <a:ext cx="1051560" cy="10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8366760" y="167616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366760" y="1676160"/>
            <a:ext cx="1051560" cy="17071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8366760" y="1676160"/>
            <a:ext cx="1051560" cy="25603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8366760" y="1676160"/>
            <a:ext cx="1051560" cy="34138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 flipV="1">
            <a:off x="8366760" y="167616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8366760" y="2529720"/>
            <a:ext cx="105156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366760" y="252972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8366760" y="2529720"/>
            <a:ext cx="1051560" cy="1706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8366760" y="2529720"/>
            <a:ext cx="1051560" cy="25603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 flipV="1">
            <a:off x="8366760" y="1676160"/>
            <a:ext cx="1051560" cy="17071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 flipV="1">
            <a:off x="8366760" y="252972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8366760" y="3383280"/>
            <a:ext cx="105156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8366760" y="3383280"/>
            <a:ext cx="1051560" cy="8532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8366760" y="3383280"/>
            <a:ext cx="1051560" cy="1706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 flipV="1">
            <a:off x="8366760" y="1676160"/>
            <a:ext cx="1051560" cy="25603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 flipV="1">
            <a:off x="8366760" y="2529720"/>
            <a:ext cx="1051560" cy="1706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 flipV="1">
            <a:off x="8366760" y="3383280"/>
            <a:ext cx="1051560" cy="8532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8366760" y="4236480"/>
            <a:ext cx="1051560" cy="10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8366760" y="423648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 flipV="1">
            <a:off x="8366760" y="1676160"/>
            <a:ext cx="1051560" cy="34138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 flipV="1">
            <a:off x="8366760" y="2529720"/>
            <a:ext cx="1051560" cy="25603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 flipV="1">
            <a:off x="8366760" y="3383280"/>
            <a:ext cx="1051560" cy="1706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 flipV="1">
            <a:off x="8366760" y="4236480"/>
            <a:ext cx="1051560" cy="8535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8366760" y="5090040"/>
            <a:ext cx="105156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9418320" y="1676160"/>
            <a:ext cx="1051560" cy="170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9418320" y="1676160"/>
            <a:ext cx="1051560" cy="11948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9418320" y="1676160"/>
            <a:ext cx="1051560" cy="22190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9418320" y="1676160"/>
            <a:ext cx="1051560" cy="32432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 flipV="1">
            <a:off x="9418320" y="1846800"/>
            <a:ext cx="1051560" cy="682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9418320" y="2529720"/>
            <a:ext cx="1051560" cy="34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9418320" y="2529720"/>
            <a:ext cx="1051560" cy="13654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9418320" y="2529720"/>
            <a:ext cx="1051560" cy="23896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8"/>
          <p:cNvSpPr/>
          <p:nvPr/>
        </p:nvSpPr>
        <p:spPr>
          <a:xfrm flipV="1">
            <a:off x="9418320" y="1846800"/>
            <a:ext cx="1051560" cy="15364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 flipV="1">
            <a:off x="9418320" y="2871000"/>
            <a:ext cx="1051560" cy="512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0"/>
          <p:cNvSpPr/>
          <p:nvPr/>
        </p:nvSpPr>
        <p:spPr>
          <a:xfrm>
            <a:off x="9418320" y="3383280"/>
            <a:ext cx="1051560" cy="511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9418320" y="3383280"/>
            <a:ext cx="1051560" cy="15361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2"/>
          <p:cNvSpPr/>
          <p:nvPr/>
        </p:nvSpPr>
        <p:spPr>
          <a:xfrm flipV="1">
            <a:off x="9418320" y="1846800"/>
            <a:ext cx="1051560" cy="23896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3"/>
          <p:cNvSpPr/>
          <p:nvPr/>
        </p:nvSpPr>
        <p:spPr>
          <a:xfrm flipV="1">
            <a:off x="9418320" y="2871000"/>
            <a:ext cx="1051560" cy="13654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4"/>
          <p:cNvSpPr/>
          <p:nvPr/>
        </p:nvSpPr>
        <p:spPr>
          <a:xfrm flipV="1">
            <a:off x="9418320" y="3895200"/>
            <a:ext cx="1051560" cy="34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9418320" y="4236480"/>
            <a:ext cx="1051560" cy="682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6"/>
          <p:cNvSpPr/>
          <p:nvPr/>
        </p:nvSpPr>
        <p:spPr>
          <a:xfrm flipV="1">
            <a:off x="9418320" y="1846800"/>
            <a:ext cx="1051560" cy="32432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7"/>
          <p:cNvSpPr/>
          <p:nvPr/>
        </p:nvSpPr>
        <p:spPr>
          <a:xfrm flipV="1">
            <a:off x="9418320" y="2871000"/>
            <a:ext cx="1051560" cy="22190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8"/>
          <p:cNvSpPr/>
          <p:nvPr/>
        </p:nvSpPr>
        <p:spPr>
          <a:xfrm flipV="1">
            <a:off x="9418320" y="3895200"/>
            <a:ext cx="1051560" cy="11948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9"/>
          <p:cNvSpPr/>
          <p:nvPr/>
        </p:nvSpPr>
        <p:spPr>
          <a:xfrm flipV="1">
            <a:off x="9418320" y="4919400"/>
            <a:ext cx="1051560" cy="170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0"/>
          <p:cNvSpPr/>
          <p:nvPr/>
        </p:nvSpPr>
        <p:spPr>
          <a:xfrm>
            <a:off x="10469880" y="1846800"/>
            <a:ext cx="1051560" cy="682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10469880" y="1846800"/>
            <a:ext cx="1051560" cy="23896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2"/>
          <p:cNvSpPr/>
          <p:nvPr/>
        </p:nvSpPr>
        <p:spPr>
          <a:xfrm flipV="1">
            <a:off x="10469880" y="2529720"/>
            <a:ext cx="1051560" cy="34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10469880" y="2871000"/>
            <a:ext cx="1051560" cy="13654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4"/>
          <p:cNvSpPr/>
          <p:nvPr/>
        </p:nvSpPr>
        <p:spPr>
          <a:xfrm flipV="1">
            <a:off x="10469880" y="2529720"/>
            <a:ext cx="1051560" cy="13654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5"/>
          <p:cNvSpPr/>
          <p:nvPr/>
        </p:nvSpPr>
        <p:spPr>
          <a:xfrm>
            <a:off x="10469880" y="3895200"/>
            <a:ext cx="1051560" cy="34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6"/>
          <p:cNvSpPr/>
          <p:nvPr/>
        </p:nvSpPr>
        <p:spPr>
          <a:xfrm flipV="1">
            <a:off x="10469880" y="2529720"/>
            <a:ext cx="1051560" cy="23896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7"/>
          <p:cNvSpPr/>
          <p:nvPr/>
        </p:nvSpPr>
        <p:spPr>
          <a:xfrm flipV="1">
            <a:off x="10469880" y="4236480"/>
            <a:ext cx="1051560" cy="682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8"/>
          <p:cNvSpPr/>
          <p:nvPr/>
        </p:nvSpPr>
        <p:spPr>
          <a:xfrm>
            <a:off x="7223760" y="201168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9"/>
          <p:cNvSpPr/>
          <p:nvPr/>
        </p:nvSpPr>
        <p:spPr>
          <a:xfrm>
            <a:off x="7223760" y="329184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0"/>
          <p:cNvSpPr/>
          <p:nvPr/>
        </p:nvSpPr>
        <p:spPr>
          <a:xfrm>
            <a:off x="7223760" y="457200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8275320" y="158508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2"/>
          <p:cNvSpPr/>
          <p:nvPr/>
        </p:nvSpPr>
        <p:spPr>
          <a:xfrm>
            <a:off x="8275320" y="243828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3"/>
          <p:cNvSpPr/>
          <p:nvPr/>
        </p:nvSpPr>
        <p:spPr>
          <a:xfrm>
            <a:off x="8275320" y="329184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4"/>
          <p:cNvSpPr/>
          <p:nvPr/>
        </p:nvSpPr>
        <p:spPr>
          <a:xfrm>
            <a:off x="8275320" y="414540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5"/>
          <p:cNvSpPr/>
          <p:nvPr/>
        </p:nvSpPr>
        <p:spPr>
          <a:xfrm>
            <a:off x="8275320" y="499860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6"/>
          <p:cNvSpPr/>
          <p:nvPr/>
        </p:nvSpPr>
        <p:spPr>
          <a:xfrm>
            <a:off x="9326880" y="1585080"/>
            <a:ext cx="182160" cy="1821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9326880" y="2438280"/>
            <a:ext cx="182160" cy="1821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8"/>
          <p:cNvSpPr/>
          <p:nvPr/>
        </p:nvSpPr>
        <p:spPr>
          <a:xfrm>
            <a:off x="9326880" y="3291840"/>
            <a:ext cx="182160" cy="1821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9"/>
          <p:cNvSpPr/>
          <p:nvPr/>
        </p:nvSpPr>
        <p:spPr>
          <a:xfrm>
            <a:off x="9326880" y="4145400"/>
            <a:ext cx="182160" cy="1821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0"/>
          <p:cNvSpPr/>
          <p:nvPr/>
        </p:nvSpPr>
        <p:spPr>
          <a:xfrm>
            <a:off x="9326880" y="4998600"/>
            <a:ext cx="182160" cy="18216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1"/>
          <p:cNvSpPr/>
          <p:nvPr/>
        </p:nvSpPr>
        <p:spPr>
          <a:xfrm>
            <a:off x="10378440" y="175572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2"/>
          <p:cNvSpPr/>
          <p:nvPr/>
        </p:nvSpPr>
        <p:spPr>
          <a:xfrm>
            <a:off x="10378440" y="277992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3"/>
          <p:cNvSpPr/>
          <p:nvPr/>
        </p:nvSpPr>
        <p:spPr>
          <a:xfrm>
            <a:off x="10378440" y="380376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4"/>
          <p:cNvSpPr/>
          <p:nvPr/>
        </p:nvSpPr>
        <p:spPr>
          <a:xfrm>
            <a:off x="10378440" y="482796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5"/>
          <p:cNvSpPr/>
          <p:nvPr/>
        </p:nvSpPr>
        <p:spPr>
          <a:xfrm>
            <a:off x="11430000" y="243828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6"/>
          <p:cNvSpPr/>
          <p:nvPr/>
        </p:nvSpPr>
        <p:spPr>
          <a:xfrm>
            <a:off x="11430000" y="414540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7"/>
          <p:cNvSpPr/>
          <p:nvPr/>
        </p:nvSpPr>
        <p:spPr>
          <a:xfrm>
            <a:off x="822960" y="1508760"/>
            <a:ext cx="6582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4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CATHOLIC UNIVERSITY OF RWANDA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8"/>
          <p:cNvSpPr/>
          <p:nvPr/>
        </p:nvSpPr>
        <p:spPr>
          <a:xfrm>
            <a:off x="777240" y="1965960"/>
            <a:ext cx="7497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Deep Learning</a:t>
            </a:r>
            <a:endParaRPr lang="en-CA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9"/>
          <p:cNvSpPr/>
          <p:nvPr/>
        </p:nvSpPr>
        <p:spPr>
          <a:xfrm>
            <a:off x="822960" y="2880360"/>
            <a:ext cx="6857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and Neural Networks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90"/>
          <p:cNvSpPr/>
          <p:nvPr/>
        </p:nvSpPr>
        <p:spPr>
          <a:xfrm>
            <a:off x="822960" y="352044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How computers learn useful patterns from examples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1"/>
          <p:cNvSpPr/>
          <p:nvPr/>
        </p:nvSpPr>
        <p:spPr>
          <a:xfrm>
            <a:off x="822960" y="5074920"/>
            <a:ext cx="4479840" cy="105084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2"/>
          <p:cNvSpPr/>
          <p:nvPr/>
        </p:nvSpPr>
        <p:spPr>
          <a:xfrm>
            <a:off x="1097280" y="519372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Lecturer: Fadl Musa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3"/>
          <p:cNvSpPr/>
          <p:nvPr/>
        </p:nvSpPr>
        <p:spPr>
          <a:xfrm>
            <a:off x="1097280" y="559620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September 2026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DEEP LEARNING &amp; NEURAL NETWORKS · 2026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What we'll cover today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548640" y="1600200"/>
            <a:ext cx="5028480" cy="4159800"/>
          </a:xfrm>
          <a:prstGeom prst="roundRect">
            <a:avLst>
              <a:gd name="adj" fmla="val 1978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868680" y="18745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50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THE BIG IDEA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868680" y="2240280"/>
            <a:ext cx="4434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 deep-learning model is a flexible function.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868680" y="3200400"/>
            <a:ext cx="4434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It sees examples, makes guesses, measures its mistakes, and adjusts itself — many times over — until the guesses become useful.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1033200" y="4919400"/>
            <a:ext cx="401760" cy="4017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1033200" y="49194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1554480" y="491940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By the end of this lecture, that one sentence will make complete sense.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6300360" y="177408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6300360" y="17740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6903720" y="1691640"/>
            <a:ext cx="470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Explain deep learning without heavy mathematics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6300360" y="270648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6300360" y="2706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903720" y="2624400"/>
            <a:ext cx="470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Build intuition for neurons, layers, and training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6300360" y="36392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6300360" y="3639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6903720" y="3557160"/>
            <a:ext cx="470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Understand how images, text, and sound become numbers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6300360" y="457200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6300360" y="457200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6903720" y="4489560"/>
            <a:ext cx="470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Recognize common failure modes and responsible-use issues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11650680" y="730440"/>
            <a:ext cx="115560" cy="115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960" tIns="37080" rIns="57960" bIns="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10270080" y="4881600"/>
            <a:ext cx="72000" cy="72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6480" rIns="36000" bIns="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9422280" y="5389200"/>
            <a:ext cx="131400" cy="1314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7966440" y="6166440"/>
            <a:ext cx="108360" cy="1083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040" rIns="54360" bIns="320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7698960" y="5799240"/>
            <a:ext cx="145080" cy="1450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8313120" y="2151000"/>
            <a:ext cx="84600" cy="846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480" tIns="15480" rIns="42480" bIns="15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9682560" y="1916280"/>
            <a:ext cx="126000" cy="126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10852920" y="4476960"/>
            <a:ext cx="70560" cy="70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5280" tIns="5760" rIns="35280" bIns="5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9414360" y="945720"/>
            <a:ext cx="137160" cy="1371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tIns="45000" rIns="68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11738880" y="1710360"/>
            <a:ext cx="117000" cy="117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8680" tIns="38520" rIns="58680" bIns="385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10431000" y="2640960"/>
            <a:ext cx="56880" cy="568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tIns="-4320" rIns="28440" bIns="-4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9068040" y="752040"/>
            <a:ext cx="130320" cy="1303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tIns="45000" rIns="651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8829720" y="2324520"/>
            <a:ext cx="123120" cy="1231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8354520" y="1190160"/>
            <a:ext cx="144720" cy="1447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48640" y="155448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SECTION 01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48640" y="2057400"/>
            <a:ext cx="96004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Foundations</a:t>
            </a:r>
            <a:endParaRPr lang="en-CA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548640" y="324612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Neurons, layers, and how raw data becomes a decision.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54864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54864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3127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3127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1"/>
          <p:cNvSpPr/>
          <p:nvPr/>
        </p:nvSpPr>
        <p:spPr>
          <a:xfrm>
            <a:off x="570600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570600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8284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8284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AI, machine learning, and deep learning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Deep learning is not magic — it's one specific technique, nested inside two broader fields.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685800" y="1965960"/>
            <a:ext cx="4479840" cy="4159800"/>
          </a:xfrm>
          <a:prstGeom prst="roundRect">
            <a:avLst>
              <a:gd name="adj" fmla="val 2637"/>
            </a:avLst>
          </a:prstGeom>
          <a:solidFill>
            <a:srgbClr val="F5F7FA"/>
          </a:solidFill>
          <a:ln w="15875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941760" y="2148840"/>
            <a:ext cx="1370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D6C8C"/>
                </a:solidFill>
                <a:effectLst/>
                <a:uFillTx/>
                <a:latin typeface="Cambria"/>
                <a:ea typeface="Cambria"/>
              </a:rPr>
              <a:t>AI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2606040"/>
            <a:ext cx="3474000" cy="3016800"/>
          </a:xfrm>
          <a:prstGeom prst="roundRect">
            <a:avLst>
              <a:gd name="adj" fmla="val 3030"/>
            </a:avLst>
          </a:prstGeom>
          <a:solidFill>
            <a:srgbClr val="EAF6F4"/>
          </a:solidFill>
          <a:ln w="15875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417320" y="2770560"/>
            <a:ext cx="1188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ML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1691640" y="3200400"/>
            <a:ext cx="2468160" cy="1919520"/>
          </a:xfrm>
          <a:prstGeom prst="roundRect">
            <a:avLst>
              <a:gd name="adj" fmla="val 4286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1691640" y="3200400"/>
            <a:ext cx="246816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Deep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Learning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5532120" y="1965960"/>
            <a:ext cx="6110280" cy="1325160"/>
          </a:xfrm>
          <a:prstGeom prst="roundRect">
            <a:avLst>
              <a:gd name="adj" fmla="val 620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5760720" y="2075760"/>
            <a:ext cx="5653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6C8C"/>
                </a:solidFill>
                <a:effectLst/>
                <a:uFillTx/>
                <a:latin typeface="Cambria"/>
                <a:ea typeface="Cambria"/>
              </a:rPr>
              <a:t>Artificial Intelligence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5760720" y="2386440"/>
            <a:ext cx="5653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Any technique that lets computers mimic human intelligence — historically, hand-crafted if/then rules.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5760720" y="2907720"/>
            <a:ext cx="5653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Like a recipe book written to cover every possible kitchen scenario.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5532120" y="3429000"/>
            <a:ext cx="6110280" cy="1325160"/>
          </a:xfrm>
          <a:prstGeom prst="roundRect">
            <a:avLst>
              <a:gd name="adj" fmla="val 620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5760720" y="3538800"/>
            <a:ext cx="5653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5760720" y="3849480"/>
            <a:ext cx="5653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Systems that learn statistical patterns from data instead of explicit rules; engineers still hand-pick which features matter.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5760720" y="4370760"/>
            <a:ext cx="5653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Like a student practicing old exam papers to deduce the grading formula.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7"/>
          <p:cNvSpPr/>
          <p:nvPr/>
        </p:nvSpPr>
        <p:spPr>
          <a:xfrm>
            <a:off x="5532120" y="4892040"/>
            <a:ext cx="6110280" cy="1325160"/>
          </a:xfrm>
          <a:prstGeom prst="roundRect">
            <a:avLst>
              <a:gd name="adj" fmla="val 620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5760720" y="5001840"/>
            <a:ext cx="5653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Deep Learning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5760720" y="5312520"/>
            <a:ext cx="5653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specialized subset of ML using deep neural networks that learn hierarchical features directly from raw pixels, audio, or text.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5760720" y="5833800"/>
            <a:ext cx="5653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Like an apprentice artist learning masterpieces just by studying millions of brushstrokes.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What is machine learning?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548640" y="141732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Instead of writing every rule by hand, we show examples and let the computer discover a rule.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548640" y="2331720"/>
            <a:ext cx="3245400" cy="287964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777240" y="2075760"/>
            <a:ext cx="2788200" cy="45648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777240" y="2075760"/>
            <a:ext cx="2788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old way: rules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822960" y="2788920"/>
            <a:ext cx="26967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IF pixels are mostly dark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THEN label = “cat”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human must anticipate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every rule in advance.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849480" y="3771720"/>
            <a:ext cx="393120" cy="1080"/>
          </a:xfrm>
          <a:prstGeom prst="line">
            <a:avLst/>
          </a:prstGeom>
          <a:ln w="28575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4297680" y="2331720"/>
            <a:ext cx="3245400" cy="2879640"/>
          </a:xfrm>
          <a:prstGeom prst="roundRect">
            <a:avLst>
              <a:gd name="adj" fmla="val 2857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4526280" y="2075760"/>
            <a:ext cx="2788200" cy="4564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4526280" y="2075760"/>
            <a:ext cx="2788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new way: examples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4572000" y="2788920"/>
            <a:ext cx="26967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Show many photos, each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labelled “cat” or “dog”.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computer looks for a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pattern that fits them.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7598520" y="3771720"/>
            <a:ext cx="393120" cy="1080"/>
          </a:xfrm>
          <a:prstGeom prst="line">
            <a:avLst/>
          </a:prstGeom>
          <a:ln w="28575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8046720" y="2331720"/>
            <a:ext cx="3245400" cy="2879640"/>
          </a:xfrm>
          <a:prstGeom prst="roundRect">
            <a:avLst>
              <a:gd name="adj" fmla="val 2857"/>
            </a:avLst>
          </a:prstGeom>
          <a:solidFill>
            <a:srgbClr val="EAF0FB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8275320" y="2075760"/>
            <a:ext cx="2788200" cy="45648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8275320" y="2075760"/>
            <a:ext cx="2788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the model learns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8321040" y="2788920"/>
            <a:ext cx="26967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New, unseen photo →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model predicts “cat”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rule was discovered,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not hand-written.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Why “deep”?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48640" y="1417320"/>
            <a:ext cx="10880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Depth means a stack of transformations. Early layers notice simple patterns, middle layers combine them, and later layers use those combinations to decide.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48640" y="2377440"/>
            <a:ext cx="5119920" cy="3748320"/>
          </a:xfrm>
          <a:prstGeom prst="roundRect">
            <a:avLst>
              <a:gd name="adj" fmla="val 219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 flipV="1">
            <a:off x="1005840" y="3227760"/>
            <a:ext cx="1401840" cy="1324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1005840" y="3360240"/>
            <a:ext cx="1401840" cy="3978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1005840" y="3360240"/>
            <a:ext cx="1401840" cy="928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7"/>
          <p:cNvSpPr/>
          <p:nvPr/>
        </p:nvSpPr>
        <p:spPr>
          <a:xfrm>
            <a:off x="1005840" y="3360240"/>
            <a:ext cx="1401840" cy="1458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 flipV="1">
            <a:off x="1005840" y="3227760"/>
            <a:ext cx="1401840" cy="7956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 flipV="1">
            <a:off x="1005840" y="3758040"/>
            <a:ext cx="1401840" cy="265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1005840" y="4023360"/>
            <a:ext cx="1401840" cy="2649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1"/>
          <p:cNvSpPr/>
          <p:nvPr/>
        </p:nvSpPr>
        <p:spPr>
          <a:xfrm>
            <a:off x="1005840" y="4023360"/>
            <a:ext cx="1401840" cy="795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 flipV="1">
            <a:off x="1005840" y="3227760"/>
            <a:ext cx="1401840" cy="1458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 flipV="1">
            <a:off x="1005840" y="3758040"/>
            <a:ext cx="1401840" cy="928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 flipV="1">
            <a:off x="1005840" y="4288320"/>
            <a:ext cx="1401840" cy="3978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1005840" y="4686120"/>
            <a:ext cx="1401840" cy="1324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2407680" y="3227760"/>
            <a:ext cx="140220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7"/>
          <p:cNvSpPr/>
          <p:nvPr/>
        </p:nvSpPr>
        <p:spPr>
          <a:xfrm>
            <a:off x="2407680" y="322776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8"/>
          <p:cNvSpPr/>
          <p:nvPr/>
        </p:nvSpPr>
        <p:spPr>
          <a:xfrm>
            <a:off x="2407680" y="3227760"/>
            <a:ext cx="1402200" cy="1060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9"/>
          <p:cNvSpPr/>
          <p:nvPr/>
        </p:nvSpPr>
        <p:spPr>
          <a:xfrm>
            <a:off x="2407680" y="3227760"/>
            <a:ext cx="1402200" cy="159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0"/>
          <p:cNvSpPr/>
          <p:nvPr/>
        </p:nvSpPr>
        <p:spPr>
          <a:xfrm flipV="1">
            <a:off x="2407680" y="322776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1"/>
          <p:cNvSpPr/>
          <p:nvPr/>
        </p:nvSpPr>
        <p:spPr>
          <a:xfrm>
            <a:off x="2407680" y="3758040"/>
            <a:ext cx="140220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2"/>
          <p:cNvSpPr/>
          <p:nvPr/>
        </p:nvSpPr>
        <p:spPr>
          <a:xfrm>
            <a:off x="2407680" y="375804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3"/>
          <p:cNvSpPr/>
          <p:nvPr/>
        </p:nvSpPr>
        <p:spPr>
          <a:xfrm>
            <a:off x="2407680" y="3758040"/>
            <a:ext cx="1402200" cy="1060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4"/>
          <p:cNvSpPr/>
          <p:nvPr/>
        </p:nvSpPr>
        <p:spPr>
          <a:xfrm flipV="1">
            <a:off x="2407680" y="3227760"/>
            <a:ext cx="1402200" cy="1060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5"/>
          <p:cNvSpPr/>
          <p:nvPr/>
        </p:nvSpPr>
        <p:spPr>
          <a:xfrm flipV="1">
            <a:off x="2407680" y="375804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6"/>
          <p:cNvSpPr/>
          <p:nvPr/>
        </p:nvSpPr>
        <p:spPr>
          <a:xfrm>
            <a:off x="2407680" y="4288320"/>
            <a:ext cx="140220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7"/>
          <p:cNvSpPr/>
          <p:nvPr/>
        </p:nvSpPr>
        <p:spPr>
          <a:xfrm>
            <a:off x="2407680" y="428832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8"/>
          <p:cNvSpPr/>
          <p:nvPr/>
        </p:nvSpPr>
        <p:spPr>
          <a:xfrm flipV="1">
            <a:off x="2407680" y="3227760"/>
            <a:ext cx="1402200" cy="159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9"/>
          <p:cNvSpPr/>
          <p:nvPr/>
        </p:nvSpPr>
        <p:spPr>
          <a:xfrm flipV="1">
            <a:off x="2407680" y="3758040"/>
            <a:ext cx="1402200" cy="1060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0"/>
          <p:cNvSpPr/>
          <p:nvPr/>
        </p:nvSpPr>
        <p:spPr>
          <a:xfrm flipV="1">
            <a:off x="2407680" y="4288320"/>
            <a:ext cx="1402200" cy="5302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1"/>
          <p:cNvSpPr/>
          <p:nvPr/>
        </p:nvSpPr>
        <p:spPr>
          <a:xfrm>
            <a:off x="2407680" y="4818600"/>
            <a:ext cx="140220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2"/>
          <p:cNvSpPr/>
          <p:nvPr/>
        </p:nvSpPr>
        <p:spPr>
          <a:xfrm>
            <a:off x="3809880" y="3227760"/>
            <a:ext cx="1402200" cy="3535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3"/>
          <p:cNvSpPr/>
          <p:nvPr/>
        </p:nvSpPr>
        <p:spPr>
          <a:xfrm>
            <a:off x="3809880" y="3227760"/>
            <a:ext cx="1402200" cy="1237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4"/>
          <p:cNvSpPr/>
          <p:nvPr/>
        </p:nvSpPr>
        <p:spPr>
          <a:xfrm flipV="1">
            <a:off x="3809880" y="3581280"/>
            <a:ext cx="1402200" cy="1767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5"/>
          <p:cNvSpPr/>
          <p:nvPr/>
        </p:nvSpPr>
        <p:spPr>
          <a:xfrm>
            <a:off x="3809880" y="3758040"/>
            <a:ext cx="1402200" cy="7070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6"/>
          <p:cNvSpPr/>
          <p:nvPr/>
        </p:nvSpPr>
        <p:spPr>
          <a:xfrm flipV="1">
            <a:off x="3809880" y="3581280"/>
            <a:ext cx="1402200" cy="7070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7"/>
          <p:cNvSpPr/>
          <p:nvPr/>
        </p:nvSpPr>
        <p:spPr>
          <a:xfrm>
            <a:off x="3809880" y="4288320"/>
            <a:ext cx="1402200" cy="1767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8"/>
          <p:cNvSpPr/>
          <p:nvPr/>
        </p:nvSpPr>
        <p:spPr>
          <a:xfrm flipV="1">
            <a:off x="3809880" y="3581280"/>
            <a:ext cx="1402200" cy="1237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9"/>
          <p:cNvSpPr/>
          <p:nvPr/>
        </p:nvSpPr>
        <p:spPr>
          <a:xfrm flipV="1">
            <a:off x="3809880" y="4465080"/>
            <a:ext cx="1402200" cy="3535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0"/>
          <p:cNvSpPr/>
          <p:nvPr/>
        </p:nvSpPr>
        <p:spPr>
          <a:xfrm>
            <a:off x="868680" y="322344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1"/>
          <p:cNvSpPr/>
          <p:nvPr/>
        </p:nvSpPr>
        <p:spPr>
          <a:xfrm>
            <a:off x="868680" y="388620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2"/>
          <p:cNvSpPr/>
          <p:nvPr/>
        </p:nvSpPr>
        <p:spPr>
          <a:xfrm>
            <a:off x="868680" y="454932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43"/>
          <p:cNvSpPr/>
          <p:nvPr/>
        </p:nvSpPr>
        <p:spPr>
          <a:xfrm>
            <a:off x="2270880" y="309060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4"/>
          <p:cNvSpPr/>
          <p:nvPr/>
        </p:nvSpPr>
        <p:spPr>
          <a:xfrm>
            <a:off x="2270880" y="362088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5"/>
          <p:cNvSpPr/>
          <p:nvPr/>
        </p:nvSpPr>
        <p:spPr>
          <a:xfrm>
            <a:off x="2270880" y="415152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6"/>
          <p:cNvSpPr/>
          <p:nvPr/>
        </p:nvSpPr>
        <p:spPr>
          <a:xfrm>
            <a:off x="2270880" y="468180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7"/>
          <p:cNvSpPr/>
          <p:nvPr/>
        </p:nvSpPr>
        <p:spPr>
          <a:xfrm>
            <a:off x="3672720" y="309060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8"/>
          <p:cNvSpPr/>
          <p:nvPr/>
        </p:nvSpPr>
        <p:spPr>
          <a:xfrm>
            <a:off x="3672720" y="36208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9"/>
          <p:cNvSpPr/>
          <p:nvPr/>
        </p:nvSpPr>
        <p:spPr>
          <a:xfrm>
            <a:off x="3672720" y="415152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0"/>
          <p:cNvSpPr/>
          <p:nvPr/>
        </p:nvSpPr>
        <p:spPr>
          <a:xfrm>
            <a:off x="3672720" y="468180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51"/>
          <p:cNvSpPr/>
          <p:nvPr/>
        </p:nvSpPr>
        <p:spPr>
          <a:xfrm>
            <a:off x="5074920" y="344412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2"/>
          <p:cNvSpPr/>
          <p:nvPr/>
        </p:nvSpPr>
        <p:spPr>
          <a:xfrm>
            <a:off x="5074920" y="43282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3"/>
          <p:cNvSpPr/>
          <p:nvPr/>
        </p:nvSpPr>
        <p:spPr>
          <a:xfrm>
            <a:off x="502920" y="54864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4"/>
          <p:cNvSpPr/>
          <p:nvPr/>
        </p:nvSpPr>
        <p:spPr>
          <a:xfrm>
            <a:off x="1905120" y="54864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Hidden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5"/>
          <p:cNvSpPr/>
          <p:nvPr/>
        </p:nvSpPr>
        <p:spPr>
          <a:xfrm>
            <a:off x="3306960" y="54864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Hidden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6"/>
          <p:cNvSpPr/>
          <p:nvPr/>
        </p:nvSpPr>
        <p:spPr>
          <a:xfrm>
            <a:off x="4709160" y="54864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7"/>
          <p:cNvSpPr/>
          <p:nvPr/>
        </p:nvSpPr>
        <p:spPr>
          <a:xfrm>
            <a:off x="6309360" y="237744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ANALOGY: BUILDING MEANING IN LAYERS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8"/>
          <p:cNvSpPr/>
          <p:nvPr/>
        </p:nvSpPr>
        <p:spPr>
          <a:xfrm>
            <a:off x="6309360" y="2788920"/>
            <a:ext cx="5028480" cy="712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9"/>
          <p:cNvSpPr/>
          <p:nvPr/>
        </p:nvSpPr>
        <p:spPr>
          <a:xfrm>
            <a:off x="6537960" y="278892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Letters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0"/>
          <p:cNvSpPr/>
          <p:nvPr/>
        </p:nvSpPr>
        <p:spPr>
          <a:xfrm>
            <a:off x="8092440" y="2788920"/>
            <a:ext cx="3016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l  o  v  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1"/>
          <p:cNvSpPr/>
          <p:nvPr/>
        </p:nvSpPr>
        <p:spPr>
          <a:xfrm>
            <a:off x="8823960" y="3529440"/>
            <a:ext cx="720" cy="12816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2"/>
          <p:cNvSpPr/>
          <p:nvPr/>
        </p:nvSpPr>
        <p:spPr>
          <a:xfrm>
            <a:off x="6309360" y="3684960"/>
            <a:ext cx="5028480" cy="712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3"/>
          <p:cNvSpPr/>
          <p:nvPr/>
        </p:nvSpPr>
        <p:spPr>
          <a:xfrm>
            <a:off x="6537960" y="368496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Words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4"/>
          <p:cNvSpPr/>
          <p:nvPr/>
        </p:nvSpPr>
        <p:spPr>
          <a:xfrm>
            <a:off x="8092440" y="3684960"/>
            <a:ext cx="3016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“love”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5"/>
          <p:cNvSpPr/>
          <p:nvPr/>
        </p:nvSpPr>
        <p:spPr>
          <a:xfrm>
            <a:off x="8823960" y="4425480"/>
            <a:ext cx="720" cy="12816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6"/>
          <p:cNvSpPr/>
          <p:nvPr/>
        </p:nvSpPr>
        <p:spPr>
          <a:xfrm>
            <a:off x="6309360" y="4581000"/>
            <a:ext cx="5028480" cy="712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7"/>
          <p:cNvSpPr/>
          <p:nvPr/>
        </p:nvSpPr>
        <p:spPr>
          <a:xfrm>
            <a:off x="6537960" y="458100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Sentences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8"/>
          <p:cNvSpPr/>
          <p:nvPr/>
        </p:nvSpPr>
        <p:spPr>
          <a:xfrm>
            <a:off x="8092440" y="4581000"/>
            <a:ext cx="3016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“I love learning”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9"/>
          <p:cNvSpPr/>
          <p:nvPr/>
        </p:nvSpPr>
        <p:spPr>
          <a:xfrm>
            <a:off x="8823960" y="5321520"/>
            <a:ext cx="720" cy="12816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70"/>
          <p:cNvSpPr/>
          <p:nvPr/>
        </p:nvSpPr>
        <p:spPr>
          <a:xfrm>
            <a:off x="6309360" y="5477400"/>
            <a:ext cx="5028480" cy="712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1"/>
          <p:cNvSpPr/>
          <p:nvPr/>
        </p:nvSpPr>
        <p:spPr>
          <a:xfrm>
            <a:off x="6537960" y="547740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Meaning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2"/>
          <p:cNvSpPr/>
          <p:nvPr/>
        </p:nvSpPr>
        <p:spPr>
          <a:xfrm>
            <a:off x="8092440" y="5477400"/>
            <a:ext cx="3016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a positive statement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3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4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 neuron: a tiny decision-maker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548640" y="1554480"/>
            <a:ext cx="6308640" cy="4479840"/>
          </a:xfrm>
          <a:prstGeom prst="roundRect">
            <a:avLst>
              <a:gd name="adj" fmla="val 183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1554480" y="2148840"/>
            <a:ext cx="2286000" cy="1645920"/>
          </a:xfrm>
          <a:prstGeom prst="line">
            <a:avLst/>
          </a:prstGeom>
          <a:ln w="19050">
            <a:solidFill>
              <a:srgbClr val="3D6C8C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"/>
          <p:cNvSpPr/>
          <p:nvPr/>
        </p:nvSpPr>
        <p:spPr>
          <a:xfrm>
            <a:off x="1261800" y="1856160"/>
            <a:ext cx="584640" cy="5846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1261800" y="185616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x₁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1554480" y="3794760"/>
            <a:ext cx="2286000" cy="720"/>
          </a:xfrm>
          <a:prstGeom prst="line">
            <a:avLst/>
          </a:prstGeom>
          <a:ln w="19050">
            <a:solidFill>
              <a:srgbClr val="3D6C8C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7"/>
          <p:cNvSpPr/>
          <p:nvPr/>
        </p:nvSpPr>
        <p:spPr>
          <a:xfrm>
            <a:off x="1261800" y="3502080"/>
            <a:ext cx="584640" cy="5846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1261800" y="350208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x₂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9"/>
          <p:cNvSpPr/>
          <p:nvPr/>
        </p:nvSpPr>
        <p:spPr>
          <a:xfrm flipV="1">
            <a:off x="1554480" y="3794760"/>
            <a:ext cx="2286000" cy="1554480"/>
          </a:xfrm>
          <a:prstGeom prst="line">
            <a:avLst/>
          </a:prstGeom>
          <a:ln w="19050">
            <a:solidFill>
              <a:srgbClr val="3D6C8C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1261800" y="5056560"/>
            <a:ext cx="584640" cy="5846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1261800" y="505656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x₃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2"/>
          <p:cNvSpPr/>
          <p:nvPr/>
        </p:nvSpPr>
        <p:spPr>
          <a:xfrm>
            <a:off x="3840480" y="3794760"/>
            <a:ext cx="2103120" cy="720"/>
          </a:xfrm>
          <a:prstGeom prst="line">
            <a:avLst/>
          </a:prstGeom>
          <a:ln w="19050">
            <a:solidFill>
              <a:srgbClr val="3D6C8C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3456360" y="3410640"/>
            <a:ext cx="767520" cy="7675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3456360" y="341064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Σ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5"/>
          <p:cNvSpPr/>
          <p:nvPr/>
        </p:nvSpPr>
        <p:spPr>
          <a:xfrm>
            <a:off x="5596200" y="3447360"/>
            <a:ext cx="694080" cy="6940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5596200" y="3447360"/>
            <a:ext cx="6940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ŷ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731520" y="24872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inputs × importance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3063240" y="427932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add them up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5166360" y="331020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prediction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0"/>
          <p:cNvSpPr/>
          <p:nvPr/>
        </p:nvSpPr>
        <p:spPr>
          <a:xfrm>
            <a:off x="7040880" y="1737360"/>
            <a:ext cx="4617000" cy="1965240"/>
          </a:xfrm>
          <a:prstGeom prst="roundRect">
            <a:avLst>
              <a:gd name="adj" fmla="val 4186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7269480" y="190188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50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ONE FORMULA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7269480" y="2240280"/>
            <a:ext cx="4205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 = w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w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w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15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b</a:t>
            </a:r>
            <a:endParaRPr lang="en-C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7269480" y="3063240"/>
            <a:ext cx="4205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w = weight (importance)   b = bias (nudge)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4"/>
          <p:cNvSpPr/>
          <p:nvPr/>
        </p:nvSpPr>
        <p:spPr>
          <a:xfrm>
            <a:off x="7132320" y="389520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7132320" y="3895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6"/>
          <p:cNvSpPr/>
          <p:nvPr/>
        </p:nvSpPr>
        <p:spPr>
          <a:xfrm>
            <a:off x="7543800" y="3886200"/>
            <a:ext cx="4068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Multiply each input by its weight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7"/>
          <p:cNvSpPr/>
          <p:nvPr/>
        </p:nvSpPr>
        <p:spPr>
          <a:xfrm>
            <a:off x="7132320" y="426096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8"/>
          <p:cNvSpPr/>
          <p:nvPr/>
        </p:nvSpPr>
        <p:spPr>
          <a:xfrm>
            <a:off x="7132320" y="4260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7543800" y="4251960"/>
            <a:ext cx="4068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Add the results together, plus a bias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0"/>
          <p:cNvSpPr/>
          <p:nvPr/>
        </p:nvSpPr>
        <p:spPr>
          <a:xfrm>
            <a:off x="7132320" y="462672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7132320" y="46267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7543800" y="4617720"/>
            <a:ext cx="4068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sum becomes the neuron's signal, z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3"/>
          <p:cNvSpPr/>
          <p:nvPr/>
        </p:nvSpPr>
        <p:spPr>
          <a:xfrm>
            <a:off x="7040880" y="5074920"/>
            <a:ext cx="4617000" cy="1279440"/>
          </a:xfrm>
          <a:prstGeom prst="roundRect">
            <a:avLst>
              <a:gd name="adj" fmla="val 6429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4"/>
          <p:cNvSpPr/>
          <p:nvPr/>
        </p:nvSpPr>
        <p:spPr>
          <a:xfrm>
            <a:off x="7269480" y="518472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WHY DO WE NEED A BIAS?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5"/>
          <p:cNvSpPr/>
          <p:nvPr/>
        </p:nvSpPr>
        <p:spPr>
          <a:xfrm>
            <a:off x="7269480" y="5440680"/>
            <a:ext cx="41598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Without b, the line is forced through zero — if every input is 0, the output must be 0 too. Bias works like a y-intercept: it shifts the threshold, so the neuron can still fire even when the inputs alone don't say so.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6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7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The only algebra we need: a weighted sum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"/>
          <p:cNvSpPr/>
          <p:nvPr/>
        </p:nvSpPr>
        <p:spPr>
          <a:xfrm>
            <a:off x="548640" y="13716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Example: is this fruit ripe?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4" name="Chart 0"/>
          <p:cNvGraphicFramePr/>
          <p:nvPr/>
        </p:nvGraphicFramePr>
        <p:xfrm>
          <a:off x="548640" y="1828800"/>
          <a:ext cx="5485680" cy="2422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15" name="Text 3"/>
          <p:cNvSpPr/>
          <p:nvPr/>
        </p:nvSpPr>
        <p:spPr>
          <a:xfrm>
            <a:off x="548640" y="43434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weight × reading:  0.9, 0.7, 1.0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6537960" y="1828800"/>
            <a:ext cx="5119920" cy="2331000"/>
          </a:xfrm>
          <a:prstGeom prst="roundRect">
            <a:avLst>
              <a:gd name="adj" fmla="val 3529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6812280" y="20574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 = 0.9(0.8) + 0.7(0.6) + 1.0(0.9)</a:t>
            </a:r>
            <a:endParaRPr lang="en-CA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6812280" y="25146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   = 2.16  →  “probably ripe”</a:t>
            </a:r>
            <a:endParaRPr lang="en-CA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6812280" y="315468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A larger weight means an input matters more to the final decision. Here, “sweet” carries the most influence.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6537960" y="4343400"/>
            <a:ext cx="5119920" cy="1416600"/>
          </a:xfrm>
          <a:prstGeom prst="roundRect">
            <a:avLst>
              <a:gd name="adj" fmla="val 5806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6812280" y="44989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WEIGHTS, IN ONE LINE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6812280" y="4800600"/>
            <a:ext cx="4571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weight says how much an input matters to the decision.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Why every layer needs a “gate”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548640" y="1371600"/>
            <a:ext cx="108806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Without a gate, stacking layers collapses into one straight line — no matter how many layers you add, the whole network behaves like a single simple equation. The gate lets the network bend, learning curves and boundaries instead.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548640" y="2423160"/>
            <a:ext cx="5211360" cy="3748320"/>
          </a:xfrm>
          <a:prstGeom prst="roundRect">
            <a:avLst>
              <a:gd name="adj" fmla="val 219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822960" y="2606040"/>
            <a:ext cx="4662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D64550"/>
                </a:solidFill>
                <a:effectLst/>
                <a:uFillTx/>
                <a:latin typeface="Calibri"/>
                <a:ea typeface="Calibri"/>
              </a:rPr>
              <a:t>WITHOUT A GATE — STILL A LINE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0" name="Chart 0"/>
          <p:cNvGraphicFramePr/>
          <p:nvPr/>
        </p:nvGraphicFramePr>
        <p:xfrm>
          <a:off x="822960" y="2971800"/>
          <a:ext cx="4662720" cy="30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1" name="Shape 5"/>
          <p:cNvSpPr/>
          <p:nvPr/>
        </p:nvSpPr>
        <p:spPr>
          <a:xfrm>
            <a:off x="6355080" y="2423160"/>
            <a:ext cx="5211360" cy="3748320"/>
          </a:xfrm>
          <a:prstGeom prst="roundRect">
            <a:avLst>
              <a:gd name="adj" fmla="val 219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6629400" y="2606040"/>
            <a:ext cx="4662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WITH A GATE (RELU) — CAN BEND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3" name="Chart 1"/>
          <p:cNvGraphicFramePr/>
          <p:nvPr/>
        </p:nvGraphicFramePr>
        <p:xfrm>
          <a:off x="6629400" y="2971800"/>
          <a:ext cx="4662720" cy="30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4" name="Text 7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8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48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79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80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"/>
          <p:cNvPicPr/>
          <p:nvPr/>
        </p:nvPicPr>
        <p:blipFill>
          <a:blip r:embed="rId1"/>
          <a:stretch/>
        </p:blipFill>
        <p:spPr>
          <a:xfrm>
            <a:off x="3060000" y="1143000"/>
            <a:ext cx="9055440" cy="500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"/>
          <p:cNvSpPr/>
          <p:nvPr/>
        </p:nvSpPr>
        <p:spPr>
          <a:xfrm>
            <a:off x="0" y="1143000"/>
            <a:ext cx="342864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Applied after the weighted sum of inputs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Introduces non-linearity into the model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Enables learning of complex data patterns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Without it, the network behaves like a linear model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Common activation functions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Every hidden neuron applies one of these “gates” to its weighted sum, z, before passing a signal onward.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548640" y="2011680"/>
            <a:ext cx="3519720" cy="411408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777240" y="217620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ReLU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777240" y="2606040"/>
            <a:ext cx="3062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max(0, z)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7" name="Chart 0"/>
          <p:cNvGraphicFramePr/>
          <p:nvPr/>
        </p:nvGraphicFramePr>
        <p:xfrm>
          <a:off x="731520" y="2971800"/>
          <a:ext cx="3153960" cy="233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48" name="Text 6"/>
          <p:cNvSpPr/>
          <p:nvPr/>
        </p:nvSpPr>
        <p:spPr>
          <a:xfrm>
            <a:off x="777240" y="5596200"/>
            <a:ext cx="3062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Like a one-way valve: opens only for positive pressure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4389120" y="2011680"/>
            <a:ext cx="3519720" cy="411408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4617720" y="217620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Sigmoid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"/>
          <p:cNvSpPr/>
          <p:nvPr/>
        </p:nvSpPr>
        <p:spPr>
          <a:xfrm>
            <a:off x="4617720" y="2606040"/>
            <a:ext cx="3062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1 / (1 + e⁻ᶻ)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2" name="Chart 1"/>
          <p:cNvGraphicFramePr/>
          <p:nvPr/>
        </p:nvGraphicFramePr>
        <p:xfrm>
          <a:off x="4572000" y="2971800"/>
          <a:ext cx="3153960" cy="233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3" name="Text 10"/>
          <p:cNvSpPr/>
          <p:nvPr/>
        </p:nvSpPr>
        <p:spPr>
          <a:xfrm>
            <a:off x="4617720" y="5596200"/>
            <a:ext cx="3062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Squeezes output into (0, 1)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8229600" y="2011680"/>
            <a:ext cx="3519720" cy="4114080"/>
          </a:xfrm>
          <a:prstGeom prst="roundRect">
            <a:avLst>
              <a:gd name="adj" fmla="val 233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2"/>
          <p:cNvSpPr/>
          <p:nvPr/>
        </p:nvSpPr>
        <p:spPr>
          <a:xfrm>
            <a:off x="8458200" y="2176200"/>
            <a:ext cx="3062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Tanh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3"/>
          <p:cNvSpPr/>
          <p:nvPr/>
        </p:nvSpPr>
        <p:spPr>
          <a:xfrm>
            <a:off x="8458200" y="2606040"/>
            <a:ext cx="3062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tanh(z)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7" name="Chart 2"/>
          <p:cNvGraphicFramePr/>
          <p:nvPr/>
        </p:nvGraphicFramePr>
        <p:xfrm>
          <a:off x="8412480" y="2971800"/>
          <a:ext cx="3153960" cy="233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8" name="Text 14"/>
          <p:cNvSpPr/>
          <p:nvPr/>
        </p:nvSpPr>
        <p:spPr>
          <a:xfrm>
            <a:off x="8458200" y="5596200"/>
            <a:ext cx="3062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Squeezes output into (−1, 1)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From one neuron to a full network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548640" y="13716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Many simple units cooperate.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548640" y="1874520"/>
            <a:ext cx="5942880" cy="4296960"/>
          </a:xfrm>
          <a:prstGeom prst="roundRect">
            <a:avLst>
              <a:gd name="adj" fmla="val 191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 flipV="1">
            <a:off x="1097280" y="2756160"/>
            <a:ext cx="1615320" cy="1879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1097280" y="2944080"/>
            <a:ext cx="1615320" cy="282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1097280" y="2944080"/>
            <a:ext cx="1615320" cy="7524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1097280" y="2944080"/>
            <a:ext cx="1615320" cy="12229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1097280" y="2944080"/>
            <a:ext cx="1615320" cy="1693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1097280" y="2944080"/>
            <a:ext cx="1615320" cy="2163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 flipV="1">
            <a:off x="1097280" y="2756160"/>
            <a:ext cx="1615320" cy="846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 flipV="1">
            <a:off x="1097280" y="3226320"/>
            <a:ext cx="1615320" cy="3762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2"/>
          <p:cNvSpPr/>
          <p:nvPr/>
        </p:nvSpPr>
        <p:spPr>
          <a:xfrm>
            <a:off x="1097280" y="3602520"/>
            <a:ext cx="1615320" cy="939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1097280" y="3602520"/>
            <a:ext cx="1615320" cy="5644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1097280" y="3602520"/>
            <a:ext cx="1615320" cy="10346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1097280" y="3602520"/>
            <a:ext cx="1615320" cy="15048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6"/>
          <p:cNvSpPr/>
          <p:nvPr/>
        </p:nvSpPr>
        <p:spPr>
          <a:xfrm flipV="1">
            <a:off x="1097280" y="2756160"/>
            <a:ext cx="1615320" cy="15048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7"/>
          <p:cNvSpPr/>
          <p:nvPr/>
        </p:nvSpPr>
        <p:spPr>
          <a:xfrm flipV="1">
            <a:off x="1097280" y="3226320"/>
            <a:ext cx="1615320" cy="10346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 flipV="1">
            <a:off x="1097280" y="3696480"/>
            <a:ext cx="1615320" cy="5644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 flipV="1">
            <a:off x="1097280" y="4167000"/>
            <a:ext cx="1615320" cy="939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0"/>
          <p:cNvSpPr/>
          <p:nvPr/>
        </p:nvSpPr>
        <p:spPr>
          <a:xfrm>
            <a:off x="1097280" y="4260960"/>
            <a:ext cx="1615320" cy="3762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1"/>
          <p:cNvSpPr/>
          <p:nvPr/>
        </p:nvSpPr>
        <p:spPr>
          <a:xfrm>
            <a:off x="1097280" y="4260960"/>
            <a:ext cx="1615320" cy="846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2"/>
          <p:cNvSpPr/>
          <p:nvPr/>
        </p:nvSpPr>
        <p:spPr>
          <a:xfrm flipV="1">
            <a:off x="1097280" y="2756160"/>
            <a:ext cx="1615320" cy="2163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3"/>
          <p:cNvSpPr/>
          <p:nvPr/>
        </p:nvSpPr>
        <p:spPr>
          <a:xfrm flipV="1">
            <a:off x="1097280" y="3226320"/>
            <a:ext cx="1615320" cy="1693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 flipV="1">
            <a:off x="1097280" y="3696480"/>
            <a:ext cx="1615320" cy="12229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5"/>
          <p:cNvSpPr/>
          <p:nvPr/>
        </p:nvSpPr>
        <p:spPr>
          <a:xfrm flipV="1">
            <a:off x="1097280" y="4167000"/>
            <a:ext cx="1615320" cy="7524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6"/>
          <p:cNvSpPr/>
          <p:nvPr/>
        </p:nvSpPr>
        <p:spPr>
          <a:xfrm flipV="1">
            <a:off x="1097280" y="4637160"/>
            <a:ext cx="1615320" cy="282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7"/>
          <p:cNvSpPr/>
          <p:nvPr/>
        </p:nvSpPr>
        <p:spPr>
          <a:xfrm>
            <a:off x="1097280" y="4919400"/>
            <a:ext cx="1615320" cy="1879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8"/>
          <p:cNvSpPr/>
          <p:nvPr/>
        </p:nvSpPr>
        <p:spPr>
          <a:xfrm>
            <a:off x="2712600" y="2756160"/>
            <a:ext cx="161532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9"/>
          <p:cNvSpPr/>
          <p:nvPr/>
        </p:nvSpPr>
        <p:spPr>
          <a:xfrm>
            <a:off x="2712600" y="275616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0"/>
          <p:cNvSpPr/>
          <p:nvPr/>
        </p:nvSpPr>
        <p:spPr>
          <a:xfrm>
            <a:off x="2712600" y="2756160"/>
            <a:ext cx="1615320" cy="940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1"/>
          <p:cNvSpPr/>
          <p:nvPr/>
        </p:nvSpPr>
        <p:spPr>
          <a:xfrm>
            <a:off x="2712600" y="275616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2"/>
          <p:cNvSpPr/>
          <p:nvPr/>
        </p:nvSpPr>
        <p:spPr>
          <a:xfrm>
            <a:off x="2712600" y="2756160"/>
            <a:ext cx="1615320" cy="188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3"/>
          <p:cNvSpPr/>
          <p:nvPr/>
        </p:nvSpPr>
        <p:spPr>
          <a:xfrm>
            <a:off x="2712600" y="2756160"/>
            <a:ext cx="1615320" cy="2351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4"/>
          <p:cNvSpPr/>
          <p:nvPr/>
        </p:nvSpPr>
        <p:spPr>
          <a:xfrm flipV="1">
            <a:off x="2712600" y="275616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5"/>
          <p:cNvSpPr/>
          <p:nvPr/>
        </p:nvSpPr>
        <p:spPr>
          <a:xfrm>
            <a:off x="2712600" y="3226320"/>
            <a:ext cx="161532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6"/>
          <p:cNvSpPr/>
          <p:nvPr/>
        </p:nvSpPr>
        <p:spPr>
          <a:xfrm>
            <a:off x="2712600" y="322632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7"/>
          <p:cNvSpPr/>
          <p:nvPr/>
        </p:nvSpPr>
        <p:spPr>
          <a:xfrm>
            <a:off x="2712600" y="3226320"/>
            <a:ext cx="1615320" cy="940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8"/>
          <p:cNvSpPr/>
          <p:nvPr/>
        </p:nvSpPr>
        <p:spPr>
          <a:xfrm>
            <a:off x="2712600" y="322632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9"/>
          <p:cNvSpPr/>
          <p:nvPr/>
        </p:nvSpPr>
        <p:spPr>
          <a:xfrm>
            <a:off x="2712600" y="3226320"/>
            <a:ext cx="1615320" cy="188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40"/>
          <p:cNvSpPr/>
          <p:nvPr/>
        </p:nvSpPr>
        <p:spPr>
          <a:xfrm flipV="1">
            <a:off x="2712600" y="2756160"/>
            <a:ext cx="1615320" cy="940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1"/>
          <p:cNvSpPr/>
          <p:nvPr/>
        </p:nvSpPr>
        <p:spPr>
          <a:xfrm flipV="1">
            <a:off x="2712600" y="322632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2"/>
          <p:cNvSpPr/>
          <p:nvPr/>
        </p:nvSpPr>
        <p:spPr>
          <a:xfrm>
            <a:off x="2712600" y="3696480"/>
            <a:ext cx="161532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3"/>
          <p:cNvSpPr/>
          <p:nvPr/>
        </p:nvSpPr>
        <p:spPr>
          <a:xfrm>
            <a:off x="2712600" y="3696480"/>
            <a:ext cx="1615320" cy="4705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4"/>
          <p:cNvSpPr/>
          <p:nvPr/>
        </p:nvSpPr>
        <p:spPr>
          <a:xfrm>
            <a:off x="2712600" y="3696480"/>
            <a:ext cx="1615320" cy="940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5"/>
          <p:cNvSpPr/>
          <p:nvPr/>
        </p:nvSpPr>
        <p:spPr>
          <a:xfrm>
            <a:off x="2712600" y="369648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6"/>
          <p:cNvSpPr/>
          <p:nvPr/>
        </p:nvSpPr>
        <p:spPr>
          <a:xfrm flipV="1">
            <a:off x="2712600" y="275616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7"/>
          <p:cNvSpPr/>
          <p:nvPr/>
        </p:nvSpPr>
        <p:spPr>
          <a:xfrm flipV="1">
            <a:off x="2712600" y="3226320"/>
            <a:ext cx="1615320" cy="940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8"/>
          <p:cNvSpPr/>
          <p:nvPr/>
        </p:nvSpPr>
        <p:spPr>
          <a:xfrm flipV="1">
            <a:off x="2712600" y="3696480"/>
            <a:ext cx="1615320" cy="4705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9"/>
          <p:cNvSpPr/>
          <p:nvPr/>
        </p:nvSpPr>
        <p:spPr>
          <a:xfrm>
            <a:off x="2712600" y="4167000"/>
            <a:ext cx="161532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0"/>
          <p:cNvSpPr/>
          <p:nvPr/>
        </p:nvSpPr>
        <p:spPr>
          <a:xfrm>
            <a:off x="2712600" y="416700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1"/>
          <p:cNvSpPr/>
          <p:nvPr/>
        </p:nvSpPr>
        <p:spPr>
          <a:xfrm>
            <a:off x="2712600" y="4167000"/>
            <a:ext cx="1615320" cy="940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52"/>
          <p:cNvSpPr/>
          <p:nvPr/>
        </p:nvSpPr>
        <p:spPr>
          <a:xfrm flipV="1">
            <a:off x="2712600" y="2756160"/>
            <a:ext cx="1615320" cy="188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53"/>
          <p:cNvSpPr/>
          <p:nvPr/>
        </p:nvSpPr>
        <p:spPr>
          <a:xfrm flipV="1">
            <a:off x="2712600" y="322632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4"/>
          <p:cNvSpPr/>
          <p:nvPr/>
        </p:nvSpPr>
        <p:spPr>
          <a:xfrm flipV="1">
            <a:off x="2712600" y="3696480"/>
            <a:ext cx="1615320" cy="940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5"/>
          <p:cNvSpPr/>
          <p:nvPr/>
        </p:nvSpPr>
        <p:spPr>
          <a:xfrm flipV="1">
            <a:off x="2712600" y="416700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56"/>
          <p:cNvSpPr/>
          <p:nvPr/>
        </p:nvSpPr>
        <p:spPr>
          <a:xfrm>
            <a:off x="2712600" y="4637160"/>
            <a:ext cx="161532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7"/>
          <p:cNvSpPr/>
          <p:nvPr/>
        </p:nvSpPr>
        <p:spPr>
          <a:xfrm>
            <a:off x="2712600" y="463716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8"/>
          <p:cNvSpPr/>
          <p:nvPr/>
        </p:nvSpPr>
        <p:spPr>
          <a:xfrm flipV="1">
            <a:off x="2712600" y="2756160"/>
            <a:ext cx="1615320" cy="2351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9"/>
          <p:cNvSpPr/>
          <p:nvPr/>
        </p:nvSpPr>
        <p:spPr>
          <a:xfrm flipV="1">
            <a:off x="2712600" y="3226320"/>
            <a:ext cx="1615320" cy="188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0"/>
          <p:cNvSpPr/>
          <p:nvPr/>
        </p:nvSpPr>
        <p:spPr>
          <a:xfrm flipV="1">
            <a:off x="2712600" y="3696480"/>
            <a:ext cx="1615320" cy="1410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1"/>
          <p:cNvSpPr/>
          <p:nvPr/>
        </p:nvSpPr>
        <p:spPr>
          <a:xfrm flipV="1">
            <a:off x="2712600" y="4167000"/>
            <a:ext cx="1615320" cy="940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62"/>
          <p:cNvSpPr/>
          <p:nvPr/>
        </p:nvSpPr>
        <p:spPr>
          <a:xfrm flipV="1">
            <a:off x="2712600" y="4637160"/>
            <a:ext cx="1615320" cy="470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63"/>
          <p:cNvSpPr/>
          <p:nvPr/>
        </p:nvSpPr>
        <p:spPr>
          <a:xfrm>
            <a:off x="2712600" y="5107320"/>
            <a:ext cx="161532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4"/>
          <p:cNvSpPr/>
          <p:nvPr/>
        </p:nvSpPr>
        <p:spPr>
          <a:xfrm>
            <a:off x="4327920" y="2756160"/>
            <a:ext cx="1615680" cy="3528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65"/>
          <p:cNvSpPr/>
          <p:nvPr/>
        </p:nvSpPr>
        <p:spPr>
          <a:xfrm>
            <a:off x="4327920" y="2756160"/>
            <a:ext cx="1615680" cy="11757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6"/>
          <p:cNvSpPr/>
          <p:nvPr/>
        </p:nvSpPr>
        <p:spPr>
          <a:xfrm>
            <a:off x="4327920" y="2756160"/>
            <a:ext cx="1615680" cy="1998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67"/>
          <p:cNvSpPr/>
          <p:nvPr/>
        </p:nvSpPr>
        <p:spPr>
          <a:xfrm flipV="1">
            <a:off x="4327920" y="3108960"/>
            <a:ext cx="1615680" cy="117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68"/>
          <p:cNvSpPr/>
          <p:nvPr/>
        </p:nvSpPr>
        <p:spPr>
          <a:xfrm>
            <a:off x="4327920" y="3226320"/>
            <a:ext cx="1615680" cy="7056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69"/>
          <p:cNvSpPr/>
          <p:nvPr/>
        </p:nvSpPr>
        <p:spPr>
          <a:xfrm>
            <a:off x="4327920" y="3226320"/>
            <a:ext cx="1615680" cy="1528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70"/>
          <p:cNvSpPr/>
          <p:nvPr/>
        </p:nvSpPr>
        <p:spPr>
          <a:xfrm flipV="1">
            <a:off x="4327920" y="3108960"/>
            <a:ext cx="1615680" cy="5875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71"/>
          <p:cNvSpPr/>
          <p:nvPr/>
        </p:nvSpPr>
        <p:spPr>
          <a:xfrm>
            <a:off x="4327920" y="3696480"/>
            <a:ext cx="1615680" cy="2354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2"/>
          <p:cNvSpPr/>
          <p:nvPr/>
        </p:nvSpPr>
        <p:spPr>
          <a:xfrm>
            <a:off x="4327920" y="3696480"/>
            <a:ext cx="1615680" cy="10584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73"/>
          <p:cNvSpPr/>
          <p:nvPr/>
        </p:nvSpPr>
        <p:spPr>
          <a:xfrm flipV="1">
            <a:off x="4327920" y="3108960"/>
            <a:ext cx="1615680" cy="10580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74"/>
          <p:cNvSpPr/>
          <p:nvPr/>
        </p:nvSpPr>
        <p:spPr>
          <a:xfrm flipV="1">
            <a:off x="4327920" y="3931920"/>
            <a:ext cx="1615680" cy="235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75"/>
          <p:cNvSpPr/>
          <p:nvPr/>
        </p:nvSpPr>
        <p:spPr>
          <a:xfrm>
            <a:off x="4327920" y="4167000"/>
            <a:ext cx="1615680" cy="5878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76"/>
          <p:cNvSpPr/>
          <p:nvPr/>
        </p:nvSpPr>
        <p:spPr>
          <a:xfrm flipV="1">
            <a:off x="4327920" y="3108960"/>
            <a:ext cx="1615680" cy="15282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77"/>
          <p:cNvSpPr/>
          <p:nvPr/>
        </p:nvSpPr>
        <p:spPr>
          <a:xfrm flipV="1">
            <a:off x="4327920" y="3931920"/>
            <a:ext cx="1615680" cy="7052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78"/>
          <p:cNvSpPr/>
          <p:nvPr/>
        </p:nvSpPr>
        <p:spPr>
          <a:xfrm>
            <a:off x="4327920" y="4637160"/>
            <a:ext cx="1615680" cy="117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9"/>
          <p:cNvSpPr/>
          <p:nvPr/>
        </p:nvSpPr>
        <p:spPr>
          <a:xfrm flipV="1">
            <a:off x="4327920" y="3108960"/>
            <a:ext cx="1615680" cy="19983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80"/>
          <p:cNvSpPr/>
          <p:nvPr/>
        </p:nvSpPr>
        <p:spPr>
          <a:xfrm flipV="1">
            <a:off x="4327920" y="3931920"/>
            <a:ext cx="1615680" cy="11754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81"/>
          <p:cNvSpPr/>
          <p:nvPr/>
        </p:nvSpPr>
        <p:spPr>
          <a:xfrm flipV="1">
            <a:off x="4327920" y="4754880"/>
            <a:ext cx="1615680" cy="3524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82"/>
          <p:cNvSpPr/>
          <p:nvPr/>
        </p:nvSpPr>
        <p:spPr>
          <a:xfrm>
            <a:off x="973800" y="2820960"/>
            <a:ext cx="246240" cy="2462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83"/>
          <p:cNvSpPr/>
          <p:nvPr/>
        </p:nvSpPr>
        <p:spPr>
          <a:xfrm>
            <a:off x="973800" y="3479400"/>
            <a:ext cx="246240" cy="2462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84"/>
          <p:cNvSpPr/>
          <p:nvPr/>
        </p:nvSpPr>
        <p:spPr>
          <a:xfrm>
            <a:off x="973800" y="4137840"/>
            <a:ext cx="246240" cy="2462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85"/>
          <p:cNvSpPr/>
          <p:nvPr/>
        </p:nvSpPr>
        <p:spPr>
          <a:xfrm>
            <a:off x="973800" y="4795920"/>
            <a:ext cx="246240" cy="2462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6"/>
          <p:cNvSpPr/>
          <p:nvPr/>
        </p:nvSpPr>
        <p:spPr>
          <a:xfrm>
            <a:off x="2589120" y="263268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87"/>
          <p:cNvSpPr/>
          <p:nvPr/>
        </p:nvSpPr>
        <p:spPr>
          <a:xfrm>
            <a:off x="2589120" y="310320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88"/>
          <p:cNvSpPr/>
          <p:nvPr/>
        </p:nvSpPr>
        <p:spPr>
          <a:xfrm>
            <a:off x="2589120" y="357336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89"/>
          <p:cNvSpPr/>
          <p:nvPr/>
        </p:nvSpPr>
        <p:spPr>
          <a:xfrm>
            <a:off x="2589120" y="404352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90"/>
          <p:cNvSpPr/>
          <p:nvPr/>
        </p:nvSpPr>
        <p:spPr>
          <a:xfrm>
            <a:off x="2589120" y="451404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91"/>
          <p:cNvSpPr/>
          <p:nvPr/>
        </p:nvSpPr>
        <p:spPr>
          <a:xfrm>
            <a:off x="2589120" y="4984200"/>
            <a:ext cx="246240" cy="2462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92"/>
          <p:cNvSpPr/>
          <p:nvPr/>
        </p:nvSpPr>
        <p:spPr>
          <a:xfrm>
            <a:off x="4204800" y="263268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93"/>
          <p:cNvSpPr/>
          <p:nvPr/>
        </p:nvSpPr>
        <p:spPr>
          <a:xfrm>
            <a:off x="4204800" y="310320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94"/>
          <p:cNvSpPr/>
          <p:nvPr/>
        </p:nvSpPr>
        <p:spPr>
          <a:xfrm>
            <a:off x="4204800" y="357336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95"/>
          <p:cNvSpPr/>
          <p:nvPr/>
        </p:nvSpPr>
        <p:spPr>
          <a:xfrm>
            <a:off x="4204800" y="404352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96"/>
          <p:cNvSpPr/>
          <p:nvPr/>
        </p:nvSpPr>
        <p:spPr>
          <a:xfrm>
            <a:off x="4204800" y="451404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97"/>
          <p:cNvSpPr/>
          <p:nvPr/>
        </p:nvSpPr>
        <p:spPr>
          <a:xfrm>
            <a:off x="4204800" y="498420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98"/>
          <p:cNvSpPr/>
          <p:nvPr/>
        </p:nvSpPr>
        <p:spPr>
          <a:xfrm>
            <a:off x="5820120" y="298548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99"/>
          <p:cNvSpPr/>
          <p:nvPr/>
        </p:nvSpPr>
        <p:spPr>
          <a:xfrm>
            <a:off x="5820120" y="380844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00"/>
          <p:cNvSpPr/>
          <p:nvPr/>
        </p:nvSpPr>
        <p:spPr>
          <a:xfrm>
            <a:off x="5820120" y="4631400"/>
            <a:ext cx="246240" cy="2462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01"/>
          <p:cNvSpPr/>
          <p:nvPr/>
        </p:nvSpPr>
        <p:spPr>
          <a:xfrm>
            <a:off x="594360" y="571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02"/>
          <p:cNvSpPr/>
          <p:nvPr/>
        </p:nvSpPr>
        <p:spPr>
          <a:xfrm>
            <a:off x="2209680" y="571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Hidden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03"/>
          <p:cNvSpPr/>
          <p:nvPr/>
        </p:nvSpPr>
        <p:spPr>
          <a:xfrm>
            <a:off x="3825360" y="571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Hidden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04"/>
          <p:cNvSpPr/>
          <p:nvPr/>
        </p:nvSpPr>
        <p:spPr>
          <a:xfrm>
            <a:off x="5440680" y="5715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05"/>
          <p:cNvSpPr/>
          <p:nvPr/>
        </p:nvSpPr>
        <p:spPr>
          <a:xfrm>
            <a:off x="6446520" y="1947600"/>
            <a:ext cx="438120" cy="43812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06"/>
          <p:cNvSpPr/>
          <p:nvPr/>
        </p:nvSpPr>
        <p:spPr>
          <a:xfrm>
            <a:off x="6446520" y="194760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07"/>
          <p:cNvSpPr/>
          <p:nvPr/>
        </p:nvSpPr>
        <p:spPr>
          <a:xfrm>
            <a:off x="7013520" y="18745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Input layer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08"/>
          <p:cNvSpPr/>
          <p:nvPr/>
        </p:nvSpPr>
        <p:spPr>
          <a:xfrm>
            <a:off x="7013520" y="2203560"/>
            <a:ext cx="4571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Receives raw measurements — pixels, words, sensor readings.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09"/>
          <p:cNvSpPr/>
          <p:nvPr/>
        </p:nvSpPr>
        <p:spPr>
          <a:xfrm>
            <a:off x="6446520" y="288036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10"/>
          <p:cNvSpPr/>
          <p:nvPr/>
        </p:nvSpPr>
        <p:spPr>
          <a:xfrm>
            <a:off x="6446520" y="288036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11"/>
          <p:cNvSpPr/>
          <p:nvPr/>
        </p:nvSpPr>
        <p:spPr>
          <a:xfrm>
            <a:off x="7013520" y="28072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Hidden layers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12"/>
          <p:cNvSpPr/>
          <p:nvPr/>
        </p:nvSpPr>
        <p:spPr>
          <a:xfrm>
            <a:off x="7013520" y="3136320"/>
            <a:ext cx="4571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Build increasingly useful internal representations.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13"/>
          <p:cNvSpPr/>
          <p:nvPr/>
        </p:nvSpPr>
        <p:spPr>
          <a:xfrm>
            <a:off x="6446520" y="3813120"/>
            <a:ext cx="438120" cy="4381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14"/>
          <p:cNvSpPr/>
          <p:nvPr/>
        </p:nvSpPr>
        <p:spPr>
          <a:xfrm>
            <a:off x="6446520" y="38131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15"/>
          <p:cNvSpPr/>
          <p:nvPr/>
        </p:nvSpPr>
        <p:spPr>
          <a:xfrm>
            <a:off x="7013520" y="37400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Output layer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16"/>
          <p:cNvSpPr/>
          <p:nvPr/>
        </p:nvSpPr>
        <p:spPr>
          <a:xfrm>
            <a:off x="7013520" y="4069080"/>
            <a:ext cx="4571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Gives the final answer — a class or a number.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7"/>
          <p:cNvSpPr/>
          <p:nvPr/>
        </p:nvSpPr>
        <p:spPr>
          <a:xfrm>
            <a:off x="6446520" y="4718160"/>
            <a:ext cx="5119920" cy="1370880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18"/>
          <p:cNvSpPr/>
          <p:nvPr/>
        </p:nvSpPr>
        <p:spPr>
          <a:xfrm>
            <a:off x="6720840" y="48736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REPRESENTATION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19"/>
          <p:cNvSpPr/>
          <p:nvPr/>
        </p:nvSpPr>
        <p:spPr>
          <a:xfrm>
            <a:off x="6720840" y="5175360"/>
            <a:ext cx="4571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photo becomes edges, then shapes, then parts, then “cat-ness.”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20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21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How an image becomes numbers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548640" y="137160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Every pixel is just a number — a neural network learns to turn those numbers into useful visual summaries.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"/>
          <p:cNvSpPr/>
          <p:nvPr/>
        </p:nvSpPr>
        <p:spPr>
          <a:xfrm>
            <a:off x="548640" y="2194560"/>
            <a:ext cx="566280" cy="566280"/>
          </a:xfrm>
          <a:prstGeom prst="rect">
            <a:avLst/>
          </a:prstGeom>
          <a:solidFill>
            <a:srgbClr val="87878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1115640" y="2194560"/>
            <a:ext cx="566280" cy="566280"/>
          </a:xfrm>
          <a:prstGeom prst="rect">
            <a:avLst/>
          </a:prstGeom>
          <a:solidFill>
            <a:srgbClr val="A5A5A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1682640" y="2194560"/>
            <a:ext cx="566280" cy="566280"/>
          </a:xfrm>
          <a:prstGeom prst="rect">
            <a:avLst/>
          </a:prstGeom>
          <a:solidFill>
            <a:srgbClr val="55555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2249280" y="2194560"/>
            <a:ext cx="566280" cy="566280"/>
          </a:xfrm>
          <a:prstGeom prst="rect">
            <a:avLst/>
          </a:prstGeom>
          <a:solidFill>
            <a:srgbClr val="79797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7"/>
          <p:cNvSpPr/>
          <p:nvPr/>
        </p:nvSpPr>
        <p:spPr>
          <a:xfrm>
            <a:off x="2816280" y="2194560"/>
            <a:ext cx="566280" cy="566280"/>
          </a:xfrm>
          <a:prstGeom prst="rect">
            <a:avLst/>
          </a:prstGeom>
          <a:solidFill>
            <a:srgbClr val="DCDCD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2816280" y="219456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0.2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548640" y="2761560"/>
            <a:ext cx="566280" cy="566280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0"/>
          <p:cNvSpPr/>
          <p:nvPr/>
        </p:nvSpPr>
        <p:spPr>
          <a:xfrm>
            <a:off x="1115640" y="2761560"/>
            <a:ext cx="566280" cy="56628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1115640" y="276156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0.3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2"/>
          <p:cNvSpPr/>
          <p:nvPr/>
        </p:nvSpPr>
        <p:spPr>
          <a:xfrm>
            <a:off x="1682640" y="2761560"/>
            <a:ext cx="566280" cy="566280"/>
          </a:xfrm>
          <a:prstGeom prst="rect">
            <a:avLst/>
          </a:prstGeom>
          <a:solidFill>
            <a:srgbClr val="8282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2249280" y="2761560"/>
            <a:ext cx="566280" cy="566280"/>
          </a:xfrm>
          <a:prstGeom prst="rect">
            <a:avLst/>
          </a:prstGeom>
          <a:solidFill>
            <a:srgbClr val="52525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4"/>
          <p:cNvSpPr/>
          <p:nvPr/>
        </p:nvSpPr>
        <p:spPr>
          <a:xfrm>
            <a:off x="2816280" y="2761560"/>
            <a:ext cx="566280" cy="566280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5"/>
          <p:cNvSpPr/>
          <p:nvPr/>
        </p:nvSpPr>
        <p:spPr>
          <a:xfrm>
            <a:off x="548640" y="3328560"/>
            <a:ext cx="566280" cy="566280"/>
          </a:xfrm>
          <a:prstGeom prst="rect">
            <a:avLst/>
          </a:prstGeom>
          <a:solidFill>
            <a:srgbClr val="CDCDC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6"/>
          <p:cNvSpPr/>
          <p:nvPr/>
        </p:nvSpPr>
        <p:spPr>
          <a:xfrm>
            <a:off x="1115640" y="3328560"/>
            <a:ext cx="566280" cy="566280"/>
          </a:xfrm>
          <a:prstGeom prst="rect">
            <a:avLst/>
          </a:prstGeom>
          <a:solidFill>
            <a:srgbClr val="4F4F4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7"/>
          <p:cNvSpPr/>
          <p:nvPr/>
        </p:nvSpPr>
        <p:spPr>
          <a:xfrm>
            <a:off x="1682640" y="3328560"/>
            <a:ext cx="566280" cy="566280"/>
          </a:xfrm>
          <a:prstGeom prst="rect">
            <a:avLst/>
          </a:prstGeom>
          <a:solidFill>
            <a:srgbClr val="6A6A6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8"/>
          <p:cNvSpPr/>
          <p:nvPr/>
        </p:nvSpPr>
        <p:spPr>
          <a:xfrm>
            <a:off x="2249280" y="3328560"/>
            <a:ext cx="566280" cy="566280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9"/>
          <p:cNvSpPr/>
          <p:nvPr/>
        </p:nvSpPr>
        <p:spPr>
          <a:xfrm>
            <a:off x="2816280" y="3328560"/>
            <a:ext cx="566280" cy="566280"/>
          </a:xfrm>
          <a:prstGeom prst="rect">
            <a:avLst/>
          </a:prstGeom>
          <a:solidFill>
            <a:srgbClr val="D8D8D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0"/>
          <p:cNvSpPr/>
          <p:nvPr/>
        </p:nvSpPr>
        <p:spPr>
          <a:xfrm>
            <a:off x="548640" y="3895200"/>
            <a:ext cx="566280" cy="566280"/>
          </a:xfrm>
          <a:prstGeom prst="rect">
            <a:avLst/>
          </a:prstGeom>
          <a:solidFill>
            <a:srgbClr val="9B9B9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1"/>
          <p:cNvSpPr/>
          <p:nvPr/>
        </p:nvSpPr>
        <p:spPr>
          <a:xfrm>
            <a:off x="1115640" y="3895200"/>
            <a:ext cx="566280" cy="566280"/>
          </a:xfrm>
          <a:prstGeom prst="rect">
            <a:avLst/>
          </a:prstGeom>
          <a:solidFill>
            <a:srgbClr val="76767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2"/>
          <p:cNvSpPr/>
          <p:nvPr/>
        </p:nvSpPr>
        <p:spPr>
          <a:xfrm>
            <a:off x="1682640" y="3895200"/>
            <a:ext cx="566280" cy="566280"/>
          </a:xfrm>
          <a:prstGeom prst="rect">
            <a:avLst/>
          </a:prstGeom>
          <a:solidFill>
            <a:srgbClr val="85858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3"/>
          <p:cNvSpPr/>
          <p:nvPr/>
        </p:nvSpPr>
        <p:spPr>
          <a:xfrm>
            <a:off x="2249280" y="3895200"/>
            <a:ext cx="566280" cy="566280"/>
          </a:xfrm>
          <a:prstGeom prst="rect">
            <a:avLst/>
          </a:prstGeom>
          <a:solidFill>
            <a:srgbClr val="FEFEFE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4"/>
          <p:cNvSpPr/>
          <p:nvPr/>
        </p:nvSpPr>
        <p:spPr>
          <a:xfrm>
            <a:off x="2249280" y="3895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0.0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5"/>
          <p:cNvSpPr/>
          <p:nvPr/>
        </p:nvSpPr>
        <p:spPr>
          <a:xfrm>
            <a:off x="2816280" y="3895200"/>
            <a:ext cx="566280" cy="566280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6"/>
          <p:cNvSpPr/>
          <p:nvPr/>
        </p:nvSpPr>
        <p:spPr>
          <a:xfrm>
            <a:off x="548640" y="4462200"/>
            <a:ext cx="566280" cy="566280"/>
          </a:xfrm>
          <a:prstGeom prst="rect">
            <a:avLst/>
          </a:prstGeom>
          <a:solidFill>
            <a:srgbClr val="58585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7"/>
          <p:cNvSpPr/>
          <p:nvPr/>
        </p:nvSpPr>
        <p:spPr>
          <a:xfrm>
            <a:off x="1115640" y="4462200"/>
            <a:ext cx="566280" cy="56628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8"/>
          <p:cNvSpPr/>
          <p:nvPr/>
        </p:nvSpPr>
        <p:spPr>
          <a:xfrm>
            <a:off x="1682640" y="4462200"/>
            <a:ext cx="566280" cy="566280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9"/>
          <p:cNvSpPr/>
          <p:nvPr/>
        </p:nvSpPr>
        <p:spPr>
          <a:xfrm>
            <a:off x="2249280" y="4462200"/>
            <a:ext cx="566280" cy="566280"/>
          </a:xfrm>
          <a:prstGeom prst="rect">
            <a:avLst/>
          </a:prstGeom>
          <a:solidFill>
            <a:srgbClr val="F9F9F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0"/>
          <p:cNvSpPr/>
          <p:nvPr/>
        </p:nvSpPr>
        <p:spPr>
          <a:xfrm>
            <a:off x="2816280" y="4462200"/>
            <a:ext cx="566280" cy="566280"/>
          </a:xfrm>
          <a:prstGeom prst="rect">
            <a:avLst/>
          </a:prstGeom>
          <a:solidFill>
            <a:srgbClr val="CACAC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1"/>
          <p:cNvSpPr/>
          <p:nvPr/>
        </p:nvSpPr>
        <p:spPr>
          <a:xfrm>
            <a:off x="548640" y="5166360"/>
            <a:ext cx="3748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5 × 5 grayscale pixels — each cell is a number from 0 (black) to 1 (white)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2"/>
          <p:cNvSpPr/>
          <p:nvPr/>
        </p:nvSpPr>
        <p:spPr>
          <a:xfrm>
            <a:off x="4206240" y="3200400"/>
            <a:ext cx="1469880" cy="8222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33"/>
          <p:cNvSpPr/>
          <p:nvPr/>
        </p:nvSpPr>
        <p:spPr>
          <a:xfrm>
            <a:off x="4206240" y="3200400"/>
            <a:ext cx="146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pixels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4"/>
          <p:cNvSpPr/>
          <p:nvPr/>
        </p:nvSpPr>
        <p:spPr>
          <a:xfrm>
            <a:off x="5713200" y="3611880"/>
            <a:ext cx="246960" cy="720"/>
          </a:xfrm>
          <a:prstGeom prst="line">
            <a:avLst/>
          </a:prstGeom>
          <a:ln w="2540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35"/>
          <p:cNvSpPr/>
          <p:nvPr/>
        </p:nvSpPr>
        <p:spPr>
          <a:xfrm>
            <a:off x="5996880" y="3200400"/>
            <a:ext cx="1469880" cy="8222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6"/>
          <p:cNvSpPr/>
          <p:nvPr/>
        </p:nvSpPr>
        <p:spPr>
          <a:xfrm>
            <a:off x="5996880" y="3200400"/>
            <a:ext cx="146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edges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7"/>
          <p:cNvSpPr/>
          <p:nvPr/>
        </p:nvSpPr>
        <p:spPr>
          <a:xfrm>
            <a:off x="7503840" y="3611880"/>
            <a:ext cx="246960" cy="720"/>
          </a:xfrm>
          <a:prstGeom prst="line">
            <a:avLst/>
          </a:prstGeom>
          <a:ln w="2540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8"/>
          <p:cNvSpPr/>
          <p:nvPr/>
        </p:nvSpPr>
        <p:spPr>
          <a:xfrm>
            <a:off x="7787520" y="3200400"/>
            <a:ext cx="1469880" cy="8222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9"/>
          <p:cNvSpPr/>
          <p:nvPr/>
        </p:nvSpPr>
        <p:spPr>
          <a:xfrm>
            <a:off x="7787520" y="3200400"/>
            <a:ext cx="146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shapes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0"/>
          <p:cNvSpPr/>
          <p:nvPr/>
        </p:nvSpPr>
        <p:spPr>
          <a:xfrm>
            <a:off x="9294480" y="3611880"/>
            <a:ext cx="246960" cy="720"/>
          </a:xfrm>
          <a:prstGeom prst="line">
            <a:avLst/>
          </a:prstGeom>
          <a:ln w="2540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1"/>
          <p:cNvSpPr/>
          <p:nvPr/>
        </p:nvSpPr>
        <p:spPr>
          <a:xfrm>
            <a:off x="9578160" y="3200400"/>
            <a:ext cx="1469880" cy="822240"/>
          </a:xfrm>
          <a:prstGeom prst="roundRect">
            <a:avLst>
              <a:gd name="adj" fmla="val 10000"/>
            </a:avLst>
          </a:prstGeom>
          <a:solidFill>
            <a:srgbClr val="F2994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2"/>
          <p:cNvSpPr/>
          <p:nvPr/>
        </p:nvSpPr>
        <p:spPr>
          <a:xfrm>
            <a:off x="9578160" y="3200400"/>
            <a:ext cx="146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43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4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0"/>
          <p:cNvSpPr/>
          <p:nvPr/>
        </p:nvSpPr>
        <p:spPr>
          <a:xfrm>
            <a:off x="11650680" y="730440"/>
            <a:ext cx="115560" cy="115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960" tIns="37080" rIns="57960" bIns="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"/>
          <p:cNvSpPr/>
          <p:nvPr/>
        </p:nvSpPr>
        <p:spPr>
          <a:xfrm>
            <a:off x="10270080" y="4881600"/>
            <a:ext cx="72000" cy="72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6480" rIns="36000" bIns="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"/>
          <p:cNvSpPr/>
          <p:nvPr/>
        </p:nvSpPr>
        <p:spPr>
          <a:xfrm>
            <a:off x="9422280" y="5389200"/>
            <a:ext cx="131400" cy="1314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3"/>
          <p:cNvSpPr/>
          <p:nvPr/>
        </p:nvSpPr>
        <p:spPr>
          <a:xfrm>
            <a:off x="7966440" y="6166440"/>
            <a:ext cx="108360" cy="1083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040" rIns="54360" bIns="320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4"/>
          <p:cNvSpPr/>
          <p:nvPr/>
        </p:nvSpPr>
        <p:spPr>
          <a:xfrm>
            <a:off x="7698960" y="5799240"/>
            <a:ext cx="145080" cy="1450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5"/>
          <p:cNvSpPr/>
          <p:nvPr/>
        </p:nvSpPr>
        <p:spPr>
          <a:xfrm>
            <a:off x="8313120" y="2151000"/>
            <a:ext cx="84600" cy="846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480" tIns="15480" rIns="42480" bIns="15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6"/>
          <p:cNvSpPr/>
          <p:nvPr/>
        </p:nvSpPr>
        <p:spPr>
          <a:xfrm>
            <a:off x="9682560" y="1916280"/>
            <a:ext cx="126000" cy="126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7"/>
          <p:cNvSpPr/>
          <p:nvPr/>
        </p:nvSpPr>
        <p:spPr>
          <a:xfrm>
            <a:off x="10852920" y="4476960"/>
            <a:ext cx="70560" cy="70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5280" tIns="5760" rIns="35280" bIns="5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8"/>
          <p:cNvSpPr/>
          <p:nvPr/>
        </p:nvSpPr>
        <p:spPr>
          <a:xfrm>
            <a:off x="9414360" y="945720"/>
            <a:ext cx="137160" cy="1371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tIns="45000" rIns="68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9"/>
          <p:cNvSpPr/>
          <p:nvPr/>
        </p:nvSpPr>
        <p:spPr>
          <a:xfrm>
            <a:off x="11738880" y="1710360"/>
            <a:ext cx="117000" cy="117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8680" tIns="38520" rIns="58680" bIns="385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0"/>
          <p:cNvSpPr/>
          <p:nvPr/>
        </p:nvSpPr>
        <p:spPr>
          <a:xfrm>
            <a:off x="10431000" y="2640960"/>
            <a:ext cx="56880" cy="568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tIns="-4320" rIns="28440" bIns="-4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1"/>
          <p:cNvSpPr/>
          <p:nvPr/>
        </p:nvSpPr>
        <p:spPr>
          <a:xfrm>
            <a:off x="9068040" y="752040"/>
            <a:ext cx="130320" cy="1303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tIns="45000" rIns="651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2"/>
          <p:cNvSpPr/>
          <p:nvPr/>
        </p:nvSpPr>
        <p:spPr>
          <a:xfrm>
            <a:off x="8829720" y="2324520"/>
            <a:ext cx="123120" cy="1231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3"/>
          <p:cNvSpPr/>
          <p:nvPr/>
        </p:nvSpPr>
        <p:spPr>
          <a:xfrm>
            <a:off x="8354520" y="1190160"/>
            <a:ext cx="144720" cy="1447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4"/>
          <p:cNvSpPr/>
          <p:nvPr/>
        </p:nvSpPr>
        <p:spPr>
          <a:xfrm>
            <a:off x="548640" y="155448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SECTION 02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5"/>
          <p:cNvSpPr/>
          <p:nvPr/>
        </p:nvSpPr>
        <p:spPr>
          <a:xfrm>
            <a:off x="548640" y="2057400"/>
            <a:ext cx="96004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Training</a:t>
            </a:r>
            <a:endParaRPr lang="en-CA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6"/>
          <p:cNvSpPr/>
          <p:nvPr/>
        </p:nvSpPr>
        <p:spPr>
          <a:xfrm>
            <a:off x="548640" y="324612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Turning mistakes into improvements, one small step at a time.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7"/>
          <p:cNvSpPr/>
          <p:nvPr/>
        </p:nvSpPr>
        <p:spPr>
          <a:xfrm>
            <a:off x="54864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8"/>
          <p:cNvSpPr/>
          <p:nvPr/>
        </p:nvSpPr>
        <p:spPr>
          <a:xfrm>
            <a:off x="54864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9"/>
          <p:cNvSpPr/>
          <p:nvPr/>
        </p:nvSpPr>
        <p:spPr>
          <a:xfrm>
            <a:off x="3127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0"/>
          <p:cNvSpPr/>
          <p:nvPr/>
        </p:nvSpPr>
        <p:spPr>
          <a:xfrm>
            <a:off x="3127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1"/>
          <p:cNvSpPr/>
          <p:nvPr/>
        </p:nvSpPr>
        <p:spPr>
          <a:xfrm>
            <a:off x="570600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2"/>
          <p:cNvSpPr/>
          <p:nvPr/>
        </p:nvSpPr>
        <p:spPr>
          <a:xfrm>
            <a:off x="570600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3"/>
          <p:cNvSpPr/>
          <p:nvPr/>
        </p:nvSpPr>
        <p:spPr>
          <a:xfrm>
            <a:off x="8284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4"/>
          <p:cNvSpPr/>
          <p:nvPr/>
        </p:nvSpPr>
        <p:spPr>
          <a:xfrm>
            <a:off x="8284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Training loop: guess → measure → adjust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"/>
          <p:cNvSpPr/>
          <p:nvPr/>
        </p:nvSpPr>
        <p:spPr>
          <a:xfrm>
            <a:off x="548640" y="2194560"/>
            <a:ext cx="2513880" cy="26510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3"/>
          <p:cNvSpPr/>
          <p:nvPr/>
        </p:nvSpPr>
        <p:spPr>
          <a:xfrm>
            <a:off x="1531800" y="1901880"/>
            <a:ext cx="547920" cy="5479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4"/>
          <p:cNvSpPr/>
          <p:nvPr/>
        </p:nvSpPr>
        <p:spPr>
          <a:xfrm>
            <a:off x="1531800" y="1901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5"/>
          <p:cNvSpPr/>
          <p:nvPr/>
        </p:nvSpPr>
        <p:spPr>
          <a:xfrm>
            <a:off x="548640" y="2560320"/>
            <a:ext cx="2513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Guess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6"/>
          <p:cNvSpPr/>
          <p:nvPr/>
        </p:nvSpPr>
        <p:spPr>
          <a:xfrm>
            <a:off x="548640" y="310896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i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ŷ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7"/>
          <p:cNvSpPr/>
          <p:nvPr/>
        </p:nvSpPr>
        <p:spPr>
          <a:xfrm>
            <a:off x="731520" y="3794760"/>
            <a:ext cx="2148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Model makes a prediction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8"/>
          <p:cNvSpPr/>
          <p:nvPr/>
        </p:nvSpPr>
        <p:spPr>
          <a:xfrm>
            <a:off x="3108960" y="3520440"/>
            <a:ext cx="228600" cy="72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9"/>
          <p:cNvSpPr/>
          <p:nvPr/>
        </p:nvSpPr>
        <p:spPr>
          <a:xfrm>
            <a:off x="3383280" y="2194560"/>
            <a:ext cx="2513880" cy="26510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0"/>
          <p:cNvSpPr/>
          <p:nvPr/>
        </p:nvSpPr>
        <p:spPr>
          <a:xfrm>
            <a:off x="4366440" y="1901880"/>
            <a:ext cx="547920" cy="5479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1"/>
          <p:cNvSpPr/>
          <p:nvPr/>
        </p:nvSpPr>
        <p:spPr>
          <a:xfrm>
            <a:off x="4366440" y="1901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2"/>
          <p:cNvSpPr/>
          <p:nvPr/>
        </p:nvSpPr>
        <p:spPr>
          <a:xfrm>
            <a:off x="3383280" y="2560320"/>
            <a:ext cx="2513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Compare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3"/>
          <p:cNvSpPr/>
          <p:nvPr/>
        </p:nvSpPr>
        <p:spPr>
          <a:xfrm>
            <a:off x="3383280" y="310896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i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loss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4"/>
          <p:cNvSpPr/>
          <p:nvPr/>
        </p:nvSpPr>
        <p:spPr>
          <a:xfrm>
            <a:off x="3566160" y="3794760"/>
            <a:ext cx="2148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Measure how wrong it was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5"/>
          <p:cNvSpPr/>
          <p:nvPr/>
        </p:nvSpPr>
        <p:spPr>
          <a:xfrm>
            <a:off x="5943600" y="3520440"/>
            <a:ext cx="228600" cy="72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6"/>
          <p:cNvSpPr/>
          <p:nvPr/>
        </p:nvSpPr>
        <p:spPr>
          <a:xfrm>
            <a:off x="6217920" y="2194560"/>
            <a:ext cx="2513880" cy="26510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7"/>
          <p:cNvSpPr/>
          <p:nvPr/>
        </p:nvSpPr>
        <p:spPr>
          <a:xfrm>
            <a:off x="7201080" y="1901880"/>
            <a:ext cx="547920" cy="5479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8"/>
          <p:cNvSpPr/>
          <p:nvPr/>
        </p:nvSpPr>
        <p:spPr>
          <a:xfrm>
            <a:off x="7201080" y="1901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9"/>
          <p:cNvSpPr/>
          <p:nvPr/>
        </p:nvSpPr>
        <p:spPr>
          <a:xfrm>
            <a:off x="6217920" y="2560320"/>
            <a:ext cx="2513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Find direction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0"/>
          <p:cNvSpPr/>
          <p:nvPr/>
        </p:nvSpPr>
        <p:spPr>
          <a:xfrm>
            <a:off x="6217920" y="310896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i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gradient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1"/>
          <p:cNvSpPr/>
          <p:nvPr/>
        </p:nvSpPr>
        <p:spPr>
          <a:xfrm>
            <a:off x="6400800" y="3794760"/>
            <a:ext cx="2148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Work out which way to change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2"/>
          <p:cNvSpPr/>
          <p:nvPr/>
        </p:nvSpPr>
        <p:spPr>
          <a:xfrm>
            <a:off x="8778240" y="3520440"/>
            <a:ext cx="228600" cy="72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23"/>
          <p:cNvSpPr/>
          <p:nvPr/>
        </p:nvSpPr>
        <p:spPr>
          <a:xfrm>
            <a:off x="9052560" y="2194560"/>
            <a:ext cx="2513880" cy="2651040"/>
          </a:xfrm>
          <a:prstGeom prst="roundRect">
            <a:avLst>
              <a:gd name="adj" fmla="val 327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4"/>
          <p:cNvSpPr/>
          <p:nvPr/>
        </p:nvSpPr>
        <p:spPr>
          <a:xfrm>
            <a:off x="10035720" y="1901880"/>
            <a:ext cx="547920" cy="5479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25"/>
          <p:cNvSpPr/>
          <p:nvPr/>
        </p:nvSpPr>
        <p:spPr>
          <a:xfrm>
            <a:off x="10035720" y="1901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6"/>
          <p:cNvSpPr/>
          <p:nvPr/>
        </p:nvSpPr>
        <p:spPr>
          <a:xfrm>
            <a:off x="9052560" y="2560320"/>
            <a:ext cx="2513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Adjust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7"/>
          <p:cNvSpPr/>
          <p:nvPr/>
        </p:nvSpPr>
        <p:spPr>
          <a:xfrm>
            <a:off x="9052560" y="310896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i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weights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8"/>
          <p:cNvSpPr/>
          <p:nvPr/>
        </p:nvSpPr>
        <p:spPr>
          <a:xfrm>
            <a:off x="9235440" y="3794760"/>
            <a:ext cx="2148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Nudge the weights slightly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29"/>
          <p:cNvSpPr/>
          <p:nvPr/>
        </p:nvSpPr>
        <p:spPr>
          <a:xfrm flipH="1">
            <a:off x="822960" y="4937760"/>
            <a:ext cx="10469880" cy="720"/>
          </a:xfrm>
          <a:prstGeom prst="line">
            <a:avLst/>
          </a:prstGeom>
          <a:ln w="22225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30"/>
          <p:cNvSpPr/>
          <p:nvPr/>
        </p:nvSpPr>
        <p:spPr>
          <a:xfrm>
            <a:off x="4663440" y="49834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repeat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1"/>
          <p:cNvSpPr/>
          <p:nvPr/>
        </p:nvSpPr>
        <p:spPr>
          <a:xfrm>
            <a:off x="548640" y="534924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Repeat until mistakes become small.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32"/>
          <p:cNvSpPr/>
          <p:nvPr/>
        </p:nvSpPr>
        <p:spPr>
          <a:xfrm>
            <a:off x="548640" y="5806440"/>
            <a:ext cx="10789200" cy="547920"/>
          </a:xfrm>
          <a:prstGeom prst="roundRect">
            <a:avLst>
              <a:gd name="adj" fmla="val 15000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33"/>
          <p:cNvSpPr/>
          <p:nvPr/>
        </p:nvSpPr>
        <p:spPr>
          <a:xfrm>
            <a:off x="822960" y="5806440"/>
            <a:ext cx="10240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Classroom analogy:  practice a quiz → see errors → change study strategy → try again.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3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Loss: turning “wrong” into a number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548640" y="137160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For one prediction, squared error is easy to compute: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548640" y="1920240"/>
            <a:ext cx="5119920" cy="913680"/>
          </a:xfrm>
          <a:prstGeom prst="roundRect">
            <a:avLst>
              <a:gd name="adj" fmla="val 9000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822960" y="192024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loss = (answer − prediction)²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5"/>
          <p:cNvSpPr/>
          <p:nvPr/>
        </p:nvSpPr>
        <p:spPr>
          <a:xfrm>
            <a:off x="548640" y="3063240"/>
            <a:ext cx="5119920" cy="141660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"/>
          <p:cNvSpPr/>
          <p:nvPr/>
        </p:nvSpPr>
        <p:spPr>
          <a:xfrm>
            <a:off x="822960" y="32004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Good guess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3840480" y="3182040"/>
            <a:ext cx="155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loss = 0.09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822960" y="35661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true = 1   prediction = 0.7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9"/>
          <p:cNvSpPr/>
          <p:nvPr/>
        </p:nvSpPr>
        <p:spPr>
          <a:xfrm>
            <a:off x="822960" y="3977640"/>
            <a:ext cx="4571280" cy="319320"/>
          </a:xfrm>
          <a:prstGeom prst="roundRect">
            <a:avLst>
              <a:gd name="adj" fmla="val 25714"/>
            </a:avLst>
          </a:prstGeom>
          <a:solidFill>
            <a:srgbClr val="E7EC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0"/>
          <p:cNvSpPr/>
          <p:nvPr/>
        </p:nvSpPr>
        <p:spPr>
          <a:xfrm>
            <a:off x="822960" y="3977640"/>
            <a:ext cx="410760" cy="31932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1"/>
          <p:cNvSpPr/>
          <p:nvPr/>
        </p:nvSpPr>
        <p:spPr>
          <a:xfrm>
            <a:off x="548640" y="4663440"/>
            <a:ext cx="5119920" cy="141660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2"/>
          <p:cNvSpPr/>
          <p:nvPr/>
        </p:nvSpPr>
        <p:spPr>
          <a:xfrm>
            <a:off x="822960" y="48006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Poor guess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3"/>
          <p:cNvSpPr/>
          <p:nvPr/>
        </p:nvSpPr>
        <p:spPr>
          <a:xfrm>
            <a:off x="3840480" y="4782240"/>
            <a:ext cx="1553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64550"/>
                </a:solidFill>
                <a:effectLst/>
                <a:uFillTx/>
                <a:latin typeface="Calibri"/>
                <a:ea typeface="Calibri"/>
              </a:rPr>
              <a:t>loss = 0.49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4"/>
          <p:cNvSpPr/>
          <p:nvPr/>
        </p:nvSpPr>
        <p:spPr>
          <a:xfrm>
            <a:off x="822960" y="51663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true = 1   prediction = 0.3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5"/>
          <p:cNvSpPr/>
          <p:nvPr/>
        </p:nvSpPr>
        <p:spPr>
          <a:xfrm>
            <a:off x="822960" y="5577840"/>
            <a:ext cx="4571280" cy="319320"/>
          </a:xfrm>
          <a:prstGeom prst="roundRect">
            <a:avLst>
              <a:gd name="adj" fmla="val 25714"/>
            </a:avLst>
          </a:prstGeom>
          <a:solidFill>
            <a:srgbClr val="E7EC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6"/>
          <p:cNvSpPr/>
          <p:nvPr/>
        </p:nvSpPr>
        <p:spPr>
          <a:xfrm>
            <a:off x="822960" y="5577840"/>
            <a:ext cx="2239560" cy="319320"/>
          </a:xfrm>
          <a:prstGeom prst="roundRect">
            <a:avLst>
              <a:gd name="adj" fmla="val 17143"/>
            </a:avLst>
          </a:prstGeom>
          <a:solidFill>
            <a:srgbClr val="D645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7"/>
          <p:cNvSpPr/>
          <p:nvPr/>
        </p:nvSpPr>
        <p:spPr>
          <a:xfrm>
            <a:off x="6400800" y="1920240"/>
            <a:ext cx="5165640" cy="4388400"/>
          </a:xfrm>
          <a:prstGeom prst="roundRect">
            <a:avLst>
              <a:gd name="adj" fmla="val 187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8"/>
          <p:cNvSpPr/>
          <p:nvPr/>
        </p:nvSpPr>
        <p:spPr>
          <a:xfrm>
            <a:off x="6675120" y="2148840"/>
            <a:ext cx="4571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READING THE NUMBERS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9"/>
          <p:cNvSpPr/>
          <p:nvPr/>
        </p:nvSpPr>
        <p:spPr>
          <a:xfrm>
            <a:off x="6675120" y="2514600"/>
            <a:ext cx="46170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prediction of 0.7 for a true answer of 1 is fairly close — the loss (0.09) is small.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prediction of 0.3 is much further from 1 — the loss (0.49) is over five times larger.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Squaring means bigger mistakes are punished much more heavily than small ones.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0"/>
          <p:cNvSpPr/>
          <p:nvPr/>
        </p:nvSpPr>
        <p:spPr>
          <a:xfrm>
            <a:off x="6675120" y="5257800"/>
            <a:ext cx="4617000" cy="822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1"/>
          <p:cNvSpPr/>
          <p:nvPr/>
        </p:nvSpPr>
        <p:spPr>
          <a:xfrm>
            <a:off x="6858000" y="5257800"/>
            <a:ext cx="4296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Goal: training tries to make the loss as small as possible.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2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3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Gradient descent: walking downhill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"/>
          <p:cNvSpPr/>
          <p:nvPr/>
        </p:nvSpPr>
        <p:spPr>
          <a:xfrm>
            <a:off x="548640" y="1371600"/>
            <a:ext cx="10880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Imagine standing on a hill in thick fog. You can't see the bottom, but you can feel which way the ground slopes — so you take a step downhill, and repeat.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3"/>
          <p:cNvSpPr/>
          <p:nvPr/>
        </p:nvSpPr>
        <p:spPr>
          <a:xfrm>
            <a:off x="548640" y="2148840"/>
            <a:ext cx="6034320" cy="4022640"/>
          </a:xfrm>
          <a:prstGeom prst="roundRect">
            <a:avLst>
              <a:gd name="adj" fmla="val 20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9" name="Chart 0"/>
          <p:cNvGraphicFramePr/>
          <p:nvPr/>
        </p:nvGraphicFramePr>
        <p:xfrm>
          <a:off x="731520" y="2286000"/>
          <a:ext cx="5668560" cy="374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20" name="Shape 4"/>
          <p:cNvSpPr/>
          <p:nvPr/>
        </p:nvSpPr>
        <p:spPr>
          <a:xfrm>
            <a:off x="1892880" y="3218760"/>
            <a:ext cx="236880" cy="236880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1371600" y="301752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64550"/>
                </a:solidFill>
                <a:effectLst/>
                <a:uFillTx/>
                <a:latin typeface="Calibri"/>
                <a:ea typeface="Calibri"/>
              </a:rPr>
              <a:t>current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3538800" y="5504760"/>
            <a:ext cx="236880" cy="2368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2926080" y="574236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lower loss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8"/>
          <p:cNvSpPr/>
          <p:nvPr/>
        </p:nvSpPr>
        <p:spPr>
          <a:xfrm>
            <a:off x="7178040" y="2148840"/>
            <a:ext cx="4434120" cy="913680"/>
          </a:xfrm>
          <a:prstGeom prst="roundRect">
            <a:avLst>
              <a:gd name="adj" fmla="val 9000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9"/>
          <p:cNvSpPr/>
          <p:nvPr/>
        </p:nvSpPr>
        <p:spPr>
          <a:xfrm>
            <a:off x="7406640" y="2148840"/>
            <a:ext cx="40226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weight ← weight − rate × slope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10"/>
          <p:cNvSpPr/>
          <p:nvPr/>
        </p:nvSpPr>
        <p:spPr>
          <a:xfrm>
            <a:off x="7178040" y="3200400"/>
            <a:ext cx="4434120" cy="2971080"/>
          </a:xfrm>
          <a:prstGeom prst="roundRect">
            <a:avLst>
              <a:gd name="adj" fmla="val 2769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1"/>
          <p:cNvSpPr/>
          <p:nvPr/>
        </p:nvSpPr>
        <p:spPr>
          <a:xfrm>
            <a:off x="7406640" y="332856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LEARNING RATE = STEP SIZE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2"/>
          <p:cNvSpPr/>
          <p:nvPr/>
        </p:nvSpPr>
        <p:spPr>
          <a:xfrm>
            <a:off x="7406640" y="36392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D6C8C"/>
                </a:solidFill>
                <a:effectLst/>
                <a:uFillTx/>
                <a:latin typeface="Cambria"/>
                <a:ea typeface="Cambria"/>
              </a:rPr>
              <a:t>Too small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3"/>
          <p:cNvSpPr/>
          <p:nvPr/>
        </p:nvSpPr>
        <p:spPr>
          <a:xfrm>
            <a:off x="7406640" y="394092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Tiny steps — safe, but very slow to reach the bottom.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4"/>
          <p:cNvSpPr/>
          <p:nvPr/>
        </p:nvSpPr>
        <p:spPr>
          <a:xfrm>
            <a:off x="7406640" y="448056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Just right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5"/>
          <p:cNvSpPr/>
          <p:nvPr/>
        </p:nvSpPr>
        <p:spPr>
          <a:xfrm>
            <a:off x="7406640" y="478224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Steady, measured progress that settles into the lowest point.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6"/>
          <p:cNvSpPr/>
          <p:nvPr/>
        </p:nvSpPr>
        <p:spPr>
          <a:xfrm>
            <a:off x="7406640" y="53218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64550"/>
                </a:solidFill>
                <a:effectLst/>
                <a:uFillTx/>
                <a:latin typeface="Cambria"/>
                <a:ea typeface="Cambria"/>
              </a:rPr>
              <a:t>Too large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7"/>
          <p:cNvSpPr/>
          <p:nvPr/>
        </p:nvSpPr>
        <p:spPr>
          <a:xfrm>
            <a:off x="7406640" y="56235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Steps overshoot the bottom and can bounce back and forth.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8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9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Backpropagation: giving credit to each weight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"/>
          <p:cNvSpPr/>
          <p:nvPr/>
        </p:nvSpPr>
        <p:spPr>
          <a:xfrm>
            <a:off x="548640" y="137160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final error travels backward through the network, asking each connection: “how much did you contribute to this mistake?”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3"/>
          <p:cNvSpPr/>
          <p:nvPr/>
        </p:nvSpPr>
        <p:spPr>
          <a:xfrm>
            <a:off x="548640" y="2148840"/>
            <a:ext cx="6400080" cy="4022640"/>
          </a:xfrm>
          <a:prstGeom prst="roundRect">
            <a:avLst>
              <a:gd name="adj" fmla="val 20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4"/>
          <p:cNvSpPr/>
          <p:nvPr/>
        </p:nvSpPr>
        <p:spPr>
          <a:xfrm flipV="1">
            <a:off x="1097280" y="3081240"/>
            <a:ext cx="1737360" cy="141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5"/>
          <p:cNvSpPr/>
          <p:nvPr/>
        </p:nvSpPr>
        <p:spPr>
          <a:xfrm>
            <a:off x="1097280" y="3223080"/>
            <a:ext cx="1737360" cy="425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6"/>
          <p:cNvSpPr/>
          <p:nvPr/>
        </p:nvSpPr>
        <p:spPr>
          <a:xfrm>
            <a:off x="1097280" y="3223080"/>
            <a:ext cx="1737360" cy="992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7"/>
          <p:cNvSpPr/>
          <p:nvPr/>
        </p:nvSpPr>
        <p:spPr>
          <a:xfrm>
            <a:off x="1097280" y="3223080"/>
            <a:ext cx="1737360" cy="1559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8"/>
          <p:cNvSpPr/>
          <p:nvPr/>
        </p:nvSpPr>
        <p:spPr>
          <a:xfrm flipV="1">
            <a:off x="1097280" y="3081240"/>
            <a:ext cx="1737360" cy="850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9"/>
          <p:cNvSpPr/>
          <p:nvPr/>
        </p:nvSpPr>
        <p:spPr>
          <a:xfrm flipV="1">
            <a:off x="1097280" y="3648240"/>
            <a:ext cx="1737360" cy="2836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0"/>
          <p:cNvSpPr/>
          <p:nvPr/>
        </p:nvSpPr>
        <p:spPr>
          <a:xfrm>
            <a:off x="1097280" y="3931920"/>
            <a:ext cx="1737360" cy="283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1"/>
          <p:cNvSpPr/>
          <p:nvPr/>
        </p:nvSpPr>
        <p:spPr>
          <a:xfrm>
            <a:off x="1097280" y="3931920"/>
            <a:ext cx="1737360" cy="8503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2"/>
          <p:cNvSpPr/>
          <p:nvPr/>
        </p:nvSpPr>
        <p:spPr>
          <a:xfrm flipV="1">
            <a:off x="1097280" y="3081240"/>
            <a:ext cx="1737360" cy="1559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3"/>
          <p:cNvSpPr/>
          <p:nvPr/>
        </p:nvSpPr>
        <p:spPr>
          <a:xfrm flipV="1">
            <a:off x="1097280" y="3648240"/>
            <a:ext cx="1737360" cy="992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4"/>
          <p:cNvSpPr/>
          <p:nvPr/>
        </p:nvSpPr>
        <p:spPr>
          <a:xfrm flipV="1">
            <a:off x="1097280" y="4215240"/>
            <a:ext cx="1737360" cy="4251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5"/>
          <p:cNvSpPr/>
          <p:nvPr/>
        </p:nvSpPr>
        <p:spPr>
          <a:xfrm>
            <a:off x="1097280" y="4640400"/>
            <a:ext cx="1737360" cy="14184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6"/>
          <p:cNvSpPr/>
          <p:nvPr/>
        </p:nvSpPr>
        <p:spPr>
          <a:xfrm>
            <a:off x="2834640" y="3081240"/>
            <a:ext cx="173736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17"/>
          <p:cNvSpPr/>
          <p:nvPr/>
        </p:nvSpPr>
        <p:spPr>
          <a:xfrm>
            <a:off x="2834640" y="3081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18"/>
          <p:cNvSpPr/>
          <p:nvPr/>
        </p:nvSpPr>
        <p:spPr>
          <a:xfrm>
            <a:off x="2834640" y="3081240"/>
            <a:ext cx="1737360" cy="1134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9"/>
          <p:cNvSpPr/>
          <p:nvPr/>
        </p:nvSpPr>
        <p:spPr>
          <a:xfrm>
            <a:off x="2834640" y="3081240"/>
            <a:ext cx="1737360" cy="170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0"/>
          <p:cNvSpPr/>
          <p:nvPr/>
        </p:nvSpPr>
        <p:spPr>
          <a:xfrm flipV="1">
            <a:off x="2834640" y="3081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21"/>
          <p:cNvSpPr/>
          <p:nvPr/>
        </p:nvSpPr>
        <p:spPr>
          <a:xfrm>
            <a:off x="2834640" y="3648240"/>
            <a:ext cx="1737360" cy="108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22"/>
          <p:cNvSpPr/>
          <p:nvPr/>
        </p:nvSpPr>
        <p:spPr>
          <a:xfrm>
            <a:off x="2834640" y="3648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23"/>
          <p:cNvSpPr/>
          <p:nvPr/>
        </p:nvSpPr>
        <p:spPr>
          <a:xfrm>
            <a:off x="2834640" y="3648240"/>
            <a:ext cx="1737360" cy="1134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24"/>
          <p:cNvSpPr/>
          <p:nvPr/>
        </p:nvSpPr>
        <p:spPr>
          <a:xfrm flipV="1">
            <a:off x="2834640" y="3081240"/>
            <a:ext cx="1737360" cy="1134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25"/>
          <p:cNvSpPr/>
          <p:nvPr/>
        </p:nvSpPr>
        <p:spPr>
          <a:xfrm flipV="1">
            <a:off x="2834640" y="3648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26"/>
          <p:cNvSpPr/>
          <p:nvPr/>
        </p:nvSpPr>
        <p:spPr>
          <a:xfrm>
            <a:off x="2834640" y="4215240"/>
            <a:ext cx="173736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27"/>
          <p:cNvSpPr/>
          <p:nvPr/>
        </p:nvSpPr>
        <p:spPr>
          <a:xfrm>
            <a:off x="2834640" y="4215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28"/>
          <p:cNvSpPr/>
          <p:nvPr/>
        </p:nvSpPr>
        <p:spPr>
          <a:xfrm flipV="1">
            <a:off x="2834640" y="3081240"/>
            <a:ext cx="1737360" cy="1701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29"/>
          <p:cNvSpPr/>
          <p:nvPr/>
        </p:nvSpPr>
        <p:spPr>
          <a:xfrm flipV="1">
            <a:off x="2834640" y="3648240"/>
            <a:ext cx="1737360" cy="1134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30"/>
          <p:cNvSpPr/>
          <p:nvPr/>
        </p:nvSpPr>
        <p:spPr>
          <a:xfrm flipV="1">
            <a:off x="2834640" y="4215240"/>
            <a:ext cx="1737360" cy="567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1"/>
          <p:cNvSpPr/>
          <p:nvPr/>
        </p:nvSpPr>
        <p:spPr>
          <a:xfrm>
            <a:off x="2834640" y="4782240"/>
            <a:ext cx="173736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32"/>
          <p:cNvSpPr/>
          <p:nvPr/>
        </p:nvSpPr>
        <p:spPr>
          <a:xfrm>
            <a:off x="4572000" y="3081240"/>
            <a:ext cx="1737360" cy="378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33"/>
          <p:cNvSpPr/>
          <p:nvPr/>
        </p:nvSpPr>
        <p:spPr>
          <a:xfrm>
            <a:off x="4572000" y="3081240"/>
            <a:ext cx="1737360" cy="1323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34"/>
          <p:cNvSpPr/>
          <p:nvPr/>
        </p:nvSpPr>
        <p:spPr>
          <a:xfrm flipV="1">
            <a:off x="4572000" y="3459240"/>
            <a:ext cx="1737360" cy="189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35"/>
          <p:cNvSpPr/>
          <p:nvPr/>
        </p:nvSpPr>
        <p:spPr>
          <a:xfrm>
            <a:off x="4572000" y="3648240"/>
            <a:ext cx="1737360" cy="756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36"/>
          <p:cNvSpPr/>
          <p:nvPr/>
        </p:nvSpPr>
        <p:spPr>
          <a:xfrm flipV="1">
            <a:off x="4572000" y="3459240"/>
            <a:ext cx="1737360" cy="756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37"/>
          <p:cNvSpPr/>
          <p:nvPr/>
        </p:nvSpPr>
        <p:spPr>
          <a:xfrm>
            <a:off x="4572000" y="4215240"/>
            <a:ext cx="1737360" cy="189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38"/>
          <p:cNvSpPr/>
          <p:nvPr/>
        </p:nvSpPr>
        <p:spPr>
          <a:xfrm flipV="1">
            <a:off x="4572000" y="3459240"/>
            <a:ext cx="1737360" cy="1323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39"/>
          <p:cNvSpPr/>
          <p:nvPr/>
        </p:nvSpPr>
        <p:spPr>
          <a:xfrm flipV="1">
            <a:off x="4572000" y="4404240"/>
            <a:ext cx="1737360" cy="3780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40"/>
          <p:cNvSpPr/>
          <p:nvPr/>
        </p:nvSpPr>
        <p:spPr>
          <a:xfrm>
            <a:off x="960120" y="308628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41"/>
          <p:cNvSpPr/>
          <p:nvPr/>
        </p:nvSpPr>
        <p:spPr>
          <a:xfrm>
            <a:off x="960120" y="379476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42"/>
          <p:cNvSpPr/>
          <p:nvPr/>
        </p:nvSpPr>
        <p:spPr>
          <a:xfrm>
            <a:off x="960120" y="4503600"/>
            <a:ext cx="273600" cy="2736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43"/>
          <p:cNvSpPr/>
          <p:nvPr/>
        </p:nvSpPr>
        <p:spPr>
          <a:xfrm>
            <a:off x="2697480" y="294444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44"/>
          <p:cNvSpPr/>
          <p:nvPr/>
        </p:nvSpPr>
        <p:spPr>
          <a:xfrm>
            <a:off x="2697480" y="351144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5"/>
          <p:cNvSpPr/>
          <p:nvPr/>
        </p:nvSpPr>
        <p:spPr>
          <a:xfrm>
            <a:off x="2697480" y="407808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46"/>
          <p:cNvSpPr/>
          <p:nvPr/>
        </p:nvSpPr>
        <p:spPr>
          <a:xfrm>
            <a:off x="2697480" y="4645080"/>
            <a:ext cx="273600" cy="27360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47"/>
          <p:cNvSpPr/>
          <p:nvPr/>
        </p:nvSpPr>
        <p:spPr>
          <a:xfrm>
            <a:off x="4434840" y="294444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8"/>
          <p:cNvSpPr/>
          <p:nvPr/>
        </p:nvSpPr>
        <p:spPr>
          <a:xfrm>
            <a:off x="4434840" y="351144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49"/>
          <p:cNvSpPr/>
          <p:nvPr/>
        </p:nvSpPr>
        <p:spPr>
          <a:xfrm>
            <a:off x="4434840" y="40780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50"/>
          <p:cNvSpPr/>
          <p:nvPr/>
        </p:nvSpPr>
        <p:spPr>
          <a:xfrm>
            <a:off x="4434840" y="46450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51"/>
          <p:cNvSpPr/>
          <p:nvPr/>
        </p:nvSpPr>
        <p:spPr>
          <a:xfrm>
            <a:off x="6172200" y="332244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52"/>
          <p:cNvSpPr/>
          <p:nvPr/>
        </p:nvSpPr>
        <p:spPr>
          <a:xfrm>
            <a:off x="6172200" y="42670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53"/>
          <p:cNvSpPr/>
          <p:nvPr/>
        </p:nvSpPr>
        <p:spPr>
          <a:xfrm flipH="1" flipV="1">
            <a:off x="4572000" y="3940920"/>
            <a:ext cx="1737360" cy="18900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54"/>
          <p:cNvSpPr/>
          <p:nvPr/>
        </p:nvSpPr>
        <p:spPr>
          <a:xfrm flipH="1">
            <a:off x="2834640" y="3940920"/>
            <a:ext cx="1737360" cy="72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55"/>
          <p:cNvSpPr/>
          <p:nvPr/>
        </p:nvSpPr>
        <p:spPr>
          <a:xfrm flipH="1" flipV="1">
            <a:off x="1097280" y="3657600"/>
            <a:ext cx="1737360" cy="283320"/>
          </a:xfrm>
          <a:prstGeom prst="line">
            <a:avLst/>
          </a:prstGeom>
          <a:ln w="3175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56"/>
          <p:cNvSpPr/>
          <p:nvPr/>
        </p:nvSpPr>
        <p:spPr>
          <a:xfrm>
            <a:off x="1097280" y="544068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error signal flows backward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57"/>
          <p:cNvSpPr/>
          <p:nvPr/>
        </p:nvSpPr>
        <p:spPr>
          <a:xfrm>
            <a:off x="7498080" y="2148840"/>
            <a:ext cx="4114080" cy="4022640"/>
          </a:xfrm>
          <a:prstGeom prst="roundRect">
            <a:avLst>
              <a:gd name="adj" fmla="val 204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58"/>
          <p:cNvSpPr/>
          <p:nvPr/>
        </p:nvSpPr>
        <p:spPr>
          <a:xfrm>
            <a:off x="7772400" y="2377440"/>
            <a:ext cx="3656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KEY INTUITION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59"/>
          <p:cNvSpPr/>
          <p:nvPr/>
        </p:nvSpPr>
        <p:spPr>
          <a:xfrm>
            <a:off x="7772400" y="280728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60"/>
          <p:cNvSpPr/>
          <p:nvPr/>
        </p:nvSpPr>
        <p:spPr>
          <a:xfrm>
            <a:off x="7772400" y="28072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61"/>
          <p:cNvSpPr/>
          <p:nvPr/>
        </p:nvSpPr>
        <p:spPr>
          <a:xfrm>
            <a:off x="8275320" y="2788920"/>
            <a:ext cx="3199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Forward pass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62"/>
          <p:cNvSpPr/>
          <p:nvPr/>
        </p:nvSpPr>
        <p:spPr>
          <a:xfrm>
            <a:off x="8275320" y="309060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Make a prediction.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63"/>
          <p:cNvSpPr/>
          <p:nvPr/>
        </p:nvSpPr>
        <p:spPr>
          <a:xfrm>
            <a:off x="7772400" y="381312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64"/>
          <p:cNvSpPr/>
          <p:nvPr/>
        </p:nvSpPr>
        <p:spPr>
          <a:xfrm>
            <a:off x="7772400" y="38131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65"/>
          <p:cNvSpPr/>
          <p:nvPr/>
        </p:nvSpPr>
        <p:spPr>
          <a:xfrm>
            <a:off x="8275320" y="3794760"/>
            <a:ext cx="3199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Backward pass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66"/>
          <p:cNvSpPr/>
          <p:nvPr/>
        </p:nvSpPr>
        <p:spPr>
          <a:xfrm>
            <a:off x="8275320" y="409644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Assign responsibility for the error.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67"/>
          <p:cNvSpPr/>
          <p:nvPr/>
        </p:nvSpPr>
        <p:spPr>
          <a:xfrm>
            <a:off x="7772400" y="481896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68"/>
          <p:cNvSpPr/>
          <p:nvPr/>
        </p:nvSpPr>
        <p:spPr>
          <a:xfrm>
            <a:off x="7772400" y="48189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69"/>
          <p:cNvSpPr/>
          <p:nvPr/>
        </p:nvSpPr>
        <p:spPr>
          <a:xfrm>
            <a:off x="8275320" y="4800600"/>
            <a:ext cx="3199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Update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70"/>
          <p:cNvSpPr/>
          <p:nvPr/>
        </p:nvSpPr>
        <p:spPr>
          <a:xfrm>
            <a:off x="8275320" y="510228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Improve the responsible weights most.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7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7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 worked example: learning “tall”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548640" y="13716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Input: height, in metres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"/>
          <p:cNvSpPr/>
          <p:nvPr/>
        </p:nvSpPr>
        <p:spPr>
          <a:xfrm>
            <a:off x="548640" y="1965960"/>
            <a:ext cx="1096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1.60 m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"/>
          <p:cNvSpPr/>
          <p:nvPr/>
        </p:nvSpPr>
        <p:spPr>
          <a:xfrm>
            <a:off x="1737360" y="2039040"/>
            <a:ext cx="4296960" cy="36504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5"/>
          <p:cNvSpPr/>
          <p:nvPr/>
        </p:nvSpPr>
        <p:spPr>
          <a:xfrm>
            <a:off x="1737360" y="2039040"/>
            <a:ext cx="1073880" cy="365040"/>
          </a:xfrm>
          <a:prstGeom prst="roundRect">
            <a:avLst>
              <a:gd name="adj" fmla="val 15000"/>
            </a:avLst>
          </a:prstGeom>
          <a:solidFill>
            <a:srgbClr val="3D6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6"/>
          <p:cNvSpPr/>
          <p:nvPr/>
        </p:nvSpPr>
        <p:spPr>
          <a:xfrm>
            <a:off x="6217920" y="196596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not tall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7"/>
          <p:cNvSpPr/>
          <p:nvPr/>
        </p:nvSpPr>
        <p:spPr>
          <a:xfrm>
            <a:off x="548640" y="2743200"/>
            <a:ext cx="1096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1.75 m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8"/>
          <p:cNvSpPr/>
          <p:nvPr/>
        </p:nvSpPr>
        <p:spPr>
          <a:xfrm>
            <a:off x="1737360" y="2816280"/>
            <a:ext cx="4296960" cy="36504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9"/>
          <p:cNvSpPr/>
          <p:nvPr/>
        </p:nvSpPr>
        <p:spPr>
          <a:xfrm>
            <a:off x="1737360" y="2816280"/>
            <a:ext cx="2363040" cy="365040"/>
          </a:xfrm>
          <a:prstGeom prst="roundRect">
            <a:avLst>
              <a:gd name="adj" fmla="val 15000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0"/>
          <p:cNvSpPr/>
          <p:nvPr/>
        </p:nvSpPr>
        <p:spPr>
          <a:xfrm>
            <a:off x="6217920" y="274320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borderline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1"/>
          <p:cNvSpPr/>
          <p:nvPr/>
        </p:nvSpPr>
        <p:spPr>
          <a:xfrm>
            <a:off x="548640" y="3520440"/>
            <a:ext cx="1096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1.90 m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2"/>
          <p:cNvSpPr/>
          <p:nvPr/>
        </p:nvSpPr>
        <p:spPr>
          <a:xfrm>
            <a:off x="1737360" y="3593520"/>
            <a:ext cx="4296960" cy="365040"/>
          </a:xfrm>
          <a:prstGeom prst="roundRect">
            <a:avLst>
              <a:gd name="adj" fmla="val 22500"/>
            </a:avLst>
          </a:prstGeom>
          <a:solidFill>
            <a:srgbClr val="E7EC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3"/>
          <p:cNvSpPr/>
          <p:nvPr/>
        </p:nvSpPr>
        <p:spPr>
          <a:xfrm>
            <a:off x="1737360" y="3593520"/>
            <a:ext cx="3867120" cy="36504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4"/>
          <p:cNvSpPr/>
          <p:nvPr/>
        </p:nvSpPr>
        <p:spPr>
          <a:xfrm>
            <a:off x="6217920" y="352044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tall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5"/>
          <p:cNvSpPr/>
          <p:nvPr/>
        </p:nvSpPr>
        <p:spPr>
          <a:xfrm>
            <a:off x="548640" y="4434840"/>
            <a:ext cx="6674400" cy="1690920"/>
          </a:xfrm>
          <a:prstGeom prst="roundRect">
            <a:avLst>
              <a:gd name="adj" fmla="val 486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6"/>
          <p:cNvSpPr/>
          <p:nvPr/>
        </p:nvSpPr>
        <p:spPr>
          <a:xfrm>
            <a:off x="822960" y="4434840"/>
            <a:ext cx="61714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network learns a boundary from examples — not a hand-written rule. Nobody told it “1.80 m and above is tall”; it inferred a threshold that fits the labelled examples.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7"/>
          <p:cNvSpPr/>
          <p:nvPr/>
        </p:nvSpPr>
        <p:spPr>
          <a:xfrm>
            <a:off x="7086600" y="1965960"/>
            <a:ext cx="4525560" cy="415980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8"/>
          <p:cNvSpPr/>
          <p:nvPr/>
        </p:nvSpPr>
        <p:spPr>
          <a:xfrm flipV="1">
            <a:off x="7452360" y="3268800"/>
            <a:ext cx="1874520" cy="754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9"/>
          <p:cNvSpPr/>
          <p:nvPr/>
        </p:nvSpPr>
        <p:spPr>
          <a:xfrm>
            <a:off x="7452360" y="4023360"/>
            <a:ext cx="187452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0"/>
          <p:cNvSpPr/>
          <p:nvPr/>
        </p:nvSpPr>
        <p:spPr>
          <a:xfrm>
            <a:off x="7452360" y="4023360"/>
            <a:ext cx="1874520" cy="7542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1"/>
          <p:cNvSpPr/>
          <p:nvPr/>
        </p:nvSpPr>
        <p:spPr>
          <a:xfrm>
            <a:off x="9326880" y="3268800"/>
            <a:ext cx="1874520" cy="75456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2"/>
          <p:cNvSpPr/>
          <p:nvPr/>
        </p:nvSpPr>
        <p:spPr>
          <a:xfrm>
            <a:off x="9326880" y="4023360"/>
            <a:ext cx="1874520" cy="72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23"/>
          <p:cNvSpPr/>
          <p:nvPr/>
        </p:nvSpPr>
        <p:spPr>
          <a:xfrm flipV="1">
            <a:off x="9326880" y="4023360"/>
            <a:ext cx="1874520" cy="754200"/>
          </a:xfrm>
          <a:prstGeom prst="line">
            <a:avLst/>
          </a:prstGeom>
          <a:ln w="12700">
            <a:solidFill>
              <a:srgbClr val="D8DEE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24"/>
          <p:cNvSpPr/>
          <p:nvPr/>
        </p:nvSpPr>
        <p:spPr>
          <a:xfrm>
            <a:off x="7278480" y="3849480"/>
            <a:ext cx="346680" cy="34668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5"/>
          <p:cNvSpPr/>
          <p:nvPr/>
        </p:nvSpPr>
        <p:spPr>
          <a:xfrm>
            <a:off x="9153000" y="309528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26"/>
          <p:cNvSpPr/>
          <p:nvPr/>
        </p:nvSpPr>
        <p:spPr>
          <a:xfrm>
            <a:off x="9153000" y="384948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27"/>
          <p:cNvSpPr/>
          <p:nvPr/>
        </p:nvSpPr>
        <p:spPr>
          <a:xfrm>
            <a:off x="9153000" y="460404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28"/>
          <p:cNvSpPr/>
          <p:nvPr/>
        </p:nvSpPr>
        <p:spPr>
          <a:xfrm>
            <a:off x="11027520" y="3849480"/>
            <a:ext cx="346680" cy="3466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9"/>
          <p:cNvSpPr/>
          <p:nvPr/>
        </p:nvSpPr>
        <p:spPr>
          <a:xfrm>
            <a:off x="6949440" y="562356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30"/>
          <p:cNvSpPr/>
          <p:nvPr/>
        </p:nvSpPr>
        <p:spPr>
          <a:xfrm>
            <a:off x="8823960" y="562356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hidden layer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1"/>
          <p:cNvSpPr/>
          <p:nvPr/>
        </p:nvSpPr>
        <p:spPr>
          <a:xfrm>
            <a:off x="10698480" y="562356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2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33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Classification: choosing among labels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2"/>
          <p:cNvSpPr/>
          <p:nvPr/>
        </p:nvSpPr>
        <p:spPr>
          <a:xfrm>
            <a:off x="548640" y="1554480"/>
            <a:ext cx="6034320" cy="4479840"/>
          </a:xfrm>
          <a:prstGeom prst="roundRect">
            <a:avLst>
              <a:gd name="adj" fmla="val 183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6" name="Chart 0"/>
          <p:cNvGraphicFramePr/>
          <p:nvPr/>
        </p:nvGraphicFramePr>
        <p:xfrm>
          <a:off x="731520" y="1737360"/>
          <a:ext cx="5668560" cy="4114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47" name="Shape 3"/>
          <p:cNvSpPr/>
          <p:nvPr/>
        </p:nvSpPr>
        <p:spPr>
          <a:xfrm>
            <a:off x="7223760" y="1554480"/>
            <a:ext cx="4388400" cy="2331000"/>
          </a:xfrm>
          <a:prstGeom prst="roundRect">
            <a:avLst>
              <a:gd name="adj" fmla="val 3529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4"/>
          <p:cNvSpPr/>
          <p:nvPr/>
        </p:nvSpPr>
        <p:spPr>
          <a:xfrm>
            <a:off x="7498080" y="173736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50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SOFTMAX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5"/>
          <p:cNvSpPr/>
          <p:nvPr/>
        </p:nvSpPr>
        <p:spPr>
          <a:xfrm>
            <a:off x="7498080" y="2103120"/>
            <a:ext cx="3976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Converts raw scores into a probability-like list. The highest score becomes the chosen class.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6"/>
          <p:cNvSpPr/>
          <p:nvPr/>
        </p:nvSpPr>
        <p:spPr>
          <a:xfrm>
            <a:off x="7498080" y="3200400"/>
            <a:ext cx="3976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Like slicing a probability pizza — every class gets a proportionate slice, and all the slices add up to one whole pie.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7"/>
          <p:cNvSpPr/>
          <p:nvPr/>
        </p:nvSpPr>
        <p:spPr>
          <a:xfrm>
            <a:off x="7223760" y="4069080"/>
            <a:ext cx="4388400" cy="1965240"/>
          </a:xfrm>
          <a:prstGeom prst="roundRect">
            <a:avLst>
              <a:gd name="adj" fmla="val 4186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8"/>
          <p:cNvSpPr/>
          <p:nvPr/>
        </p:nvSpPr>
        <p:spPr>
          <a:xfrm>
            <a:off x="7498080" y="4069080"/>
            <a:ext cx="397692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outputs behave like confidence scores that add up to 100% — here, the model is most confident the image shows a cat.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9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0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Regression: predicting a number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"/>
          <p:cNvSpPr/>
          <p:nvPr/>
        </p:nvSpPr>
        <p:spPr>
          <a:xfrm>
            <a:off x="548640" y="1371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Example: predict a house's price from its size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3"/>
          <p:cNvSpPr/>
          <p:nvPr/>
        </p:nvSpPr>
        <p:spPr>
          <a:xfrm>
            <a:off x="548640" y="1920240"/>
            <a:ext cx="6308640" cy="415980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9" name="Chart 0"/>
          <p:cNvGraphicFramePr/>
          <p:nvPr/>
        </p:nvGraphicFramePr>
        <p:xfrm>
          <a:off x="731520" y="2103120"/>
          <a:ext cx="5942880" cy="3794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60" name="Shape 4"/>
          <p:cNvSpPr/>
          <p:nvPr/>
        </p:nvSpPr>
        <p:spPr>
          <a:xfrm>
            <a:off x="983160" y="496332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5"/>
          <p:cNvSpPr/>
          <p:nvPr/>
        </p:nvSpPr>
        <p:spPr>
          <a:xfrm>
            <a:off x="1882080" y="466632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6"/>
          <p:cNvSpPr/>
          <p:nvPr/>
        </p:nvSpPr>
        <p:spPr>
          <a:xfrm>
            <a:off x="2481480" y="435060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7"/>
          <p:cNvSpPr/>
          <p:nvPr/>
        </p:nvSpPr>
        <p:spPr>
          <a:xfrm>
            <a:off x="3380760" y="392328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8"/>
          <p:cNvSpPr/>
          <p:nvPr/>
        </p:nvSpPr>
        <p:spPr>
          <a:xfrm>
            <a:off x="4280040" y="366336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9"/>
          <p:cNvSpPr/>
          <p:nvPr/>
        </p:nvSpPr>
        <p:spPr>
          <a:xfrm>
            <a:off x="5178960" y="318024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10"/>
          <p:cNvSpPr/>
          <p:nvPr/>
        </p:nvSpPr>
        <p:spPr>
          <a:xfrm>
            <a:off x="6378120" y="2678760"/>
            <a:ext cx="136440" cy="136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1"/>
          <p:cNvSpPr/>
          <p:nvPr/>
        </p:nvSpPr>
        <p:spPr>
          <a:xfrm>
            <a:off x="7452360" y="1920240"/>
            <a:ext cx="4159800" cy="1828080"/>
          </a:xfrm>
          <a:prstGeom prst="roundRect">
            <a:avLst>
              <a:gd name="adj" fmla="val 4500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2"/>
          <p:cNvSpPr/>
          <p:nvPr/>
        </p:nvSpPr>
        <p:spPr>
          <a:xfrm>
            <a:off x="7680960" y="1920240"/>
            <a:ext cx="37483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Classification asks “which bucket?”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Regression asks “how much?”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13"/>
          <p:cNvSpPr/>
          <p:nvPr/>
        </p:nvSpPr>
        <p:spPr>
          <a:xfrm>
            <a:off x="7452360" y="3886200"/>
            <a:ext cx="4159800" cy="2422440"/>
          </a:xfrm>
          <a:prstGeom prst="roundRect">
            <a:avLst>
              <a:gd name="adj" fmla="val 339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14"/>
          <p:cNvSpPr/>
          <p:nvPr/>
        </p:nvSpPr>
        <p:spPr>
          <a:xfrm>
            <a:off x="7680960" y="40417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WHY SQUARE THE ERROR?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15"/>
          <p:cNvSpPr/>
          <p:nvPr/>
        </p:nvSpPr>
        <p:spPr>
          <a:xfrm>
            <a:off x="7680960" y="4334400"/>
            <a:ext cx="383976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Squaring turns every error positive, so a −10 and a +10 mistake don't cancel out. It also punishes large errors far more than small ones — the same idea from the loss slide — and it stays smooth everywhere, which makes gradient descent easier to compute.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6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17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0"/>
          <p:cNvSpPr/>
          <p:nvPr/>
        </p:nvSpPr>
        <p:spPr>
          <a:xfrm>
            <a:off x="11650680" y="730440"/>
            <a:ext cx="115560" cy="115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960" tIns="37080" rIns="57960" bIns="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1"/>
          <p:cNvSpPr/>
          <p:nvPr/>
        </p:nvSpPr>
        <p:spPr>
          <a:xfrm>
            <a:off x="10270080" y="4881600"/>
            <a:ext cx="72000" cy="72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6480" rIns="36000" bIns="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2"/>
          <p:cNvSpPr/>
          <p:nvPr/>
        </p:nvSpPr>
        <p:spPr>
          <a:xfrm>
            <a:off x="9422280" y="5389200"/>
            <a:ext cx="131400" cy="1314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3"/>
          <p:cNvSpPr/>
          <p:nvPr/>
        </p:nvSpPr>
        <p:spPr>
          <a:xfrm>
            <a:off x="7966440" y="6166440"/>
            <a:ext cx="108360" cy="1083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040" rIns="54360" bIns="320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4"/>
          <p:cNvSpPr/>
          <p:nvPr/>
        </p:nvSpPr>
        <p:spPr>
          <a:xfrm>
            <a:off x="7698960" y="5799240"/>
            <a:ext cx="145080" cy="1450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5"/>
          <p:cNvSpPr/>
          <p:nvPr/>
        </p:nvSpPr>
        <p:spPr>
          <a:xfrm>
            <a:off x="8313120" y="2151000"/>
            <a:ext cx="84600" cy="846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480" tIns="15480" rIns="42480" bIns="15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6"/>
          <p:cNvSpPr/>
          <p:nvPr/>
        </p:nvSpPr>
        <p:spPr>
          <a:xfrm>
            <a:off x="9682560" y="1916280"/>
            <a:ext cx="126000" cy="126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7"/>
          <p:cNvSpPr/>
          <p:nvPr/>
        </p:nvSpPr>
        <p:spPr>
          <a:xfrm>
            <a:off x="10852920" y="4476960"/>
            <a:ext cx="70560" cy="70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5280" tIns="5760" rIns="35280" bIns="5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8"/>
          <p:cNvSpPr/>
          <p:nvPr/>
        </p:nvSpPr>
        <p:spPr>
          <a:xfrm>
            <a:off x="9414360" y="945720"/>
            <a:ext cx="137160" cy="1371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tIns="45000" rIns="68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9"/>
          <p:cNvSpPr/>
          <p:nvPr/>
        </p:nvSpPr>
        <p:spPr>
          <a:xfrm>
            <a:off x="11738880" y="1710360"/>
            <a:ext cx="117000" cy="117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8680" tIns="38520" rIns="58680" bIns="385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10"/>
          <p:cNvSpPr/>
          <p:nvPr/>
        </p:nvSpPr>
        <p:spPr>
          <a:xfrm>
            <a:off x="10431000" y="2640960"/>
            <a:ext cx="56880" cy="568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tIns="-4320" rIns="28440" bIns="-4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1"/>
          <p:cNvSpPr/>
          <p:nvPr/>
        </p:nvSpPr>
        <p:spPr>
          <a:xfrm>
            <a:off x="9068040" y="752040"/>
            <a:ext cx="130320" cy="1303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tIns="45000" rIns="651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2"/>
          <p:cNvSpPr/>
          <p:nvPr/>
        </p:nvSpPr>
        <p:spPr>
          <a:xfrm>
            <a:off x="8829720" y="2324520"/>
            <a:ext cx="123120" cy="1231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13"/>
          <p:cNvSpPr/>
          <p:nvPr/>
        </p:nvSpPr>
        <p:spPr>
          <a:xfrm>
            <a:off x="8354520" y="1190160"/>
            <a:ext cx="144720" cy="1447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4"/>
          <p:cNvSpPr/>
          <p:nvPr/>
        </p:nvSpPr>
        <p:spPr>
          <a:xfrm>
            <a:off x="548640" y="155448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SECTION 03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5"/>
          <p:cNvSpPr/>
          <p:nvPr/>
        </p:nvSpPr>
        <p:spPr>
          <a:xfrm>
            <a:off x="548640" y="2057400"/>
            <a:ext cx="96004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Architectures</a:t>
            </a:r>
            <a:endParaRPr lang="en-CA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6"/>
          <p:cNvSpPr/>
          <p:nvPr/>
        </p:nvSpPr>
        <p:spPr>
          <a:xfrm>
            <a:off x="548640" y="324612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Specialized network designs for images, sequences, and language.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17"/>
          <p:cNvSpPr/>
          <p:nvPr/>
        </p:nvSpPr>
        <p:spPr>
          <a:xfrm>
            <a:off x="54864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8"/>
          <p:cNvSpPr/>
          <p:nvPr/>
        </p:nvSpPr>
        <p:spPr>
          <a:xfrm>
            <a:off x="54864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19"/>
          <p:cNvSpPr/>
          <p:nvPr/>
        </p:nvSpPr>
        <p:spPr>
          <a:xfrm>
            <a:off x="3127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20"/>
          <p:cNvSpPr/>
          <p:nvPr/>
        </p:nvSpPr>
        <p:spPr>
          <a:xfrm>
            <a:off x="3127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21"/>
          <p:cNvSpPr/>
          <p:nvPr/>
        </p:nvSpPr>
        <p:spPr>
          <a:xfrm>
            <a:off x="570600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22"/>
          <p:cNvSpPr/>
          <p:nvPr/>
        </p:nvSpPr>
        <p:spPr>
          <a:xfrm>
            <a:off x="570600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23"/>
          <p:cNvSpPr/>
          <p:nvPr/>
        </p:nvSpPr>
        <p:spPr>
          <a:xfrm>
            <a:off x="8284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24"/>
          <p:cNvSpPr/>
          <p:nvPr/>
        </p:nvSpPr>
        <p:spPr>
          <a:xfrm>
            <a:off x="8284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2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2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Convolutional neural networks (CNNs)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small filter slides across an image, looking for one specific pattern wherever it appears.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3"/>
          <p:cNvSpPr/>
          <p:nvPr/>
        </p:nvSpPr>
        <p:spPr>
          <a:xfrm>
            <a:off x="548640" y="2011680"/>
            <a:ext cx="6674400" cy="4205520"/>
          </a:xfrm>
          <a:prstGeom prst="roundRect">
            <a:avLst>
              <a:gd name="adj" fmla="val 195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4"/>
          <p:cNvSpPr/>
          <p:nvPr/>
        </p:nvSpPr>
        <p:spPr>
          <a:xfrm>
            <a:off x="1097280" y="2514600"/>
            <a:ext cx="474840" cy="474840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5"/>
          <p:cNvSpPr/>
          <p:nvPr/>
        </p:nvSpPr>
        <p:spPr>
          <a:xfrm>
            <a:off x="1572840" y="2514600"/>
            <a:ext cx="474840" cy="474840"/>
          </a:xfrm>
          <a:prstGeom prst="rect">
            <a:avLst/>
          </a:prstGeom>
          <a:solidFill>
            <a:srgbClr val="E2E2E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6"/>
          <p:cNvSpPr/>
          <p:nvPr/>
        </p:nvSpPr>
        <p:spPr>
          <a:xfrm>
            <a:off x="2048400" y="2514600"/>
            <a:ext cx="474840" cy="474840"/>
          </a:xfrm>
          <a:prstGeom prst="rect">
            <a:avLst/>
          </a:prstGeom>
          <a:solidFill>
            <a:srgbClr val="6262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7"/>
          <p:cNvSpPr/>
          <p:nvPr/>
        </p:nvSpPr>
        <p:spPr>
          <a:xfrm>
            <a:off x="2523600" y="2514600"/>
            <a:ext cx="474840" cy="474840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8"/>
          <p:cNvSpPr/>
          <p:nvPr/>
        </p:nvSpPr>
        <p:spPr>
          <a:xfrm>
            <a:off x="2999160" y="2514600"/>
            <a:ext cx="474840" cy="474840"/>
          </a:xfrm>
          <a:prstGeom prst="rect">
            <a:avLst/>
          </a:prstGeom>
          <a:solidFill>
            <a:srgbClr val="A2A2A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9"/>
          <p:cNvSpPr/>
          <p:nvPr/>
        </p:nvSpPr>
        <p:spPr>
          <a:xfrm>
            <a:off x="3474720" y="2514600"/>
            <a:ext cx="474840" cy="474840"/>
          </a:xfrm>
          <a:prstGeom prst="rect">
            <a:avLst/>
          </a:prstGeom>
          <a:solidFill>
            <a:srgbClr val="B2B2B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0"/>
          <p:cNvSpPr/>
          <p:nvPr/>
        </p:nvSpPr>
        <p:spPr>
          <a:xfrm>
            <a:off x="1097280" y="2990160"/>
            <a:ext cx="474840" cy="47484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11"/>
          <p:cNvSpPr/>
          <p:nvPr/>
        </p:nvSpPr>
        <p:spPr>
          <a:xfrm>
            <a:off x="1572840" y="2990160"/>
            <a:ext cx="474840" cy="474840"/>
          </a:xfrm>
          <a:prstGeom prst="rect">
            <a:avLst/>
          </a:prstGeom>
          <a:solidFill>
            <a:srgbClr val="C9C9C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12"/>
          <p:cNvSpPr/>
          <p:nvPr/>
        </p:nvSpPr>
        <p:spPr>
          <a:xfrm>
            <a:off x="2048400" y="2990160"/>
            <a:ext cx="474840" cy="474840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13"/>
          <p:cNvSpPr/>
          <p:nvPr/>
        </p:nvSpPr>
        <p:spPr>
          <a:xfrm>
            <a:off x="2523600" y="2990160"/>
            <a:ext cx="474840" cy="474840"/>
          </a:xfrm>
          <a:prstGeom prst="rect">
            <a:avLst/>
          </a:prstGeom>
          <a:solidFill>
            <a:srgbClr val="85858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14"/>
          <p:cNvSpPr/>
          <p:nvPr/>
        </p:nvSpPr>
        <p:spPr>
          <a:xfrm>
            <a:off x="2999160" y="2990160"/>
            <a:ext cx="474840" cy="474840"/>
          </a:xfrm>
          <a:prstGeom prst="rect">
            <a:avLst/>
          </a:prstGeom>
          <a:solidFill>
            <a:srgbClr val="C7C7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5"/>
          <p:cNvSpPr/>
          <p:nvPr/>
        </p:nvSpPr>
        <p:spPr>
          <a:xfrm>
            <a:off x="3474720" y="2990160"/>
            <a:ext cx="474840" cy="474840"/>
          </a:xfrm>
          <a:prstGeom prst="rect">
            <a:avLst/>
          </a:prstGeom>
          <a:solidFill>
            <a:srgbClr val="D5D5D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16"/>
          <p:cNvSpPr/>
          <p:nvPr/>
        </p:nvSpPr>
        <p:spPr>
          <a:xfrm>
            <a:off x="1097280" y="3465720"/>
            <a:ext cx="474840" cy="47484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17"/>
          <p:cNvSpPr/>
          <p:nvPr/>
        </p:nvSpPr>
        <p:spPr>
          <a:xfrm>
            <a:off x="1572840" y="3465720"/>
            <a:ext cx="474840" cy="474840"/>
          </a:xfrm>
          <a:prstGeom prst="rect">
            <a:avLst/>
          </a:prstGeom>
          <a:solidFill>
            <a:srgbClr val="A2A2A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8"/>
          <p:cNvSpPr/>
          <p:nvPr/>
        </p:nvSpPr>
        <p:spPr>
          <a:xfrm>
            <a:off x="2048400" y="3465720"/>
            <a:ext cx="474840" cy="474840"/>
          </a:xfrm>
          <a:prstGeom prst="rect">
            <a:avLst/>
          </a:prstGeom>
          <a:solidFill>
            <a:srgbClr val="CFCFC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9"/>
          <p:cNvSpPr/>
          <p:nvPr/>
        </p:nvSpPr>
        <p:spPr>
          <a:xfrm>
            <a:off x="2523600" y="3465720"/>
            <a:ext cx="474840" cy="474840"/>
          </a:xfrm>
          <a:prstGeom prst="rect">
            <a:avLst/>
          </a:prstGeom>
          <a:solidFill>
            <a:srgbClr val="B7B7B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0"/>
          <p:cNvSpPr/>
          <p:nvPr/>
        </p:nvSpPr>
        <p:spPr>
          <a:xfrm>
            <a:off x="2999160" y="3465720"/>
            <a:ext cx="474840" cy="474840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21"/>
          <p:cNvSpPr/>
          <p:nvPr/>
        </p:nvSpPr>
        <p:spPr>
          <a:xfrm>
            <a:off x="3474720" y="3465720"/>
            <a:ext cx="474840" cy="474840"/>
          </a:xfrm>
          <a:prstGeom prst="rect">
            <a:avLst/>
          </a:prstGeom>
          <a:solidFill>
            <a:srgbClr val="A0A0A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22"/>
          <p:cNvSpPr/>
          <p:nvPr/>
        </p:nvSpPr>
        <p:spPr>
          <a:xfrm>
            <a:off x="1097280" y="3940920"/>
            <a:ext cx="474840" cy="474840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23"/>
          <p:cNvSpPr/>
          <p:nvPr/>
        </p:nvSpPr>
        <p:spPr>
          <a:xfrm>
            <a:off x="1572840" y="3940920"/>
            <a:ext cx="474840" cy="474840"/>
          </a:xfrm>
          <a:prstGeom prst="rect">
            <a:avLst/>
          </a:prstGeom>
          <a:solidFill>
            <a:srgbClr val="6262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24"/>
          <p:cNvSpPr/>
          <p:nvPr/>
        </p:nvSpPr>
        <p:spPr>
          <a:xfrm>
            <a:off x="2048400" y="3940920"/>
            <a:ext cx="474840" cy="47484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25"/>
          <p:cNvSpPr/>
          <p:nvPr/>
        </p:nvSpPr>
        <p:spPr>
          <a:xfrm>
            <a:off x="2523600" y="3940920"/>
            <a:ext cx="474840" cy="474840"/>
          </a:xfrm>
          <a:prstGeom prst="rect">
            <a:avLst/>
          </a:prstGeom>
          <a:solidFill>
            <a:srgbClr val="70707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26"/>
          <p:cNvSpPr/>
          <p:nvPr/>
        </p:nvSpPr>
        <p:spPr>
          <a:xfrm>
            <a:off x="2999160" y="3940920"/>
            <a:ext cx="474840" cy="474840"/>
          </a:xfrm>
          <a:prstGeom prst="rect">
            <a:avLst/>
          </a:prstGeom>
          <a:solidFill>
            <a:srgbClr val="D0D0D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27"/>
          <p:cNvSpPr/>
          <p:nvPr/>
        </p:nvSpPr>
        <p:spPr>
          <a:xfrm>
            <a:off x="3474720" y="3940920"/>
            <a:ext cx="474840" cy="474840"/>
          </a:xfrm>
          <a:prstGeom prst="rect">
            <a:avLst/>
          </a:prstGeom>
          <a:solidFill>
            <a:srgbClr val="D7D7D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28"/>
          <p:cNvSpPr/>
          <p:nvPr/>
        </p:nvSpPr>
        <p:spPr>
          <a:xfrm>
            <a:off x="1097280" y="4416480"/>
            <a:ext cx="474840" cy="474840"/>
          </a:xfrm>
          <a:prstGeom prst="rect">
            <a:avLst/>
          </a:prstGeom>
          <a:solidFill>
            <a:srgbClr val="D5D5D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29"/>
          <p:cNvSpPr/>
          <p:nvPr/>
        </p:nvSpPr>
        <p:spPr>
          <a:xfrm>
            <a:off x="1572840" y="4416480"/>
            <a:ext cx="474840" cy="474840"/>
          </a:xfrm>
          <a:prstGeom prst="rect">
            <a:avLst/>
          </a:prstGeom>
          <a:solidFill>
            <a:srgbClr val="C2C2C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30"/>
          <p:cNvSpPr/>
          <p:nvPr/>
        </p:nvSpPr>
        <p:spPr>
          <a:xfrm>
            <a:off x="2048400" y="4416480"/>
            <a:ext cx="474840" cy="474840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31"/>
          <p:cNvSpPr/>
          <p:nvPr/>
        </p:nvSpPr>
        <p:spPr>
          <a:xfrm>
            <a:off x="2523600" y="4416480"/>
            <a:ext cx="474840" cy="47484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32"/>
          <p:cNvSpPr/>
          <p:nvPr/>
        </p:nvSpPr>
        <p:spPr>
          <a:xfrm>
            <a:off x="2999160" y="4416480"/>
            <a:ext cx="474840" cy="474840"/>
          </a:xfrm>
          <a:prstGeom prst="rect">
            <a:avLst/>
          </a:prstGeom>
          <a:solidFill>
            <a:srgbClr val="E1E1E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33"/>
          <p:cNvSpPr/>
          <p:nvPr/>
        </p:nvSpPr>
        <p:spPr>
          <a:xfrm>
            <a:off x="3474720" y="4416480"/>
            <a:ext cx="474840" cy="474840"/>
          </a:xfrm>
          <a:prstGeom prst="rect">
            <a:avLst/>
          </a:prstGeom>
          <a:solidFill>
            <a:srgbClr val="6B6B6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34"/>
          <p:cNvSpPr/>
          <p:nvPr/>
        </p:nvSpPr>
        <p:spPr>
          <a:xfrm>
            <a:off x="1097280" y="4892040"/>
            <a:ext cx="474840" cy="474840"/>
          </a:xfrm>
          <a:prstGeom prst="rect">
            <a:avLst/>
          </a:prstGeom>
          <a:solidFill>
            <a:srgbClr val="9D9D9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35"/>
          <p:cNvSpPr/>
          <p:nvPr/>
        </p:nvSpPr>
        <p:spPr>
          <a:xfrm>
            <a:off x="1572840" y="4892040"/>
            <a:ext cx="474840" cy="474840"/>
          </a:xfrm>
          <a:prstGeom prst="rect">
            <a:avLst/>
          </a:prstGeom>
          <a:solidFill>
            <a:srgbClr val="94949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36"/>
          <p:cNvSpPr/>
          <p:nvPr/>
        </p:nvSpPr>
        <p:spPr>
          <a:xfrm>
            <a:off x="2048400" y="4892040"/>
            <a:ext cx="474840" cy="474840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37"/>
          <p:cNvSpPr/>
          <p:nvPr/>
        </p:nvSpPr>
        <p:spPr>
          <a:xfrm>
            <a:off x="2523600" y="4892040"/>
            <a:ext cx="474840" cy="474840"/>
          </a:xfrm>
          <a:prstGeom prst="rect">
            <a:avLst/>
          </a:prstGeom>
          <a:solidFill>
            <a:srgbClr val="64646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38"/>
          <p:cNvSpPr/>
          <p:nvPr/>
        </p:nvSpPr>
        <p:spPr>
          <a:xfrm>
            <a:off x="2999160" y="4892040"/>
            <a:ext cx="474840" cy="474840"/>
          </a:xfrm>
          <a:prstGeom prst="rect">
            <a:avLst/>
          </a:prstGeom>
          <a:solidFill>
            <a:srgbClr val="94949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39"/>
          <p:cNvSpPr/>
          <p:nvPr/>
        </p:nvSpPr>
        <p:spPr>
          <a:xfrm>
            <a:off x="3474720" y="4892040"/>
            <a:ext cx="474840" cy="474840"/>
          </a:xfrm>
          <a:prstGeom prst="rect">
            <a:avLst/>
          </a:prstGeom>
          <a:solidFill>
            <a:srgbClr val="6A6A6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40"/>
          <p:cNvSpPr/>
          <p:nvPr/>
        </p:nvSpPr>
        <p:spPr>
          <a:xfrm>
            <a:off x="1572840" y="2990160"/>
            <a:ext cx="950400" cy="950400"/>
          </a:xfrm>
          <a:prstGeom prst="rect">
            <a:avLst/>
          </a:prstGeom>
          <a:solidFill>
            <a:srgbClr val="F2994A">
              <a:alpha val="45000"/>
            </a:srgbClr>
          </a:solidFill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41"/>
          <p:cNvSpPr/>
          <p:nvPr/>
        </p:nvSpPr>
        <p:spPr>
          <a:xfrm>
            <a:off x="1097280" y="5504760"/>
            <a:ext cx="2852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filter / kernel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42"/>
          <p:cNvSpPr/>
          <p:nvPr/>
        </p:nvSpPr>
        <p:spPr>
          <a:xfrm>
            <a:off x="4178520" y="3940920"/>
            <a:ext cx="457200" cy="720"/>
          </a:xfrm>
          <a:prstGeom prst="line">
            <a:avLst/>
          </a:prstGeom>
          <a:ln w="3175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43"/>
          <p:cNvSpPr/>
          <p:nvPr/>
        </p:nvSpPr>
        <p:spPr>
          <a:xfrm>
            <a:off x="4864680" y="2971800"/>
            <a:ext cx="383400" cy="383400"/>
          </a:xfrm>
          <a:prstGeom prst="rect">
            <a:avLst/>
          </a:prstGeom>
          <a:solidFill>
            <a:srgbClr val="4F4F4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44"/>
          <p:cNvSpPr/>
          <p:nvPr/>
        </p:nvSpPr>
        <p:spPr>
          <a:xfrm>
            <a:off x="5248800" y="2971800"/>
            <a:ext cx="383400" cy="383400"/>
          </a:xfrm>
          <a:prstGeom prst="rect">
            <a:avLst/>
          </a:prstGeom>
          <a:solidFill>
            <a:srgbClr val="DEDEDE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45"/>
          <p:cNvSpPr/>
          <p:nvPr/>
        </p:nvSpPr>
        <p:spPr>
          <a:xfrm>
            <a:off x="5632560" y="2971800"/>
            <a:ext cx="383400" cy="383400"/>
          </a:xfrm>
          <a:prstGeom prst="rect">
            <a:avLst/>
          </a:prstGeom>
          <a:solidFill>
            <a:srgbClr val="86868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46"/>
          <p:cNvSpPr/>
          <p:nvPr/>
        </p:nvSpPr>
        <p:spPr>
          <a:xfrm>
            <a:off x="6016680" y="2971800"/>
            <a:ext cx="383400" cy="383400"/>
          </a:xfrm>
          <a:prstGeom prst="rect">
            <a:avLst/>
          </a:prstGeom>
          <a:solidFill>
            <a:srgbClr val="D6D6D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47"/>
          <p:cNvSpPr/>
          <p:nvPr/>
        </p:nvSpPr>
        <p:spPr>
          <a:xfrm>
            <a:off x="4864680" y="3355920"/>
            <a:ext cx="383400" cy="383400"/>
          </a:xfrm>
          <a:prstGeom prst="rect">
            <a:avLst/>
          </a:prstGeom>
          <a:solidFill>
            <a:srgbClr val="46464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48"/>
          <p:cNvSpPr/>
          <p:nvPr/>
        </p:nvSpPr>
        <p:spPr>
          <a:xfrm>
            <a:off x="5248800" y="3355920"/>
            <a:ext cx="383400" cy="383400"/>
          </a:xfrm>
          <a:prstGeom prst="rect">
            <a:avLst/>
          </a:prstGeom>
          <a:solidFill>
            <a:srgbClr val="81818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49"/>
          <p:cNvSpPr/>
          <p:nvPr/>
        </p:nvSpPr>
        <p:spPr>
          <a:xfrm>
            <a:off x="5632560" y="3355920"/>
            <a:ext cx="383400" cy="383400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50"/>
          <p:cNvSpPr/>
          <p:nvPr/>
        </p:nvSpPr>
        <p:spPr>
          <a:xfrm>
            <a:off x="6016680" y="3355920"/>
            <a:ext cx="383400" cy="383400"/>
          </a:xfrm>
          <a:prstGeom prst="rect">
            <a:avLst/>
          </a:prstGeom>
          <a:solidFill>
            <a:srgbClr val="C4C4C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51"/>
          <p:cNvSpPr/>
          <p:nvPr/>
        </p:nvSpPr>
        <p:spPr>
          <a:xfrm>
            <a:off x="4864680" y="3740040"/>
            <a:ext cx="383400" cy="383400"/>
          </a:xfrm>
          <a:prstGeom prst="rect">
            <a:avLst/>
          </a:prstGeom>
          <a:solidFill>
            <a:srgbClr val="AFAFA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52"/>
          <p:cNvSpPr/>
          <p:nvPr/>
        </p:nvSpPr>
        <p:spPr>
          <a:xfrm>
            <a:off x="5248800" y="3740040"/>
            <a:ext cx="383400" cy="383400"/>
          </a:xfrm>
          <a:prstGeom prst="rect">
            <a:avLst/>
          </a:prstGeom>
          <a:solidFill>
            <a:srgbClr val="727272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53"/>
          <p:cNvSpPr/>
          <p:nvPr/>
        </p:nvSpPr>
        <p:spPr>
          <a:xfrm>
            <a:off x="5632560" y="3740040"/>
            <a:ext cx="383400" cy="383400"/>
          </a:xfrm>
          <a:prstGeom prst="rect">
            <a:avLst/>
          </a:prstGeom>
          <a:solidFill>
            <a:srgbClr val="BDBDBD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54"/>
          <p:cNvSpPr/>
          <p:nvPr/>
        </p:nvSpPr>
        <p:spPr>
          <a:xfrm>
            <a:off x="6016680" y="3740040"/>
            <a:ext cx="383400" cy="383400"/>
          </a:xfrm>
          <a:prstGeom prst="rect">
            <a:avLst/>
          </a:prstGeom>
          <a:solidFill>
            <a:srgbClr val="D4D4D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55"/>
          <p:cNvSpPr/>
          <p:nvPr/>
        </p:nvSpPr>
        <p:spPr>
          <a:xfrm>
            <a:off x="4864680" y="4123800"/>
            <a:ext cx="383400" cy="383400"/>
          </a:xfrm>
          <a:prstGeom prst="rect">
            <a:avLst/>
          </a:prstGeom>
          <a:solidFill>
            <a:srgbClr val="50505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56"/>
          <p:cNvSpPr/>
          <p:nvPr/>
        </p:nvSpPr>
        <p:spPr>
          <a:xfrm>
            <a:off x="5248800" y="4123800"/>
            <a:ext cx="383400" cy="383400"/>
          </a:xfrm>
          <a:prstGeom prst="rect">
            <a:avLst/>
          </a:prstGeom>
          <a:solidFill>
            <a:srgbClr val="828282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57"/>
          <p:cNvSpPr/>
          <p:nvPr/>
        </p:nvSpPr>
        <p:spPr>
          <a:xfrm>
            <a:off x="5632560" y="4123800"/>
            <a:ext cx="383400" cy="383400"/>
          </a:xfrm>
          <a:prstGeom prst="rect">
            <a:avLst/>
          </a:prstGeom>
          <a:solidFill>
            <a:srgbClr val="3F3F3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58"/>
          <p:cNvSpPr/>
          <p:nvPr/>
        </p:nvSpPr>
        <p:spPr>
          <a:xfrm>
            <a:off x="6016680" y="4123800"/>
            <a:ext cx="383400" cy="383400"/>
          </a:xfrm>
          <a:prstGeom prst="rect">
            <a:avLst/>
          </a:prstGeom>
          <a:solidFill>
            <a:srgbClr val="2D2D2D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59"/>
          <p:cNvSpPr/>
          <p:nvPr/>
        </p:nvSpPr>
        <p:spPr>
          <a:xfrm>
            <a:off x="4681800" y="4645080"/>
            <a:ext cx="19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feature map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60"/>
          <p:cNvSpPr/>
          <p:nvPr/>
        </p:nvSpPr>
        <p:spPr>
          <a:xfrm>
            <a:off x="7086600" y="2011680"/>
            <a:ext cx="4525560" cy="4205520"/>
          </a:xfrm>
          <a:prstGeom prst="roundRect">
            <a:avLst>
              <a:gd name="adj" fmla="val 1957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61"/>
          <p:cNvSpPr/>
          <p:nvPr/>
        </p:nvSpPr>
        <p:spPr>
          <a:xfrm>
            <a:off x="7315200" y="2194560"/>
            <a:ext cx="4022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WHY USEFUL?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62"/>
          <p:cNvSpPr/>
          <p:nvPr/>
        </p:nvSpPr>
        <p:spPr>
          <a:xfrm>
            <a:off x="7315200" y="2560320"/>
            <a:ext cx="41140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same small detector can find its pattern anywhere in the image — top-left or bottom-right, it doesn't matter.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Far fewer parameters than connecting every pixel to every neuron, so CNNs train faster and generalize better on images.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63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64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CNN in action: one worked calculation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vertical-edge filter multiplies and adds numbers wherever it lands on the image.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3"/>
          <p:cNvSpPr/>
          <p:nvPr/>
        </p:nvSpPr>
        <p:spPr>
          <a:xfrm>
            <a:off x="548640" y="1828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IMAGE PATCH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4"/>
          <p:cNvSpPr/>
          <p:nvPr/>
        </p:nvSpPr>
        <p:spPr>
          <a:xfrm>
            <a:off x="548640" y="2148840"/>
            <a:ext cx="657720" cy="657720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5"/>
          <p:cNvSpPr/>
          <p:nvPr/>
        </p:nvSpPr>
        <p:spPr>
          <a:xfrm>
            <a:off x="548640" y="214884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6"/>
          <p:cNvSpPr/>
          <p:nvPr/>
        </p:nvSpPr>
        <p:spPr>
          <a:xfrm>
            <a:off x="1207080" y="2148840"/>
            <a:ext cx="657720" cy="657720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7"/>
          <p:cNvSpPr/>
          <p:nvPr/>
        </p:nvSpPr>
        <p:spPr>
          <a:xfrm>
            <a:off x="1207080" y="214884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8"/>
          <p:cNvSpPr/>
          <p:nvPr/>
        </p:nvSpPr>
        <p:spPr>
          <a:xfrm>
            <a:off x="1865520" y="214884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9"/>
          <p:cNvSpPr/>
          <p:nvPr/>
        </p:nvSpPr>
        <p:spPr>
          <a:xfrm>
            <a:off x="1865520" y="214884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10"/>
          <p:cNvSpPr/>
          <p:nvPr/>
        </p:nvSpPr>
        <p:spPr>
          <a:xfrm>
            <a:off x="2523600" y="214884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11"/>
          <p:cNvSpPr/>
          <p:nvPr/>
        </p:nvSpPr>
        <p:spPr>
          <a:xfrm>
            <a:off x="2523600" y="214884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12"/>
          <p:cNvSpPr/>
          <p:nvPr/>
        </p:nvSpPr>
        <p:spPr>
          <a:xfrm>
            <a:off x="548640" y="2807280"/>
            <a:ext cx="657720" cy="657720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3"/>
          <p:cNvSpPr/>
          <p:nvPr/>
        </p:nvSpPr>
        <p:spPr>
          <a:xfrm>
            <a:off x="548640" y="280728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14"/>
          <p:cNvSpPr/>
          <p:nvPr/>
        </p:nvSpPr>
        <p:spPr>
          <a:xfrm>
            <a:off x="1207080" y="2807280"/>
            <a:ext cx="657720" cy="657720"/>
          </a:xfrm>
          <a:prstGeom prst="rect">
            <a:avLst/>
          </a:prstGeom>
          <a:solidFill>
            <a:srgbClr val="FDEBD8"/>
          </a:solidFill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5"/>
          <p:cNvSpPr/>
          <p:nvPr/>
        </p:nvSpPr>
        <p:spPr>
          <a:xfrm>
            <a:off x="1207080" y="280728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6"/>
          <p:cNvSpPr/>
          <p:nvPr/>
        </p:nvSpPr>
        <p:spPr>
          <a:xfrm>
            <a:off x="1865520" y="280728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7"/>
          <p:cNvSpPr/>
          <p:nvPr/>
        </p:nvSpPr>
        <p:spPr>
          <a:xfrm>
            <a:off x="1865520" y="280728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18"/>
          <p:cNvSpPr/>
          <p:nvPr/>
        </p:nvSpPr>
        <p:spPr>
          <a:xfrm>
            <a:off x="2523600" y="280728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19"/>
          <p:cNvSpPr/>
          <p:nvPr/>
        </p:nvSpPr>
        <p:spPr>
          <a:xfrm>
            <a:off x="2523600" y="280728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20"/>
          <p:cNvSpPr/>
          <p:nvPr/>
        </p:nvSpPr>
        <p:spPr>
          <a:xfrm>
            <a:off x="548640" y="346572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21"/>
          <p:cNvSpPr/>
          <p:nvPr/>
        </p:nvSpPr>
        <p:spPr>
          <a:xfrm>
            <a:off x="548640" y="34657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22"/>
          <p:cNvSpPr/>
          <p:nvPr/>
        </p:nvSpPr>
        <p:spPr>
          <a:xfrm>
            <a:off x="1207080" y="346572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23"/>
          <p:cNvSpPr/>
          <p:nvPr/>
        </p:nvSpPr>
        <p:spPr>
          <a:xfrm>
            <a:off x="1207080" y="34657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24"/>
          <p:cNvSpPr/>
          <p:nvPr/>
        </p:nvSpPr>
        <p:spPr>
          <a:xfrm>
            <a:off x="1865520" y="346572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5"/>
          <p:cNvSpPr/>
          <p:nvPr/>
        </p:nvSpPr>
        <p:spPr>
          <a:xfrm>
            <a:off x="1865520" y="34657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26"/>
          <p:cNvSpPr/>
          <p:nvPr/>
        </p:nvSpPr>
        <p:spPr>
          <a:xfrm>
            <a:off x="2523600" y="346572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27"/>
          <p:cNvSpPr/>
          <p:nvPr/>
        </p:nvSpPr>
        <p:spPr>
          <a:xfrm>
            <a:off x="2523600" y="34657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8"/>
          <p:cNvSpPr/>
          <p:nvPr/>
        </p:nvSpPr>
        <p:spPr>
          <a:xfrm>
            <a:off x="548640" y="412380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9"/>
          <p:cNvSpPr/>
          <p:nvPr/>
        </p:nvSpPr>
        <p:spPr>
          <a:xfrm>
            <a:off x="548640" y="412380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30"/>
          <p:cNvSpPr/>
          <p:nvPr/>
        </p:nvSpPr>
        <p:spPr>
          <a:xfrm>
            <a:off x="1207080" y="412380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31"/>
          <p:cNvSpPr/>
          <p:nvPr/>
        </p:nvSpPr>
        <p:spPr>
          <a:xfrm>
            <a:off x="1207080" y="412380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32"/>
          <p:cNvSpPr/>
          <p:nvPr/>
        </p:nvSpPr>
        <p:spPr>
          <a:xfrm>
            <a:off x="1865520" y="412380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33"/>
          <p:cNvSpPr/>
          <p:nvPr/>
        </p:nvSpPr>
        <p:spPr>
          <a:xfrm>
            <a:off x="1865520" y="412380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34"/>
          <p:cNvSpPr/>
          <p:nvPr/>
        </p:nvSpPr>
        <p:spPr>
          <a:xfrm>
            <a:off x="2523600" y="4123800"/>
            <a:ext cx="657720" cy="657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35"/>
          <p:cNvSpPr/>
          <p:nvPr/>
        </p:nvSpPr>
        <p:spPr>
          <a:xfrm>
            <a:off x="2523600" y="412380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36"/>
          <p:cNvSpPr/>
          <p:nvPr/>
        </p:nvSpPr>
        <p:spPr>
          <a:xfrm>
            <a:off x="3822120" y="24688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FILTER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37"/>
          <p:cNvSpPr/>
          <p:nvPr/>
        </p:nvSpPr>
        <p:spPr>
          <a:xfrm>
            <a:off x="3822120" y="2788920"/>
            <a:ext cx="657720" cy="657720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38"/>
          <p:cNvSpPr/>
          <p:nvPr/>
        </p:nvSpPr>
        <p:spPr>
          <a:xfrm>
            <a:off x="3822120" y="27889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39"/>
          <p:cNvSpPr/>
          <p:nvPr/>
        </p:nvSpPr>
        <p:spPr>
          <a:xfrm>
            <a:off x="4480560" y="2788920"/>
            <a:ext cx="657720" cy="657720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40"/>
          <p:cNvSpPr/>
          <p:nvPr/>
        </p:nvSpPr>
        <p:spPr>
          <a:xfrm>
            <a:off x="4480560" y="278892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41"/>
          <p:cNvSpPr/>
          <p:nvPr/>
        </p:nvSpPr>
        <p:spPr>
          <a:xfrm>
            <a:off x="3822120" y="3447360"/>
            <a:ext cx="657720" cy="657720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42"/>
          <p:cNvSpPr/>
          <p:nvPr/>
        </p:nvSpPr>
        <p:spPr>
          <a:xfrm>
            <a:off x="3822120" y="344736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43"/>
          <p:cNvSpPr/>
          <p:nvPr/>
        </p:nvSpPr>
        <p:spPr>
          <a:xfrm>
            <a:off x="4480560" y="3447360"/>
            <a:ext cx="657720" cy="657720"/>
          </a:xfrm>
          <a:prstGeom prst="rect">
            <a:avLst/>
          </a:prstGeom>
          <a:solidFill>
            <a:srgbClr val="0F2A5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44"/>
          <p:cNvSpPr/>
          <p:nvPr/>
        </p:nvSpPr>
        <p:spPr>
          <a:xfrm>
            <a:off x="4480560" y="3447360"/>
            <a:ext cx="657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-1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45"/>
          <p:cNvSpPr/>
          <p:nvPr/>
        </p:nvSpPr>
        <p:spPr>
          <a:xfrm>
            <a:off x="5367240" y="3447000"/>
            <a:ext cx="548640" cy="1080"/>
          </a:xfrm>
          <a:prstGeom prst="line">
            <a:avLst/>
          </a:prstGeom>
          <a:ln w="3175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46"/>
          <p:cNvSpPr/>
          <p:nvPr/>
        </p:nvSpPr>
        <p:spPr>
          <a:xfrm>
            <a:off x="6099120" y="2944440"/>
            <a:ext cx="2742480" cy="1005120"/>
          </a:xfrm>
          <a:prstGeom prst="roundRect">
            <a:avLst>
              <a:gd name="adj" fmla="val 8182"/>
            </a:avLst>
          </a:prstGeom>
          <a:solidFill>
            <a:srgbClr val="F2994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47"/>
          <p:cNvSpPr/>
          <p:nvPr/>
        </p:nvSpPr>
        <p:spPr>
          <a:xfrm>
            <a:off x="6099120" y="2944440"/>
            <a:ext cx="2742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= 2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48"/>
          <p:cNvSpPr/>
          <p:nvPr/>
        </p:nvSpPr>
        <p:spPr>
          <a:xfrm>
            <a:off x="548640" y="4572000"/>
            <a:ext cx="11090880" cy="1553760"/>
          </a:xfrm>
          <a:prstGeom prst="roundRect">
            <a:avLst>
              <a:gd name="adj" fmla="val 5294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49"/>
          <p:cNvSpPr/>
          <p:nvPr/>
        </p:nvSpPr>
        <p:spPr>
          <a:xfrm>
            <a:off x="822960" y="45720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(1×1) + (0×−1) + (1×1) + (0×−1) = 2  →  a strong response: this patch has a left-bright / right-dark edge, exactly what the filter looks for.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50"/>
          <p:cNvSpPr/>
          <p:nvPr/>
        </p:nvSpPr>
        <p:spPr>
          <a:xfrm>
            <a:off x="822960" y="5257800"/>
            <a:ext cx="1051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Slide the same filter to the middle columns (0, 0, 0, 0) and the result is 0 — no edge there. This is exactly how the feature map on the previous slide was built, one patch at a time.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5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5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Sequence models: remembering order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Meaning changes when order changes: “dog bites man” ≠ “man bites dog.”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3"/>
          <p:cNvSpPr/>
          <p:nvPr/>
        </p:nvSpPr>
        <p:spPr>
          <a:xfrm>
            <a:off x="914400" y="2148840"/>
            <a:ext cx="2376720" cy="77652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4"/>
          <p:cNvSpPr/>
          <p:nvPr/>
        </p:nvSpPr>
        <p:spPr>
          <a:xfrm>
            <a:off x="914400" y="21488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5"/>
          <p:cNvSpPr/>
          <p:nvPr/>
        </p:nvSpPr>
        <p:spPr>
          <a:xfrm>
            <a:off x="3337560" y="2532600"/>
            <a:ext cx="228600" cy="1080"/>
          </a:xfrm>
          <a:prstGeom prst="line">
            <a:avLst/>
          </a:prstGeom>
          <a:ln w="3175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6"/>
          <p:cNvSpPr/>
          <p:nvPr/>
        </p:nvSpPr>
        <p:spPr>
          <a:xfrm>
            <a:off x="3611880" y="2148840"/>
            <a:ext cx="2376720" cy="77652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7"/>
          <p:cNvSpPr/>
          <p:nvPr/>
        </p:nvSpPr>
        <p:spPr>
          <a:xfrm>
            <a:off x="3611880" y="21488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8"/>
          <p:cNvSpPr/>
          <p:nvPr/>
        </p:nvSpPr>
        <p:spPr>
          <a:xfrm>
            <a:off x="6035040" y="2532600"/>
            <a:ext cx="228600" cy="1080"/>
          </a:xfrm>
          <a:prstGeom prst="line">
            <a:avLst/>
          </a:prstGeom>
          <a:ln w="3175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9"/>
          <p:cNvSpPr/>
          <p:nvPr/>
        </p:nvSpPr>
        <p:spPr>
          <a:xfrm>
            <a:off x="6309360" y="2148840"/>
            <a:ext cx="2376720" cy="77652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10"/>
          <p:cNvSpPr/>
          <p:nvPr/>
        </p:nvSpPr>
        <p:spPr>
          <a:xfrm>
            <a:off x="6309360" y="21488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deep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1"/>
          <p:cNvSpPr/>
          <p:nvPr/>
        </p:nvSpPr>
        <p:spPr>
          <a:xfrm>
            <a:off x="8732520" y="2532600"/>
            <a:ext cx="228600" cy="1080"/>
          </a:xfrm>
          <a:prstGeom prst="line">
            <a:avLst/>
          </a:prstGeom>
          <a:ln w="31750">
            <a:solidFill>
              <a:srgbClr val="3D6C8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12"/>
          <p:cNvSpPr/>
          <p:nvPr/>
        </p:nvSpPr>
        <p:spPr>
          <a:xfrm>
            <a:off x="9006840" y="2148840"/>
            <a:ext cx="2376720" cy="77652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3"/>
          <p:cNvSpPr/>
          <p:nvPr/>
        </p:nvSpPr>
        <p:spPr>
          <a:xfrm>
            <a:off x="9006840" y="21488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learning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4"/>
          <p:cNvSpPr/>
          <p:nvPr/>
        </p:nvSpPr>
        <p:spPr>
          <a:xfrm>
            <a:off x="548640" y="3291840"/>
            <a:ext cx="5348520" cy="1553760"/>
          </a:xfrm>
          <a:prstGeom prst="roundRect">
            <a:avLst>
              <a:gd name="adj" fmla="val 5294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5"/>
          <p:cNvSpPr/>
          <p:nvPr/>
        </p:nvSpPr>
        <p:spPr>
          <a:xfrm>
            <a:off x="822960" y="3429000"/>
            <a:ext cx="4845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64550"/>
                </a:solidFill>
                <a:effectLst/>
                <a:uFillTx/>
                <a:latin typeface="Cambria"/>
                <a:ea typeface="Cambria"/>
              </a:rPr>
              <a:t>“Dog bites man”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6"/>
          <p:cNvSpPr/>
          <p:nvPr/>
        </p:nvSpPr>
        <p:spPr>
          <a:xfrm>
            <a:off x="822960" y="3886200"/>
            <a:ext cx="4845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An ordinary news headline.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17"/>
          <p:cNvSpPr/>
          <p:nvPr/>
        </p:nvSpPr>
        <p:spPr>
          <a:xfrm>
            <a:off x="6080760" y="3291840"/>
            <a:ext cx="5348520" cy="1553760"/>
          </a:xfrm>
          <a:prstGeom prst="roundRect">
            <a:avLst>
              <a:gd name="adj" fmla="val 5294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8"/>
          <p:cNvSpPr/>
          <p:nvPr/>
        </p:nvSpPr>
        <p:spPr>
          <a:xfrm>
            <a:off x="6355080" y="3429000"/>
            <a:ext cx="4845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64550"/>
                </a:solidFill>
                <a:effectLst/>
                <a:uFillTx/>
                <a:latin typeface="Cambria"/>
                <a:ea typeface="Cambria"/>
              </a:rPr>
              <a:t>“Man bites dog”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9"/>
          <p:cNvSpPr/>
          <p:nvPr/>
        </p:nvSpPr>
        <p:spPr>
          <a:xfrm>
            <a:off x="6355080" y="3886200"/>
            <a:ext cx="4845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Front-page news — same words, opposite meaning.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0"/>
          <p:cNvSpPr/>
          <p:nvPr/>
        </p:nvSpPr>
        <p:spPr>
          <a:xfrm>
            <a:off x="548640" y="5074920"/>
            <a:ext cx="10834920" cy="1050840"/>
          </a:xfrm>
          <a:prstGeom prst="roundRect">
            <a:avLst>
              <a:gd name="adj" fmla="val 7826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21"/>
          <p:cNvSpPr/>
          <p:nvPr/>
        </p:nvSpPr>
        <p:spPr>
          <a:xfrm>
            <a:off x="822960" y="52120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MODERN DEFAULT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22"/>
          <p:cNvSpPr/>
          <p:nvPr/>
        </p:nvSpPr>
        <p:spPr>
          <a:xfrm>
            <a:off x="822960" y="5468040"/>
            <a:ext cx="10240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Transformers handle order using attention: each word looks at the words most relevant to it, rather than reading strictly left to right.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23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24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Why self-attention won: RNNs vs. Transformers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2"/>
          <p:cNvSpPr/>
          <p:nvPr/>
        </p:nvSpPr>
        <p:spPr>
          <a:xfrm>
            <a:off x="548640" y="137160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same word can mean two different things — and a model that reads strictly left to right can lose track of which one applies.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3"/>
          <p:cNvSpPr/>
          <p:nvPr/>
        </p:nvSpPr>
        <p:spPr>
          <a:xfrm>
            <a:off x="548640" y="1965960"/>
            <a:ext cx="5348520" cy="12337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4"/>
          <p:cNvSpPr/>
          <p:nvPr/>
        </p:nvSpPr>
        <p:spPr>
          <a:xfrm>
            <a:off x="822960" y="210312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“The bank of the river was muddy.”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5"/>
          <p:cNvSpPr/>
          <p:nvPr/>
        </p:nvSpPr>
        <p:spPr>
          <a:xfrm>
            <a:off x="822960" y="254196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“bank” = riverbank (nature)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6"/>
          <p:cNvSpPr/>
          <p:nvPr/>
        </p:nvSpPr>
        <p:spPr>
          <a:xfrm>
            <a:off x="6080760" y="1965960"/>
            <a:ext cx="5348520" cy="12337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7"/>
          <p:cNvSpPr/>
          <p:nvPr/>
        </p:nvSpPr>
        <p:spPr>
          <a:xfrm>
            <a:off x="6355080" y="210312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“I deposited money in the bank.”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 8"/>
          <p:cNvSpPr/>
          <p:nvPr/>
        </p:nvSpPr>
        <p:spPr>
          <a:xfrm>
            <a:off x="6355080" y="254196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“bank” = financial institution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9"/>
          <p:cNvSpPr/>
          <p:nvPr/>
        </p:nvSpPr>
        <p:spPr>
          <a:xfrm>
            <a:off x="548640" y="329184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Identical spelling, completely different meaning. Self-attention resolves this by letting every word look at every other word at once — not just the ones that came before it.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10"/>
          <p:cNvSpPr/>
          <p:nvPr/>
        </p:nvSpPr>
        <p:spPr>
          <a:xfrm>
            <a:off x="548640" y="3931920"/>
            <a:ext cx="5348520" cy="2331000"/>
          </a:xfrm>
          <a:prstGeom prst="roundRect">
            <a:avLst>
              <a:gd name="adj" fmla="val 3529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11"/>
          <p:cNvSpPr/>
          <p:nvPr/>
        </p:nvSpPr>
        <p:spPr>
          <a:xfrm>
            <a:off x="777240" y="4114800"/>
            <a:ext cx="3291120" cy="38340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12"/>
          <p:cNvSpPr/>
          <p:nvPr/>
        </p:nvSpPr>
        <p:spPr>
          <a:xfrm>
            <a:off x="777240" y="41148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OLD WAY: RNNs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13"/>
          <p:cNvSpPr/>
          <p:nvPr/>
        </p:nvSpPr>
        <p:spPr>
          <a:xfrm>
            <a:off x="868680" y="4672440"/>
            <a:ext cx="273600" cy="273600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4"/>
          <p:cNvSpPr/>
          <p:nvPr/>
        </p:nvSpPr>
        <p:spPr>
          <a:xfrm>
            <a:off x="868680" y="4672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5"/>
          <p:cNvSpPr/>
          <p:nvPr/>
        </p:nvSpPr>
        <p:spPr>
          <a:xfrm>
            <a:off x="1280160" y="466344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Reads one word at a time, left to right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6"/>
          <p:cNvSpPr/>
          <p:nvPr/>
        </p:nvSpPr>
        <p:spPr>
          <a:xfrm>
            <a:off x="868680" y="5175360"/>
            <a:ext cx="273600" cy="273600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7"/>
          <p:cNvSpPr/>
          <p:nvPr/>
        </p:nvSpPr>
        <p:spPr>
          <a:xfrm>
            <a:off x="868680" y="5175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18"/>
          <p:cNvSpPr/>
          <p:nvPr/>
        </p:nvSpPr>
        <p:spPr>
          <a:xfrm>
            <a:off x="1280160" y="516636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Early context fades by the time it reaches word 50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19"/>
          <p:cNvSpPr/>
          <p:nvPr/>
        </p:nvSpPr>
        <p:spPr>
          <a:xfrm>
            <a:off x="868680" y="5678280"/>
            <a:ext cx="273600" cy="273600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20"/>
          <p:cNvSpPr/>
          <p:nvPr/>
        </p:nvSpPr>
        <p:spPr>
          <a:xfrm>
            <a:off x="868680" y="56782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21"/>
          <p:cNvSpPr/>
          <p:nvPr/>
        </p:nvSpPr>
        <p:spPr>
          <a:xfrm>
            <a:off x="1280160" y="566928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Cannot train in parallel across GPUs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22"/>
          <p:cNvSpPr/>
          <p:nvPr/>
        </p:nvSpPr>
        <p:spPr>
          <a:xfrm>
            <a:off x="6080760" y="3931920"/>
            <a:ext cx="5348520" cy="2331000"/>
          </a:xfrm>
          <a:prstGeom prst="roundRect">
            <a:avLst>
              <a:gd name="adj" fmla="val 3529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23"/>
          <p:cNvSpPr/>
          <p:nvPr/>
        </p:nvSpPr>
        <p:spPr>
          <a:xfrm>
            <a:off x="6309360" y="4114800"/>
            <a:ext cx="4022640" cy="3834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24"/>
          <p:cNvSpPr/>
          <p:nvPr/>
        </p:nvSpPr>
        <p:spPr>
          <a:xfrm>
            <a:off x="6309360" y="411480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TRANSFORMER WAY: SELF-ATTENTION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25"/>
          <p:cNvSpPr/>
          <p:nvPr/>
        </p:nvSpPr>
        <p:spPr>
          <a:xfrm>
            <a:off x="6400800" y="467244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26"/>
          <p:cNvSpPr/>
          <p:nvPr/>
        </p:nvSpPr>
        <p:spPr>
          <a:xfrm>
            <a:off x="6400800" y="4672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27"/>
          <p:cNvSpPr/>
          <p:nvPr/>
        </p:nvSpPr>
        <p:spPr>
          <a:xfrm>
            <a:off x="6812280" y="466344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Looks at every word simultaneously, scoring all pairs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28"/>
          <p:cNvSpPr/>
          <p:nvPr/>
        </p:nvSpPr>
        <p:spPr>
          <a:xfrm>
            <a:off x="6400800" y="517536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29"/>
          <p:cNvSpPr/>
          <p:nvPr/>
        </p:nvSpPr>
        <p:spPr>
          <a:xfrm>
            <a:off x="6400800" y="5175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30"/>
          <p:cNvSpPr/>
          <p:nvPr/>
        </p:nvSpPr>
        <p:spPr>
          <a:xfrm>
            <a:off x="6812280" y="516636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Preserves long-range connections instantly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31"/>
          <p:cNvSpPr/>
          <p:nvPr/>
        </p:nvSpPr>
        <p:spPr>
          <a:xfrm>
            <a:off x="6400800" y="5678280"/>
            <a:ext cx="273600" cy="2736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32"/>
          <p:cNvSpPr/>
          <p:nvPr/>
        </p:nvSpPr>
        <p:spPr>
          <a:xfrm>
            <a:off x="6400800" y="56782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33"/>
          <p:cNvSpPr/>
          <p:nvPr/>
        </p:nvSpPr>
        <p:spPr>
          <a:xfrm>
            <a:off x="6812280" y="566928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Trains in massive parallel batches — powers GPT, BERT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3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3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Attention: focusing on what matters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To understand “read,” attention assigns more focus to “student” and “book” than to “a” or “the.”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3"/>
          <p:cNvSpPr/>
          <p:nvPr/>
        </p:nvSpPr>
        <p:spPr>
          <a:xfrm flipH="1">
            <a:off x="1805760" y="2926080"/>
            <a:ext cx="4297680" cy="720"/>
          </a:xfrm>
          <a:prstGeom prst="line">
            <a:avLst/>
          </a:prstGeom>
          <a:ln w="16510">
            <a:solidFill>
              <a:srgbClr val="F2994A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4"/>
          <p:cNvSpPr/>
          <p:nvPr/>
        </p:nvSpPr>
        <p:spPr>
          <a:xfrm flipH="1">
            <a:off x="3954600" y="2926080"/>
            <a:ext cx="2148840" cy="720"/>
          </a:xfrm>
          <a:prstGeom prst="line">
            <a:avLst/>
          </a:prstGeom>
          <a:ln w="33020">
            <a:solidFill>
              <a:srgbClr val="F2994A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5"/>
          <p:cNvSpPr/>
          <p:nvPr/>
        </p:nvSpPr>
        <p:spPr>
          <a:xfrm>
            <a:off x="6103440" y="2926080"/>
            <a:ext cx="2148840" cy="720"/>
          </a:xfrm>
          <a:prstGeom prst="line">
            <a:avLst/>
          </a:prstGeom>
          <a:ln w="15875">
            <a:solidFill>
              <a:srgbClr val="F2994A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6"/>
          <p:cNvSpPr/>
          <p:nvPr/>
        </p:nvSpPr>
        <p:spPr>
          <a:xfrm>
            <a:off x="6103440" y="2926080"/>
            <a:ext cx="4297680" cy="720"/>
          </a:xfrm>
          <a:prstGeom prst="line">
            <a:avLst/>
          </a:prstGeom>
          <a:ln w="34925">
            <a:solidFill>
              <a:srgbClr val="F2994A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7"/>
          <p:cNvSpPr/>
          <p:nvPr/>
        </p:nvSpPr>
        <p:spPr>
          <a:xfrm>
            <a:off x="822960" y="3017520"/>
            <a:ext cx="1965240" cy="68508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8"/>
          <p:cNvSpPr/>
          <p:nvPr/>
        </p:nvSpPr>
        <p:spPr>
          <a:xfrm>
            <a:off x="822960" y="3017520"/>
            <a:ext cx="19652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9"/>
          <p:cNvSpPr/>
          <p:nvPr/>
        </p:nvSpPr>
        <p:spPr>
          <a:xfrm>
            <a:off x="2971800" y="3017520"/>
            <a:ext cx="1965240" cy="68508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10"/>
          <p:cNvSpPr/>
          <p:nvPr/>
        </p:nvSpPr>
        <p:spPr>
          <a:xfrm>
            <a:off x="2971800" y="3017520"/>
            <a:ext cx="19652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11"/>
          <p:cNvSpPr/>
          <p:nvPr/>
        </p:nvSpPr>
        <p:spPr>
          <a:xfrm>
            <a:off x="5120640" y="3017520"/>
            <a:ext cx="1965240" cy="68508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12"/>
          <p:cNvSpPr/>
          <p:nvPr/>
        </p:nvSpPr>
        <p:spPr>
          <a:xfrm>
            <a:off x="5120640" y="3017520"/>
            <a:ext cx="19652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13"/>
          <p:cNvSpPr/>
          <p:nvPr/>
        </p:nvSpPr>
        <p:spPr>
          <a:xfrm>
            <a:off x="7269480" y="3017520"/>
            <a:ext cx="1965240" cy="68508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14"/>
          <p:cNvSpPr/>
          <p:nvPr/>
        </p:nvSpPr>
        <p:spPr>
          <a:xfrm>
            <a:off x="7269480" y="3017520"/>
            <a:ext cx="19652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15"/>
          <p:cNvSpPr/>
          <p:nvPr/>
        </p:nvSpPr>
        <p:spPr>
          <a:xfrm>
            <a:off x="9418320" y="3017520"/>
            <a:ext cx="1965240" cy="68508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6"/>
          <p:cNvSpPr/>
          <p:nvPr/>
        </p:nvSpPr>
        <p:spPr>
          <a:xfrm>
            <a:off x="9418320" y="3017520"/>
            <a:ext cx="19652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book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7"/>
          <p:cNvSpPr/>
          <p:nvPr/>
        </p:nvSpPr>
        <p:spPr>
          <a:xfrm>
            <a:off x="548640" y="4160520"/>
            <a:ext cx="10834920" cy="9594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 18"/>
          <p:cNvSpPr/>
          <p:nvPr/>
        </p:nvSpPr>
        <p:spPr>
          <a:xfrm>
            <a:off x="822960" y="4160520"/>
            <a:ext cx="10240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Thicker gold lines = stronger attention. “Read” pays most attention to “student” and “book” — the words that explain what is happening.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19"/>
          <p:cNvSpPr/>
          <p:nvPr/>
        </p:nvSpPr>
        <p:spPr>
          <a:xfrm>
            <a:off x="548640" y="5349240"/>
            <a:ext cx="10834920" cy="776520"/>
          </a:xfrm>
          <a:prstGeom prst="roundRect">
            <a:avLst>
              <a:gd name="adj" fmla="val 10588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20"/>
          <p:cNvSpPr/>
          <p:nvPr/>
        </p:nvSpPr>
        <p:spPr>
          <a:xfrm>
            <a:off x="822960" y="5349240"/>
            <a:ext cx="10240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Analogy: a classroom discussion — you listen more carefully to the clues that answer the question currently being asked.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 21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22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Self-attention: how a transformer “focuses”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2"/>
          <p:cNvSpPr/>
          <p:nvPr/>
        </p:nvSpPr>
        <p:spPr>
          <a:xfrm>
            <a:off x="548640" y="1371600"/>
            <a:ext cx="10880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Read: “The cat sat because it was tired.” To understand “it,” your brain looks back at “cat.” Self-attention makes a model do the same thing — with numbers.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3"/>
          <p:cNvSpPr/>
          <p:nvPr/>
        </p:nvSpPr>
        <p:spPr>
          <a:xfrm>
            <a:off x="548640" y="2148840"/>
            <a:ext cx="6034320" cy="283392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7" name="Chart 0"/>
          <p:cNvGraphicFramePr/>
          <p:nvPr/>
        </p:nvGraphicFramePr>
        <p:xfrm>
          <a:off x="731520" y="2286000"/>
          <a:ext cx="5668560" cy="260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08" name="Text 4"/>
          <p:cNvSpPr/>
          <p:nvPr/>
        </p:nvSpPr>
        <p:spPr>
          <a:xfrm>
            <a:off x="548640" y="5074920"/>
            <a:ext cx="603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Attention weights while the model processes the word “it”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5"/>
          <p:cNvSpPr/>
          <p:nvPr/>
        </p:nvSpPr>
        <p:spPr>
          <a:xfrm>
            <a:off x="7223760" y="2148840"/>
            <a:ext cx="4388400" cy="1005120"/>
          </a:xfrm>
          <a:prstGeom prst="roundRect">
            <a:avLst>
              <a:gd name="adj" fmla="val 8182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6"/>
          <p:cNvSpPr/>
          <p:nvPr/>
        </p:nvSpPr>
        <p:spPr>
          <a:xfrm>
            <a:off x="7406640" y="2148840"/>
            <a:ext cx="40226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Attention(Q,K,V) = softmax(QK</a:t>
            </a:r>
            <a:r>
              <a:rPr lang="en-US" sz="1100" b="1" u="none" strike="noStrike" baseline="3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/√d</a:t>
            </a:r>
            <a:r>
              <a:rPr lang="en-US" sz="1100" b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)·V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7"/>
          <p:cNvSpPr/>
          <p:nvPr/>
        </p:nvSpPr>
        <p:spPr>
          <a:xfrm>
            <a:off x="7223760" y="3337560"/>
            <a:ext cx="4388400" cy="86796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8"/>
          <p:cNvSpPr/>
          <p:nvPr/>
        </p:nvSpPr>
        <p:spPr>
          <a:xfrm>
            <a:off x="7452360" y="3410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Q  — Query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9"/>
          <p:cNvSpPr/>
          <p:nvPr/>
        </p:nvSpPr>
        <p:spPr>
          <a:xfrm>
            <a:off x="7452360" y="374004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What is this word looking for?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0"/>
          <p:cNvSpPr/>
          <p:nvPr/>
        </p:nvSpPr>
        <p:spPr>
          <a:xfrm>
            <a:off x="7223760" y="4325040"/>
            <a:ext cx="4388400" cy="86796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11"/>
          <p:cNvSpPr/>
          <p:nvPr/>
        </p:nvSpPr>
        <p:spPr>
          <a:xfrm>
            <a:off x="7452360" y="4398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K  — Key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12"/>
          <p:cNvSpPr/>
          <p:nvPr/>
        </p:nvSpPr>
        <p:spPr>
          <a:xfrm>
            <a:off x="7452360" y="472752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What can each word offer?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3"/>
          <p:cNvSpPr/>
          <p:nvPr/>
        </p:nvSpPr>
        <p:spPr>
          <a:xfrm>
            <a:off x="7223760" y="5312520"/>
            <a:ext cx="4388400" cy="867960"/>
          </a:xfrm>
          <a:prstGeom prst="roundRect">
            <a:avLst>
              <a:gd name="adj" fmla="val 9474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14"/>
          <p:cNvSpPr/>
          <p:nvPr/>
        </p:nvSpPr>
        <p:spPr>
          <a:xfrm>
            <a:off x="7452360" y="538596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V  — Value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15"/>
          <p:cNvSpPr/>
          <p:nvPr/>
        </p:nvSpPr>
        <p:spPr>
          <a:xfrm>
            <a:off x="7452360" y="571500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actual information passed along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16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7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Self-attention: a tiny numeric walkthrough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How much should “it” attend to “cat” vs. “sat”? Toy numbers, small enough to follow by hand.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3"/>
          <p:cNvSpPr/>
          <p:nvPr/>
        </p:nvSpPr>
        <p:spPr>
          <a:xfrm>
            <a:off x="548640" y="1920240"/>
            <a:ext cx="6125760" cy="86796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4"/>
          <p:cNvSpPr/>
          <p:nvPr/>
        </p:nvSpPr>
        <p:spPr>
          <a:xfrm>
            <a:off x="731520" y="217188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5"/>
          <p:cNvSpPr/>
          <p:nvPr/>
        </p:nvSpPr>
        <p:spPr>
          <a:xfrm>
            <a:off x="731520" y="21718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6"/>
          <p:cNvSpPr/>
          <p:nvPr/>
        </p:nvSpPr>
        <p:spPr>
          <a:xfrm>
            <a:off x="1234440" y="20300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Raw score (Q · K)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7"/>
          <p:cNvSpPr/>
          <p:nvPr/>
        </p:nvSpPr>
        <p:spPr>
          <a:xfrm>
            <a:off x="1234440" y="23958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cat = 8     sat = 2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8"/>
          <p:cNvSpPr/>
          <p:nvPr/>
        </p:nvSpPr>
        <p:spPr>
          <a:xfrm>
            <a:off x="3611880" y="2806920"/>
            <a:ext cx="720" cy="12816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9"/>
          <p:cNvSpPr/>
          <p:nvPr/>
        </p:nvSpPr>
        <p:spPr>
          <a:xfrm>
            <a:off x="548640" y="2953440"/>
            <a:ext cx="6125760" cy="86796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10"/>
          <p:cNvSpPr/>
          <p:nvPr/>
        </p:nvSpPr>
        <p:spPr>
          <a:xfrm>
            <a:off x="731520" y="320508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11"/>
          <p:cNvSpPr/>
          <p:nvPr/>
        </p:nvSpPr>
        <p:spPr>
          <a:xfrm>
            <a:off x="731520" y="32050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12"/>
          <p:cNvSpPr/>
          <p:nvPr/>
        </p:nvSpPr>
        <p:spPr>
          <a:xfrm>
            <a:off x="1234440" y="30632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Scaled score (÷√dₖ, dₖ = 4 → √4 = 2)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13"/>
          <p:cNvSpPr/>
          <p:nvPr/>
        </p:nvSpPr>
        <p:spPr>
          <a:xfrm>
            <a:off x="1234440" y="34290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cat = 4     sat = 1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14"/>
          <p:cNvSpPr/>
          <p:nvPr/>
        </p:nvSpPr>
        <p:spPr>
          <a:xfrm>
            <a:off x="3611880" y="3840480"/>
            <a:ext cx="720" cy="12780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15"/>
          <p:cNvSpPr/>
          <p:nvPr/>
        </p:nvSpPr>
        <p:spPr>
          <a:xfrm>
            <a:off x="548640" y="3986640"/>
            <a:ext cx="6125760" cy="86796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16"/>
          <p:cNvSpPr/>
          <p:nvPr/>
        </p:nvSpPr>
        <p:spPr>
          <a:xfrm>
            <a:off x="731520" y="423828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17"/>
          <p:cNvSpPr/>
          <p:nvPr/>
        </p:nvSpPr>
        <p:spPr>
          <a:xfrm>
            <a:off x="731520" y="42382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18"/>
          <p:cNvSpPr/>
          <p:nvPr/>
        </p:nvSpPr>
        <p:spPr>
          <a:xfrm>
            <a:off x="1234440" y="40964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Softmax weight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19"/>
          <p:cNvSpPr/>
          <p:nvPr/>
        </p:nvSpPr>
        <p:spPr>
          <a:xfrm>
            <a:off x="1234440" y="44622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cat = 95%     sat = 5%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20"/>
          <p:cNvSpPr/>
          <p:nvPr/>
        </p:nvSpPr>
        <p:spPr>
          <a:xfrm>
            <a:off x="3611880" y="4873680"/>
            <a:ext cx="720" cy="127800"/>
          </a:xfrm>
          <a:prstGeom prst="line">
            <a:avLst/>
          </a:prstGeom>
          <a:ln w="25400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21"/>
          <p:cNvSpPr/>
          <p:nvPr/>
        </p:nvSpPr>
        <p:spPr>
          <a:xfrm>
            <a:off x="548640" y="5020200"/>
            <a:ext cx="6125760" cy="867960"/>
          </a:xfrm>
          <a:prstGeom prst="roundRect">
            <a:avLst>
              <a:gd name="adj" fmla="val 9474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22"/>
          <p:cNvSpPr/>
          <p:nvPr/>
        </p:nvSpPr>
        <p:spPr>
          <a:xfrm>
            <a:off x="731520" y="527148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23"/>
          <p:cNvSpPr/>
          <p:nvPr/>
        </p:nvSpPr>
        <p:spPr>
          <a:xfrm>
            <a:off x="731520" y="52714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24"/>
          <p:cNvSpPr/>
          <p:nvPr/>
        </p:nvSpPr>
        <p:spPr>
          <a:xfrm>
            <a:off x="1234440" y="51296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Output = weighted sum of V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25"/>
          <p:cNvSpPr/>
          <p:nvPr/>
        </p:nvSpPr>
        <p:spPr>
          <a:xfrm>
            <a:off x="1234440" y="54954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0.95×V(cat)     + 0.05×V(sat)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Shape 26"/>
          <p:cNvSpPr/>
          <p:nvPr/>
        </p:nvSpPr>
        <p:spPr>
          <a:xfrm>
            <a:off x="7360920" y="1920240"/>
            <a:ext cx="4434120" cy="2102400"/>
          </a:xfrm>
          <a:prstGeom prst="roundRect">
            <a:avLst>
              <a:gd name="adj" fmla="val 3913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27"/>
          <p:cNvSpPr/>
          <p:nvPr/>
        </p:nvSpPr>
        <p:spPr>
          <a:xfrm>
            <a:off x="7589520" y="208476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WHY DIVIDE BY √dₖ 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28"/>
          <p:cNvSpPr/>
          <p:nvPr/>
        </p:nvSpPr>
        <p:spPr>
          <a:xfrm>
            <a:off x="7589520" y="2395800"/>
            <a:ext cx="40226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As the vector length dₖ grows, raw dot products tend to grow too — pushing softmax into an extreme region where gradients shrink to almost nothing. Dividing by √dₖ rescales the scores back to a stable range, whatever dₖ happens to be.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29"/>
          <p:cNvSpPr/>
          <p:nvPr/>
        </p:nvSpPr>
        <p:spPr>
          <a:xfrm>
            <a:off x="7360920" y="4206240"/>
            <a:ext cx="4434120" cy="219384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30"/>
          <p:cNvSpPr/>
          <p:nvPr/>
        </p:nvSpPr>
        <p:spPr>
          <a:xfrm>
            <a:off x="7589520" y="437076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WHAT IS V?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31"/>
          <p:cNvSpPr/>
          <p:nvPr/>
        </p:nvSpPr>
        <p:spPr>
          <a:xfrm>
            <a:off x="7589520" y="4681800"/>
            <a:ext cx="40226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V holds each word's actual content — the information that gets passed on. Once the weights are set, the output is just a blend of these value vectors: mostly “cat”'s content here, with a small trace of “sat”'s.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32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33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Inside a transformer block (1/2): the pipeline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2"/>
          <p:cNvSpPr/>
          <p:nvPr/>
        </p:nvSpPr>
        <p:spPr>
          <a:xfrm>
            <a:off x="548640" y="1371600"/>
            <a:ext cx="10880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Attention never works alone — it's one piece of a block that gets stacked over and over.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3"/>
          <p:cNvSpPr/>
          <p:nvPr/>
        </p:nvSpPr>
        <p:spPr>
          <a:xfrm>
            <a:off x="548640" y="1965960"/>
            <a:ext cx="6125760" cy="602640"/>
          </a:xfrm>
          <a:prstGeom prst="roundRect">
            <a:avLst>
              <a:gd name="adj" fmla="val 13636"/>
            </a:avLst>
          </a:prstGeom>
          <a:solidFill>
            <a:srgbClr val="3D6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4"/>
          <p:cNvSpPr/>
          <p:nvPr/>
        </p:nvSpPr>
        <p:spPr>
          <a:xfrm>
            <a:off x="777240" y="1965960"/>
            <a:ext cx="24681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Embeddings + Position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5"/>
          <p:cNvSpPr/>
          <p:nvPr/>
        </p:nvSpPr>
        <p:spPr>
          <a:xfrm>
            <a:off x="3291840" y="196596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Turns words into numbers, adds word order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6"/>
          <p:cNvSpPr/>
          <p:nvPr/>
        </p:nvSpPr>
        <p:spPr>
          <a:xfrm>
            <a:off x="3611880" y="2587680"/>
            <a:ext cx="720" cy="91440"/>
          </a:xfrm>
          <a:prstGeom prst="line">
            <a:avLst/>
          </a:prstGeom>
          <a:ln w="22225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7"/>
          <p:cNvSpPr/>
          <p:nvPr/>
        </p:nvSpPr>
        <p:spPr>
          <a:xfrm>
            <a:off x="548640" y="2697480"/>
            <a:ext cx="6125760" cy="602640"/>
          </a:xfrm>
          <a:prstGeom prst="roundRect">
            <a:avLst>
              <a:gd name="adj" fmla="val 13636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8"/>
          <p:cNvSpPr/>
          <p:nvPr/>
        </p:nvSpPr>
        <p:spPr>
          <a:xfrm>
            <a:off x="777240" y="2697480"/>
            <a:ext cx="24681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Multi-Head Self-Attention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9"/>
          <p:cNvSpPr/>
          <p:nvPr/>
        </p:nvSpPr>
        <p:spPr>
          <a:xfrm>
            <a:off x="3291840" y="269748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Each word looks at every other word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0"/>
          <p:cNvSpPr/>
          <p:nvPr/>
        </p:nvSpPr>
        <p:spPr>
          <a:xfrm>
            <a:off x="3611880" y="3319200"/>
            <a:ext cx="720" cy="91440"/>
          </a:xfrm>
          <a:prstGeom prst="line">
            <a:avLst/>
          </a:prstGeom>
          <a:ln w="22225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1"/>
          <p:cNvSpPr/>
          <p:nvPr/>
        </p:nvSpPr>
        <p:spPr>
          <a:xfrm>
            <a:off x="548640" y="3429000"/>
            <a:ext cx="6125760" cy="602640"/>
          </a:xfrm>
          <a:prstGeom prst="roundRect">
            <a:avLst>
              <a:gd name="adj" fmla="val 13636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12"/>
          <p:cNvSpPr/>
          <p:nvPr/>
        </p:nvSpPr>
        <p:spPr>
          <a:xfrm>
            <a:off x="777240" y="3429000"/>
            <a:ext cx="24681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Add &amp; Normalize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13"/>
          <p:cNvSpPr/>
          <p:nvPr/>
        </p:nvSpPr>
        <p:spPr>
          <a:xfrm>
            <a:off x="3291840" y="342900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Stabilizes the signal before the next step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14"/>
          <p:cNvSpPr/>
          <p:nvPr/>
        </p:nvSpPr>
        <p:spPr>
          <a:xfrm>
            <a:off x="3611880" y="4050720"/>
            <a:ext cx="720" cy="91440"/>
          </a:xfrm>
          <a:prstGeom prst="line">
            <a:avLst/>
          </a:prstGeom>
          <a:ln w="22225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15"/>
          <p:cNvSpPr/>
          <p:nvPr/>
        </p:nvSpPr>
        <p:spPr>
          <a:xfrm>
            <a:off x="548640" y="4160520"/>
            <a:ext cx="6125760" cy="602640"/>
          </a:xfrm>
          <a:prstGeom prst="roundRect">
            <a:avLst>
              <a:gd name="adj" fmla="val 13636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16"/>
          <p:cNvSpPr/>
          <p:nvPr/>
        </p:nvSpPr>
        <p:spPr>
          <a:xfrm>
            <a:off x="777240" y="4160520"/>
            <a:ext cx="24681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Feed-Forward Network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17"/>
          <p:cNvSpPr/>
          <p:nvPr/>
        </p:nvSpPr>
        <p:spPr>
          <a:xfrm>
            <a:off x="3291840" y="416052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mini neural net refines each word's info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18"/>
          <p:cNvSpPr/>
          <p:nvPr/>
        </p:nvSpPr>
        <p:spPr>
          <a:xfrm>
            <a:off x="3611880" y="4782240"/>
            <a:ext cx="720" cy="91440"/>
          </a:xfrm>
          <a:prstGeom prst="line">
            <a:avLst/>
          </a:prstGeom>
          <a:ln w="22225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19"/>
          <p:cNvSpPr/>
          <p:nvPr/>
        </p:nvSpPr>
        <p:spPr>
          <a:xfrm>
            <a:off x="548640" y="4892040"/>
            <a:ext cx="6125760" cy="602640"/>
          </a:xfrm>
          <a:prstGeom prst="roundRect">
            <a:avLst>
              <a:gd name="adj" fmla="val 13636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20"/>
          <p:cNvSpPr/>
          <p:nvPr/>
        </p:nvSpPr>
        <p:spPr>
          <a:xfrm>
            <a:off x="777240" y="4892040"/>
            <a:ext cx="24681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Add &amp; Normalize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21"/>
          <p:cNvSpPr/>
          <p:nvPr/>
        </p:nvSpPr>
        <p:spPr>
          <a:xfrm>
            <a:off x="3291840" y="4892040"/>
            <a:ext cx="319968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Stabilizes the signal again</a:t>
            </a:r>
            <a:endParaRPr lang="en-C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22"/>
          <p:cNvSpPr/>
          <p:nvPr/>
        </p:nvSpPr>
        <p:spPr>
          <a:xfrm>
            <a:off x="548640" y="566928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(this whole block repeats — often 6, 12, or more times, stacked)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23"/>
          <p:cNvSpPr/>
          <p:nvPr/>
        </p:nvSpPr>
        <p:spPr>
          <a:xfrm>
            <a:off x="7360920" y="1965960"/>
            <a:ext cx="4251240" cy="1919520"/>
          </a:xfrm>
          <a:prstGeom prst="roundRect">
            <a:avLst>
              <a:gd name="adj" fmla="val 4286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24"/>
          <p:cNvSpPr/>
          <p:nvPr/>
        </p:nvSpPr>
        <p:spPr>
          <a:xfrm>
            <a:off x="7589520" y="21214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POSITIONAL ENCODING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25"/>
          <p:cNvSpPr/>
          <p:nvPr/>
        </p:nvSpPr>
        <p:spPr>
          <a:xfrm>
            <a:off x="7589520" y="2423160"/>
            <a:ext cx="3839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Gives each word a unique “timestamp” so the model knows word order — attention math alone cannot tell order.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Text 26"/>
          <p:cNvSpPr/>
          <p:nvPr/>
        </p:nvSpPr>
        <p:spPr>
          <a:xfrm>
            <a:off x="7589520" y="329184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PE(pos,2i) = sin(pos/10000^(2i/d))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27"/>
          <p:cNvSpPr/>
          <p:nvPr/>
        </p:nvSpPr>
        <p:spPr>
          <a:xfrm>
            <a:off x="7589520" y="356616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PE(pos,2i+1) = cos(pos/10000^(2i/d))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28"/>
          <p:cNvSpPr/>
          <p:nvPr/>
        </p:nvSpPr>
        <p:spPr>
          <a:xfrm>
            <a:off x="7360920" y="4069080"/>
            <a:ext cx="4251240" cy="20566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29"/>
          <p:cNvSpPr/>
          <p:nvPr/>
        </p:nvSpPr>
        <p:spPr>
          <a:xfrm>
            <a:off x="7589520" y="422460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EACH POSITION, A UNIQUE PATTERN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30"/>
          <p:cNvSpPr/>
          <p:nvPr/>
        </p:nvSpPr>
        <p:spPr>
          <a:xfrm>
            <a:off x="7598520" y="467244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31"/>
          <p:cNvSpPr/>
          <p:nvPr/>
        </p:nvSpPr>
        <p:spPr>
          <a:xfrm>
            <a:off x="7598520" y="467244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 32"/>
          <p:cNvSpPr/>
          <p:nvPr/>
        </p:nvSpPr>
        <p:spPr>
          <a:xfrm>
            <a:off x="7589520" y="51663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pos 0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33"/>
          <p:cNvSpPr/>
          <p:nvPr/>
        </p:nvSpPr>
        <p:spPr>
          <a:xfrm>
            <a:off x="8284320" y="467244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34"/>
          <p:cNvSpPr/>
          <p:nvPr/>
        </p:nvSpPr>
        <p:spPr>
          <a:xfrm>
            <a:off x="8284320" y="467244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35"/>
          <p:cNvSpPr/>
          <p:nvPr/>
        </p:nvSpPr>
        <p:spPr>
          <a:xfrm>
            <a:off x="8275320" y="51663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pos 1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36"/>
          <p:cNvSpPr/>
          <p:nvPr/>
        </p:nvSpPr>
        <p:spPr>
          <a:xfrm>
            <a:off x="8970120" y="467244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37"/>
          <p:cNvSpPr/>
          <p:nvPr/>
        </p:nvSpPr>
        <p:spPr>
          <a:xfrm>
            <a:off x="8970120" y="467244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38"/>
          <p:cNvSpPr/>
          <p:nvPr/>
        </p:nvSpPr>
        <p:spPr>
          <a:xfrm>
            <a:off x="8961120" y="51663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pos 2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39"/>
          <p:cNvSpPr/>
          <p:nvPr/>
        </p:nvSpPr>
        <p:spPr>
          <a:xfrm>
            <a:off x="9655920" y="467244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40"/>
          <p:cNvSpPr/>
          <p:nvPr/>
        </p:nvSpPr>
        <p:spPr>
          <a:xfrm>
            <a:off x="9655920" y="467244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41"/>
          <p:cNvSpPr/>
          <p:nvPr/>
        </p:nvSpPr>
        <p:spPr>
          <a:xfrm>
            <a:off x="9646920" y="51663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pos 3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42"/>
          <p:cNvSpPr/>
          <p:nvPr/>
        </p:nvSpPr>
        <p:spPr>
          <a:xfrm>
            <a:off x="10341720" y="467244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43"/>
          <p:cNvSpPr/>
          <p:nvPr/>
        </p:nvSpPr>
        <p:spPr>
          <a:xfrm>
            <a:off x="10341720" y="467244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44"/>
          <p:cNvSpPr/>
          <p:nvPr/>
        </p:nvSpPr>
        <p:spPr>
          <a:xfrm>
            <a:off x="10332720" y="51663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pos 4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45"/>
          <p:cNvSpPr/>
          <p:nvPr/>
        </p:nvSpPr>
        <p:spPr>
          <a:xfrm>
            <a:off x="7589520" y="5532120"/>
            <a:ext cx="3931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Every word gets a distinct positional signal added to its embedding.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 46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47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Inside a transformer block (2/2): why it works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2"/>
          <p:cNvSpPr/>
          <p:nvPr/>
        </p:nvSpPr>
        <p:spPr>
          <a:xfrm>
            <a:off x="548640" y="1508760"/>
            <a:ext cx="5485680" cy="2833920"/>
          </a:xfrm>
          <a:prstGeom prst="roundRect">
            <a:avLst>
              <a:gd name="adj" fmla="val 2903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3"/>
          <p:cNvSpPr/>
          <p:nvPr/>
        </p:nvSpPr>
        <p:spPr>
          <a:xfrm>
            <a:off x="777240" y="16642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MULTIPLE HEADS, IN PARALLEL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Shape 4"/>
          <p:cNvSpPr/>
          <p:nvPr/>
        </p:nvSpPr>
        <p:spPr>
          <a:xfrm>
            <a:off x="1005840" y="1920240"/>
            <a:ext cx="365040" cy="3650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5"/>
          <p:cNvSpPr/>
          <p:nvPr/>
        </p:nvSpPr>
        <p:spPr>
          <a:xfrm>
            <a:off x="1005840" y="19202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0" name="Text 6"/>
          <p:cNvSpPr/>
          <p:nvPr/>
        </p:nvSpPr>
        <p:spPr>
          <a:xfrm>
            <a:off x="1508760" y="1938600"/>
            <a:ext cx="3565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Head 1: relationship type 1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Shape 7"/>
          <p:cNvSpPr/>
          <p:nvPr/>
        </p:nvSpPr>
        <p:spPr>
          <a:xfrm>
            <a:off x="1371600" y="2103120"/>
            <a:ext cx="4023360" cy="621720"/>
          </a:xfrm>
          <a:prstGeom prst="line">
            <a:avLst/>
          </a:prstGeom>
          <a:ln w="19050">
            <a:solidFill>
              <a:srgbClr val="3D6C8C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8"/>
          <p:cNvSpPr/>
          <p:nvPr/>
        </p:nvSpPr>
        <p:spPr>
          <a:xfrm>
            <a:off x="1005840" y="2541960"/>
            <a:ext cx="365040" cy="36504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9"/>
          <p:cNvSpPr/>
          <p:nvPr/>
        </p:nvSpPr>
        <p:spPr>
          <a:xfrm>
            <a:off x="1005840" y="25419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4" name="Text 10"/>
          <p:cNvSpPr/>
          <p:nvPr/>
        </p:nvSpPr>
        <p:spPr>
          <a:xfrm>
            <a:off x="1508760" y="2560320"/>
            <a:ext cx="3565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Head 2: relationship type 2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11"/>
          <p:cNvSpPr/>
          <p:nvPr/>
        </p:nvSpPr>
        <p:spPr>
          <a:xfrm>
            <a:off x="1371600" y="2724840"/>
            <a:ext cx="4023360" cy="720"/>
          </a:xfrm>
          <a:prstGeom prst="line">
            <a:avLst/>
          </a:prstGeom>
          <a:ln w="19050">
            <a:solidFill>
              <a:srgbClr val="F2994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12"/>
          <p:cNvSpPr/>
          <p:nvPr/>
        </p:nvSpPr>
        <p:spPr>
          <a:xfrm>
            <a:off x="1005840" y="3163680"/>
            <a:ext cx="365040" cy="3650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13"/>
          <p:cNvSpPr/>
          <p:nvPr/>
        </p:nvSpPr>
        <p:spPr>
          <a:xfrm>
            <a:off x="1005840" y="31636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8" name="Text 14"/>
          <p:cNvSpPr/>
          <p:nvPr/>
        </p:nvSpPr>
        <p:spPr>
          <a:xfrm>
            <a:off x="1508760" y="3182040"/>
            <a:ext cx="3565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Head 3: relationship type 3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15"/>
          <p:cNvSpPr/>
          <p:nvPr/>
        </p:nvSpPr>
        <p:spPr>
          <a:xfrm flipV="1">
            <a:off x="1371600" y="2724840"/>
            <a:ext cx="4023360" cy="621720"/>
          </a:xfrm>
          <a:prstGeom prst="line">
            <a:avLst/>
          </a:prstGeom>
          <a:ln w="19050">
            <a:solidFill>
              <a:srgbClr val="00A89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16"/>
          <p:cNvSpPr/>
          <p:nvPr/>
        </p:nvSpPr>
        <p:spPr>
          <a:xfrm>
            <a:off x="5157360" y="24872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17"/>
          <p:cNvSpPr/>
          <p:nvPr/>
        </p:nvSpPr>
        <p:spPr>
          <a:xfrm>
            <a:off x="5157360" y="2487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18"/>
          <p:cNvSpPr/>
          <p:nvPr/>
        </p:nvSpPr>
        <p:spPr>
          <a:xfrm>
            <a:off x="4892040" y="299916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combined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19"/>
          <p:cNvSpPr/>
          <p:nvPr/>
        </p:nvSpPr>
        <p:spPr>
          <a:xfrm>
            <a:off x="548640" y="4572000"/>
            <a:ext cx="5485680" cy="1553760"/>
          </a:xfrm>
          <a:prstGeom prst="roundRect">
            <a:avLst>
              <a:gd name="adj" fmla="val 5294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Text 20"/>
          <p:cNvSpPr/>
          <p:nvPr/>
        </p:nvSpPr>
        <p:spPr>
          <a:xfrm>
            <a:off x="777240" y="4572000"/>
            <a:ext cx="50284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Each head learns a different kind of relationship — one might track grammar, another meaning, another position — then all are combined.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21"/>
          <p:cNvSpPr/>
          <p:nvPr/>
        </p:nvSpPr>
        <p:spPr>
          <a:xfrm>
            <a:off x="6675120" y="1508760"/>
            <a:ext cx="4937040" cy="4617000"/>
          </a:xfrm>
          <a:prstGeom prst="roundRect">
            <a:avLst>
              <a:gd name="adj" fmla="val 1782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 22"/>
          <p:cNvSpPr/>
          <p:nvPr/>
        </p:nvSpPr>
        <p:spPr>
          <a:xfrm>
            <a:off x="6949440" y="1737360"/>
            <a:ext cx="4388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WHY THIS STRUCTURE WORKS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23"/>
          <p:cNvSpPr/>
          <p:nvPr/>
        </p:nvSpPr>
        <p:spPr>
          <a:xfrm>
            <a:off x="7004160" y="2194560"/>
            <a:ext cx="346680" cy="3466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24"/>
          <p:cNvSpPr/>
          <p:nvPr/>
        </p:nvSpPr>
        <p:spPr>
          <a:xfrm>
            <a:off x="7004160" y="2194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25"/>
          <p:cNvSpPr/>
          <p:nvPr/>
        </p:nvSpPr>
        <p:spPr>
          <a:xfrm>
            <a:off x="7498080" y="2148840"/>
            <a:ext cx="3976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Stacking many blocks builds progressively deeper understanding of context.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26"/>
          <p:cNvSpPr/>
          <p:nvPr/>
        </p:nvSpPr>
        <p:spPr>
          <a:xfrm>
            <a:off x="7004160" y="3063240"/>
            <a:ext cx="346680" cy="3466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27"/>
          <p:cNvSpPr/>
          <p:nvPr/>
        </p:nvSpPr>
        <p:spPr>
          <a:xfrm>
            <a:off x="7004160" y="30632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28"/>
          <p:cNvSpPr/>
          <p:nvPr/>
        </p:nvSpPr>
        <p:spPr>
          <a:xfrm>
            <a:off x="7498080" y="3017520"/>
            <a:ext cx="3976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Multiple attention heads run in parallel, each learning different word relationships.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29"/>
          <p:cNvSpPr/>
          <p:nvPr/>
        </p:nvSpPr>
        <p:spPr>
          <a:xfrm>
            <a:off x="7004160" y="3931920"/>
            <a:ext cx="346680" cy="34668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30"/>
          <p:cNvSpPr/>
          <p:nvPr/>
        </p:nvSpPr>
        <p:spPr>
          <a:xfrm>
            <a:off x="7004160" y="39319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31"/>
          <p:cNvSpPr/>
          <p:nvPr/>
        </p:nvSpPr>
        <p:spPr>
          <a:xfrm>
            <a:off x="7498080" y="3886200"/>
            <a:ext cx="3976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This exact recipe powers GPT, BERT, and most modern language models.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32"/>
          <p:cNvSpPr/>
          <p:nvPr/>
        </p:nvSpPr>
        <p:spPr>
          <a:xfrm>
            <a:off x="6949440" y="4937760"/>
            <a:ext cx="4434120" cy="1005120"/>
          </a:xfrm>
          <a:prstGeom prst="roundRect">
            <a:avLst>
              <a:gd name="adj" fmla="val 8182"/>
            </a:avLst>
          </a:prstGeom>
          <a:solidFill>
            <a:srgbClr val="F2994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33"/>
          <p:cNvSpPr/>
          <p:nvPr/>
        </p:nvSpPr>
        <p:spPr>
          <a:xfrm>
            <a:off x="6949440" y="4937760"/>
            <a:ext cx="4434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Output: next-word probabilities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3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 3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Embeddings: words as locations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2"/>
          <p:cNvSpPr/>
          <p:nvPr/>
        </p:nvSpPr>
        <p:spPr>
          <a:xfrm>
            <a:off x="548640" y="137160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word becomes a list of numbers — a point on a “meaning map.” Nearby points often have related uses.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3"/>
          <p:cNvSpPr/>
          <p:nvPr/>
        </p:nvSpPr>
        <p:spPr>
          <a:xfrm>
            <a:off x="548640" y="2057400"/>
            <a:ext cx="6765840" cy="411408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4"/>
          <p:cNvSpPr/>
          <p:nvPr/>
        </p:nvSpPr>
        <p:spPr>
          <a:xfrm>
            <a:off x="1097280" y="5852160"/>
            <a:ext cx="5669280" cy="720"/>
          </a:xfrm>
          <a:prstGeom prst="line">
            <a:avLst/>
          </a:prstGeom>
          <a:ln w="1905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5"/>
          <p:cNvSpPr/>
          <p:nvPr/>
        </p:nvSpPr>
        <p:spPr>
          <a:xfrm>
            <a:off x="1097280" y="2468880"/>
            <a:ext cx="720" cy="3383280"/>
          </a:xfrm>
          <a:prstGeom prst="line">
            <a:avLst/>
          </a:prstGeom>
          <a:ln w="1905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Shape 6"/>
          <p:cNvSpPr/>
          <p:nvPr/>
        </p:nvSpPr>
        <p:spPr>
          <a:xfrm>
            <a:off x="1856160" y="322344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7"/>
          <p:cNvSpPr/>
          <p:nvPr/>
        </p:nvSpPr>
        <p:spPr>
          <a:xfrm>
            <a:off x="2084760" y="317772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apple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Shape 8"/>
          <p:cNvSpPr/>
          <p:nvPr/>
        </p:nvSpPr>
        <p:spPr>
          <a:xfrm>
            <a:off x="2253240" y="2885040"/>
            <a:ext cx="182160" cy="1821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9"/>
          <p:cNvSpPr/>
          <p:nvPr/>
        </p:nvSpPr>
        <p:spPr>
          <a:xfrm>
            <a:off x="2481840" y="283932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banana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Shape 10"/>
          <p:cNvSpPr/>
          <p:nvPr/>
        </p:nvSpPr>
        <p:spPr>
          <a:xfrm>
            <a:off x="5257800" y="491508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11"/>
          <p:cNvSpPr/>
          <p:nvPr/>
        </p:nvSpPr>
        <p:spPr>
          <a:xfrm>
            <a:off x="5486400" y="486936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king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12"/>
          <p:cNvSpPr/>
          <p:nvPr/>
        </p:nvSpPr>
        <p:spPr>
          <a:xfrm>
            <a:off x="5541120" y="4339800"/>
            <a:ext cx="182160" cy="1821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13"/>
          <p:cNvSpPr/>
          <p:nvPr/>
        </p:nvSpPr>
        <p:spPr>
          <a:xfrm>
            <a:off x="5769720" y="429408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queen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14"/>
          <p:cNvSpPr/>
          <p:nvPr/>
        </p:nvSpPr>
        <p:spPr>
          <a:xfrm>
            <a:off x="1097280" y="5943600"/>
            <a:ext cx="5668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dimension 1: perhaps “fruit-ness”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15"/>
          <p:cNvSpPr/>
          <p:nvPr/>
        </p:nvSpPr>
        <p:spPr>
          <a:xfrm>
            <a:off x="7223760" y="2057400"/>
            <a:ext cx="4388400" cy="4114080"/>
          </a:xfrm>
          <a:prstGeom prst="roundRect">
            <a:avLst>
              <a:gd name="adj" fmla="val 2000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16"/>
          <p:cNvSpPr/>
          <p:nvPr/>
        </p:nvSpPr>
        <p:spPr>
          <a:xfrm>
            <a:off x="7452360" y="228600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IMPORTANT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17"/>
          <p:cNvSpPr/>
          <p:nvPr/>
        </p:nvSpPr>
        <p:spPr>
          <a:xfrm>
            <a:off x="7452360" y="2651760"/>
            <a:ext cx="402264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coordinates don't have fixed human names — what matters is the relationships between points.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Words used in similar contexts end up nearby. “King” and “queen” cluster together; “apple” and “banana” cluster elsewhere.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map itself is learned automatically from patterns in language, not designed by hand.</a:t>
            </a:r>
            <a:endParaRPr lang="en-CA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18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19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Shape 0"/>
          <p:cNvSpPr/>
          <p:nvPr/>
        </p:nvSpPr>
        <p:spPr>
          <a:xfrm>
            <a:off x="11650680" y="730440"/>
            <a:ext cx="115560" cy="115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960" tIns="37080" rIns="57960" bIns="37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1"/>
          <p:cNvSpPr/>
          <p:nvPr/>
        </p:nvSpPr>
        <p:spPr>
          <a:xfrm>
            <a:off x="10270080" y="4881600"/>
            <a:ext cx="72000" cy="72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6480" rIns="36000" bIns="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2"/>
          <p:cNvSpPr/>
          <p:nvPr/>
        </p:nvSpPr>
        <p:spPr>
          <a:xfrm>
            <a:off x="9422280" y="5389200"/>
            <a:ext cx="131400" cy="1314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880" tIns="45000" rIns="658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3"/>
          <p:cNvSpPr/>
          <p:nvPr/>
        </p:nvSpPr>
        <p:spPr>
          <a:xfrm>
            <a:off x="7966440" y="6166440"/>
            <a:ext cx="108360" cy="1083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040" rIns="54360" bIns="320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4"/>
          <p:cNvSpPr/>
          <p:nvPr/>
        </p:nvSpPr>
        <p:spPr>
          <a:xfrm>
            <a:off x="7698960" y="5799240"/>
            <a:ext cx="145080" cy="1450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5"/>
          <p:cNvSpPr/>
          <p:nvPr/>
        </p:nvSpPr>
        <p:spPr>
          <a:xfrm>
            <a:off x="8313120" y="2151000"/>
            <a:ext cx="84600" cy="846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480" tIns="15480" rIns="42480" bIns="15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6"/>
          <p:cNvSpPr/>
          <p:nvPr/>
        </p:nvSpPr>
        <p:spPr>
          <a:xfrm>
            <a:off x="9682560" y="1916280"/>
            <a:ext cx="126000" cy="126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7"/>
          <p:cNvSpPr/>
          <p:nvPr/>
        </p:nvSpPr>
        <p:spPr>
          <a:xfrm>
            <a:off x="10852920" y="4476960"/>
            <a:ext cx="70560" cy="705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5280" tIns="5760" rIns="35280" bIns="5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8"/>
          <p:cNvSpPr/>
          <p:nvPr/>
        </p:nvSpPr>
        <p:spPr>
          <a:xfrm>
            <a:off x="9414360" y="945720"/>
            <a:ext cx="137160" cy="13716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tIns="45000" rIns="687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9"/>
          <p:cNvSpPr/>
          <p:nvPr/>
        </p:nvSpPr>
        <p:spPr>
          <a:xfrm>
            <a:off x="11738880" y="1710360"/>
            <a:ext cx="117000" cy="11700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8680" tIns="38520" rIns="58680" bIns="385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10"/>
          <p:cNvSpPr/>
          <p:nvPr/>
        </p:nvSpPr>
        <p:spPr>
          <a:xfrm>
            <a:off x="10431000" y="2640960"/>
            <a:ext cx="56880" cy="5688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tIns="-4320" rIns="28440" bIns="-4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11"/>
          <p:cNvSpPr/>
          <p:nvPr/>
        </p:nvSpPr>
        <p:spPr>
          <a:xfrm>
            <a:off x="9068040" y="752040"/>
            <a:ext cx="130320" cy="1303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tIns="45000" rIns="651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12"/>
          <p:cNvSpPr/>
          <p:nvPr/>
        </p:nvSpPr>
        <p:spPr>
          <a:xfrm>
            <a:off x="8829720" y="2324520"/>
            <a:ext cx="123120" cy="1231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13"/>
          <p:cNvSpPr/>
          <p:nvPr/>
        </p:nvSpPr>
        <p:spPr>
          <a:xfrm>
            <a:off x="8354520" y="1190160"/>
            <a:ext cx="144720" cy="144720"/>
          </a:xfrm>
          <a:prstGeom prst="ellipse">
            <a:avLst/>
          </a:prstGeom>
          <a:solidFill>
            <a:srgbClr val="3D6C8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360" tIns="45000" rIns="723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 14"/>
          <p:cNvSpPr/>
          <p:nvPr/>
        </p:nvSpPr>
        <p:spPr>
          <a:xfrm>
            <a:off x="548640" y="155448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SECTION 04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15"/>
          <p:cNvSpPr/>
          <p:nvPr/>
        </p:nvSpPr>
        <p:spPr>
          <a:xfrm>
            <a:off x="548640" y="2057400"/>
            <a:ext cx="96004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Practice &amp; Responsibility</a:t>
            </a:r>
            <a:endParaRPr lang="en-CA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 16"/>
          <p:cNvSpPr/>
          <p:nvPr/>
        </p:nvSpPr>
        <p:spPr>
          <a:xfrm>
            <a:off x="548640" y="324612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From a working prototype to a trustworthy, well-evaluated system.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17"/>
          <p:cNvSpPr/>
          <p:nvPr/>
        </p:nvSpPr>
        <p:spPr>
          <a:xfrm>
            <a:off x="54864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Text 18"/>
          <p:cNvSpPr/>
          <p:nvPr/>
        </p:nvSpPr>
        <p:spPr>
          <a:xfrm>
            <a:off x="54864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19"/>
          <p:cNvSpPr/>
          <p:nvPr/>
        </p:nvSpPr>
        <p:spPr>
          <a:xfrm>
            <a:off x="3127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20"/>
          <p:cNvSpPr/>
          <p:nvPr/>
        </p:nvSpPr>
        <p:spPr>
          <a:xfrm>
            <a:off x="3127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21"/>
          <p:cNvSpPr/>
          <p:nvPr/>
        </p:nvSpPr>
        <p:spPr>
          <a:xfrm>
            <a:off x="570600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Text 22"/>
          <p:cNvSpPr/>
          <p:nvPr/>
        </p:nvSpPr>
        <p:spPr>
          <a:xfrm>
            <a:off x="570600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Architectures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Shape 23"/>
          <p:cNvSpPr/>
          <p:nvPr/>
        </p:nvSpPr>
        <p:spPr>
          <a:xfrm>
            <a:off x="8284320" y="4663440"/>
            <a:ext cx="2376720" cy="50220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24"/>
          <p:cNvSpPr/>
          <p:nvPr/>
        </p:nvSpPr>
        <p:spPr>
          <a:xfrm>
            <a:off x="8284320" y="466344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2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2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Data: train, validation, test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2"/>
          <p:cNvSpPr/>
          <p:nvPr/>
        </p:nvSpPr>
        <p:spPr>
          <a:xfrm>
            <a:off x="548640" y="1737360"/>
            <a:ext cx="3519720" cy="3016800"/>
          </a:xfrm>
          <a:prstGeom prst="roundRect">
            <a:avLst>
              <a:gd name="adj" fmla="val 2727"/>
            </a:avLst>
          </a:prstGeom>
          <a:solidFill>
            <a:srgbClr val="0B1E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3"/>
          <p:cNvSpPr/>
          <p:nvPr/>
        </p:nvSpPr>
        <p:spPr>
          <a:xfrm>
            <a:off x="548640" y="205740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TRAIN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4"/>
          <p:cNvSpPr/>
          <p:nvPr/>
        </p:nvSpPr>
        <p:spPr>
          <a:xfrm>
            <a:off x="548640" y="2651760"/>
            <a:ext cx="3519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70%</a:t>
            </a:r>
            <a:endParaRPr lang="en-CA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5"/>
          <p:cNvSpPr/>
          <p:nvPr/>
        </p:nvSpPr>
        <p:spPr>
          <a:xfrm>
            <a:off x="548640" y="370332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learn weights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6"/>
          <p:cNvSpPr/>
          <p:nvPr/>
        </p:nvSpPr>
        <p:spPr>
          <a:xfrm>
            <a:off x="4105440" y="3246120"/>
            <a:ext cx="201240" cy="720"/>
          </a:xfrm>
          <a:prstGeom prst="line">
            <a:avLst/>
          </a:prstGeom>
          <a:ln w="25400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7"/>
          <p:cNvSpPr/>
          <p:nvPr/>
        </p:nvSpPr>
        <p:spPr>
          <a:xfrm>
            <a:off x="4343400" y="1737360"/>
            <a:ext cx="3519720" cy="3016800"/>
          </a:xfrm>
          <a:prstGeom prst="roundRect">
            <a:avLst>
              <a:gd name="adj" fmla="val 2727"/>
            </a:avLst>
          </a:prstGeom>
          <a:solidFill>
            <a:srgbClr val="3D6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8"/>
          <p:cNvSpPr/>
          <p:nvPr/>
        </p:nvSpPr>
        <p:spPr>
          <a:xfrm>
            <a:off x="4343400" y="205740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VALIDATION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9"/>
          <p:cNvSpPr/>
          <p:nvPr/>
        </p:nvSpPr>
        <p:spPr>
          <a:xfrm>
            <a:off x="4343400" y="2651760"/>
            <a:ext cx="3519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15%</a:t>
            </a:r>
            <a:endParaRPr lang="en-CA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10"/>
          <p:cNvSpPr/>
          <p:nvPr/>
        </p:nvSpPr>
        <p:spPr>
          <a:xfrm>
            <a:off x="4343400" y="370332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choose settings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Shape 11"/>
          <p:cNvSpPr/>
          <p:nvPr/>
        </p:nvSpPr>
        <p:spPr>
          <a:xfrm>
            <a:off x="7900200" y="3246120"/>
            <a:ext cx="201240" cy="720"/>
          </a:xfrm>
          <a:prstGeom prst="line">
            <a:avLst/>
          </a:prstGeom>
          <a:ln w="25400">
            <a:solidFill>
              <a:srgbClr val="6269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12"/>
          <p:cNvSpPr/>
          <p:nvPr/>
        </p:nvSpPr>
        <p:spPr>
          <a:xfrm>
            <a:off x="8138160" y="1737360"/>
            <a:ext cx="3519720" cy="3016800"/>
          </a:xfrm>
          <a:prstGeom prst="roundRect">
            <a:avLst>
              <a:gd name="adj" fmla="val 2727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13"/>
          <p:cNvSpPr/>
          <p:nvPr/>
        </p:nvSpPr>
        <p:spPr>
          <a:xfrm>
            <a:off x="8138160" y="205740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TEST</a:t>
            </a:r>
            <a:endParaRPr lang="en-CA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4"/>
          <p:cNvSpPr/>
          <p:nvPr/>
        </p:nvSpPr>
        <p:spPr>
          <a:xfrm>
            <a:off x="8138160" y="2651760"/>
            <a:ext cx="3519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15%</a:t>
            </a:r>
            <a:endParaRPr lang="en-CA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 15"/>
          <p:cNvSpPr/>
          <p:nvPr/>
        </p:nvSpPr>
        <p:spPr>
          <a:xfrm>
            <a:off x="8138160" y="3703320"/>
            <a:ext cx="351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AEB7CC"/>
                </a:solidFill>
                <a:effectLst/>
                <a:uFillTx/>
                <a:latin typeface="Calibri"/>
                <a:ea typeface="Calibri"/>
              </a:rPr>
              <a:t>final check, once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6"/>
          <p:cNvSpPr/>
          <p:nvPr/>
        </p:nvSpPr>
        <p:spPr>
          <a:xfrm>
            <a:off x="548640" y="5074920"/>
            <a:ext cx="10834920" cy="1050840"/>
          </a:xfrm>
          <a:prstGeom prst="roundRect">
            <a:avLst>
              <a:gd name="adj" fmla="val 7826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17"/>
          <p:cNvSpPr/>
          <p:nvPr/>
        </p:nvSpPr>
        <p:spPr>
          <a:xfrm>
            <a:off x="868680" y="5074920"/>
            <a:ext cx="101948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D64550"/>
                </a:solidFill>
                <a:effectLst/>
                <a:uFillTx/>
                <a:latin typeface="Calibri"/>
                <a:ea typeface="Calibri"/>
              </a:rPr>
              <a:t>Never tune the model using the test set — doing so turns the “final exam” into extra practice, and your evaluation stops being honest.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18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19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Overfitting: memorizing instead of learning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Text 2"/>
          <p:cNvSpPr/>
          <p:nvPr/>
        </p:nvSpPr>
        <p:spPr>
          <a:xfrm>
            <a:off x="548640" y="137160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model can look excellent on its training examples and still perform poorly on new, unseen cases.</a:t>
            </a:r>
            <a:endParaRPr lang="en-CA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3"/>
          <p:cNvSpPr/>
          <p:nvPr/>
        </p:nvSpPr>
        <p:spPr>
          <a:xfrm>
            <a:off x="548640" y="2057400"/>
            <a:ext cx="5348520" cy="3976920"/>
          </a:xfrm>
          <a:prstGeom prst="roundRect">
            <a:avLst>
              <a:gd name="adj" fmla="val 2069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4"/>
          <p:cNvSpPr/>
          <p:nvPr/>
        </p:nvSpPr>
        <p:spPr>
          <a:xfrm>
            <a:off x="822960" y="2240280"/>
            <a:ext cx="4754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 GOOD FIT — SMOOTH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2" name="Chart 0"/>
          <p:cNvGraphicFramePr/>
          <p:nvPr/>
        </p:nvGraphicFramePr>
        <p:xfrm>
          <a:off x="777240" y="2606040"/>
          <a:ext cx="4891320" cy="324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13" name="Shape 5"/>
          <p:cNvSpPr/>
          <p:nvPr/>
        </p:nvSpPr>
        <p:spPr>
          <a:xfrm>
            <a:off x="6080760" y="2057400"/>
            <a:ext cx="5348520" cy="3976920"/>
          </a:xfrm>
          <a:prstGeom prst="roundRect">
            <a:avLst>
              <a:gd name="adj" fmla="val 2069"/>
            </a:avLst>
          </a:prstGeom>
          <a:solidFill>
            <a:srgbClr val="FBEAE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 6"/>
          <p:cNvSpPr/>
          <p:nvPr/>
        </p:nvSpPr>
        <p:spPr>
          <a:xfrm>
            <a:off x="6355080" y="2240280"/>
            <a:ext cx="4754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D64550"/>
                </a:solidFill>
                <a:effectLst/>
                <a:uFillTx/>
                <a:latin typeface="Calibri"/>
                <a:ea typeface="Calibri"/>
              </a:rPr>
              <a:t>MEMORIZED — JAGGED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5" name="Chart 1"/>
          <p:cNvGraphicFramePr/>
          <p:nvPr/>
        </p:nvGraphicFramePr>
        <p:xfrm>
          <a:off x="6309360" y="2606040"/>
          <a:ext cx="4891320" cy="324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16" name="Text 7"/>
          <p:cNvSpPr/>
          <p:nvPr/>
        </p:nvSpPr>
        <p:spPr>
          <a:xfrm>
            <a:off x="548640" y="5989320"/>
            <a:ext cx="5348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training pattern: smooth, generalizes well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8"/>
          <p:cNvSpPr/>
          <p:nvPr/>
        </p:nvSpPr>
        <p:spPr>
          <a:xfrm>
            <a:off x="6080760" y="5989320"/>
            <a:ext cx="5348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test pattern: chases every point, fails to generalize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9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10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 practical recipe for a deep-learning project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2"/>
          <p:cNvSpPr/>
          <p:nvPr/>
        </p:nvSpPr>
        <p:spPr>
          <a:xfrm>
            <a:off x="548640" y="17647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Text 3"/>
          <p:cNvSpPr/>
          <p:nvPr/>
        </p:nvSpPr>
        <p:spPr>
          <a:xfrm>
            <a:off x="548640" y="17647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4"/>
          <p:cNvSpPr/>
          <p:nvPr/>
        </p:nvSpPr>
        <p:spPr>
          <a:xfrm>
            <a:off x="1097280" y="16916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 5"/>
          <p:cNvSpPr/>
          <p:nvPr/>
        </p:nvSpPr>
        <p:spPr>
          <a:xfrm>
            <a:off x="1325880" y="16916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Define the question and what “good” means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Shape 6"/>
          <p:cNvSpPr/>
          <p:nvPr/>
        </p:nvSpPr>
        <p:spPr>
          <a:xfrm>
            <a:off x="548640" y="24505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7"/>
          <p:cNvSpPr/>
          <p:nvPr/>
        </p:nvSpPr>
        <p:spPr>
          <a:xfrm>
            <a:off x="548640" y="24505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Shape 8"/>
          <p:cNvSpPr/>
          <p:nvPr/>
        </p:nvSpPr>
        <p:spPr>
          <a:xfrm>
            <a:off x="1097280" y="23774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Text 9"/>
          <p:cNvSpPr/>
          <p:nvPr/>
        </p:nvSpPr>
        <p:spPr>
          <a:xfrm>
            <a:off x="1325880" y="23774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Collect representative, permitted data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10"/>
          <p:cNvSpPr/>
          <p:nvPr/>
        </p:nvSpPr>
        <p:spPr>
          <a:xfrm>
            <a:off x="548640" y="31363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 11"/>
          <p:cNvSpPr/>
          <p:nvPr/>
        </p:nvSpPr>
        <p:spPr>
          <a:xfrm>
            <a:off x="548640" y="31363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12"/>
          <p:cNvSpPr/>
          <p:nvPr/>
        </p:nvSpPr>
        <p:spPr>
          <a:xfrm>
            <a:off x="1097280" y="30632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 13"/>
          <p:cNvSpPr/>
          <p:nvPr/>
        </p:nvSpPr>
        <p:spPr>
          <a:xfrm>
            <a:off x="1325880" y="30632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Clean, label, and split the data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Shape 14"/>
          <p:cNvSpPr/>
          <p:nvPr/>
        </p:nvSpPr>
        <p:spPr>
          <a:xfrm>
            <a:off x="548640" y="38221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15"/>
          <p:cNvSpPr/>
          <p:nvPr/>
        </p:nvSpPr>
        <p:spPr>
          <a:xfrm>
            <a:off x="548640" y="38221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16"/>
          <p:cNvSpPr/>
          <p:nvPr/>
        </p:nvSpPr>
        <p:spPr>
          <a:xfrm>
            <a:off x="1097280" y="37490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7"/>
          <p:cNvSpPr/>
          <p:nvPr/>
        </p:nvSpPr>
        <p:spPr>
          <a:xfrm>
            <a:off x="1325880" y="37490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Start with a simple baseline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Shape 18"/>
          <p:cNvSpPr/>
          <p:nvPr/>
        </p:nvSpPr>
        <p:spPr>
          <a:xfrm>
            <a:off x="548640" y="45079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Text 19"/>
          <p:cNvSpPr/>
          <p:nvPr/>
        </p:nvSpPr>
        <p:spPr>
          <a:xfrm>
            <a:off x="548640" y="45079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20"/>
          <p:cNvSpPr/>
          <p:nvPr/>
        </p:nvSpPr>
        <p:spPr>
          <a:xfrm>
            <a:off x="1097280" y="44348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Text 21"/>
          <p:cNvSpPr/>
          <p:nvPr/>
        </p:nvSpPr>
        <p:spPr>
          <a:xfrm>
            <a:off x="1325880" y="44348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Train, validate, and inspect the errors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22"/>
          <p:cNvSpPr/>
          <p:nvPr/>
        </p:nvSpPr>
        <p:spPr>
          <a:xfrm>
            <a:off x="548640" y="5193720"/>
            <a:ext cx="438120" cy="43812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Text 23"/>
          <p:cNvSpPr/>
          <p:nvPr/>
        </p:nvSpPr>
        <p:spPr>
          <a:xfrm>
            <a:off x="548640" y="5193720"/>
            <a:ext cx="438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24"/>
          <p:cNvSpPr/>
          <p:nvPr/>
        </p:nvSpPr>
        <p:spPr>
          <a:xfrm>
            <a:off x="1097280" y="5120640"/>
            <a:ext cx="5942880" cy="566280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25"/>
          <p:cNvSpPr/>
          <p:nvPr/>
        </p:nvSpPr>
        <p:spPr>
          <a:xfrm>
            <a:off x="1325880" y="5120640"/>
            <a:ext cx="5485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Test once; document limits and risks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26"/>
          <p:cNvSpPr/>
          <p:nvPr/>
        </p:nvSpPr>
        <p:spPr>
          <a:xfrm>
            <a:off x="7406640" y="1691640"/>
            <a:ext cx="4205520" cy="4251240"/>
          </a:xfrm>
          <a:prstGeom prst="roundRect">
            <a:avLst>
              <a:gd name="adj" fmla="val 1957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Text 27"/>
          <p:cNvSpPr/>
          <p:nvPr/>
        </p:nvSpPr>
        <p:spPr>
          <a:xfrm>
            <a:off x="7680960" y="1920240"/>
            <a:ext cx="3656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ENGINEER'S HABIT: ASK FIRST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28"/>
          <p:cNvSpPr/>
          <p:nvPr/>
        </p:nvSpPr>
        <p:spPr>
          <a:xfrm>
            <a:off x="7680960" y="2377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What could fail?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29"/>
          <p:cNvSpPr/>
          <p:nvPr/>
        </p:nvSpPr>
        <p:spPr>
          <a:xfrm>
            <a:off x="7680960" y="2944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Who could be harmed?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30"/>
          <p:cNvSpPr/>
          <p:nvPr/>
        </p:nvSpPr>
        <p:spPr>
          <a:xfrm>
            <a:off x="7680960" y="3511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 Would a human trust this output?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31"/>
          <p:cNvSpPr/>
          <p:nvPr/>
        </p:nvSpPr>
        <p:spPr>
          <a:xfrm>
            <a:off x="7680960" y="4343400"/>
            <a:ext cx="3656880" cy="141660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32"/>
          <p:cNvSpPr/>
          <p:nvPr/>
        </p:nvSpPr>
        <p:spPr>
          <a:xfrm>
            <a:off x="7863840" y="4343400"/>
            <a:ext cx="32911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700" b="1" i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A model is not the same as truth.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33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 34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The recipe in action: a worked example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2"/>
          <p:cNvSpPr/>
          <p:nvPr/>
        </p:nvSpPr>
        <p:spPr>
          <a:xfrm>
            <a:off x="548640" y="137160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Project: an app that spots possible crop disease from a leaf photo, for smallholder farmers.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3"/>
          <p:cNvSpPr/>
          <p:nvPr/>
        </p:nvSpPr>
        <p:spPr>
          <a:xfrm>
            <a:off x="548640" y="181044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4"/>
          <p:cNvSpPr/>
          <p:nvPr/>
        </p:nvSpPr>
        <p:spPr>
          <a:xfrm>
            <a:off x="548640" y="18104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5"/>
          <p:cNvSpPr/>
          <p:nvPr/>
        </p:nvSpPr>
        <p:spPr>
          <a:xfrm>
            <a:off x="1051560" y="178308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Define the question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6"/>
          <p:cNvSpPr/>
          <p:nvPr/>
        </p:nvSpPr>
        <p:spPr>
          <a:xfrm>
            <a:off x="3520440" y="178308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“Is this leaf healthy, or does it show signs of disease X?” — “good” means catching most sick leaves without too many false alarms.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Shape 7"/>
          <p:cNvSpPr/>
          <p:nvPr/>
        </p:nvSpPr>
        <p:spPr>
          <a:xfrm>
            <a:off x="548640" y="261504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8"/>
          <p:cNvSpPr/>
          <p:nvPr/>
        </p:nvSpPr>
        <p:spPr>
          <a:xfrm>
            <a:off x="548640" y="26150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9"/>
          <p:cNvSpPr/>
          <p:nvPr/>
        </p:nvSpPr>
        <p:spPr>
          <a:xfrm>
            <a:off x="1051560" y="258768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Collect data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10"/>
          <p:cNvSpPr/>
          <p:nvPr/>
        </p:nvSpPr>
        <p:spPr>
          <a:xfrm>
            <a:off x="3520440" y="258768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Photos from local fields, with farmers' permission, covering healthy and diseased leaves in different light and angles.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Shape 11"/>
          <p:cNvSpPr/>
          <p:nvPr/>
        </p:nvSpPr>
        <p:spPr>
          <a:xfrm>
            <a:off x="548640" y="342000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12"/>
          <p:cNvSpPr/>
          <p:nvPr/>
        </p:nvSpPr>
        <p:spPr>
          <a:xfrm>
            <a:off x="548640" y="34200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13"/>
          <p:cNvSpPr/>
          <p:nvPr/>
        </p:nvSpPr>
        <p:spPr>
          <a:xfrm>
            <a:off x="1051560" y="339228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Clean, label, split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14"/>
          <p:cNvSpPr/>
          <p:nvPr/>
        </p:nvSpPr>
        <p:spPr>
          <a:xfrm>
            <a:off x="3520440" y="339228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An agronomist labels each photo; images are split into train / validation / test sets.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Shape 15"/>
          <p:cNvSpPr/>
          <p:nvPr/>
        </p:nvSpPr>
        <p:spPr>
          <a:xfrm>
            <a:off x="548640" y="422460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 16"/>
          <p:cNvSpPr/>
          <p:nvPr/>
        </p:nvSpPr>
        <p:spPr>
          <a:xfrm>
            <a:off x="548640" y="42246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17"/>
          <p:cNvSpPr/>
          <p:nvPr/>
        </p:nvSpPr>
        <p:spPr>
          <a:xfrm>
            <a:off x="1051560" y="419724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Simple baseline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18"/>
          <p:cNvSpPr/>
          <p:nvPr/>
        </p:nvSpPr>
        <p:spPr>
          <a:xfrm>
            <a:off x="3520440" y="419724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Start with “mostly green = healthy” as a sanity check before training a network.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Shape 19"/>
          <p:cNvSpPr/>
          <p:nvPr/>
        </p:nvSpPr>
        <p:spPr>
          <a:xfrm>
            <a:off x="548640" y="502920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20"/>
          <p:cNvSpPr/>
          <p:nvPr/>
        </p:nvSpPr>
        <p:spPr>
          <a:xfrm>
            <a:off x="548640" y="50292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21"/>
          <p:cNvSpPr/>
          <p:nvPr/>
        </p:nvSpPr>
        <p:spPr>
          <a:xfrm>
            <a:off x="1051560" y="500184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Train &amp; inspect errors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22"/>
          <p:cNvSpPr/>
          <p:nvPr/>
        </p:nvSpPr>
        <p:spPr>
          <a:xfrm>
            <a:off x="3520440" y="500184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Train the CNN; look closely at the leaves it gets wrong, not just the accuracy number.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Shape 23"/>
          <p:cNvSpPr/>
          <p:nvPr/>
        </p:nvSpPr>
        <p:spPr>
          <a:xfrm>
            <a:off x="548640" y="5833800"/>
            <a:ext cx="401760" cy="4017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24"/>
          <p:cNvSpPr/>
          <p:nvPr/>
        </p:nvSpPr>
        <p:spPr>
          <a:xfrm>
            <a:off x="548640" y="58338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25"/>
          <p:cNvSpPr/>
          <p:nvPr/>
        </p:nvSpPr>
        <p:spPr>
          <a:xfrm>
            <a:off x="1051560" y="5806440"/>
            <a:ext cx="2331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Test once; document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26"/>
          <p:cNvSpPr/>
          <p:nvPr/>
        </p:nvSpPr>
        <p:spPr>
          <a:xfrm>
            <a:off x="3520440" y="5806440"/>
            <a:ext cx="8411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Report accuracy on the untouched test set, plus known limits — e.g. it hasn't seen every disease or every crop variety yet.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Text 27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 28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Responsible AI: the model learns from society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Shape 2"/>
          <p:cNvSpPr/>
          <p:nvPr/>
        </p:nvSpPr>
        <p:spPr>
          <a:xfrm>
            <a:off x="548640" y="1737360"/>
            <a:ext cx="2605320" cy="310824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3"/>
          <p:cNvSpPr/>
          <p:nvPr/>
        </p:nvSpPr>
        <p:spPr>
          <a:xfrm>
            <a:off x="1559160" y="1947600"/>
            <a:ext cx="584640" cy="584640"/>
          </a:xfrm>
          <a:prstGeom prst="ellipse">
            <a:avLst/>
          </a:prstGeom>
          <a:solidFill>
            <a:srgbClr val="D6455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4"/>
          <p:cNvSpPr/>
          <p:nvPr/>
        </p:nvSpPr>
        <p:spPr>
          <a:xfrm>
            <a:off x="1559160" y="194760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Text 5"/>
          <p:cNvSpPr/>
          <p:nvPr/>
        </p:nvSpPr>
        <p:spPr>
          <a:xfrm>
            <a:off x="548640" y="26517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Bias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 6"/>
          <p:cNvSpPr/>
          <p:nvPr/>
        </p:nvSpPr>
        <p:spPr>
          <a:xfrm>
            <a:off x="731520" y="3108960"/>
            <a:ext cx="223956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Uneven data leads to uneven errors across groups.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Shape 7"/>
          <p:cNvSpPr/>
          <p:nvPr/>
        </p:nvSpPr>
        <p:spPr>
          <a:xfrm>
            <a:off x="3383280" y="1737360"/>
            <a:ext cx="2605320" cy="310824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8"/>
          <p:cNvSpPr/>
          <p:nvPr/>
        </p:nvSpPr>
        <p:spPr>
          <a:xfrm>
            <a:off x="4393800" y="1947600"/>
            <a:ext cx="584640" cy="5846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9"/>
          <p:cNvSpPr/>
          <p:nvPr/>
        </p:nvSpPr>
        <p:spPr>
          <a:xfrm>
            <a:off x="4393800" y="194760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4" name="Text 10"/>
          <p:cNvSpPr/>
          <p:nvPr/>
        </p:nvSpPr>
        <p:spPr>
          <a:xfrm>
            <a:off x="3383280" y="26517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Privacy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11"/>
          <p:cNvSpPr/>
          <p:nvPr/>
        </p:nvSpPr>
        <p:spPr>
          <a:xfrm>
            <a:off x="3566160" y="3108960"/>
            <a:ext cx="223956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Training data may reveal information about real people.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Shape 12"/>
          <p:cNvSpPr/>
          <p:nvPr/>
        </p:nvSpPr>
        <p:spPr>
          <a:xfrm>
            <a:off x="6217920" y="1737360"/>
            <a:ext cx="2605320" cy="310824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Shape 13"/>
          <p:cNvSpPr/>
          <p:nvPr/>
        </p:nvSpPr>
        <p:spPr>
          <a:xfrm>
            <a:off x="7228440" y="1947600"/>
            <a:ext cx="584640" cy="58464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Text 14"/>
          <p:cNvSpPr/>
          <p:nvPr/>
        </p:nvSpPr>
        <p:spPr>
          <a:xfrm>
            <a:off x="7228440" y="194760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Text 15"/>
          <p:cNvSpPr/>
          <p:nvPr/>
        </p:nvSpPr>
        <p:spPr>
          <a:xfrm>
            <a:off x="6217920" y="26517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Reliability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 16"/>
          <p:cNvSpPr/>
          <p:nvPr/>
        </p:nvSpPr>
        <p:spPr>
          <a:xfrm>
            <a:off x="6400800" y="3108960"/>
            <a:ext cx="223956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confident answer is not the same as a correct one.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17"/>
          <p:cNvSpPr/>
          <p:nvPr/>
        </p:nvSpPr>
        <p:spPr>
          <a:xfrm>
            <a:off x="9052560" y="1737360"/>
            <a:ext cx="2605320" cy="310824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18"/>
          <p:cNvSpPr/>
          <p:nvPr/>
        </p:nvSpPr>
        <p:spPr>
          <a:xfrm>
            <a:off x="10063080" y="1947600"/>
            <a:ext cx="584640" cy="58464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19"/>
          <p:cNvSpPr/>
          <p:nvPr/>
        </p:nvSpPr>
        <p:spPr>
          <a:xfrm>
            <a:off x="10063080" y="194760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Text 20"/>
          <p:cNvSpPr/>
          <p:nvPr/>
        </p:nvSpPr>
        <p:spPr>
          <a:xfrm>
            <a:off x="9052560" y="26517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Human role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21"/>
          <p:cNvSpPr/>
          <p:nvPr/>
        </p:nvSpPr>
        <p:spPr>
          <a:xfrm>
            <a:off x="9235440" y="3108960"/>
            <a:ext cx="223956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Use human judgment and oversight, always.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22"/>
          <p:cNvSpPr/>
          <p:nvPr/>
        </p:nvSpPr>
        <p:spPr>
          <a:xfrm>
            <a:off x="548640" y="5166360"/>
            <a:ext cx="10834920" cy="913680"/>
          </a:xfrm>
          <a:prstGeom prst="roundRect">
            <a:avLst>
              <a:gd name="adj" fmla="val 9000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Text 23"/>
          <p:cNvSpPr/>
          <p:nvPr/>
        </p:nvSpPr>
        <p:spPr>
          <a:xfrm>
            <a:off x="822960" y="5166360"/>
            <a:ext cx="10286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Responsible deep learning = performance + fairness + transparency + safety.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Text 2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 2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PRACTICE &amp; RESPONSIBILITY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Deep learning in the real world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Shape 2"/>
          <p:cNvSpPr/>
          <p:nvPr/>
        </p:nvSpPr>
        <p:spPr>
          <a:xfrm>
            <a:off x="548640" y="169164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3"/>
          <p:cNvSpPr/>
          <p:nvPr/>
        </p:nvSpPr>
        <p:spPr>
          <a:xfrm>
            <a:off x="777240" y="187452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Health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 4"/>
          <p:cNvSpPr/>
          <p:nvPr/>
        </p:nvSpPr>
        <p:spPr>
          <a:xfrm>
            <a:off x="777240" y="231336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Assist diagnosis from medical images and records.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Shape 5"/>
          <p:cNvSpPr/>
          <p:nvPr/>
        </p:nvSpPr>
        <p:spPr>
          <a:xfrm>
            <a:off x="4343400" y="169164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6"/>
          <p:cNvSpPr/>
          <p:nvPr/>
        </p:nvSpPr>
        <p:spPr>
          <a:xfrm>
            <a:off x="4572000" y="187452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Agriculture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7"/>
          <p:cNvSpPr/>
          <p:nvPr/>
        </p:nvSpPr>
        <p:spPr>
          <a:xfrm>
            <a:off x="4572000" y="231336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Spot crop disease early from field photos.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Shape 8"/>
          <p:cNvSpPr/>
          <p:nvPr/>
        </p:nvSpPr>
        <p:spPr>
          <a:xfrm>
            <a:off x="8138160" y="169164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9"/>
          <p:cNvSpPr/>
          <p:nvPr/>
        </p:nvSpPr>
        <p:spPr>
          <a:xfrm>
            <a:off x="8366760" y="187452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Language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Text 10"/>
          <p:cNvSpPr/>
          <p:nvPr/>
        </p:nvSpPr>
        <p:spPr>
          <a:xfrm>
            <a:off x="8366760" y="231336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Translation, tutoring, and speech tools.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Shape 11"/>
          <p:cNvSpPr/>
          <p:nvPr/>
        </p:nvSpPr>
        <p:spPr>
          <a:xfrm>
            <a:off x="548640" y="402336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Text 12"/>
          <p:cNvSpPr/>
          <p:nvPr/>
        </p:nvSpPr>
        <p:spPr>
          <a:xfrm>
            <a:off x="777240" y="420624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Vision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Text 13"/>
          <p:cNvSpPr/>
          <p:nvPr/>
        </p:nvSpPr>
        <p:spPr>
          <a:xfrm>
            <a:off x="777240" y="464508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Maps, mapping, and industrial inspection.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Shape 14"/>
          <p:cNvSpPr/>
          <p:nvPr/>
        </p:nvSpPr>
        <p:spPr>
          <a:xfrm>
            <a:off x="4343400" y="402336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15"/>
          <p:cNvSpPr/>
          <p:nvPr/>
        </p:nvSpPr>
        <p:spPr>
          <a:xfrm>
            <a:off x="4572000" y="420624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Science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Text 16"/>
          <p:cNvSpPr/>
          <p:nvPr/>
        </p:nvSpPr>
        <p:spPr>
          <a:xfrm>
            <a:off x="4572000" y="464508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Discover patterns in large research datasets.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Shape 17"/>
          <p:cNvSpPr/>
          <p:nvPr/>
        </p:nvSpPr>
        <p:spPr>
          <a:xfrm>
            <a:off x="8138160" y="4023360"/>
            <a:ext cx="3519720" cy="2010960"/>
          </a:xfrm>
          <a:prstGeom prst="roundRect">
            <a:avLst>
              <a:gd name="adj" fmla="val 4091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 18"/>
          <p:cNvSpPr/>
          <p:nvPr/>
        </p:nvSpPr>
        <p:spPr>
          <a:xfrm>
            <a:off x="8366760" y="4206240"/>
            <a:ext cx="3062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Here in East Africa</a:t>
            </a:r>
            <a:endParaRPr lang="en-CA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19"/>
          <p:cNvSpPr/>
          <p:nvPr/>
        </p:nvSpPr>
        <p:spPr>
          <a:xfrm>
            <a:off x="8366760" y="4645080"/>
            <a:ext cx="30625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Local languages, smallholder agriculture, and under-resourced clinics are active areas for applied deep learning.</a:t>
            </a:r>
            <a:endParaRPr lang="en-C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20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21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WRAP-UP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Key takeaways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Shape 2"/>
          <p:cNvSpPr/>
          <p:nvPr/>
        </p:nvSpPr>
        <p:spPr>
          <a:xfrm>
            <a:off x="548640" y="181980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Text 3"/>
          <p:cNvSpPr/>
          <p:nvPr/>
        </p:nvSpPr>
        <p:spPr>
          <a:xfrm>
            <a:off x="548640" y="181980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4"/>
          <p:cNvSpPr/>
          <p:nvPr/>
        </p:nvSpPr>
        <p:spPr>
          <a:xfrm>
            <a:off x="1143000" y="1737360"/>
            <a:ext cx="10194840" cy="6577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5"/>
          <p:cNvSpPr/>
          <p:nvPr/>
        </p:nvSpPr>
        <p:spPr>
          <a:xfrm>
            <a:off x="1417320" y="1737360"/>
            <a:ext cx="9737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Deep learning learns representations through stacked layers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Shape 6"/>
          <p:cNvSpPr/>
          <p:nvPr/>
        </p:nvSpPr>
        <p:spPr>
          <a:xfrm>
            <a:off x="548640" y="26150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Text 7"/>
          <p:cNvSpPr/>
          <p:nvPr/>
        </p:nvSpPr>
        <p:spPr>
          <a:xfrm>
            <a:off x="548640" y="26150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Shape 8"/>
          <p:cNvSpPr/>
          <p:nvPr/>
        </p:nvSpPr>
        <p:spPr>
          <a:xfrm>
            <a:off x="1143000" y="2532960"/>
            <a:ext cx="10194840" cy="6577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Text 9"/>
          <p:cNvSpPr/>
          <p:nvPr/>
        </p:nvSpPr>
        <p:spPr>
          <a:xfrm>
            <a:off x="1417320" y="2532960"/>
            <a:ext cx="9737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A neuron combines inputs using weights, then applies a gate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Shape 10"/>
          <p:cNvSpPr/>
          <p:nvPr/>
        </p:nvSpPr>
        <p:spPr>
          <a:xfrm>
            <a:off x="548640" y="34106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11"/>
          <p:cNvSpPr/>
          <p:nvPr/>
        </p:nvSpPr>
        <p:spPr>
          <a:xfrm>
            <a:off x="548640" y="34106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Shape 12"/>
          <p:cNvSpPr/>
          <p:nvPr/>
        </p:nvSpPr>
        <p:spPr>
          <a:xfrm>
            <a:off x="1143000" y="3328560"/>
            <a:ext cx="10194840" cy="6577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 13"/>
          <p:cNvSpPr/>
          <p:nvPr/>
        </p:nvSpPr>
        <p:spPr>
          <a:xfrm>
            <a:off x="1417320" y="3328560"/>
            <a:ext cx="9737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Training repeats: prediction → loss → backpropagation → update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Shape 14"/>
          <p:cNvSpPr/>
          <p:nvPr/>
        </p:nvSpPr>
        <p:spPr>
          <a:xfrm>
            <a:off x="548640" y="42062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15"/>
          <p:cNvSpPr/>
          <p:nvPr/>
        </p:nvSpPr>
        <p:spPr>
          <a:xfrm>
            <a:off x="548640" y="4206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Shape 16"/>
          <p:cNvSpPr/>
          <p:nvPr/>
        </p:nvSpPr>
        <p:spPr>
          <a:xfrm>
            <a:off x="1143000" y="4123800"/>
            <a:ext cx="10194840" cy="6577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 17"/>
          <p:cNvSpPr/>
          <p:nvPr/>
        </p:nvSpPr>
        <p:spPr>
          <a:xfrm>
            <a:off x="1417320" y="4123800"/>
            <a:ext cx="9737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Data splits and honest evaluation protect us from self-deception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Shape 18"/>
          <p:cNvSpPr/>
          <p:nvPr/>
        </p:nvSpPr>
        <p:spPr>
          <a:xfrm>
            <a:off x="548640" y="5001840"/>
            <a:ext cx="474840" cy="4748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 19"/>
          <p:cNvSpPr/>
          <p:nvPr/>
        </p:nvSpPr>
        <p:spPr>
          <a:xfrm>
            <a:off x="548640" y="50018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Shape 20"/>
          <p:cNvSpPr/>
          <p:nvPr/>
        </p:nvSpPr>
        <p:spPr>
          <a:xfrm>
            <a:off x="1143000" y="4919400"/>
            <a:ext cx="10194840" cy="6577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Text 21"/>
          <p:cNvSpPr/>
          <p:nvPr/>
        </p:nvSpPr>
        <p:spPr>
          <a:xfrm>
            <a:off x="1417320" y="4919400"/>
            <a:ext cx="9737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Good systems pair technical performance with human responsibility</a:t>
            </a:r>
            <a:endParaRPr lang="en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Shape 22"/>
          <p:cNvSpPr/>
          <p:nvPr/>
        </p:nvSpPr>
        <p:spPr>
          <a:xfrm>
            <a:off x="548640" y="5852160"/>
            <a:ext cx="10789200" cy="867960"/>
          </a:xfrm>
          <a:prstGeom prst="roundRect">
            <a:avLst>
              <a:gd name="adj" fmla="val 9474"/>
            </a:avLst>
          </a:prstGeom>
          <a:solidFill>
            <a:srgbClr val="0F2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 23"/>
          <p:cNvSpPr/>
          <p:nvPr/>
        </p:nvSpPr>
        <p:spPr>
          <a:xfrm>
            <a:off x="822960" y="5852160"/>
            <a:ext cx="102405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i="1" u="none" strike="noStrike">
                <a:solidFill>
                  <a:srgbClr val="F2994A"/>
                </a:solidFill>
                <a:effectLst/>
                <a:uFillTx/>
                <a:latin typeface="Cambria"/>
                <a:ea typeface="Cambria"/>
              </a:rPr>
              <a:t>If you understand the learning loop, you understand the foundation.</a:t>
            </a:r>
            <a:endParaRPr lang="en-CA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Text 24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Text 25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WRAP-UP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Discussion and quick check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Shape 2"/>
          <p:cNvSpPr/>
          <p:nvPr/>
        </p:nvSpPr>
        <p:spPr>
          <a:xfrm>
            <a:off x="548640" y="1691640"/>
            <a:ext cx="5348520" cy="4296960"/>
          </a:xfrm>
          <a:prstGeom prst="roundRect">
            <a:avLst>
              <a:gd name="adj" fmla="val 191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 3"/>
          <p:cNvSpPr/>
          <p:nvPr/>
        </p:nvSpPr>
        <p:spPr>
          <a:xfrm>
            <a:off x="822960" y="187452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EXPLAIN TO A CLASSMATE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Shape 4"/>
          <p:cNvSpPr/>
          <p:nvPr/>
        </p:nvSpPr>
        <p:spPr>
          <a:xfrm>
            <a:off x="868680" y="236844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Text 5"/>
          <p:cNvSpPr/>
          <p:nvPr/>
        </p:nvSpPr>
        <p:spPr>
          <a:xfrm>
            <a:off x="868680" y="23684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6"/>
          <p:cNvSpPr/>
          <p:nvPr/>
        </p:nvSpPr>
        <p:spPr>
          <a:xfrm>
            <a:off x="1371600" y="233172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Why do we need hidden layers?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Shape 7"/>
          <p:cNvSpPr/>
          <p:nvPr/>
        </p:nvSpPr>
        <p:spPr>
          <a:xfrm>
            <a:off x="868680" y="319140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 8"/>
          <p:cNvSpPr/>
          <p:nvPr/>
        </p:nvSpPr>
        <p:spPr>
          <a:xfrm>
            <a:off x="868680" y="3191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 9"/>
          <p:cNvSpPr/>
          <p:nvPr/>
        </p:nvSpPr>
        <p:spPr>
          <a:xfrm>
            <a:off x="1371600" y="315468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What does the loss number tell us?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Shape 10"/>
          <p:cNvSpPr/>
          <p:nvPr/>
        </p:nvSpPr>
        <p:spPr>
          <a:xfrm>
            <a:off x="868680" y="401436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 11"/>
          <p:cNvSpPr/>
          <p:nvPr/>
        </p:nvSpPr>
        <p:spPr>
          <a:xfrm>
            <a:off x="868680" y="40143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 12"/>
          <p:cNvSpPr/>
          <p:nvPr/>
        </p:nvSpPr>
        <p:spPr>
          <a:xfrm>
            <a:off x="1371600" y="397764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Why keep test data separate?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Shape 13"/>
          <p:cNvSpPr/>
          <p:nvPr/>
        </p:nvSpPr>
        <p:spPr>
          <a:xfrm>
            <a:off x="868680" y="4837320"/>
            <a:ext cx="365040" cy="3650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 14"/>
          <p:cNvSpPr/>
          <p:nvPr/>
        </p:nvSpPr>
        <p:spPr>
          <a:xfrm>
            <a:off x="868680" y="48373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 15"/>
          <p:cNvSpPr/>
          <p:nvPr/>
        </p:nvSpPr>
        <p:spPr>
          <a:xfrm>
            <a:off x="1371600" y="480060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Give one benefit and one risk of a model.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Shape 16"/>
          <p:cNvSpPr/>
          <p:nvPr/>
        </p:nvSpPr>
        <p:spPr>
          <a:xfrm>
            <a:off x="6080760" y="1691640"/>
            <a:ext cx="5531400" cy="4296960"/>
          </a:xfrm>
          <a:prstGeom prst="roundRect">
            <a:avLst>
              <a:gd name="adj" fmla="val 191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Text 17"/>
          <p:cNvSpPr/>
          <p:nvPr/>
        </p:nvSpPr>
        <p:spPr>
          <a:xfrm>
            <a:off x="6355080" y="187452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ONE-MINUTE CHALLENGE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Text 18"/>
          <p:cNvSpPr/>
          <p:nvPr/>
        </p:nvSpPr>
        <p:spPr>
          <a:xfrm>
            <a:off x="6355080" y="2240280"/>
            <a:ext cx="5028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Draw a network that decides whether a message is spam.</a:t>
            </a:r>
            <a:endParaRPr lang="en-C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Shape 19"/>
          <p:cNvSpPr/>
          <p:nvPr/>
        </p:nvSpPr>
        <p:spPr>
          <a:xfrm>
            <a:off x="6720840" y="3535560"/>
            <a:ext cx="2103120" cy="281880"/>
          </a:xfrm>
          <a:prstGeom prst="line">
            <a:avLst/>
          </a:prstGeom>
          <a:ln w="12700">
            <a:solidFill>
              <a:srgbClr val="D8DEE8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Shape 20"/>
          <p:cNvSpPr/>
          <p:nvPr/>
        </p:nvSpPr>
        <p:spPr>
          <a:xfrm flipV="1">
            <a:off x="6720840" y="3817440"/>
            <a:ext cx="2103120" cy="281880"/>
          </a:xfrm>
          <a:prstGeom prst="line">
            <a:avLst/>
          </a:prstGeom>
          <a:ln w="12700">
            <a:solidFill>
              <a:srgbClr val="D8DEE8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Shape 21"/>
          <p:cNvSpPr/>
          <p:nvPr/>
        </p:nvSpPr>
        <p:spPr>
          <a:xfrm>
            <a:off x="8823960" y="3817440"/>
            <a:ext cx="2103120" cy="1080"/>
          </a:xfrm>
          <a:prstGeom prst="line">
            <a:avLst/>
          </a:prstGeom>
          <a:ln w="12700">
            <a:solidFill>
              <a:srgbClr val="D8DEE8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Shape 22"/>
          <p:cNvSpPr/>
          <p:nvPr/>
        </p:nvSpPr>
        <p:spPr>
          <a:xfrm>
            <a:off x="6574680" y="3389400"/>
            <a:ext cx="291960" cy="2919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Shape 23"/>
          <p:cNvSpPr/>
          <p:nvPr/>
        </p:nvSpPr>
        <p:spPr>
          <a:xfrm>
            <a:off x="6574680" y="3953160"/>
            <a:ext cx="291960" cy="29196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Shape 24"/>
          <p:cNvSpPr/>
          <p:nvPr/>
        </p:nvSpPr>
        <p:spPr>
          <a:xfrm>
            <a:off x="8677800" y="3671280"/>
            <a:ext cx="291960" cy="29196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Shape 25"/>
          <p:cNvSpPr/>
          <p:nvPr/>
        </p:nvSpPr>
        <p:spPr>
          <a:xfrm>
            <a:off x="10780920" y="3671280"/>
            <a:ext cx="291960" cy="29196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Text 26"/>
          <p:cNvSpPr/>
          <p:nvPr/>
        </p:nvSpPr>
        <p:spPr>
          <a:xfrm>
            <a:off x="6492240" y="475488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2 inputs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 27"/>
          <p:cNvSpPr/>
          <p:nvPr/>
        </p:nvSpPr>
        <p:spPr>
          <a:xfrm>
            <a:off x="8046720" y="475488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1 hidden layer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Text 28"/>
          <p:cNvSpPr/>
          <p:nvPr/>
        </p:nvSpPr>
        <p:spPr>
          <a:xfrm>
            <a:off x="9692640" y="475488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1 output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Text 29"/>
          <p:cNvSpPr/>
          <p:nvPr/>
        </p:nvSpPr>
        <p:spPr>
          <a:xfrm>
            <a:off x="6355080" y="5166360"/>
            <a:ext cx="502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D6C8C"/>
                </a:solidFill>
                <a:effectLst/>
                <a:uFillTx/>
                <a:latin typeface="Calibri"/>
                <a:ea typeface="Calibri"/>
              </a:rPr>
              <a:t>Then explain: what would an error mean here?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Text 30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 31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Text 0"/>
          <p:cNvSpPr/>
          <p:nvPr/>
        </p:nvSpPr>
        <p:spPr>
          <a:xfrm>
            <a:off x="548640" y="365760"/>
            <a:ext cx="9600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WRAP-UP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Text 1"/>
          <p:cNvSpPr/>
          <p:nvPr/>
        </p:nvSpPr>
        <p:spPr>
          <a:xfrm>
            <a:off x="548640" y="65844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Answer key and example solution</a:t>
            </a:r>
            <a:endParaRPr lang="en-C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Shape 2"/>
          <p:cNvSpPr/>
          <p:nvPr/>
        </p:nvSpPr>
        <p:spPr>
          <a:xfrm>
            <a:off x="548640" y="1691640"/>
            <a:ext cx="5348520" cy="4342680"/>
          </a:xfrm>
          <a:prstGeom prst="roundRect">
            <a:avLst>
              <a:gd name="adj" fmla="val 1895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 3"/>
          <p:cNvSpPr/>
          <p:nvPr/>
        </p:nvSpPr>
        <p:spPr>
          <a:xfrm>
            <a:off x="822960" y="1874520"/>
            <a:ext cx="4845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11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MODEL ANSWERS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Shape 4"/>
          <p:cNvSpPr/>
          <p:nvPr/>
        </p:nvSpPr>
        <p:spPr>
          <a:xfrm>
            <a:off x="831960" y="231336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 5"/>
          <p:cNvSpPr/>
          <p:nvPr/>
        </p:nvSpPr>
        <p:spPr>
          <a:xfrm>
            <a:off x="831960" y="23133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Text 6"/>
          <p:cNvSpPr/>
          <p:nvPr/>
        </p:nvSpPr>
        <p:spPr>
          <a:xfrm>
            <a:off x="1325880" y="2286000"/>
            <a:ext cx="4342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Hidden layers let the network combine simple patterns into more useful, higher-level ones — a single layer can only draw a straight boundary.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Shape 7"/>
          <p:cNvSpPr/>
          <p:nvPr/>
        </p:nvSpPr>
        <p:spPr>
          <a:xfrm>
            <a:off x="831960" y="320940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8" name="Text 8"/>
          <p:cNvSpPr/>
          <p:nvPr/>
        </p:nvSpPr>
        <p:spPr>
          <a:xfrm>
            <a:off x="831960" y="32094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Text 9"/>
          <p:cNvSpPr/>
          <p:nvPr/>
        </p:nvSpPr>
        <p:spPr>
          <a:xfrm>
            <a:off x="1325880" y="3182040"/>
            <a:ext cx="4342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The loss tells us how far a prediction is from the true answer; smaller is better, and training's whole job is to shrink it.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Shape 10"/>
          <p:cNvSpPr/>
          <p:nvPr/>
        </p:nvSpPr>
        <p:spPr>
          <a:xfrm>
            <a:off x="831960" y="410580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Text 11"/>
          <p:cNvSpPr/>
          <p:nvPr/>
        </p:nvSpPr>
        <p:spPr>
          <a:xfrm>
            <a:off x="831960" y="4105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 12"/>
          <p:cNvSpPr/>
          <p:nvPr/>
        </p:nvSpPr>
        <p:spPr>
          <a:xfrm>
            <a:off x="1325880" y="4078080"/>
            <a:ext cx="4342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So evaluation stays honest — a model that has “seen” the test data can look great by memorizing rather than by learning.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Shape 13"/>
          <p:cNvSpPr/>
          <p:nvPr/>
        </p:nvSpPr>
        <p:spPr>
          <a:xfrm>
            <a:off x="831960" y="5001840"/>
            <a:ext cx="346680" cy="34668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 14"/>
          <p:cNvSpPr/>
          <p:nvPr/>
        </p:nvSpPr>
        <p:spPr>
          <a:xfrm>
            <a:off x="831960" y="5001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Text 15"/>
          <p:cNvSpPr/>
          <p:nvPr/>
        </p:nvSpPr>
        <p:spPr>
          <a:xfrm>
            <a:off x="1325880" y="4974480"/>
            <a:ext cx="4342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Benefit: can spot patterns humans miss. Risk: confident-but-wrong answers if used without oversight.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Shape 16"/>
          <p:cNvSpPr/>
          <p:nvPr/>
        </p:nvSpPr>
        <p:spPr>
          <a:xfrm>
            <a:off x="6080760" y="1691640"/>
            <a:ext cx="5531400" cy="4342680"/>
          </a:xfrm>
          <a:prstGeom prst="roundRect">
            <a:avLst>
              <a:gd name="adj" fmla="val 1895"/>
            </a:avLst>
          </a:prstGeom>
          <a:solidFill>
            <a:srgbClr val="EAF6F4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 17"/>
          <p:cNvSpPr/>
          <p:nvPr/>
        </p:nvSpPr>
        <p:spPr>
          <a:xfrm>
            <a:off x="6355080" y="1874520"/>
            <a:ext cx="5028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EXAMPLE SOLUTION: SPAM CLASSIFIER</a:t>
            </a:r>
            <a:endParaRPr lang="en-C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Shape 18"/>
          <p:cNvSpPr/>
          <p:nvPr/>
        </p:nvSpPr>
        <p:spPr>
          <a:xfrm>
            <a:off x="6666120" y="2368440"/>
            <a:ext cx="474840" cy="4748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 19"/>
          <p:cNvSpPr/>
          <p:nvPr/>
        </p:nvSpPr>
        <p:spPr>
          <a:xfrm>
            <a:off x="6666120" y="23684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0" name="Shape 20"/>
          <p:cNvSpPr/>
          <p:nvPr/>
        </p:nvSpPr>
        <p:spPr>
          <a:xfrm>
            <a:off x="6666120" y="3557160"/>
            <a:ext cx="474840" cy="47484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 21"/>
          <p:cNvSpPr/>
          <p:nvPr/>
        </p:nvSpPr>
        <p:spPr>
          <a:xfrm>
            <a:off x="6666120" y="35571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2" name="Shape 22"/>
          <p:cNvSpPr/>
          <p:nvPr/>
        </p:nvSpPr>
        <p:spPr>
          <a:xfrm>
            <a:off x="8394120" y="2907720"/>
            <a:ext cx="584640" cy="584640"/>
          </a:xfrm>
          <a:prstGeom prst="ellipse">
            <a:avLst/>
          </a:prstGeom>
          <a:solidFill>
            <a:srgbClr val="0B1E3F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 23"/>
          <p:cNvSpPr/>
          <p:nvPr/>
        </p:nvSpPr>
        <p:spPr>
          <a:xfrm>
            <a:off x="8394120" y="2907720"/>
            <a:ext cx="5846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4" name="Shape 24"/>
          <p:cNvSpPr/>
          <p:nvPr/>
        </p:nvSpPr>
        <p:spPr>
          <a:xfrm>
            <a:off x="10058400" y="2926080"/>
            <a:ext cx="547920" cy="54792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 25"/>
          <p:cNvSpPr/>
          <p:nvPr/>
        </p:nvSpPr>
        <p:spPr>
          <a:xfrm>
            <a:off x="10058400" y="29260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6" name="Shape 26"/>
          <p:cNvSpPr/>
          <p:nvPr/>
        </p:nvSpPr>
        <p:spPr>
          <a:xfrm>
            <a:off x="6903720" y="2606040"/>
            <a:ext cx="1783080" cy="594360"/>
          </a:xfrm>
          <a:prstGeom prst="line">
            <a:avLst/>
          </a:prstGeom>
          <a:ln w="19050">
            <a:solidFill>
              <a:srgbClr val="3D6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Shape 27"/>
          <p:cNvSpPr/>
          <p:nvPr/>
        </p:nvSpPr>
        <p:spPr>
          <a:xfrm flipV="1">
            <a:off x="6903720" y="3200400"/>
            <a:ext cx="1783080" cy="594360"/>
          </a:xfrm>
          <a:prstGeom prst="line">
            <a:avLst/>
          </a:prstGeom>
          <a:ln w="19050">
            <a:solidFill>
              <a:srgbClr val="3D6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Shape 28"/>
          <p:cNvSpPr/>
          <p:nvPr/>
        </p:nvSpPr>
        <p:spPr>
          <a:xfrm>
            <a:off x="8686800" y="3200400"/>
            <a:ext cx="1645920" cy="720"/>
          </a:xfrm>
          <a:prstGeom prst="line">
            <a:avLst/>
          </a:prstGeom>
          <a:ln w="19050">
            <a:solidFill>
              <a:srgbClr val="3D6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 29"/>
          <p:cNvSpPr/>
          <p:nvPr/>
        </p:nvSpPr>
        <p:spPr>
          <a:xfrm>
            <a:off x="6035040" y="212148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“contains a link”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30"/>
          <p:cNvSpPr/>
          <p:nvPr/>
        </p:nvSpPr>
        <p:spPr>
          <a:xfrm>
            <a:off x="6035040" y="4069080"/>
            <a:ext cx="173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“!!! free money !!!”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 31"/>
          <p:cNvSpPr/>
          <p:nvPr/>
        </p:nvSpPr>
        <p:spPr>
          <a:xfrm>
            <a:off x="8229600" y="356616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hidden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 32"/>
          <p:cNvSpPr/>
          <p:nvPr/>
        </p:nvSpPr>
        <p:spPr>
          <a:xfrm>
            <a:off x="9509760" y="356616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“spam” probability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Shape 33"/>
          <p:cNvSpPr/>
          <p:nvPr/>
        </p:nvSpPr>
        <p:spPr>
          <a:xfrm>
            <a:off x="6355080" y="4297680"/>
            <a:ext cx="498276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 34"/>
          <p:cNvSpPr/>
          <p:nvPr/>
        </p:nvSpPr>
        <p:spPr>
          <a:xfrm>
            <a:off x="6537960" y="4297680"/>
            <a:ext cx="46627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1F2A"/>
                </a:solidFill>
                <a:effectLst/>
                <a:uFillTx/>
                <a:latin typeface="Calibri"/>
                <a:ea typeface="Calibri"/>
              </a:rPr>
              <a:t>What an error would mean: if the model outputs a high spam probability for a real message, a good email gets buried (a false positive). If it outputs a low probability for actual spam, junk reaches the inbox (a false negative). Neither error is free — which one matters more depends on the use case.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Text 35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 36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Text 75"/>
          <p:cNvSpPr/>
          <p:nvPr/>
        </p:nvSpPr>
        <p:spPr>
          <a:xfrm>
            <a:off x="548640" y="3200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How AI agents extend LLMs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Text 76"/>
          <p:cNvSpPr/>
          <p:nvPr/>
        </p:nvSpPr>
        <p:spPr>
          <a:xfrm>
            <a:off x="548640" y="8686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Same reasoning core, wrapped in a loop with tools, memory, and the environment</a:t>
            </a:r>
            <a:endParaRPr lang="en-CA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Text 77"/>
          <p:cNvSpPr/>
          <p:nvPr/>
        </p:nvSpPr>
        <p:spPr>
          <a:xfrm>
            <a:off x="548640" y="1417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Plain LLM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Shape 101"/>
          <p:cNvSpPr/>
          <p:nvPr/>
        </p:nvSpPr>
        <p:spPr>
          <a:xfrm>
            <a:off x="548640" y="173736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1EFE8"/>
          </a:solidFill>
          <a:ln w="9525">
            <a:solidFill>
              <a:srgbClr val="D3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Text 78"/>
          <p:cNvSpPr/>
          <p:nvPr/>
        </p:nvSpPr>
        <p:spPr>
          <a:xfrm>
            <a:off x="548640" y="18471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Prompt in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Text 81"/>
          <p:cNvSpPr/>
          <p:nvPr/>
        </p:nvSpPr>
        <p:spPr>
          <a:xfrm>
            <a:off x="548640" y="21945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text only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Shape 102"/>
          <p:cNvSpPr/>
          <p:nvPr/>
        </p:nvSpPr>
        <p:spPr>
          <a:xfrm>
            <a:off x="2926080" y="2125800"/>
            <a:ext cx="32004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Shape 103"/>
          <p:cNvSpPr/>
          <p:nvPr/>
        </p:nvSpPr>
        <p:spPr>
          <a:xfrm>
            <a:off x="3246120" y="1737360"/>
            <a:ext cx="1919880" cy="77688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9525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Text 82"/>
          <p:cNvSpPr/>
          <p:nvPr/>
        </p:nvSpPr>
        <p:spPr>
          <a:xfrm>
            <a:off x="3246120" y="18471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6215C"/>
                </a:solidFill>
                <a:effectLst/>
                <a:uFillTx/>
                <a:latin typeface="Arial"/>
                <a:ea typeface="Arial"/>
              </a:rPr>
              <a:t>LLM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Text 83"/>
          <p:cNvSpPr/>
          <p:nvPr/>
        </p:nvSpPr>
        <p:spPr>
          <a:xfrm>
            <a:off x="324612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C3489"/>
                </a:solidFill>
                <a:effectLst/>
                <a:uFillTx/>
                <a:latin typeface="Arial"/>
                <a:ea typeface="Arial"/>
              </a:rPr>
              <a:t>predicts text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Shape 104"/>
          <p:cNvSpPr/>
          <p:nvPr/>
        </p:nvSpPr>
        <p:spPr>
          <a:xfrm>
            <a:off x="5166360" y="2125800"/>
            <a:ext cx="32004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Shape 106"/>
          <p:cNvSpPr/>
          <p:nvPr/>
        </p:nvSpPr>
        <p:spPr>
          <a:xfrm>
            <a:off x="5486400" y="1737360"/>
            <a:ext cx="2377080" cy="776880"/>
          </a:xfrm>
          <a:prstGeom prst="roundRect">
            <a:avLst>
              <a:gd name="adj" fmla="val 9412"/>
            </a:avLst>
          </a:prstGeom>
          <a:solidFill>
            <a:srgbClr val="F1EFE8"/>
          </a:solidFill>
          <a:ln w="9525">
            <a:solidFill>
              <a:srgbClr val="D3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Text 84"/>
          <p:cNvSpPr/>
          <p:nvPr/>
        </p:nvSpPr>
        <p:spPr>
          <a:xfrm>
            <a:off x="5486400" y="18471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Response out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Text 85"/>
          <p:cNvSpPr/>
          <p:nvPr/>
        </p:nvSpPr>
        <p:spPr>
          <a:xfrm>
            <a:off x="5486400" y="21945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text only, done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Shape 107"/>
          <p:cNvSpPr/>
          <p:nvPr/>
        </p:nvSpPr>
        <p:spPr>
          <a:xfrm>
            <a:off x="548640" y="2788920"/>
            <a:ext cx="11064240" cy="360"/>
          </a:xfrm>
          <a:prstGeom prst="line">
            <a:avLst/>
          </a:prstGeom>
          <a:ln w="9525">
            <a:solidFill>
              <a:srgbClr val="D3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Text 86"/>
          <p:cNvSpPr/>
          <p:nvPr/>
        </p:nvSpPr>
        <p:spPr>
          <a:xfrm>
            <a:off x="548640" y="2926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Agent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Shape 108"/>
          <p:cNvSpPr/>
          <p:nvPr/>
        </p:nvSpPr>
        <p:spPr>
          <a:xfrm>
            <a:off x="548640" y="3246120"/>
            <a:ext cx="11063880" cy="3062880"/>
          </a:xfrm>
          <a:prstGeom prst="roundRect">
            <a:avLst>
              <a:gd name="adj" fmla="val 3582"/>
            </a:avLst>
          </a:prstGeom>
          <a:solidFill>
            <a:srgbClr val="FAFAF8"/>
          </a:solidFill>
          <a:ln w="9525">
            <a:solidFill>
              <a:srgbClr val="D3D1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Text 91"/>
          <p:cNvSpPr/>
          <p:nvPr/>
        </p:nvSpPr>
        <p:spPr>
          <a:xfrm>
            <a:off x="822960" y="33832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5E5A"/>
                </a:solidFill>
                <a:effectLst/>
                <a:uFillTx/>
                <a:latin typeface="Arial"/>
                <a:ea typeface="Arial"/>
              </a:rPr>
              <a:t>Loop until the task is done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Shape 110"/>
          <p:cNvSpPr/>
          <p:nvPr/>
        </p:nvSpPr>
        <p:spPr>
          <a:xfrm>
            <a:off x="1188720" y="384048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Text 96"/>
          <p:cNvSpPr/>
          <p:nvPr/>
        </p:nvSpPr>
        <p:spPr>
          <a:xfrm>
            <a:off x="1188720" y="39502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4342C"/>
                </a:solidFill>
                <a:effectLst/>
                <a:uFillTx/>
                <a:latin typeface="Arial"/>
                <a:ea typeface="Arial"/>
              </a:rPr>
              <a:t>Tools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Text 97"/>
          <p:cNvSpPr/>
          <p:nvPr/>
        </p:nvSpPr>
        <p:spPr>
          <a:xfrm>
            <a:off x="1188720" y="4297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85041"/>
                </a:solidFill>
                <a:effectLst/>
                <a:uFillTx/>
                <a:latin typeface="Arial"/>
                <a:ea typeface="Arial"/>
              </a:rPr>
              <a:t>act, execute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Shape 111"/>
          <p:cNvSpPr/>
          <p:nvPr/>
        </p:nvSpPr>
        <p:spPr>
          <a:xfrm>
            <a:off x="4892040" y="384048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EEEDFE"/>
          </a:solidFill>
          <a:ln w="9525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Text 98"/>
          <p:cNvSpPr/>
          <p:nvPr/>
        </p:nvSpPr>
        <p:spPr>
          <a:xfrm>
            <a:off x="4892040" y="39502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6215C"/>
                </a:solidFill>
                <a:effectLst/>
                <a:uFillTx/>
                <a:latin typeface="Arial"/>
                <a:ea typeface="Arial"/>
              </a:rPr>
              <a:t>LLM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Text 99"/>
          <p:cNvSpPr/>
          <p:nvPr/>
        </p:nvSpPr>
        <p:spPr>
          <a:xfrm>
            <a:off x="4892040" y="4297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C3489"/>
                </a:solidFill>
                <a:effectLst/>
                <a:uFillTx/>
                <a:latin typeface="Arial"/>
                <a:ea typeface="Arial"/>
              </a:rPr>
              <a:t>decides next step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Shape 112"/>
          <p:cNvSpPr/>
          <p:nvPr/>
        </p:nvSpPr>
        <p:spPr>
          <a:xfrm>
            <a:off x="8595360" y="384048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9525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Text 100"/>
          <p:cNvSpPr/>
          <p:nvPr/>
        </p:nvSpPr>
        <p:spPr>
          <a:xfrm>
            <a:off x="8595360" y="39502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4342C"/>
                </a:solidFill>
                <a:effectLst/>
                <a:uFillTx/>
                <a:latin typeface="Arial"/>
                <a:ea typeface="Arial"/>
              </a:rPr>
              <a:t>Memory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Text 105"/>
          <p:cNvSpPr/>
          <p:nvPr/>
        </p:nvSpPr>
        <p:spPr>
          <a:xfrm>
            <a:off x="8595360" y="4297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85041"/>
                </a:solidFill>
                <a:effectLst/>
                <a:uFillTx/>
                <a:latin typeface="Arial"/>
                <a:ea typeface="Arial"/>
              </a:rPr>
              <a:t>state, plan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Shape 114"/>
          <p:cNvSpPr/>
          <p:nvPr/>
        </p:nvSpPr>
        <p:spPr>
          <a:xfrm>
            <a:off x="4892040" y="539496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9525">
            <a:solidFill>
              <a:srgbClr val="993C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Text 109"/>
          <p:cNvSpPr/>
          <p:nvPr/>
        </p:nvSpPr>
        <p:spPr>
          <a:xfrm>
            <a:off x="4892040" y="55047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1B0C"/>
                </a:solidFill>
                <a:effectLst/>
                <a:uFillTx/>
                <a:latin typeface="Arial"/>
                <a:ea typeface="Arial"/>
              </a:rPr>
              <a:t>Environment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Text 113"/>
          <p:cNvSpPr/>
          <p:nvPr/>
        </p:nvSpPr>
        <p:spPr>
          <a:xfrm>
            <a:off x="4892040" y="5852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2B13"/>
                </a:solidFill>
                <a:effectLst/>
                <a:uFillTx/>
                <a:latin typeface="Arial"/>
                <a:ea typeface="Arial"/>
              </a:rPr>
              <a:t>files, web, APIs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Shape 115"/>
          <p:cNvSpPr/>
          <p:nvPr/>
        </p:nvSpPr>
        <p:spPr>
          <a:xfrm flipH="1">
            <a:off x="3566160" y="4069080"/>
            <a:ext cx="132588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Shape 116"/>
          <p:cNvSpPr/>
          <p:nvPr/>
        </p:nvSpPr>
        <p:spPr>
          <a:xfrm>
            <a:off x="3566160" y="4434840"/>
            <a:ext cx="132588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Shape 118"/>
          <p:cNvSpPr/>
          <p:nvPr/>
        </p:nvSpPr>
        <p:spPr>
          <a:xfrm>
            <a:off x="7269480" y="4069080"/>
            <a:ext cx="132588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Shape 119"/>
          <p:cNvSpPr/>
          <p:nvPr/>
        </p:nvSpPr>
        <p:spPr>
          <a:xfrm flipH="1">
            <a:off x="7269480" y="4434840"/>
            <a:ext cx="1325880" cy="9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Shape 120"/>
          <p:cNvSpPr/>
          <p:nvPr/>
        </p:nvSpPr>
        <p:spPr>
          <a:xfrm flipV="1">
            <a:off x="6080760" y="4663440"/>
            <a:ext cx="9000" cy="73152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Shape 121"/>
          <p:cNvSpPr/>
          <p:nvPr/>
        </p:nvSpPr>
        <p:spPr>
          <a:xfrm>
            <a:off x="2377440" y="4663440"/>
            <a:ext cx="9000" cy="114300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Shape 122"/>
          <p:cNvSpPr/>
          <p:nvPr/>
        </p:nvSpPr>
        <p:spPr>
          <a:xfrm>
            <a:off x="2377440" y="5806440"/>
            <a:ext cx="2514600" cy="360"/>
          </a:xfrm>
          <a:prstGeom prst="line">
            <a:avLst/>
          </a:prstGeom>
          <a:ln w="15875">
            <a:solidFill>
              <a:srgbClr val="5F5E5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C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Text 117"/>
          <p:cNvSpPr/>
          <p:nvPr/>
        </p:nvSpPr>
        <p:spPr>
          <a:xfrm>
            <a:off x="548640" y="635508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↻ repeats: observe, decide, act — until the goal is met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Shape 0"/>
          <p:cNvSpPr/>
          <p:nvPr/>
        </p:nvSpPr>
        <p:spPr>
          <a:xfrm flipV="1">
            <a:off x="548640" y="1755360"/>
            <a:ext cx="960120" cy="743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Shape 1"/>
          <p:cNvSpPr/>
          <p:nvPr/>
        </p:nvSpPr>
        <p:spPr>
          <a:xfrm>
            <a:off x="548640" y="2499120"/>
            <a:ext cx="960120" cy="3718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Shape 2"/>
          <p:cNvSpPr/>
          <p:nvPr/>
        </p:nvSpPr>
        <p:spPr>
          <a:xfrm>
            <a:off x="548640" y="2499120"/>
            <a:ext cx="960120" cy="14875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Shape 3"/>
          <p:cNvSpPr/>
          <p:nvPr/>
        </p:nvSpPr>
        <p:spPr>
          <a:xfrm>
            <a:off x="548640" y="2499120"/>
            <a:ext cx="960120" cy="2603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Shape 4"/>
          <p:cNvSpPr/>
          <p:nvPr/>
        </p:nvSpPr>
        <p:spPr>
          <a:xfrm flipV="1">
            <a:off x="548640" y="1755360"/>
            <a:ext cx="960120" cy="2603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Shape 5"/>
          <p:cNvSpPr/>
          <p:nvPr/>
        </p:nvSpPr>
        <p:spPr>
          <a:xfrm flipV="1">
            <a:off x="548640" y="2871000"/>
            <a:ext cx="960120" cy="14875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Shape 6"/>
          <p:cNvSpPr/>
          <p:nvPr/>
        </p:nvSpPr>
        <p:spPr>
          <a:xfrm flipV="1">
            <a:off x="548640" y="3986640"/>
            <a:ext cx="960120" cy="3718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Shape 7"/>
          <p:cNvSpPr/>
          <p:nvPr/>
        </p:nvSpPr>
        <p:spPr>
          <a:xfrm>
            <a:off x="548640" y="4358520"/>
            <a:ext cx="960120" cy="743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Shape 8"/>
          <p:cNvSpPr/>
          <p:nvPr/>
        </p:nvSpPr>
        <p:spPr>
          <a:xfrm>
            <a:off x="1508760" y="1755360"/>
            <a:ext cx="960120" cy="10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Shape 9"/>
          <p:cNvSpPr/>
          <p:nvPr/>
        </p:nvSpPr>
        <p:spPr>
          <a:xfrm>
            <a:off x="1508760" y="175536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Shape 10"/>
          <p:cNvSpPr/>
          <p:nvPr/>
        </p:nvSpPr>
        <p:spPr>
          <a:xfrm>
            <a:off x="1508760" y="1755360"/>
            <a:ext cx="960120" cy="223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Shape 11"/>
          <p:cNvSpPr/>
          <p:nvPr/>
        </p:nvSpPr>
        <p:spPr>
          <a:xfrm>
            <a:off x="1508760" y="1755360"/>
            <a:ext cx="960120" cy="3346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Shape 12"/>
          <p:cNvSpPr/>
          <p:nvPr/>
        </p:nvSpPr>
        <p:spPr>
          <a:xfrm flipV="1">
            <a:off x="1508760" y="175536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Shape 13"/>
          <p:cNvSpPr/>
          <p:nvPr/>
        </p:nvSpPr>
        <p:spPr>
          <a:xfrm>
            <a:off x="1508760" y="2871000"/>
            <a:ext cx="960120" cy="10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Shape 14"/>
          <p:cNvSpPr/>
          <p:nvPr/>
        </p:nvSpPr>
        <p:spPr>
          <a:xfrm>
            <a:off x="1508760" y="287100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Shape 15"/>
          <p:cNvSpPr/>
          <p:nvPr/>
        </p:nvSpPr>
        <p:spPr>
          <a:xfrm>
            <a:off x="1508760" y="2871000"/>
            <a:ext cx="960120" cy="223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Shape 16"/>
          <p:cNvSpPr/>
          <p:nvPr/>
        </p:nvSpPr>
        <p:spPr>
          <a:xfrm flipV="1">
            <a:off x="1508760" y="1755360"/>
            <a:ext cx="960120" cy="223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Shape 17"/>
          <p:cNvSpPr/>
          <p:nvPr/>
        </p:nvSpPr>
        <p:spPr>
          <a:xfrm flipV="1">
            <a:off x="1508760" y="287100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Shape 18"/>
          <p:cNvSpPr/>
          <p:nvPr/>
        </p:nvSpPr>
        <p:spPr>
          <a:xfrm>
            <a:off x="1508760" y="3986640"/>
            <a:ext cx="96012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Shape 19"/>
          <p:cNvSpPr/>
          <p:nvPr/>
        </p:nvSpPr>
        <p:spPr>
          <a:xfrm>
            <a:off x="1508760" y="398664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Shape 20"/>
          <p:cNvSpPr/>
          <p:nvPr/>
        </p:nvSpPr>
        <p:spPr>
          <a:xfrm flipV="1">
            <a:off x="1508760" y="1755360"/>
            <a:ext cx="960120" cy="3346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Shape 21"/>
          <p:cNvSpPr/>
          <p:nvPr/>
        </p:nvSpPr>
        <p:spPr>
          <a:xfrm flipV="1">
            <a:off x="1508760" y="2871000"/>
            <a:ext cx="960120" cy="2231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Shape 22"/>
          <p:cNvSpPr/>
          <p:nvPr/>
        </p:nvSpPr>
        <p:spPr>
          <a:xfrm flipV="1">
            <a:off x="1508760" y="3986640"/>
            <a:ext cx="960120" cy="1115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Shape 23"/>
          <p:cNvSpPr/>
          <p:nvPr/>
        </p:nvSpPr>
        <p:spPr>
          <a:xfrm>
            <a:off x="1508760" y="5102280"/>
            <a:ext cx="960120" cy="7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Shape 24"/>
          <p:cNvSpPr/>
          <p:nvPr/>
        </p:nvSpPr>
        <p:spPr>
          <a:xfrm>
            <a:off x="2468880" y="1755360"/>
            <a:ext cx="960120" cy="2790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Shape 25"/>
          <p:cNvSpPr/>
          <p:nvPr/>
        </p:nvSpPr>
        <p:spPr>
          <a:xfrm>
            <a:off x="2468880" y="1755360"/>
            <a:ext cx="960120" cy="1673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Shape 26"/>
          <p:cNvSpPr/>
          <p:nvPr/>
        </p:nvSpPr>
        <p:spPr>
          <a:xfrm>
            <a:off x="2468880" y="1755360"/>
            <a:ext cx="960120" cy="3067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27"/>
          <p:cNvSpPr/>
          <p:nvPr/>
        </p:nvSpPr>
        <p:spPr>
          <a:xfrm flipV="1">
            <a:off x="2468880" y="2034360"/>
            <a:ext cx="960120" cy="836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Shape 28"/>
          <p:cNvSpPr/>
          <p:nvPr/>
        </p:nvSpPr>
        <p:spPr>
          <a:xfrm>
            <a:off x="2468880" y="2871000"/>
            <a:ext cx="960120" cy="5580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Shape 29"/>
          <p:cNvSpPr/>
          <p:nvPr/>
        </p:nvSpPr>
        <p:spPr>
          <a:xfrm>
            <a:off x="2468880" y="2871000"/>
            <a:ext cx="960120" cy="1952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Shape 30"/>
          <p:cNvSpPr/>
          <p:nvPr/>
        </p:nvSpPr>
        <p:spPr>
          <a:xfrm flipV="1">
            <a:off x="2468880" y="2034360"/>
            <a:ext cx="960120" cy="1952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Shape 31"/>
          <p:cNvSpPr/>
          <p:nvPr/>
        </p:nvSpPr>
        <p:spPr>
          <a:xfrm flipV="1">
            <a:off x="2468880" y="3429000"/>
            <a:ext cx="960120" cy="557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Shape 32"/>
          <p:cNvSpPr/>
          <p:nvPr/>
        </p:nvSpPr>
        <p:spPr>
          <a:xfrm>
            <a:off x="2468880" y="3986640"/>
            <a:ext cx="960120" cy="83664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Shape 33"/>
          <p:cNvSpPr/>
          <p:nvPr/>
        </p:nvSpPr>
        <p:spPr>
          <a:xfrm flipV="1">
            <a:off x="2468880" y="2034360"/>
            <a:ext cx="960120" cy="30679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Shape 34"/>
          <p:cNvSpPr/>
          <p:nvPr/>
        </p:nvSpPr>
        <p:spPr>
          <a:xfrm flipV="1">
            <a:off x="2468880" y="3429000"/>
            <a:ext cx="960120" cy="16732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Shape 35"/>
          <p:cNvSpPr/>
          <p:nvPr/>
        </p:nvSpPr>
        <p:spPr>
          <a:xfrm flipV="1">
            <a:off x="2468880" y="4823280"/>
            <a:ext cx="960120" cy="27900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36"/>
          <p:cNvSpPr/>
          <p:nvPr/>
        </p:nvSpPr>
        <p:spPr>
          <a:xfrm>
            <a:off x="3429000" y="2034360"/>
            <a:ext cx="960120" cy="464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Shape 37"/>
          <p:cNvSpPr/>
          <p:nvPr/>
        </p:nvSpPr>
        <p:spPr>
          <a:xfrm>
            <a:off x="3429000" y="2034360"/>
            <a:ext cx="960120" cy="2324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Shape 38"/>
          <p:cNvSpPr/>
          <p:nvPr/>
        </p:nvSpPr>
        <p:spPr>
          <a:xfrm flipV="1">
            <a:off x="3429000" y="2499120"/>
            <a:ext cx="960120" cy="92988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Shape 39"/>
          <p:cNvSpPr/>
          <p:nvPr/>
        </p:nvSpPr>
        <p:spPr>
          <a:xfrm>
            <a:off x="3429000" y="3429000"/>
            <a:ext cx="960120" cy="92952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40"/>
          <p:cNvSpPr/>
          <p:nvPr/>
        </p:nvSpPr>
        <p:spPr>
          <a:xfrm flipV="1">
            <a:off x="3429000" y="2499120"/>
            <a:ext cx="960120" cy="23241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Shape 41"/>
          <p:cNvSpPr/>
          <p:nvPr/>
        </p:nvSpPr>
        <p:spPr>
          <a:xfrm flipV="1">
            <a:off x="3429000" y="4358520"/>
            <a:ext cx="960120" cy="464760"/>
          </a:xfrm>
          <a:prstGeom prst="line">
            <a:avLst/>
          </a:prstGeom>
          <a:ln w="12700">
            <a:solidFill>
              <a:srgbClr val="D8DEE8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Shape 42"/>
          <p:cNvSpPr/>
          <p:nvPr/>
        </p:nvSpPr>
        <p:spPr>
          <a:xfrm>
            <a:off x="466200" y="2417040"/>
            <a:ext cx="163800" cy="1638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8" name="Shape 43"/>
          <p:cNvSpPr/>
          <p:nvPr/>
        </p:nvSpPr>
        <p:spPr>
          <a:xfrm>
            <a:off x="466200" y="4276440"/>
            <a:ext cx="163800" cy="1638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9" name="Shape 44"/>
          <p:cNvSpPr/>
          <p:nvPr/>
        </p:nvSpPr>
        <p:spPr>
          <a:xfrm>
            <a:off x="1426320" y="167328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0" name="Shape 45"/>
          <p:cNvSpPr/>
          <p:nvPr/>
        </p:nvSpPr>
        <p:spPr>
          <a:xfrm>
            <a:off x="1426320" y="278892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1" name="Shape 46"/>
          <p:cNvSpPr/>
          <p:nvPr/>
        </p:nvSpPr>
        <p:spPr>
          <a:xfrm>
            <a:off x="1426320" y="390456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2" name="Shape 47"/>
          <p:cNvSpPr/>
          <p:nvPr/>
        </p:nvSpPr>
        <p:spPr>
          <a:xfrm>
            <a:off x="1426320" y="502020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3" name="Shape 48"/>
          <p:cNvSpPr/>
          <p:nvPr/>
        </p:nvSpPr>
        <p:spPr>
          <a:xfrm>
            <a:off x="2386440" y="1673280"/>
            <a:ext cx="163800" cy="16380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Shape 49"/>
          <p:cNvSpPr/>
          <p:nvPr/>
        </p:nvSpPr>
        <p:spPr>
          <a:xfrm>
            <a:off x="2386440" y="2788920"/>
            <a:ext cx="163800" cy="16380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Shape 50"/>
          <p:cNvSpPr/>
          <p:nvPr/>
        </p:nvSpPr>
        <p:spPr>
          <a:xfrm>
            <a:off x="2386440" y="3904560"/>
            <a:ext cx="163800" cy="16380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Shape 51"/>
          <p:cNvSpPr/>
          <p:nvPr/>
        </p:nvSpPr>
        <p:spPr>
          <a:xfrm>
            <a:off x="2386440" y="5020200"/>
            <a:ext cx="163800" cy="16380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Shape 52"/>
          <p:cNvSpPr/>
          <p:nvPr/>
        </p:nvSpPr>
        <p:spPr>
          <a:xfrm>
            <a:off x="3346560" y="195228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8" name="Shape 53"/>
          <p:cNvSpPr/>
          <p:nvPr/>
        </p:nvSpPr>
        <p:spPr>
          <a:xfrm>
            <a:off x="3346560" y="334656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9" name="Shape 54"/>
          <p:cNvSpPr/>
          <p:nvPr/>
        </p:nvSpPr>
        <p:spPr>
          <a:xfrm>
            <a:off x="3346560" y="4741200"/>
            <a:ext cx="163800" cy="16380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0" name="Shape 55"/>
          <p:cNvSpPr/>
          <p:nvPr/>
        </p:nvSpPr>
        <p:spPr>
          <a:xfrm>
            <a:off x="4306680" y="2417040"/>
            <a:ext cx="163800" cy="1638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Shape 56"/>
          <p:cNvSpPr/>
          <p:nvPr/>
        </p:nvSpPr>
        <p:spPr>
          <a:xfrm>
            <a:off x="4306680" y="4276440"/>
            <a:ext cx="163800" cy="163800"/>
          </a:xfrm>
          <a:prstGeom prst="ellipse">
            <a:avLst/>
          </a:prstGeom>
          <a:solidFill>
            <a:srgbClr val="3D6C8C"/>
          </a:solidFill>
          <a:ln w="19050">
            <a:solidFill>
              <a:srgbClr val="FFFFFF"/>
            </a:solidFill>
            <a:round/>
          </a:ln>
          <a:effectLst>
            <a:outerShdw algn="bl" blurRad="63360" dir="5400000" dist="19080" kx="0" ky="0" rotWithShape="0" sx="100000" sy="100000">
              <a:srgbClr val="1B1F2A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2" name="Text 57"/>
          <p:cNvSpPr/>
          <p:nvPr/>
        </p:nvSpPr>
        <p:spPr>
          <a:xfrm>
            <a:off x="4663440" y="2331720"/>
            <a:ext cx="66744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0B1E3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CA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58"/>
          <p:cNvSpPr/>
          <p:nvPr/>
        </p:nvSpPr>
        <p:spPr>
          <a:xfrm>
            <a:off x="4663440" y="3246120"/>
            <a:ext cx="66744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Questions?</a:t>
            </a: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Shape 59"/>
          <p:cNvSpPr/>
          <p:nvPr/>
        </p:nvSpPr>
        <p:spPr>
          <a:xfrm>
            <a:off x="4709160" y="4343400"/>
            <a:ext cx="4571280" cy="1050840"/>
          </a:xfrm>
          <a:prstGeom prst="roundRect">
            <a:avLst>
              <a:gd name="adj" fmla="val 7826"/>
            </a:avLst>
          </a:prstGeom>
          <a:solidFill>
            <a:srgbClr val="F5F7FA"/>
          </a:solidFill>
          <a:ln w="12700">
            <a:solidFill>
              <a:srgbClr val="D8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Text 60"/>
          <p:cNvSpPr/>
          <p:nvPr/>
        </p:nvSpPr>
        <p:spPr>
          <a:xfrm>
            <a:off x="4937760" y="4462200"/>
            <a:ext cx="4114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E3F"/>
                </a:solidFill>
                <a:effectLst/>
                <a:uFillTx/>
                <a:latin typeface="Calibri"/>
                <a:ea typeface="Calibri"/>
              </a:rPr>
              <a:t>Fadl Musa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 61"/>
          <p:cNvSpPr/>
          <p:nvPr/>
        </p:nvSpPr>
        <p:spPr>
          <a:xfrm>
            <a:off x="4937760" y="486468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 — Deep Learning and Neural Networks</a:t>
            </a:r>
            <a:endParaRPr lang="en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62"/>
          <p:cNvSpPr/>
          <p:nvPr/>
        </p:nvSpPr>
        <p:spPr>
          <a:xfrm>
            <a:off x="548640" y="6510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Catholic University of Rwanda, Lecturer Fadl Musa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 63"/>
          <p:cNvSpPr/>
          <p:nvPr/>
        </p:nvSpPr>
        <p:spPr>
          <a:xfrm>
            <a:off x="11094480" y="65106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2697A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C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2026-09-03T08:31:23Z</dcterms:created>
  <dc:creator>PptxGenJS</dc:creator>
  <dc:description/>
  <dc:language>en-US</dc:language>
  <cp:lastModifiedBy/>
  <dcterms:modified xsi:type="dcterms:W3CDTF">2026-09-05T08:08:03Z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42</vt:i4>
  </property>
  <property fmtid="{D5CDD505-2E9C-101B-9397-08002B2CF9AE}" pid="3" name="PresentationFormat">
    <vt:lpwstr>On-screen Show (16:9)</vt:lpwstr>
  </property>
  <property fmtid="{D5CDD505-2E9C-101B-9397-08002B2CF9AE}" pid="4" name="Slides">
    <vt:i4>42</vt:i4>
  </property>
</Properties>
</file>