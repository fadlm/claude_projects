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this comprehensive overview of Deep Learning and Transformer architectures. We ground every high-level equation in intuitive, everyday analogies—from fruit ripening to foggy mountains and library searches.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Deep Learning is not magic—it is a specific mathematical technique within Machine Learning. The critical paradigm shift is representation learning: DL figures out what features matter directly from raw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that without the bias term 'b', when all inputs are 0, the neuron's output is forced to be 0. The bias allows the neuron to shift its decision boundary dynamically.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the high school intuition: without non-linearities, deep neural networks are just linear regression. ReLU acts like a simple light switch, while Softmax turns raw numbers into percentages.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Walking through the 4 steps: Guess (forward), Check (loss), Blame (backward), Tweak (update). Repeating this loop thousands of times across millions of data points is what training actually means.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formula is w = w - (learning_rate * gradient). The negative sign is crucial: the gradient points uphill, so subtracting moves downhill toward minimal loss.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parameter sharing: instead of having separate weights for every single pixel in an image, a CNN slides the exact same small filter (like 3x3) across the whole image. If a feature detector finds an edge in the top-left, it can find it anywhere.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why Transformers took over AI: self-attention + parallelization. Because Transformers look at all words at once rather than step-by-step, they can run across thousands of GPU cores simultaneously.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library search analogy: Query is typing 'astronomy' into the search bar. Key is the Dewey decimal category or book spine label. Value is opening the book and reading the astronomical facts.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with the engineering philosophy: an AI is only as good as the integrity of its data and evaluation. The test set must remain locked away until the very end to guarantee true generalization.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9966960" cy="3474720"/>
          </a:xfrm>
          <a:prstGeom prst="rect">
            <a:avLst/>
          </a:prstGeom>
          <a:noFill/>
        </p:spPr>
        <p:txBody>
          <a:bodyPr wrap="square">
            <a:spAutoFit/>
          </a:bodyPr>
          <a:lstStyle/>
          <a:p>
            <a:pPr>
              <a:spcAft>
                <a:spcPts val="1600"/>
              </a:spcAft>
              <a:defRPr sz="1300" b="1">
                <a:solidFill>
                  <a:srgbClr val="2563EB"/>
                </a:solidFill>
                <a:latin typeface="Arial"/>
              </a:defRPr>
            </a:pPr>
            <a:r>
              <a:t>FOUNDATIONS OF MODERN ARTIFICIAL INTELLIGENCE</a:t>
            </a:r>
          </a:p>
          <a:p>
            <a:pPr>
              <a:spcAft>
                <a:spcPts val="1400"/>
              </a:spcAft>
              <a:defRPr sz="3600" b="1">
                <a:solidFill>
                  <a:srgbClr val="0F172A"/>
                </a:solidFill>
                <a:latin typeface="Arial"/>
              </a:defRPr>
            </a:pPr>
            <a:r>
              <a:t>Essential Deep Learning &amp; Transformer Architecture</a:t>
            </a:r>
          </a:p>
          <a:p>
            <a:pPr>
              <a:spcAft>
                <a:spcPts val="2800"/>
              </a:spcAft>
              <a:defRPr sz="1800">
                <a:solidFill>
                  <a:srgbClr val="334155"/>
                </a:solidFill>
                <a:latin typeface="Calibri"/>
              </a:defRPr>
            </a:pPr>
            <a:r>
              <a:t>A Complete, Intuitive Visual Guide from Biological Neurons to Self-Attention</a:t>
            </a:r>
            <a:br/>
            <a:r>
              <a:t>Designed for High School and Introductory College Computer Science</a:t>
            </a:r>
          </a:p>
        </p:txBody>
      </p:sp>
      <p:sp>
        <p:nvSpPr>
          <p:cNvPr id="4" name="Rounded Rectangle 3"/>
          <p:cNvSpPr/>
          <p:nvPr/>
        </p:nvSpPr>
        <p:spPr>
          <a:xfrm>
            <a:off x="1097280" y="5120640"/>
            <a:ext cx="2926080" cy="50292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2563EB"/>
                </a:solidFill>
                <a:latin typeface="Arial"/>
              </a:defRPr>
            </a:pPr>
            <a:r>
              <a:t>Intuitive Analogies</a:t>
            </a:r>
          </a:p>
        </p:txBody>
      </p:sp>
      <p:sp>
        <p:nvSpPr>
          <p:cNvPr id="5" name="Rounded Rectangle 4"/>
          <p:cNvSpPr/>
          <p:nvPr/>
        </p:nvSpPr>
        <p:spPr>
          <a:xfrm>
            <a:off x="4297680" y="5120640"/>
            <a:ext cx="2926080" cy="502920"/>
          </a:xfrm>
          <a:prstGeom prst="roundRect">
            <a:avLst/>
          </a:prstGeom>
          <a:solidFill>
            <a:srgbClr val="F8FAFC"/>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59669"/>
                </a:solidFill>
                <a:latin typeface="Arial"/>
              </a:defRPr>
            </a:pPr>
            <a:r>
              <a:t>Step-by-Step Training Loops</a:t>
            </a:r>
          </a:p>
        </p:txBody>
      </p:sp>
      <p:sp>
        <p:nvSpPr>
          <p:cNvPr id="6" name="Rounded Rectangle 5"/>
          <p:cNvSpPr/>
          <p:nvPr/>
        </p:nvSpPr>
        <p:spPr>
          <a:xfrm>
            <a:off x="7498080" y="5120640"/>
            <a:ext cx="2926080" cy="502920"/>
          </a:xfrm>
          <a:prstGeom prst="roundRect">
            <a:avLst/>
          </a:prstGeom>
          <a:solidFill>
            <a:srgbClr val="F8FAFC"/>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4F46E5"/>
                </a:solidFill>
                <a:latin typeface="Arial"/>
              </a:defRPr>
            </a:pPr>
            <a:r>
              <a:t>Transformer Self-Attention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lIns="0" rIns="0" tIns="0" bIns="0">
            <a:spAutoFit/>
          </a:bodyPr>
          <a:lstStyle/>
          <a:p>
            <a:pPr>
              <a:defRPr sz="1100" b="1">
                <a:solidFill>
                  <a:srgbClr val="2563EB"/>
                </a:solidFill>
                <a:latin typeface="Arial"/>
              </a:defRPr>
            </a:pPr>
            <a:r>
              <a:t>CONCEPT OVERVIEW</a:t>
            </a:r>
          </a:p>
        </p:txBody>
      </p:sp>
      <p:sp>
        <p:nvSpPr>
          <p:cNvPr id="3" name="TextBox 2"/>
          <p:cNvSpPr txBox="1"/>
          <p:nvPr/>
        </p:nvSpPr>
        <p:spPr>
          <a:xfrm>
            <a:off x="731520" y="731520"/>
            <a:ext cx="10698480" cy="731520"/>
          </a:xfrm>
          <a:prstGeom prst="rect">
            <a:avLst/>
          </a:prstGeom>
          <a:noFill/>
        </p:spPr>
        <p:txBody>
          <a:bodyPr wrap="square" lIns="0" rIns="0" tIns="0" bIns="0">
            <a:spAutoFit/>
          </a:bodyPr>
          <a:lstStyle/>
          <a:p>
            <a:pPr>
              <a:defRPr sz="2200" b="1">
                <a:solidFill>
                  <a:srgbClr val="0F172A"/>
                </a:solidFill>
                <a:latin typeface="Arial"/>
              </a:defRPr>
            </a:pPr>
            <a:r>
              <a:t>Deep Learning Learns Directly from Raw Data Without Manual Feature Engineering</a:t>
            </a:r>
          </a:p>
        </p:txBody>
      </p:sp>
      <p:sp>
        <p:nvSpPr>
          <p:cNvPr id="4" name="Rectangle 3"/>
          <p:cNvSpPr/>
          <p:nvPr/>
        </p:nvSpPr>
        <p:spPr>
          <a:xfrm>
            <a:off x="731520" y="1508760"/>
            <a:ext cx="1072865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square" lIns="0" rIns="0" tIns="0" bIns="0">
            <a:spAutoFit/>
          </a:bodyPr>
          <a:lstStyle/>
          <a:p>
            <a:pPr>
              <a:defRPr sz="1000">
                <a:solidFill>
                  <a:srgbClr val="64748B"/>
                </a:solidFill>
                <a:latin typeface="Calibri"/>
              </a:defRPr>
            </a:pPr>
            <a:r>
              <a:t>Essential Deep Learning &amp; Transformers  |  Slide 2 of 10</a:t>
            </a:r>
          </a:p>
        </p:txBody>
      </p:sp>
      <p:sp>
        <p:nvSpPr>
          <p:cNvPr id="6" name="Rounded Rectangle 5"/>
          <p:cNvSpPr/>
          <p:nvPr/>
        </p:nvSpPr>
        <p:spPr>
          <a:xfrm>
            <a:off x="731520" y="1828800"/>
            <a:ext cx="3328416" cy="4297680"/>
          </a:xfrm>
          <a:prstGeom prst="roundRect">
            <a:avLst/>
          </a:prstGeom>
          <a:solidFill>
            <a:srgbClr val="F8FAFC"/>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tIns="274320" lIns="228600" rIns="228600"/>
          <a:lstStyle/>
          <a:p>
            <a:pPr algn="ctr">
              <a:spcAft>
                <a:spcPts val="400"/>
              </a:spcAft>
              <a:defRPr sz="1600" b="1">
                <a:solidFill>
                  <a:srgbClr val="0F172A"/>
                </a:solidFill>
                <a:latin typeface="Arial"/>
              </a:defRPr>
            </a:pPr>
            <a:r>
              <a:t>Artificial Intelligence (AI)</a:t>
            </a:r>
          </a:p>
          <a:p>
            <a:pPr>
              <a:spcAft>
                <a:spcPts val="1400"/>
              </a:spcAft>
              <a:defRPr sz="1200" i="1">
                <a:solidFill>
                  <a:srgbClr val="64748B"/>
                </a:solidFill>
                <a:latin typeface="Calibri"/>
              </a:defRPr>
            </a:pPr>
            <a:r>
              <a:t>The Broadest Frontier</a:t>
            </a:r>
          </a:p>
          <a:p>
            <a:pPr>
              <a:spcAft>
                <a:spcPts val="1000"/>
              </a:spcAft>
              <a:defRPr sz="1300">
                <a:solidFill>
                  <a:srgbClr val="334155"/>
                </a:solidFill>
                <a:latin typeface="Calibri"/>
              </a:defRPr>
            </a:pPr>
            <a:r>
              <a:t>• Any technique enabling computers to mimic human intelligence.</a:t>
            </a:r>
          </a:p>
          <a:p>
            <a:pPr>
              <a:spcAft>
                <a:spcPts val="1000"/>
              </a:spcAft>
              <a:defRPr sz="1300">
                <a:solidFill>
                  <a:srgbClr val="334155"/>
                </a:solidFill>
                <a:latin typeface="Calibri"/>
              </a:defRPr>
            </a:pPr>
            <a:r>
              <a:t>• Historical paradigm: Hand-crafted if/then rules and expert systems.</a:t>
            </a:r>
          </a:p>
          <a:p>
            <a:pPr>
              <a:spcAft>
                <a:spcPts val="1000"/>
              </a:spcAft>
              <a:defRPr sz="1300">
                <a:solidFill>
                  <a:srgbClr val="334155"/>
                </a:solidFill>
                <a:latin typeface="Calibri"/>
              </a:defRPr>
            </a:pPr>
            <a:r>
              <a:t>• Analogy: A recipe book written by a chef that covers every possible kitchen scenario.</a:t>
            </a:r>
          </a:p>
        </p:txBody>
      </p:sp>
      <p:sp>
        <p:nvSpPr>
          <p:cNvPr id="7" name="Rounded Rectangle 6"/>
          <p:cNvSpPr/>
          <p:nvPr/>
        </p:nvSpPr>
        <p:spPr>
          <a:xfrm>
            <a:off x="4425696" y="1828800"/>
            <a:ext cx="3328416" cy="4297680"/>
          </a:xfrm>
          <a:prstGeom prst="roundRect">
            <a:avLst/>
          </a:prstGeom>
          <a:solidFill>
            <a:srgbClr val="F8FAFC"/>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274320" lIns="228600" rIns="228600"/>
          <a:lstStyle/>
          <a:p>
            <a:pPr algn="ctr">
              <a:spcAft>
                <a:spcPts val="400"/>
              </a:spcAft>
              <a:defRPr sz="1600" b="1">
                <a:solidFill>
                  <a:srgbClr val="2563EB"/>
                </a:solidFill>
                <a:latin typeface="Arial"/>
              </a:defRPr>
            </a:pPr>
            <a:r>
              <a:t>Machine Learning (ML)</a:t>
            </a:r>
          </a:p>
          <a:p>
            <a:pPr>
              <a:spcAft>
                <a:spcPts val="1400"/>
              </a:spcAft>
              <a:defRPr sz="1200" i="1">
                <a:solidFill>
                  <a:srgbClr val="64748B"/>
                </a:solidFill>
                <a:latin typeface="Calibri"/>
              </a:defRPr>
            </a:pPr>
            <a:r>
              <a:t>Learning from Examples</a:t>
            </a:r>
          </a:p>
          <a:p>
            <a:pPr>
              <a:spcAft>
                <a:spcPts val="1000"/>
              </a:spcAft>
              <a:defRPr sz="1300">
                <a:solidFill>
                  <a:srgbClr val="334155"/>
                </a:solidFill>
                <a:latin typeface="Calibri"/>
              </a:defRPr>
            </a:pPr>
            <a:r>
              <a:t>• Systems that learn statistical patterns from data instead of explicit rules.</a:t>
            </a:r>
          </a:p>
          <a:p>
            <a:pPr>
              <a:spcAft>
                <a:spcPts val="1000"/>
              </a:spcAft>
              <a:defRPr sz="1300">
                <a:solidFill>
                  <a:srgbClr val="334155"/>
                </a:solidFill>
                <a:latin typeface="Calibri"/>
              </a:defRPr>
            </a:pPr>
            <a:r>
              <a:t>• Requires human engineers to manually pick 'features' (e.g. word counts, edges).</a:t>
            </a:r>
          </a:p>
          <a:p>
            <a:pPr>
              <a:spcAft>
                <a:spcPts val="1000"/>
              </a:spcAft>
              <a:defRPr sz="1300">
                <a:solidFill>
                  <a:srgbClr val="334155"/>
                </a:solidFill>
                <a:latin typeface="Calibri"/>
              </a:defRPr>
            </a:pPr>
            <a:r>
              <a:t>• Analogy: A student practicing old exam questions to deduce the grading formula.</a:t>
            </a:r>
          </a:p>
        </p:txBody>
      </p:sp>
      <p:sp>
        <p:nvSpPr>
          <p:cNvPr id="8" name="Rounded Rectangle 7"/>
          <p:cNvSpPr/>
          <p:nvPr/>
        </p:nvSpPr>
        <p:spPr>
          <a:xfrm>
            <a:off x="8119872" y="1828800"/>
            <a:ext cx="3328416" cy="4297680"/>
          </a:xfrm>
          <a:prstGeom prst="roundRect">
            <a:avLst/>
          </a:prstGeom>
          <a:solidFill>
            <a:srgbClr val="F8FAFC"/>
          </a:solidFill>
          <a:ln w="254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tIns="274320" lIns="228600" rIns="228600"/>
          <a:lstStyle/>
          <a:p>
            <a:pPr algn="ctr">
              <a:spcAft>
                <a:spcPts val="400"/>
              </a:spcAft>
              <a:defRPr sz="1600" b="1">
                <a:solidFill>
                  <a:srgbClr val="4F46E5"/>
                </a:solidFill>
                <a:latin typeface="Arial"/>
              </a:defRPr>
            </a:pPr>
            <a:r>
              <a:t>Deep Learning (DL)</a:t>
            </a:r>
          </a:p>
          <a:p>
            <a:pPr>
              <a:spcAft>
                <a:spcPts val="1400"/>
              </a:spcAft>
              <a:defRPr sz="1200" i="1">
                <a:solidFill>
                  <a:srgbClr val="64748B"/>
                </a:solidFill>
                <a:latin typeface="Calibri"/>
              </a:defRPr>
            </a:pPr>
            <a:r>
              <a:t>Multi-Layered Representations</a:t>
            </a:r>
          </a:p>
          <a:p>
            <a:pPr>
              <a:spcAft>
                <a:spcPts val="1000"/>
              </a:spcAft>
              <a:defRPr sz="1300">
                <a:solidFill>
                  <a:srgbClr val="334155"/>
                </a:solidFill>
                <a:latin typeface="Calibri"/>
              </a:defRPr>
            </a:pPr>
            <a:r>
              <a:t>• A specialized subset of ML using deep artificial neural networks.</a:t>
            </a:r>
          </a:p>
          <a:p>
            <a:pPr>
              <a:spcAft>
                <a:spcPts val="1000"/>
              </a:spcAft>
              <a:defRPr sz="1300">
                <a:solidFill>
                  <a:srgbClr val="334155"/>
                </a:solidFill>
                <a:latin typeface="Calibri"/>
              </a:defRPr>
            </a:pPr>
            <a:r>
              <a:t>• Learns hierarchical features directly from raw pixels, audio, or text.</a:t>
            </a:r>
          </a:p>
          <a:p>
            <a:pPr>
              <a:spcAft>
                <a:spcPts val="1000"/>
              </a:spcAft>
              <a:defRPr sz="1300">
                <a:solidFill>
                  <a:srgbClr val="334155"/>
                </a:solidFill>
                <a:latin typeface="Calibri"/>
              </a:defRPr>
            </a:pPr>
            <a:r>
              <a:t>• Analogy: An apprentice artist learning to recognize masterpieces by observing millions of brushstrokes.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lIns="0" rIns="0" tIns="0" bIns="0">
            <a:spAutoFit/>
          </a:bodyPr>
          <a:lstStyle/>
          <a:p>
            <a:pPr>
              <a:defRPr sz="1100" b="1">
                <a:solidFill>
                  <a:srgbClr val="059669"/>
                </a:solidFill>
                <a:latin typeface="Arial"/>
              </a:defRPr>
            </a:pPr>
            <a:r>
              <a:t>NEURON ANATOMY</a:t>
            </a:r>
          </a:p>
        </p:txBody>
      </p:sp>
      <p:sp>
        <p:nvSpPr>
          <p:cNvPr id="3" name="TextBox 2"/>
          <p:cNvSpPr txBox="1"/>
          <p:nvPr/>
        </p:nvSpPr>
        <p:spPr>
          <a:xfrm>
            <a:off x="731520" y="731520"/>
            <a:ext cx="10698480" cy="731520"/>
          </a:xfrm>
          <a:prstGeom prst="rect">
            <a:avLst/>
          </a:prstGeom>
          <a:noFill/>
        </p:spPr>
        <p:txBody>
          <a:bodyPr wrap="square" lIns="0" rIns="0" tIns="0" bIns="0">
            <a:spAutoFit/>
          </a:bodyPr>
          <a:lstStyle/>
          <a:p>
            <a:pPr>
              <a:defRPr sz="2200" b="1">
                <a:solidFill>
                  <a:srgbClr val="0F172A"/>
                </a:solidFill>
                <a:latin typeface="Arial"/>
              </a:defRPr>
            </a:pPr>
            <a:r>
              <a:t>An Artificial Neuron Multiplies Inputs by Weights and Adds a Flexible Bias Offset</a:t>
            </a:r>
          </a:p>
        </p:txBody>
      </p:sp>
      <p:sp>
        <p:nvSpPr>
          <p:cNvPr id="4" name="Rectangle 3"/>
          <p:cNvSpPr/>
          <p:nvPr/>
        </p:nvSpPr>
        <p:spPr>
          <a:xfrm>
            <a:off x="731520" y="1508760"/>
            <a:ext cx="1072865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square" lIns="0" rIns="0" tIns="0" bIns="0">
            <a:spAutoFit/>
          </a:bodyPr>
          <a:lstStyle/>
          <a:p>
            <a:pPr>
              <a:defRPr sz="1000">
                <a:solidFill>
                  <a:srgbClr val="64748B"/>
                </a:solidFill>
                <a:latin typeface="Calibri"/>
              </a:defRPr>
            </a:pPr>
            <a:r>
              <a:t>Essential Deep Learning &amp; Transformers  |  Slide 3 of 10</a:t>
            </a:r>
          </a:p>
        </p:txBody>
      </p:sp>
      <p:sp>
        <p:nvSpPr>
          <p:cNvPr id="6" name="Rounded Rectangle 5"/>
          <p:cNvSpPr/>
          <p:nvPr/>
        </p:nvSpPr>
        <p:spPr>
          <a:xfrm>
            <a:off x="731520" y="1828800"/>
            <a:ext cx="5120640" cy="4297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800" b="1">
                <a:solidFill>
                  <a:srgbClr val="0F172A"/>
                </a:solidFill>
                <a:latin typeface="Arial"/>
              </a:defRPr>
            </a:pPr>
            <a:r>
              <a:t>The Mathematical Equation</a:t>
            </a:r>
          </a:p>
          <a:p>
            <a:pPr>
              <a:spcAft>
                <a:spcPts val="1400"/>
              </a:spcAft>
              <a:defRPr sz="1400" b="1">
                <a:solidFill>
                  <a:srgbClr val="2563EB"/>
                </a:solidFill>
                <a:latin typeface="Consolas"/>
              </a:defRPr>
            </a:pPr>
            <a:r>
              <a:t>z = (w1 · x1) + (w2 · x2) + ... + (wn · xn) + b</a:t>
            </a:r>
          </a:p>
          <a:p>
            <a:pPr>
              <a:spcAft>
                <a:spcPts val="800"/>
              </a:spcAft>
              <a:defRPr sz="1300">
                <a:solidFill>
                  <a:srgbClr val="334155"/>
                </a:solidFill>
                <a:latin typeface="Calibri"/>
              </a:defRPr>
            </a:pPr>
            <a:r>
              <a:t>Inputs (x): The raw numerical measurements received from sensors or prior layers.</a:t>
            </a:r>
          </a:p>
          <a:p>
            <a:pPr>
              <a:spcAft>
                <a:spcPts val="800"/>
              </a:spcAft>
              <a:defRPr sz="1300">
                <a:solidFill>
                  <a:srgbClr val="334155"/>
                </a:solidFill>
                <a:latin typeface="Calibri"/>
              </a:defRPr>
            </a:pPr>
            <a:r>
              <a:t>Weights (w): The connection strengths or 'volume dials' indicating how much an input matters.</a:t>
            </a:r>
          </a:p>
          <a:p>
            <a:pPr>
              <a:spcAft>
                <a:spcPts val="800"/>
              </a:spcAft>
              <a:defRPr sz="1300">
                <a:solidFill>
                  <a:srgbClr val="334155"/>
                </a:solidFill>
                <a:latin typeface="Calibri"/>
              </a:defRPr>
            </a:pPr>
            <a:r>
              <a:t>Bias (b): An adjustable baseline offset that shifts the activation threshold so the node isn't stuck at 0.</a:t>
            </a:r>
          </a:p>
          <a:p>
            <a:pPr>
              <a:spcAft>
                <a:spcPts val="800"/>
              </a:spcAft>
              <a:defRPr sz="1300">
                <a:solidFill>
                  <a:srgbClr val="334155"/>
                </a:solidFill>
                <a:latin typeface="Calibri"/>
              </a:defRPr>
            </a:pPr>
            <a:r>
              <a:t>Weighted Sum (z): The combined raw score before passing into the decision gate.</a:t>
            </a:r>
          </a:p>
        </p:txBody>
      </p:sp>
      <p:sp>
        <p:nvSpPr>
          <p:cNvPr id="7" name="Rounded Rectangle 6"/>
          <p:cNvSpPr/>
          <p:nvPr/>
        </p:nvSpPr>
        <p:spPr>
          <a:xfrm>
            <a:off x="6217920" y="1828800"/>
            <a:ext cx="5212080" cy="4297680"/>
          </a:xfrm>
          <a:prstGeom prst="roundRect">
            <a:avLst/>
          </a:prstGeom>
          <a:solidFill>
            <a:srgbClr val="F0FDF4"/>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800" b="1">
                <a:solidFill>
                  <a:srgbClr val="059669"/>
                </a:solidFill>
                <a:latin typeface="Arial"/>
              </a:defRPr>
            </a:pPr>
            <a:r>
              <a:t>Intuitive Example: Fruit Ripeness Predictor</a:t>
            </a:r>
          </a:p>
          <a:p>
            <a:pPr>
              <a:spcAft>
                <a:spcPts val="600"/>
              </a:spcAft>
              <a:defRPr sz="1300">
                <a:solidFill>
                  <a:srgbClr val="334155"/>
                </a:solidFill>
                <a:latin typeface="Calibri"/>
              </a:defRPr>
            </a:pPr>
            <a:r>
              <a:t>• Input 1 (x1): Color: Yellow/Red = 1.0, Green = 0.0</a:t>
            </a:r>
          </a:p>
          <a:p>
            <a:pPr>
              <a:spcAft>
                <a:spcPts val="600"/>
              </a:spcAft>
              <a:defRPr sz="1300">
                <a:solidFill>
                  <a:srgbClr val="334155"/>
                </a:solidFill>
                <a:latin typeface="Calibri"/>
              </a:defRPr>
            </a:pPr>
            <a:r>
              <a:t>• Input 2 (x2): Texture: Soft = 1.0, Hard = 0.0</a:t>
            </a:r>
          </a:p>
          <a:p>
            <a:pPr>
              <a:spcAft>
                <a:spcPts val="600"/>
              </a:spcAft>
              <a:defRPr sz="1300">
                <a:solidFill>
                  <a:srgbClr val="334155"/>
                </a:solidFill>
                <a:latin typeface="Calibri"/>
              </a:defRPr>
            </a:pPr>
            <a:r>
              <a:t>• Weight 1 (w1 = 0.8): Color is very important for judging ripeness.</a:t>
            </a:r>
          </a:p>
          <a:p>
            <a:pPr>
              <a:spcAft>
                <a:spcPts val="600"/>
              </a:spcAft>
              <a:defRPr sz="1300">
                <a:solidFill>
                  <a:srgbClr val="334155"/>
                </a:solidFill>
                <a:latin typeface="Calibri"/>
              </a:defRPr>
            </a:pPr>
            <a:r>
              <a:t>• Weight 2 (w2 = 0.6): Softness is also informative, but slightly secondary.</a:t>
            </a:r>
          </a:p>
          <a:p>
            <a:pPr>
              <a:spcAft>
                <a:spcPts val="600"/>
              </a:spcAft>
              <a:defRPr sz="1300">
                <a:solidFill>
                  <a:srgbClr val="334155"/>
                </a:solidFill>
                <a:latin typeface="Calibri"/>
              </a:defRPr>
            </a:pPr>
            <a:r>
              <a:t>• Bias (b = -0.5): A caution threshold! Unless evidence exceeds 0.5, classify as unripe.</a:t>
            </a:r>
          </a:p>
          <a:p>
            <a:pPr>
              <a:spcAft>
                <a:spcPts val="600"/>
              </a:spcAft>
              <a:defRPr sz="1300">
                <a:solidFill>
                  <a:srgbClr val="334155"/>
                </a:solidFill>
                <a:latin typeface="Calibri"/>
              </a:defRPr>
            </a:pPr>
            <a:r>
              <a:t>• Sample Calculation:: z = (0.8 × 1.0) + (0.6 × 1.0) - 0.5 = 0.9 (Positive = Ripe!)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lIns="0" rIns="0" tIns="0" bIns="0">
            <a:spAutoFit/>
          </a:bodyPr>
          <a:lstStyle/>
          <a:p>
            <a:pPr>
              <a:defRPr sz="1100" b="1">
                <a:solidFill>
                  <a:srgbClr val="4F46E5"/>
                </a:solidFill>
                <a:latin typeface="Arial"/>
              </a:defRPr>
            </a:pPr>
            <a:r>
              <a:t>THE DECISION GATE</a:t>
            </a:r>
          </a:p>
        </p:txBody>
      </p:sp>
      <p:sp>
        <p:nvSpPr>
          <p:cNvPr id="3" name="TextBox 2"/>
          <p:cNvSpPr txBox="1"/>
          <p:nvPr/>
        </p:nvSpPr>
        <p:spPr>
          <a:xfrm>
            <a:off x="731520" y="731520"/>
            <a:ext cx="10698480" cy="731520"/>
          </a:xfrm>
          <a:prstGeom prst="rect">
            <a:avLst/>
          </a:prstGeom>
          <a:noFill/>
        </p:spPr>
        <p:txBody>
          <a:bodyPr wrap="square" lIns="0" rIns="0" tIns="0" bIns="0">
            <a:spAutoFit/>
          </a:bodyPr>
          <a:lstStyle/>
          <a:p>
            <a:pPr>
              <a:defRPr sz="2200" b="1">
                <a:solidFill>
                  <a:srgbClr val="0F172A"/>
                </a:solidFill>
                <a:latin typeface="Arial"/>
              </a:defRPr>
            </a:pPr>
            <a:r>
              <a:t>Activation Functions Introduce Non-Linearity to Learn Curves and Complex Boundaries</a:t>
            </a:r>
          </a:p>
        </p:txBody>
      </p:sp>
      <p:sp>
        <p:nvSpPr>
          <p:cNvPr id="4" name="Rectangle 3"/>
          <p:cNvSpPr/>
          <p:nvPr/>
        </p:nvSpPr>
        <p:spPr>
          <a:xfrm>
            <a:off x="731520" y="1508760"/>
            <a:ext cx="1072865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square" lIns="0" rIns="0" tIns="0" bIns="0">
            <a:spAutoFit/>
          </a:bodyPr>
          <a:lstStyle/>
          <a:p>
            <a:pPr>
              <a:defRPr sz="1000">
                <a:solidFill>
                  <a:srgbClr val="64748B"/>
                </a:solidFill>
                <a:latin typeface="Calibri"/>
              </a:defRPr>
            </a:pPr>
            <a:r>
              <a:t>Essential Deep Learning &amp; Transformers  |  Slide 4 of 10</a:t>
            </a:r>
          </a:p>
        </p:txBody>
      </p:sp>
      <p:sp>
        <p:nvSpPr>
          <p:cNvPr id="6" name="Rounded Rectangle 5"/>
          <p:cNvSpPr/>
          <p:nvPr/>
        </p:nvSpPr>
        <p:spPr>
          <a:xfrm>
            <a:off x="731520" y="1737360"/>
            <a:ext cx="10728655" cy="1005840"/>
          </a:xfrm>
          <a:prstGeom prst="roundRect">
            <a:avLst/>
          </a:prstGeom>
          <a:solidFill>
            <a:srgbClr val="EEF2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ctr">
              <a:defRPr sz="1400" b="1">
                <a:solidFill>
                  <a:srgbClr val="4F46E5"/>
                </a:solidFill>
                <a:latin typeface="Arial"/>
              </a:defRPr>
            </a:pPr>
            <a:r>
              <a:t>Why Do We Need Non-Linear Activation Functions?</a:t>
            </a:r>
          </a:p>
          <a:p>
            <a:pPr>
              <a:defRPr sz="1200">
                <a:solidFill>
                  <a:srgbClr val="0F172A"/>
                </a:solidFill>
                <a:latin typeface="Calibri"/>
              </a:defRPr>
            </a:pPr>
            <a:r>
              <a:t>If you stack 100 linear layers without non-linear gates, the math collapses into a single straight-line equation! Non-linear functions allow neural networks to bend, curve, and wrap around complex decision boundaries.</a:t>
            </a:r>
          </a:p>
        </p:txBody>
      </p:sp>
      <p:sp>
        <p:nvSpPr>
          <p:cNvPr id="7" name="Rounded Rectangle 6"/>
          <p:cNvSpPr/>
          <p:nvPr/>
        </p:nvSpPr>
        <p:spPr>
          <a:xfrm>
            <a:off x="731520" y="2926080"/>
            <a:ext cx="5212080" cy="320040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400"/>
              </a:spcAft>
              <a:defRPr sz="1600" b="1">
                <a:solidFill>
                  <a:srgbClr val="2563EB"/>
                </a:solidFill>
                <a:latin typeface="Arial"/>
              </a:defRPr>
            </a:pPr>
            <a:r>
              <a:t>ReLU (Rectified Linear Unit)</a:t>
            </a:r>
          </a:p>
          <a:p>
            <a:pPr>
              <a:spcAft>
                <a:spcPts val="1200"/>
              </a:spcAft>
              <a:defRPr sz="1200" i="1">
                <a:solidFill>
                  <a:srgbClr val="64748B"/>
                </a:solidFill>
                <a:latin typeface="Calibri"/>
              </a:defRPr>
            </a:pPr>
            <a:r>
              <a:t>The Hidden Layer Workhorse</a:t>
            </a:r>
          </a:p>
          <a:p>
            <a:pPr>
              <a:spcAft>
                <a:spcPts val="600"/>
              </a:spcAft>
              <a:defRPr sz="1300">
                <a:solidFill>
                  <a:srgbClr val="334155"/>
                </a:solidFill>
                <a:latin typeface="Calibri"/>
              </a:defRPr>
            </a:pPr>
            <a:r>
              <a:t>• Formula: ReLU(z) = max(0, z)</a:t>
            </a:r>
          </a:p>
          <a:p>
            <a:pPr>
              <a:spcAft>
                <a:spcPts val="600"/>
              </a:spcAft>
              <a:defRPr sz="1300">
                <a:solidFill>
                  <a:srgbClr val="334155"/>
                </a:solidFill>
                <a:latin typeface="Calibri"/>
              </a:defRPr>
            </a:pPr>
            <a:r>
              <a:t>• Behavior: If z is negative, output is 0. If positive, it passes through untouched.</a:t>
            </a:r>
          </a:p>
          <a:p>
            <a:pPr>
              <a:spcAft>
                <a:spcPts val="600"/>
              </a:spcAft>
              <a:defRPr sz="1300">
                <a:solidFill>
                  <a:srgbClr val="334155"/>
                </a:solidFill>
                <a:latin typeface="Calibri"/>
              </a:defRPr>
            </a:pPr>
            <a:r>
              <a:t>• Analogy: A one-way diode or a water valve that only opens when pressure is positive.</a:t>
            </a:r>
          </a:p>
          <a:p>
            <a:pPr>
              <a:spcAft>
                <a:spcPts val="600"/>
              </a:spcAft>
              <a:defRPr sz="1300">
                <a:solidFill>
                  <a:srgbClr val="334155"/>
                </a:solidFill>
                <a:latin typeface="Calibri"/>
              </a:defRPr>
            </a:pPr>
            <a:r>
              <a:t>• Advantage: Extremely fast to compute and avoids gradient vanishing in deep networks.</a:t>
            </a:r>
          </a:p>
        </p:txBody>
      </p:sp>
      <p:sp>
        <p:nvSpPr>
          <p:cNvPr id="8" name="Rounded Rectangle 7"/>
          <p:cNvSpPr/>
          <p:nvPr/>
        </p:nvSpPr>
        <p:spPr>
          <a:xfrm>
            <a:off x="6217920" y="2926080"/>
            <a:ext cx="5212080" cy="320040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400"/>
              </a:spcAft>
              <a:defRPr sz="1600" b="1">
                <a:solidFill>
                  <a:srgbClr val="D97706"/>
                </a:solidFill>
                <a:latin typeface="Arial"/>
              </a:defRPr>
            </a:pPr>
            <a:r>
              <a:t>Softmax</a:t>
            </a:r>
          </a:p>
          <a:p>
            <a:pPr>
              <a:spcAft>
                <a:spcPts val="1200"/>
              </a:spcAft>
              <a:defRPr sz="1200" i="1">
                <a:solidFill>
                  <a:srgbClr val="64748B"/>
                </a:solidFill>
                <a:latin typeface="Calibri"/>
              </a:defRPr>
            </a:pPr>
            <a:r>
              <a:t>The Multi-Class Output Normalizer</a:t>
            </a:r>
          </a:p>
          <a:p>
            <a:pPr>
              <a:spcAft>
                <a:spcPts val="600"/>
              </a:spcAft>
              <a:defRPr sz="1300">
                <a:solidFill>
                  <a:srgbClr val="334155"/>
                </a:solidFill>
                <a:latin typeface="Calibri"/>
              </a:defRPr>
            </a:pPr>
            <a:r>
              <a:t>• Formula: Softmax(z_i) = exp(z_i) / Σ exp(z_j)</a:t>
            </a:r>
          </a:p>
          <a:p>
            <a:pPr>
              <a:spcAft>
                <a:spcPts val="600"/>
              </a:spcAft>
              <a:defRPr sz="1300">
                <a:solidFill>
                  <a:srgbClr val="334155"/>
                </a:solidFill>
                <a:latin typeface="Calibri"/>
              </a:defRPr>
            </a:pPr>
            <a:r>
              <a:t>• Behavior: Squashes an array of arbitrary raw scores into positive values that sum to exactly 1.0 (100%).</a:t>
            </a:r>
          </a:p>
          <a:p>
            <a:pPr>
              <a:spcAft>
                <a:spcPts val="600"/>
              </a:spcAft>
              <a:defRPr sz="1300">
                <a:solidFill>
                  <a:srgbClr val="334155"/>
                </a:solidFill>
                <a:latin typeface="Calibri"/>
              </a:defRPr>
            </a:pPr>
            <a:r>
              <a:t>• Analogy: Slicing up a probability pizza—every class gets a proportionate slice.</a:t>
            </a:r>
          </a:p>
          <a:p>
            <a:pPr>
              <a:spcAft>
                <a:spcPts val="600"/>
              </a:spcAft>
              <a:defRPr sz="1300">
                <a:solidFill>
                  <a:srgbClr val="334155"/>
                </a:solidFill>
                <a:latin typeface="Calibri"/>
              </a:defRPr>
            </a:pPr>
            <a:r>
              <a:t>• Advantage: Gives clear, interpretable confidence percentages for classification tasks.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lIns="0" rIns="0" tIns="0" bIns="0">
            <a:spAutoFit/>
          </a:bodyPr>
          <a:lstStyle/>
          <a:p>
            <a:pPr>
              <a:defRPr sz="1100" b="1">
                <a:solidFill>
                  <a:srgbClr val="2563EB"/>
                </a:solidFill>
                <a:latin typeface="Arial"/>
              </a:defRPr>
            </a:pPr>
            <a:r>
              <a:t>MODEL OPTIMIZATION</a:t>
            </a:r>
          </a:p>
        </p:txBody>
      </p:sp>
      <p:sp>
        <p:nvSpPr>
          <p:cNvPr id="3" name="TextBox 2"/>
          <p:cNvSpPr txBox="1"/>
          <p:nvPr/>
        </p:nvSpPr>
        <p:spPr>
          <a:xfrm>
            <a:off x="731520" y="731520"/>
            <a:ext cx="10698480" cy="731520"/>
          </a:xfrm>
          <a:prstGeom prst="rect">
            <a:avLst/>
          </a:prstGeom>
          <a:noFill/>
        </p:spPr>
        <p:txBody>
          <a:bodyPr wrap="square" lIns="0" rIns="0" tIns="0" bIns="0">
            <a:spAutoFit/>
          </a:bodyPr>
          <a:lstStyle/>
          <a:p>
            <a:pPr>
              <a:defRPr sz="2200" b="1">
                <a:solidFill>
                  <a:srgbClr val="0F172A"/>
                </a:solidFill>
                <a:latin typeface="Arial"/>
              </a:defRPr>
            </a:pPr>
            <a:r>
              <a:t>Deep Neural Networks Learn in an Iterative 4-Step Loop: Guess, Check, Trace, Update</a:t>
            </a:r>
          </a:p>
        </p:txBody>
      </p:sp>
      <p:sp>
        <p:nvSpPr>
          <p:cNvPr id="4" name="Rectangle 3"/>
          <p:cNvSpPr/>
          <p:nvPr/>
        </p:nvSpPr>
        <p:spPr>
          <a:xfrm>
            <a:off x="731520" y="1508760"/>
            <a:ext cx="1072865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square" lIns="0" rIns="0" tIns="0" bIns="0">
            <a:spAutoFit/>
          </a:bodyPr>
          <a:lstStyle/>
          <a:p>
            <a:pPr>
              <a:defRPr sz="1000">
                <a:solidFill>
                  <a:srgbClr val="64748B"/>
                </a:solidFill>
                <a:latin typeface="Calibri"/>
              </a:defRPr>
            </a:pPr>
            <a:r>
              <a:t>Essential Deep Learning &amp; Transformers  |  Slide 5 of 10</a:t>
            </a:r>
          </a:p>
        </p:txBody>
      </p:sp>
      <p:sp>
        <p:nvSpPr>
          <p:cNvPr id="6" name="Rounded Rectangle 5"/>
          <p:cNvSpPr/>
          <p:nvPr/>
        </p:nvSpPr>
        <p:spPr>
          <a:xfrm>
            <a:off x="731520" y="2011680"/>
            <a:ext cx="2468880" cy="4114800"/>
          </a:xfrm>
          <a:prstGeom prst="roundRect">
            <a:avLst/>
          </a:prstGeom>
          <a:solidFill>
            <a:srgbClr val="F8FAFC"/>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spcAft>
                <a:spcPts val="200"/>
              </a:spcAft>
              <a:defRPr sz="1100" b="1">
                <a:solidFill>
                  <a:srgbClr val="2563EB"/>
                </a:solidFill>
                <a:latin typeface="Arial"/>
              </a:defRPr>
            </a:pPr>
            <a:r>
              <a:t>STEP 1</a:t>
            </a:r>
          </a:p>
          <a:p>
            <a:pPr>
              <a:spcAft>
                <a:spcPts val="200"/>
              </a:spcAft>
              <a:defRPr sz="1600" b="1">
                <a:solidFill>
                  <a:srgbClr val="0F172A"/>
                </a:solidFill>
                <a:latin typeface="Arial"/>
              </a:defRPr>
            </a:pPr>
            <a:r>
              <a:t>Forward Pass</a:t>
            </a:r>
          </a:p>
          <a:p>
            <a:pPr>
              <a:spcAft>
                <a:spcPts val="1400"/>
              </a:spcAft>
              <a:defRPr sz="1200" i="1">
                <a:solidFill>
                  <a:srgbClr val="64748B"/>
                </a:solidFill>
                <a:latin typeface="Calibri"/>
              </a:defRPr>
            </a:pPr>
            <a:r>
              <a:t>'Make a Guess'</a:t>
            </a:r>
          </a:p>
          <a:p>
            <a:pPr>
              <a:defRPr sz="1300">
                <a:solidFill>
                  <a:srgbClr val="334155"/>
                </a:solidFill>
                <a:latin typeface="Calibri"/>
              </a:defRPr>
            </a:pPr>
            <a:r>
              <a:t>Input features flow layer-by-layer through weights and activations to generate a prediction (ŷ).</a:t>
            </a:r>
          </a:p>
        </p:txBody>
      </p:sp>
      <p:sp>
        <p:nvSpPr>
          <p:cNvPr id="7" name="Chevron 6"/>
          <p:cNvSpPr/>
          <p:nvPr/>
        </p:nvSpPr>
        <p:spPr>
          <a:xfrm>
            <a:off x="3246120" y="3840480"/>
            <a:ext cx="201168" cy="457200"/>
          </a:xfrm>
          <a:prstGeom prst="chevron">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474720" y="2011680"/>
            <a:ext cx="2468880" cy="4114800"/>
          </a:xfrm>
          <a:prstGeom prst="roundRect">
            <a:avLst/>
          </a:prstGeom>
          <a:solidFill>
            <a:srgbClr val="F8FAFC"/>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spcAft>
                <a:spcPts val="200"/>
              </a:spcAft>
              <a:defRPr sz="1100" b="1">
                <a:solidFill>
                  <a:srgbClr val="D97706"/>
                </a:solidFill>
                <a:latin typeface="Arial"/>
              </a:defRPr>
            </a:pPr>
            <a:r>
              <a:t>STEP 2</a:t>
            </a:r>
          </a:p>
          <a:p>
            <a:pPr>
              <a:spcAft>
                <a:spcPts val="200"/>
              </a:spcAft>
              <a:defRPr sz="1600" b="1">
                <a:solidFill>
                  <a:srgbClr val="0F172A"/>
                </a:solidFill>
                <a:latin typeface="Arial"/>
              </a:defRPr>
            </a:pPr>
            <a:r>
              <a:t>Loss Function</a:t>
            </a:r>
          </a:p>
          <a:p>
            <a:pPr>
              <a:spcAft>
                <a:spcPts val="1400"/>
              </a:spcAft>
              <a:defRPr sz="1200" i="1">
                <a:solidFill>
                  <a:srgbClr val="64748B"/>
                </a:solidFill>
                <a:latin typeface="Calibri"/>
              </a:defRPr>
            </a:pPr>
            <a:r>
              <a:t>'Measure the Mistake'</a:t>
            </a:r>
          </a:p>
          <a:p>
            <a:pPr>
              <a:defRPr sz="1300">
                <a:solidFill>
                  <a:srgbClr val="334155"/>
                </a:solidFill>
                <a:latin typeface="Calibri"/>
              </a:defRPr>
            </a:pPr>
            <a:r>
              <a:t>Compare prediction (ŷ) to true label (y). For continuous outputs: Loss = (y - ŷ)². Larger errors are penalized heavily.</a:t>
            </a:r>
          </a:p>
        </p:txBody>
      </p:sp>
      <p:sp>
        <p:nvSpPr>
          <p:cNvPr id="9" name="Chevron 8"/>
          <p:cNvSpPr/>
          <p:nvPr/>
        </p:nvSpPr>
        <p:spPr>
          <a:xfrm>
            <a:off x="5989320" y="3840480"/>
            <a:ext cx="201168" cy="457200"/>
          </a:xfrm>
          <a:prstGeom prst="chevron">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2011680"/>
            <a:ext cx="2468880" cy="4114800"/>
          </a:xfrm>
          <a:prstGeom prst="roundRect">
            <a:avLst/>
          </a:prstGeom>
          <a:solidFill>
            <a:srgbClr val="F8FAFC"/>
          </a:solidFill>
          <a:ln w="254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spcAft>
                <a:spcPts val="200"/>
              </a:spcAft>
              <a:defRPr sz="1100" b="1">
                <a:solidFill>
                  <a:srgbClr val="4F46E5"/>
                </a:solidFill>
                <a:latin typeface="Arial"/>
              </a:defRPr>
            </a:pPr>
            <a:r>
              <a:t>STEP 3</a:t>
            </a:r>
          </a:p>
          <a:p>
            <a:pPr>
              <a:spcAft>
                <a:spcPts val="200"/>
              </a:spcAft>
              <a:defRPr sz="1600" b="1">
                <a:solidFill>
                  <a:srgbClr val="0F172A"/>
                </a:solidFill>
                <a:latin typeface="Arial"/>
              </a:defRPr>
            </a:pPr>
            <a:r>
              <a:t>Backpropagation</a:t>
            </a:r>
          </a:p>
          <a:p>
            <a:pPr>
              <a:spcAft>
                <a:spcPts val="1400"/>
              </a:spcAft>
              <a:defRPr sz="1200" i="1">
                <a:solidFill>
                  <a:srgbClr val="64748B"/>
                </a:solidFill>
                <a:latin typeface="Calibri"/>
              </a:defRPr>
            </a:pPr>
            <a:r>
              <a:t>'Assign Blame'</a:t>
            </a:r>
          </a:p>
          <a:p>
            <a:pPr>
              <a:defRPr sz="1300">
                <a:solidFill>
                  <a:srgbClr val="334155"/>
                </a:solidFill>
                <a:latin typeface="Calibri"/>
              </a:defRPr>
            </a:pPr>
            <a:r>
              <a:t>The error travels backward using calculus (chain rule) to determine how much each weight contributed to the mistake.</a:t>
            </a:r>
          </a:p>
        </p:txBody>
      </p:sp>
      <p:sp>
        <p:nvSpPr>
          <p:cNvPr id="11" name="Chevron 10"/>
          <p:cNvSpPr/>
          <p:nvPr/>
        </p:nvSpPr>
        <p:spPr>
          <a:xfrm>
            <a:off x="8732520" y="3840480"/>
            <a:ext cx="201168" cy="457200"/>
          </a:xfrm>
          <a:prstGeom prst="chevron">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961120" y="2011680"/>
            <a:ext cx="2468880" cy="4114800"/>
          </a:xfrm>
          <a:prstGeom prst="roundRect">
            <a:avLst/>
          </a:prstGeom>
          <a:solidFill>
            <a:srgbClr val="F8FAFC"/>
          </a:solidFill>
          <a:ln w="254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spcAft>
                <a:spcPts val="200"/>
              </a:spcAft>
              <a:defRPr sz="1100" b="1">
                <a:solidFill>
                  <a:srgbClr val="059669"/>
                </a:solidFill>
                <a:latin typeface="Arial"/>
              </a:defRPr>
            </a:pPr>
            <a:r>
              <a:t>STEP 4</a:t>
            </a:r>
          </a:p>
          <a:p>
            <a:pPr>
              <a:spcAft>
                <a:spcPts val="200"/>
              </a:spcAft>
              <a:defRPr sz="1600" b="1">
                <a:solidFill>
                  <a:srgbClr val="0F172A"/>
                </a:solidFill>
                <a:latin typeface="Arial"/>
              </a:defRPr>
            </a:pPr>
            <a:r>
              <a:t>Gradient Update</a:t>
            </a:r>
          </a:p>
          <a:p>
            <a:pPr>
              <a:spcAft>
                <a:spcPts val="1400"/>
              </a:spcAft>
              <a:defRPr sz="1200" i="1">
                <a:solidFill>
                  <a:srgbClr val="64748B"/>
                </a:solidFill>
                <a:latin typeface="Calibri"/>
              </a:defRPr>
            </a:pPr>
            <a:r>
              <a:t>'Adjust the Knobs'</a:t>
            </a:r>
          </a:p>
          <a:p>
            <a:pPr>
              <a:defRPr sz="1300">
                <a:solidFill>
                  <a:srgbClr val="334155"/>
                </a:solidFill>
                <a:latin typeface="Calibri"/>
              </a:defRPr>
            </a:pPr>
            <a:r>
              <a:t>Weights are nudged in the opposite direction of the gradient slope: w ← w - (learning_rate × slope).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lIns="0" rIns="0" tIns="0" bIns="0">
            <a:spAutoFit/>
          </a:bodyPr>
          <a:lstStyle/>
          <a:p>
            <a:pPr>
              <a:defRPr sz="1100" b="1">
                <a:solidFill>
                  <a:srgbClr val="D97706"/>
                </a:solidFill>
                <a:latin typeface="Arial"/>
              </a:defRPr>
            </a:pPr>
            <a:r>
              <a:t>MATHEMATICAL INTUITION</a:t>
            </a:r>
          </a:p>
        </p:txBody>
      </p:sp>
      <p:sp>
        <p:nvSpPr>
          <p:cNvPr id="3" name="TextBox 2"/>
          <p:cNvSpPr txBox="1"/>
          <p:nvPr/>
        </p:nvSpPr>
        <p:spPr>
          <a:xfrm>
            <a:off x="731520" y="731520"/>
            <a:ext cx="10698480" cy="731520"/>
          </a:xfrm>
          <a:prstGeom prst="rect">
            <a:avLst/>
          </a:prstGeom>
          <a:noFill/>
        </p:spPr>
        <p:txBody>
          <a:bodyPr wrap="square" lIns="0" rIns="0" tIns="0" bIns="0">
            <a:spAutoFit/>
          </a:bodyPr>
          <a:lstStyle/>
          <a:p>
            <a:pPr>
              <a:defRPr sz="2200" b="1">
                <a:solidFill>
                  <a:srgbClr val="0F172A"/>
                </a:solidFill>
                <a:latin typeface="Arial"/>
              </a:defRPr>
            </a:pPr>
            <a:r>
              <a:t>Gradient Descent Guides Parameters Downhill Through the Fog</a:t>
            </a:r>
          </a:p>
        </p:txBody>
      </p:sp>
      <p:sp>
        <p:nvSpPr>
          <p:cNvPr id="4" name="Rectangle 3"/>
          <p:cNvSpPr/>
          <p:nvPr/>
        </p:nvSpPr>
        <p:spPr>
          <a:xfrm>
            <a:off x="731520" y="1508760"/>
            <a:ext cx="1072865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square" lIns="0" rIns="0" tIns="0" bIns="0">
            <a:spAutoFit/>
          </a:bodyPr>
          <a:lstStyle/>
          <a:p>
            <a:pPr>
              <a:defRPr sz="1000">
                <a:solidFill>
                  <a:srgbClr val="64748B"/>
                </a:solidFill>
                <a:latin typeface="Calibri"/>
              </a:defRPr>
            </a:pPr>
            <a:r>
              <a:t>Essential Deep Learning &amp; Transformers  |  Slide 6 of 10</a:t>
            </a:r>
          </a:p>
        </p:txBody>
      </p:sp>
      <p:sp>
        <p:nvSpPr>
          <p:cNvPr id="6" name="Rounded Rectangle 5"/>
          <p:cNvSpPr/>
          <p:nvPr/>
        </p:nvSpPr>
        <p:spPr>
          <a:xfrm>
            <a:off x="731520" y="1828800"/>
            <a:ext cx="5120640" cy="4297680"/>
          </a:xfrm>
          <a:prstGeom prst="roundRect">
            <a:avLst/>
          </a:prstGeom>
          <a:solidFill>
            <a:srgbClr val="FFFBEB"/>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800" b="1">
                <a:solidFill>
                  <a:srgbClr val="D97706"/>
                </a:solidFill>
                <a:latin typeface="Arial"/>
              </a:defRPr>
            </a:pPr>
            <a:r>
              <a:t>The Analogy: Hiking Down in Thick Fog</a:t>
            </a:r>
          </a:p>
          <a:p>
            <a:pPr>
              <a:spcAft>
                <a:spcPts val="1000"/>
              </a:spcAft>
              <a:defRPr sz="1300">
                <a:solidFill>
                  <a:srgbClr val="334155"/>
                </a:solidFill>
                <a:latin typeface="Calibri"/>
              </a:defRPr>
            </a:pPr>
            <a:r>
              <a:t>Imagine you are standing on a steep mountain covered in dense fog. You cannot see the valley floor (the point of zero error).</a:t>
            </a:r>
          </a:p>
          <a:p>
            <a:pPr>
              <a:spcAft>
                <a:spcPts val="1000"/>
              </a:spcAft>
              <a:defRPr sz="1300">
                <a:solidFill>
                  <a:srgbClr val="334155"/>
                </a:solidFill>
                <a:latin typeface="Calibri"/>
              </a:defRPr>
            </a:pPr>
            <a:r>
              <a:t>How do you reach safety? You feel the slope of the ground beneath your feet with your hiking boots.</a:t>
            </a:r>
          </a:p>
          <a:p>
            <a:pPr>
              <a:spcAft>
                <a:spcPts val="1000"/>
              </a:spcAft>
              <a:defRPr sz="1300">
                <a:solidFill>
                  <a:srgbClr val="334155"/>
                </a:solidFill>
                <a:latin typeface="Calibri"/>
              </a:defRPr>
            </a:pPr>
            <a:r>
              <a:t>The gradient tells you which direction is uphill. Gradient descent simply commands: take a step in the exact opposite direction (downhill)!</a:t>
            </a:r>
          </a:p>
        </p:txBody>
      </p:sp>
      <p:sp>
        <p:nvSpPr>
          <p:cNvPr id="7" name="Rounded Rectangle 6"/>
          <p:cNvSpPr/>
          <p:nvPr/>
        </p:nvSpPr>
        <p:spPr>
          <a:xfrm>
            <a:off x="6217920" y="1828800"/>
            <a:ext cx="5212080" cy="42976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800" b="1">
                <a:solidFill>
                  <a:srgbClr val="0F172A"/>
                </a:solidFill>
                <a:latin typeface="Arial"/>
              </a:defRPr>
            </a:pPr>
            <a:r>
              <a:t>The Learning Rate (η): Step Size Matters</a:t>
            </a:r>
          </a:p>
          <a:p>
            <a:pPr>
              <a:spcAft>
                <a:spcPts val="1200"/>
              </a:spcAft>
              <a:defRPr sz="1300">
                <a:solidFill>
                  <a:srgbClr val="334155"/>
                </a:solidFill>
                <a:latin typeface="Calibri"/>
              </a:defRPr>
            </a:pPr>
            <a:r>
              <a:t>• Too Large (Giant Leaps): You overshoot the valley entirely, leaping violently from mountain peak to mountain peak. Loss explodes!</a:t>
            </a:r>
          </a:p>
          <a:p>
            <a:pPr>
              <a:spcAft>
                <a:spcPts val="1200"/>
              </a:spcAft>
              <a:defRPr sz="1300">
                <a:solidFill>
                  <a:srgbClr val="334155"/>
                </a:solidFill>
                <a:latin typeface="Calibri"/>
              </a:defRPr>
            </a:pPr>
            <a:r>
              <a:t>• Too Small (Baby Steps): You move millimeters per day. You will get stuck on tiny ledges (local minima) or take centuries to finish.</a:t>
            </a:r>
          </a:p>
          <a:p>
            <a:pPr>
              <a:spcAft>
                <a:spcPts val="1200"/>
              </a:spcAft>
              <a:defRPr sz="1300">
                <a:solidFill>
                  <a:srgbClr val="334155"/>
                </a:solidFill>
                <a:latin typeface="Calibri"/>
              </a:defRPr>
            </a:pPr>
            <a:r>
              <a:t>• Just Right (Optimal Pace): Steady, measured downhill progress until you settle into the lowest point of the valley.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lIns="0" rIns="0" tIns="0" bIns="0">
            <a:spAutoFit/>
          </a:bodyPr>
          <a:lstStyle/>
          <a:p>
            <a:pPr>
              <a:defRPr sz="1100" b="1">
                <a:solidFill>
                  <a:srgbClr val="4F46E5"/>
                </a:solidFill>
                <a:latin typeface="Arial"/>
              </a:defRPr>
            </a:pPr>
            <a:r>
              <a:t>VISUAL PERCEPTION</a:t>
            </a:r>
          </a:p>
        </p:txBody>
      </p:sp>
      <p:sp>
        <p:nvSpPr>
          <p:cNvPr id="3" name="TextBox 2"/>
          <p:cNvSpPr txBox="1"/>
          <p:nvPr/>
        </p:nvSpPr>
        <p:spPr>
          <a:xfrm>
            <a:off x="731520" y="731520"/>
            <a:ext cx="10698480" cy="731520"/>
          </a:xfrm>
          <a:prstGeom prst="rect">
            <a:avLst/>
          </a:prstGeom>
          <a:noFill/>
        </p:spPr>
        <p:txBody>
          <a:bodyPr wrap="square" lIns="0" rIns="0" tIns="0" bIns="0">
            <a:spAutoFit/>
          </a:bodyPr>
          <a:lstStyle/>
          <a:p>
            <a:pPr>
              <a:defRPr sz="2200" b="1">
                <a:solidFill>
                  <a:srgbClr val="0F172A"/>
                </a:solidFill>
                <a:latin typeface="Arial"/>
              </a:defRPr>
            </a:pPr>
            <a:r>
              <a:t>Convolutional Filters Scan Images Locally to Build Hierarchical Feature Maps</a:t>
            </a:r>
          </a:p>
        </p:txBody>
      </p:sp>
      <p:sp>
        <p:nvSpPr>
          <p:cNvPr id="4" name="Rectangle 3"/>
          <p:cNvSpPr/>
          <p:nvPr/>
        </p:nvSpPr>
        <p:spPr>
          <a:xfrm>
            <a:off x="731520" y="1508760"/>
            <a:ext cx="1072865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square" lIns="0" rIns="0" tIns="0" bIns="0">
            <a:spAutoFit/>
          </a:bodyPr>
          <a:lstStyle/>
          <a:p>
            <a:pPr>
              <a:defRPr sz="1000">
                <a:solidFill>
                  <a:srgbClr val="64748B"/>
                </a:solidFill>
                <a:latin typeface="Calibri"/>
              </a:defRPr>
            </a:pPr>
            <a:r>
              <a:t>Essential Deep Learning &amp; Transformers  |  Slide 7 of 10</a:t>
            </a:r>
          </a:p>
        </p:txBody>
      </p:sp>
      <p:graphicFrame>
        <p:nvGraphicFramePr>
          <p:cNvPr id="6" name="Table 5"/>
          <p:cNvGraphicFramePr>
            <a:graphicFrameLocks noGrp="1"/>
          </p:cNvGraphicFramePr>
          <p:nvPr/>
        </p:nvGraphicFramePr>
        <p:xfrm>
          <a:off x="731520" y="1828800"/>
          <a:ext cx="10728655" cy="4297680"/>
        </p:xfrm>
        <a:graphic>
          <a:graphicData uri="http://schemas.openxmlformats.org/drawingml/2006/table">
            <a:tbl>
              <a:tblPr firstRow="1" bandRow="1">
                <a:tableStyleId>{5C22544A-7EE6-4342-B048-85BDC9FD1C3A}</a:tableStyleId>
              </a:tblPr>
              <a:tblGrid>
                <a:gridCol w="2560320"/>
                <a:gridCol w="4023360"/>
                <a:gridCol w="4144975"/>
              </a:tblGrid>
              <a:tr h="1074420">
                <a:tc>
                  <a:txBody>
                    <a:bodyPr/>
                    <a:lstStyle/>
                    <a:p>
                      <a:pPr>
                        <a:defRPr sz="1400" b="1">
                          <a:solidFill>
                            <a:srgbClr val="FFFFFF"/>
                          </a:solidFill>
                          <a:latin typeface="Arial"/>
                        </a:defRPr>
                      </a:pPr>
                      <a:r>
                        <a:t>Layer Stage</a:t>
                      </a:r>
                    </a:p>
                  </a:txBody>
                  <a:tcPr marL="101600" marR="101600" marT="101600" marB="101600">
                    <a:solidFill>
                      <a:srgbClr val="4F46E5"/>
                    </a:solidFill>
                  </a:tcPr>
                </a:tc>
                <a:tc>
                  <a:txBody>
                    <a:bodyPr/>
                    <a:lstStyle/>
                    <a:p>
                      <a:pPr>
                        <a:defRPr sz="1400" b="1">
                          <a:solidFill>
                            <a:srgbClr val="FFFFFF"/>
                          </a:solidFill>
                          <a:latin typeface="Arial"/>
                        </a:defRPr>
                      </a:pPr>
                      <a:r>
                        <a:t>What the Filter Detects</a:t>
                      </a:r>
                    </a:p>
                  </a:txBody>
                  <a:tcPr marL="101600" marR="101600" marT="101600" marB="101600">
                    <a:solidFill>
                      <a:srgbClr val="4F46E5"/>
                    </a:solidFill>
                  </a:tcPr>
                </a:tc>
                <a:tc>
                  <a:txBody>
                    <a:bodyPr/>
                    <a:lstStyle/>
                    <a:p>
                      <a:pPr>
                        <a:defRPr sz="1400" b="1">
                          <a:solidFill>
                            <a:srgbClr val="FFFFFF"/>
                          </a:solidFill>
                          <a:latin typeface="Arial"/>
                        </a:defRPr>
                      </a:pPr>
                      <a:r>
                        <a:t>Analogy / Intuition</a:t>
                      </a:r>
                    </a:p>
                  </a:txBody>
                  <a:tcPr marL="101600" marR="101600" marT="101600" marB="101600">
                    <a:solidFill>
                      <a:srgbClr val="4F46E5"/>
                    </a:solidFill>
                  </a:tcPr>
                </a:tc>
              </a:tr>
              <a:tr h="1074420">
                <a:tc>
                  <a:txBody>
                    <a:bodyPr/>
                    <a:lstStyle/>
                    <a:p>
                      <a:pPr>
                        <a:defRPr sz="1300" b="1">
                          <a:solidFill>
                            <a:srgbClr val="0F172A"/>
                          </a:solidFill>
                          <a:latin typeface="Calibri"/>
                        </a:defRPr>
                      </a:pPr>
                      <a:r>
                        <a:t>Early Layers</a:t>
                      </a:r>
                      <a:br/>
                      <a:r>
                        <a:t>(Low-Level)</a:t>
                      </a:r>
                    </a:p>
                  </a:txBody>
                  <a:tcPr marL="101600" marR="101600" marT="101600" marB="101600">
                    <a:solidFill>
                      <a:srgbClr val="F8FAFC"/>
                    </a:solidFill>
                  </a:tcPr>
                </a:tc>
                <a:tc>
                  <a:txBody>
                    <a:bodyPr/>
                    <a:lstStyle/>
                    <a:p>
                      <a:pPr>
                        <a:defRPr sz="1300">
                          <a:solidFill>
                            <a:srgbClr val="334155"/>
                          </a:solidFill>
                          <a:latin typeface="Calibri"/>
                        </a:defRPr>
                      </a:pPr>
                      <a:r>
                        <a:t>Edges, color gradients, sharp lines, corners.</a:t>
                      </a:r>
                    </a:p>
                  </a:txBody>
                  <a:tcPr marL="101600" marR="101600" marT="101600" marB="101600">
                    <a:solidFill>
                      <a:srgbClr val="F8FAFC"/>
                    </a:solidFill>
                  </a:tcPr>
                </a:tc>
                <a:tc>
                  <a:txBody>
                    <a:bodyPr/>
                    <a:lstStyle/>
                    <a:p>
                      <a:pPr>
                        <a:defRPr sz="1300">
                          <a:solidFill>
                            <a:srgbClr val="334155"/>
                          </a:solidFill>
                          <a:latin typeface="Calibri"/>
                        </a:defRPr>
                      </a:pPr>
                      <a:r>
                        <a:t>Like squinting at a puzzle and seeing only individual cardboard border pieces.</a:t>
                      </a:r>
                    </a:p>
                  </a:txBody>
                  <a:tcPr marL="101600" marR="101600" marT="101600" marB="101600">
                    <a:solidFill>
                      <a:srgbClr val="F8FAFC"/>
                    </a:solidFill>
                  </a:tcPr>
                </a:tc>
              </a:tr>
              <a:tr h="1074420">
                <a:tc>
                  <a:txBody>
                    <a:bodyPr/>
                    <a:lstStyle/>
                    <a:p>
                      <a:pPr>
                        <a:defRPr sz="1300" b="1">
                          <a:solidFill>
                            <a:srgbClr val="0F172A"/>
                          </a:solidFill>
                          <a:latin typeface="Calibri"/>
                        </a:defRPr>
                      </a:pPr>
                      <a:r>
                        <a:t>Middle Layers</a:t>
                      </a:r>
                      <a:br/>
                      <a:r>
                        <a:t>(Mid-Level)</a:t>
                      </a:r>
                    </a:p>
                  </a:txBody>
                  <a:tcPr marL="101600" marR="101600" marT="101600" marB="101600">
                    <a:solidFill>
                      <a:srgbClr val="FFFFFF"/>
                    </a:solidFill>
                  </a:tcPr>
                </a:tc>
                <a:tc>
                  <a:txBody>
                    <a:bodyPr/>
                    <a:lstStyle/>
                    <a:p>
                      <a:pPr>
                        <a:defRPr sz="1300">
                          <a:solidFill>
                            <a:srgbClr val="334155"/>
                          </a:solidFill>
                          <a:latin typeface="Calibri"/>
                        </a:defRPr>
                      </a:pPr>
                      <a:r>
                        <a:t>Textures, repetitive patterns, curves, geometric motifs.</a:t>
                      </a:r>
                    </a:p>
                  </a:txBody>
                  <a:tcPr marL="101600" marR="101600" marT="101600" marB="101600">
                    <a:solidFill>
                      <a:srgbClr val="FFFFFF"/>
                    </a:solidFill>
                  </a:tcPr>
                </a:tc>
                <a:tc>
                  <a:txBody>
                    <a:bodyPr/>
                    <a:lstStyle/>
                    <a:p>
                      <a:pPr>
                        <a:defRPr sz="1300">
                          <a:solidFill>
                            <a:srgbClr val="334155"/>
                          </a:solidFill>
                          <a:latin typeface="Calibri"/>
                        </a:defRPr>
                      </a:pPr>
                      <a:r>
                        <a:t>Combining straight and curved lines to recognize circles, stripes, and squares.</a:t>
                      </a:r>
                    </a:p>
                  </a:txBody>
                  <a:tcPr marL="101600" marR="101600" marT="101600" marB="101600">
                    <a:solidFill>
                      <a:srgbClr val="FFFFFF"/>
                    </a:solidFill>
                  </a:tcPr>
                </a:tc>
              </a:tr>
              <a:tr h="1074420">
                <a:tc>
                  <a:txBody>
                    <a:bodyPr/>
                    <a:lstStyle/>
                    <a:p>
                      <a:pPr>
                        <a:defRPr sz="1300" b="1">
                          <a:solidFill>
                            <a:srgbClr val="0F172A"/>
                          </a:solidFill>
                          <a:latin typeface="Calibri"/>
                        </a:defRPr>
                      </a:pPr>
                      <a:r>
                        <a:t>Deep Layers</a:t>
                      </a:r>
                      <a:br/>
                      <a:r>
                        <a:t>(High-Level)</a:t>
                      </a:r>
                    </a:p>
                  </a:txBody>
                  <a:tcPr marL="101600" marR="101600" marT="101600" marB="101600">
                    <a:solidFill>
                      <a:srgbClr val="F8FAFC"/>
                    </a:solidFill>
                  </a:tcPr>
                </a:tc>
                <a:tc>
                  <a:txBody>
                    <a:bodyPr/>
                    <a:lstStyle/>
                    <a:p>
                      <a:pPr>
                        <a:defRPr sz="1300">
                          <a:solidFill>
                            <a:srgbClr val="334155"/>
                          </a:solidFill>
                          <a:latin typeface="Calibri"/>
                        </a:defRPr>
                      </a:pPr>
                      <a:r>
                        <a:t>Complex recognizable parts: eyes, dog ears, car tires, noses.</a:t>
                      </a:r>
                    </a:p>
                  </a:txBody>
                  <a:tcPr marL="101600" marR="101600" marT="101600" marB="101600">
                    <a:solidFill>
                      <a:srgbClr val="F8FAFC"/>
                    </a:solidFill>
                  </a:tcPr>
                </a:tc>
                <a:tc>
                  <a:txBody>
                    <a:bodyPr/>
                    <a:lstStyle/>
                    <a:p>
                      <a:pPr>
                        <a:defRPr sz="1300">
                          <a:solidFill>
                            <a:srgbClr val="334155"/>
                          </a:solidFill>
                          <a:latin typeface="Calibri"/>
                        </a:defRPr>
                      </a:pPr>
                      <a:r>
                        <a:t>Assembling facial features and silhouettes into a complete picture.</a:t>
                      </a:r>
                    </a:p>
                  </a:txBody>
                  <a:tcPr marL="101600" marR="101600" marT="101600" marB="101600">
                    <a:solidFill>
                      <a:srgbClr val="F8FAFC"/>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lIns="0" rIns="0" tIns="0" bIns="0">
            <a:spAutoFit/>
          </a:bodyPr>
          <a:lstStyle/>
          <a:p>
            <a:pPr>
              <a:defRPr sz="1100" b="1">
                <a:solidFill>
                  <a:srgbClr val="2563EB"/>
                </a:solidFill>
                <a:latin typeface="Arial"/>
              </a:defRPr>
            </a:pPr>
            <a:r>
              <a:t>LANGUAGE UNDERSTANDING</a:t>
            </a:r>
          </a:p>
        </p:txBody>
      </p:sp>
      <p:sp>
        <p:nvSpPr>
          <p:cNvPr id="3" name="TextBox 2"/>
          <p:cNvSpPr txBox="1"/>
          <p:nvPr/>
        </p:nvSpPr>
        <p:spPr>
          <a:xfrm>
            <a:off x="731520" y="731520"/>
            <a:ext cx="10698480" cy="731520"/>
          </a:xfrm>
          <a:prstGeom prst="rect">
            <a:avLst/>
          </a:prstGeom>
          <a:noFill/>
        </p:spPr>
        <p:txBody>
          <a:bodyPr wrap="square" lIns="0" rIns="0" tIns="0" bIns="0">
            <a:spAutoFit/>
          </a:bodyPr>
          <a:lstStyle/>
          <a:p>
            <a:pPr>
              <a:defRPr sz="2200" b="1">
                <a:solidFill>
                  <a:srgbClr val="0F172A"/>
                </a:solidFill>
                <a:latin typeface="Arial"/>
              </a:defRPr>
            </a:pPr>
            <a:r>
              <a:t>Transformers Process All Words Simultaneously Using Dynamic Self-Attention</a:t>
            </a:r>
          </a:p>
        </p:txBody>
      </p:sp>
      <p:sp>
        <p:nvSpPr>
          <p:cNvPr id="4" name="Rectangle 3"/>
          <p:cNvSpPr/>
          <p:nvPr/>
        </p:nvSpPr>
        <p:spPr>
          <a:xfrm>
            <a:off x="731520" y="1508760"/>
            <a:ext cx="1072865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square" lIns="0" rIns="0" tIns="0" bIns="0">
            <a:spAutoFit/>
          </a:bodyPr>
          <a:lstStyle/>
          <a:p>
            <a:pPr>
              <a:defRPr sz="1000">
                <a:solidFill>
                  <a:srgbClr val="64748B"/>
                </a:solidFill>
                <a:latin typeface="Calibri"/>
              </a:defRPr>
            </a:pPr>
            <a:r>
              <a:t>Essential Deep Learning &amp; Transformers  |  Slide 8 of 10</a:t>
            </a:r>
          </a:p>
        </p:txBody>
      </p:sp>
      <p:sp>
        <p:nvSpPr>
          <p:cNvPr id="6" name="Rounded Rectangle 5"/>
          <p:cNvSpPr/>
          <p:nvPr/>
        </p:nvSpPr>
        <p:spPr>
          <a:xfrm>
            <a:off x="731520" y="1737360"/>
            <a:ext cx="10728655" cy="1463040"/>
          </a:xfrm>
          <a:prstGeom prst="roundRect">
            <a:avLst/>
          </a:prstGeom>
          <a:solidFill>
            <a:srgbClr val="EEF2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ctr">
              <a:spcAft>
                <a:spcPts val="400"/>
              </a:spcAft>
              <a:defRPr sz="1500" b="1">
                <a:solidFill>
                  <a:srgbClr val="2563EB"/>
                </a:solidFill>
                <a:latin typeface="Arial"/>
              </a:defRPr>
            </a:pPr>
            <a:r>
              <a:t>The Core Challenge of Language: Resolving Contextual Ambiguity</a:t>
            </a:r>
          </a:p>
          <a:p>
            <a:pPr>
              <a:spcAft>
                <a:spcPts val="400"/>
              </a:spcAft>
              <a:defRPr sz="1300" b="1">
                <a:solidFill>
                  <a:srgbClr val="0F172A"/>
                </a:solidFill>
                <a:latin typeface="Consolas"/>
              </a:defRPr>
            </a:pPr>
            <a:r>
              <a:t>Sentence: 'The bank of the river was muddy'  vs.  'I deposited money in the bank'</a:t>
            </a:r>
          </a:p>
          <a:p>
            <a:pPr>
              <a:defRPr sz="1200">
                <a:solidFill>
                  <a:srgbClr val="334155"/>
                </a:solidFill>
                <a:latin typeface="Calibri"/>
              </a:defRPr>
            </a:pPr>
            <a:r>
              <a:t>The word 'bank' has identical spelling, but completely different meanings. Traditional models read sequentially and forgot early context. Self-attention solves this by letting every word look at every other word simultaneously!</a:t>
            </a:r>
          </a:p>
        </p:txBody>
      </p:sp>
      <p:sp>
        <p:nvSpPr>
          <p:cNvPr id="7" name="Rounded Rectangle 6"/>
          <p:cNvSpPr/>
          <p:nvPr/>
        </p:nvSpPr>
        <p:spPr>
          <a:xfrm>
            <a:off x="731520" y="3383280"/>
            <a:ext cx="5212080" cy="2743200"/>
          </a:xfrm>
          <a:prstGeom prst="roundRect">
            <a:avLst/>
          </a:prstGeom>
          <a:solidFill>
            <a:srgbClr val="F8FAFC"/>
          </a:solidFill>
          <a:ln w="1905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400"/>
              </a:spcAft>
              <a:defRPr sz="1500" b="1">
                <a:solidFill>
                  <a:srgbClr val="64748B"/>
                </a:solidFill>
                <a:latin typeface="Arial"/>
              </a:defRPr>
            </a:pPr>
            <a:r>
              <a:t>Old Way: Recurrent Networks (RNNs)</a:t>
            </a:r>
          </a:p>
          <a:p>
            <a:pPr>
              <a:spcAft>
                <a:spcPts val="600"/>
              </a:spcAft>
              <a:defRPr sz="1250">
                <a:solidFill>
                  <a:srgbClr val="334155"/>
                </a:solidFill>
                <a:latin typeface="Calibri"/>
              </a:defRPr>
            </a:pPr>
            <a:r>
              <a:t>• Reads text like a human: one single word at a time, left-to-right.</a:t>
            </a:r>
          </a:p>
          <a:p>
            <a:pPr>
              <a:spcAft>
                <a:spcPts val="600"/>
              </a:spcAft>
              <a:defRPr sz="1250">
                <a:solidFill>
                  <a:srgbClr val="334155"/>
                </a:solidFill>
                <a:latin typeface="Calibri"/>
              </a:defRPr>
            </a:pPr>
            <a:r>
              <a:t>• Information from word #1 fades and gets forgotten by word #50.</a:t>
            </a:r>
          </a:p>
          <a:p>
            <a:pPr>
              <a:spcAft>
                <a:spcPts val="600"/>
              </a:spcAft>
              <a:defRPr sz="1250">
                <a:solidFill>
                  <a:srgbClr val="334155"/>
                </a:solidFill>
                <a:latin typeface="Calibri"/>
              </a:defRPr>
            </a:pPr>
            <a:r>
              <a:t>• Cannot train in parallel across modern GPU clusters.</a:t>
            </a:r>
          </a:p>
        </p:txBody>
      </p:sp>
      <p:sp>
        <p:nvSpPr>
          <p:cNvPr id="8" name="Rounded Rectangle 7"/>
          <p:cNvSpPr/>
          <p:nvPr/>
        </p:nvSpPr>
        <p:spPr>
          <a:xfrm>
            <a:off x="6217920" y="3383280"/>
            <a:ext cx="5212080" cy="274320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400"/>
              </a:spcAft>
              <a:defRPr sz="1500" b="1">
                <a:solidFill>
                  <a:srgbClr val="2563EB"/>
                </a:solidFill>
                <a:latin typeface="Arial"/>
              </a:defRPr>
            </a:pPr>
            <a:r>
              <a:t>Transformer Way: Self-Attention</a:t>
            </a:r>
          </a:p>
          <a:p>
            <a:pPr>
              <a:spcAft>
                <a:spcPts val="600"/>
              </a:spcAft>
              <a:defRPr sz="1250">
                <a:solidFill>
                  <a:srgbClr val="334155"/>
                </a:solidFill>
                <a:latin typeface="Calibri"/>
              </a:defRPr>
            </a:pPr>
            <a:r>
              <a:t>• Digests the entire sentence at once, computing relationship scores across all word pairs.</a:t>
            </a:r>
          </a:p>
          <a:p>
            <a:pPr>
              <a:spcAft>
                <a:spcPts val="600"/>
              </a:spcAft>
              <a:defRPr sz="1250">
                <a:solidFill>
                  <a:srgbClr val="334155"/>
                </a:solidFill>
                <a:latin typeface="Calibri"/>
              </a:defRPr>
            </a:pPr>
            <a:r>
              <a:t>• Preserves long-range connections instantly, regardless of distance.</a:t>
            </a:r>
          </a:p>
          <a:p>
            <a:pPr>
              <a:spcAft>
                <a:spcPts val="600"/>
              </a:spcAft>
              <a:defRPr sz="1250">
                <a:solidFill>
                  <a:srgbClr val="334155"/>
                </a:solidFill>
                <a:latin typeface="Calibri"/>
              </a:defRPr>
            </a:pPr>
            <a:r>
              <a:t>• Enables massive parallel training for foundation models like GPT and BERT.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lIns="0" rIns="0" tIns="0" bIns="0">
            <a:spAutoFit/>
          </a:bodyPr>
          <a:lstStyle/>
          <a:p>
            <a:pPr>
              <a:defRPr sz="1100" b="1">
                <a:solidFill>
                  <a:srgbClr val="4F46E5"/>
                </a:solidFill>
                <a:latin typeface="Arial"/>
              </a:defRPr>
            </a:pPr>
            <a:r>
              <a:t>ATTENTION MECHANICS</a:t>
            </a:r>
          </a:p>
        </p:txBody>
      </p:sp>
      <p:sp>
        <p:nvSpPr>
          <p:cNvPr id="3" name="TextBox 2"/>
          <p:cNvSpPr txBox="1"/>
          <p:nvPr/>
        </p:nvSpPr>
        <p:spPr>
          <a:xfrm>
            <a:off x="731520" y="731520"/>
            <a:ext cx="10698480" cy="731520"/>
          </a:xfrm>
          <a:prstGeom prst="rect">
            <a:avLst/>
          </a:prstGeom>
          <a:noFill/>
        </p:spPr>
        <p:txBody>
          <a:bodyPr wrap="square" lIns="0" rIns="0" tIns="0" bIns="0">
            <a:spAutoFit/>
          </a:bodyPr>
          <a:lstStyle/>
          <a:p>
            <a:pPr>
              <a:defRPr sz="2200" b="1">
                <a:solidFill>
                  <a:srgbClr val="0F172A"/>
                </a:solidFill>
                <a:latin typeface="Arial"/>
              </a:defRPr>
            </a:pPr>
            <a:r>
              <a:t>Queries Match Keys to Retrieve Values, While Positional Encodings Preserve Sequence Order</a:t>
            </a:r>
          </a:p>
        </p:txBody>
      </p:sp>
      <p:sp>
        <p:nvSpPr>
          <p:cNvPr id="4" name="Rectangle 3"/>
          <p:cNvSpPr/>
          <p:nvPr/>
        </p:nvSpPr>
        <p:spPr>
          <a:xfrm>
            <a:off x="731520" y="1508760"/>
            <a:ext cx="1072865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square" lIns="0" rIns="0" tIns="0" bIns="0">
            <a:spAutoFit/>
          </a:bodyPr>
          <a:lstStyle/>
          <a:p>
            <a:pPr>
              <a:defRPr sz="1000">
                <a:solidFill>
                  <a:srgbClr val="64748B"/>
                </a:solidFill>
                <a:latin typeface="Calibri"/>
              </a:defRPr>
            </a:pPr>
            <a:r>
              <a:t>Essential Deep Learning &amp; Transformers  |  Slide 9 of 10</a:t>
            </a:r>
          </a:p>
        </p:txBody>
      </p:sp>
      <p:sp>
        <p:nvSpPr>
          <p:cNvPr id="6" name="Rounded Rectangle 5"/>
          <p:cNvSpPr/>
          <p:nvPr/>
        </p:nvSpPr>
        <p:spPr>
          <a:xfrm>
            <a:off x="731520" y="1828800"/>
            <a:ext cx="3328416" cy="246888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200"/>
              </a:spcAft>
              <a:defRPr sz="1600" b="1">
                <a:solidFill>
                  <a:srgbClr val="2563EB"/>
                </a:solidFill>
                <a:latin typeface="Arial"/>
              </a:defRPr>
            </a:pPr>
            <a:r>
              <a:t>Query (Q)</a:t>
            </a:r>
          </a:p>
          <a:p>
            <a:pPr>
              <a:spcAft>
                <a:spcPts val="800"/>
              </a:spcAft>
              <a:defRPr sz="1200" i="1">
                <a:solidFill>
                  <a:srgbClr val="64748B"/>
                </a:solidFill>
                <a:latin typeface="Calibri"/>
              </a:defRPr>
            </a:pPr>
            <a:r>
              <a:t>'What am I looking for?'</a:t>
            </a:r>
          </a:p>
          <a:p>
            <a:pPr>
              <a:spcAft>
                <a:spcPts val="400"/>
              </a:spcAft>
              <a:defRPr sz="1250">
                <a:solidFill>
                  <a:srgbClr val="334155"/>
                </a:solidFill>
                <a:latin typeface="Calibri"/>
              </a:defRPr>
            </a:pPr>
            <a:r>
              <a:t>• The search term.</a:t>
            </a:r>
          </a:p>
          <a:p>
            <a:pPr>
              <a:spcAft>
                <a:spcPts val="400"/>
              </a:spcAft>
              <a:defRPr sz="1250">
                <a:solidFill>
                  <a:srgbClr val="334155"/>
                </a:solidFill>
                <a:latin typeface="Calibri"/>
              </a:defRPr>
            </a:pPr>
            <a:r>
              <a:t>• Example: The word 'it' asks: 'Which noun in this sentence do I refer to?'</a:t>
            </a:r>
          </a:p>
        </p:txBody>
      </p:sp>
      <p:sp>
        <p:nvSpPr>
          <p:cNvPr id="7" name="Rounded Rectangle 6"/>
          <p:cNvSpPr/>
          <p:nvPr/>
        </p:nvSpPr>
        <p:spPr>
          <a:xfrm>
            <a:off x="4425696" y="1828800"/>
            <a:ext cx="3328416" cy="2468880"/>
          </a:xfrm>
          <a:prstGeom prst="roundRect">
            <a:avLst/>
          </a:prstGeom>
          <a:solidFill>
            <a:srgbClr val="F8FAFC"/>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200"/>
              </a:spcAft>
              <a:defRPr sz="1600" b="1">
                <a:solidFill>
                  <a:srgbClr val="4F46E5"/>
                </a:solidFill>
                <a:latin typeface="Arial"/>
              </a:defRPr>
            </a:pPr>
            <a:r>
              <a:t>Key (K)</a:t>
            </a:r>
          </a:p>
          <a:p>
            <a:pPr>
              <a:spcAft>
                <a:spcPts val="800"/>
              </a:spcAft>
              <a:defRPr sz="1200" i="1">
                <a:solidFill>
                  <a:srgbClr val="64748B"/>
                </a:solidFill>
                <a:latin typeface="Calibri"/>
              </a:defRPr>
            </a:pPr>
            <a:r>
              <a:t>'What do I offer?'</a:t>
            </a:r>
          </a:p>
          <a:p>
            <a:pPr>
              <a:spcAft>
                <a:spcPts val="400"/>
              </a:spcAft>
              <a:defRPr sz="1250">
                <a:solidFill>
                  <a:srgbClr val="334155"/>
                </a:solidFill>
                <a:latin typeface="Calibri"/>
              </a:defRPr>
            </a:pPr>
            <a:r>
              <a:t>• The catalog tag or label.</a:t>
            </a:r>
          </a:p>
          <a:p>
            <a:pPr>
              <a:spcAft>
                <a:spcPts val="400"/>
              </a:spcAft>
              <a:defRPr sz="1250">
                <a:solidFill>
                  <a:srgbClr val="334155"/>
                </a:solidFill>
                <a:latin typeface="Calibri"/>
              </a:defRPr>
            </a:pPr>
            <a:r>
              <a:t>• Example: The word 'cat' advertises: 'I am a singular furry animal.'</a:t>
            </a:r>
          </a:p>
        </p:txBody>
      </p:sp>
      <p:sp>
        <p:nvSpPr>
          <p:cNvPr id="8" name="Rounded Rectangle 7"/>
          <p:cNvSpPr/>
          <p:nvPr/>
        </p:nvSpPr>
        <p:spPr>
          <a:xfrm>
            <a:off x="8119872" y="1828800"/>
            <a:ext cx="3328416" cy="2468880"/>
          </a:xfrm>
          <a:prstGeom prst="roundRect">
            <a:avLst/>
          </a:prstGeom>
          <a:solidFill>
            <a:srgbClr val="F8FAFC"/>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200"/>
              </a:spcAft>
              <a:defRPr sz="1600" b="1">
                <a:solidFill>
                  <a:srgbClr val="059669"/>
                </a:solidFill>
                <a:latin typeface="Arial"/>
              </a:defRPr>
            </a:pPr>
            <a:r>
              <a:t>Value (V)</a:t>
            </a:r>
          </a:p>
          <a:p>
            <a:pPr>
              <a:spcAft>
                <a:spcPts val="800"/>
              </a:spcAft>
              <a:defRPr sz="1200" i="1">
                <a:solidFill>
                  <a:srgbClr val="64748B"/>
                </a:solidFill>
                <a:latin typeface="Calibri"/>
              </a:defRPr>
            </a:pPr>
            <a:r>
              <a:t>'The actual content'</a:t>
            </a:r>
          </a:p>
          <a:p>
            <a:pPr>
              <a:spcAft>
                <a:spcPts val="400"/>
              </a:spcAft>
              <a:defRPr sz="1250">
                <a:solidFill>
                  <a:srgbClr val="334155"/>
                </a:solidFill>
                <a:latin typeface="Calibri"/>
              </a:defRPr>
            </a:pPr>
            <a:r>
              <a:t>• The meaningful information.</a:t>
            </a:r>
          </a:p>
          <a:p>
            <a:pPr>
              <a:spcAft>
                <a:spcPts val="400"/>
              </a:spcAft>
              <a:defRPr sz="1250">
                <a:solidFill>
                  <a:srgbClr val="334155"/>
                </a:solidFill>
                <a:latin typeface="Calibri"/>
              </a:defRPr>
            </a:pPr>
            <a:r>
              <a:t>• When Q matches K, the model copies the Value information into the token's context.</a:t>
            </a:r>
          </a:p>
        </p:txBody>
      </p:sp>
      <p:sp>
        <p:nvSpPr>
          <p:cNvPr id="9" name="Rounded Rectangle 8"/>
          <p:cNvSpPr/>
          <p:nvPr/>
        </p:nvSpPr>
        <p:spPr>
          <a:xfrm>
            <a:off x="731520" y="4480560"/>
            <a:ext cx="10728655" cy="1645920"/>
          </a:xfrm>
          <a:prstGeom prst="roundRect">
            <a:avLst/>
          </a:prstGeom>
          <a:solidFill>
            <a:srgbClr val="FFF7ED"/>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ctr">
              <a:spcAft>
                <a:spcPts val="400"/>
              </a:spcAft>
              <a:defRPr sz="1500" b="1">
                <a:solidFill>
                  <a:srgbClr val="D97706"/>
                </a:solidFill>
                <a:latin typeface="Arial"/>
              </a:defRPr>
            </a:pPr>
            <a:r>
              <a:t>The Positional Encoding Puzzle: Why Do We Need Sine &amp; Cosine Waves?</a:t>
            </a:r>
          </a:p>
          <a:p>
            <a:pPr>
              <a:defRPr sz="1250">
                <a:solidFill>
                  <a:srgbClr val="334155"/>
                </a:solidFill>
                <a:latin typeface="Calibri"/>
              </a:defRPr>
            </a:pPr>
            <a:r>
              <a:t>Because self-attention examines all words at once, the sentences 'Dog bites man' and 'Man bites dog' look 100% identical to the attention formula! To preserve word order, the Transformer injects unique mathematical timestamps (sine and cosine wave values) directly into each word vector.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lIns="0" rIns="0" tIns="0" bIns="0">
            <a:spAutoFit/>
          </a:bodyPr>
          <a:lstStyle/>
          <a:p>
            <a:pPr>
              <a:defRPr sz="1100" b="1">
                <a:solidFill>
                  <a:srgbClr val="059669"/>
                </a:solidFill>
                <a:latin typeface="Arial"/>
              </a:defRPr>
            </a:pPr>
            <a:r>
              <a:t>BEST PRACTICES</a:t>
            </a:r>
          </a:p>
        </p:txBody>
      </p:sp>
      <p:sp>
        <p:nvSpPr>
          <p:cNvPr id="3" name="TextBox 2"/>
          <p:cNvSpPr txBox="1"/>
          <p:nvPr/>
        </p:nvSpPr>
        <p:spPr>
          <a:xfrm>
            <a:off x="731520" y="731520"/>
            <a:ext cx="10698480" cy="731520"/>
          </a:xfrm>
          <a:prstGeom prst="rect">
            <a:avLst/>
          </a:prstGeom>
          <a:noFill/>
        </p:spPr>
        <p:txBody>
          <a:bodyPr wrap="square" lIns="0" rIns="0" tIns="0" bIns="0">
            <a:spAutoFit/>
          </a:bodyPr>
          <a:lstStyle/>
          <a:p>
            <a:pPr>
              <a:defRPr sz="2200" b="1">
                <a:solidFill>
                  <a:srgbClr val="0F172A"/>
                </a:solidFill>
                <a:latin typeface="Arial"/>
              </a:defRPr>
            </a:pPr>
            <a:r>
              <a:t>Rigorous Dataset Splits and Ethical Safeguards Ensure Real-World Generalization</a:t>
            </a:r>
          </a:p>
        </p:txBody>
      </p:sp>
      <p:sp>
        <p:nvSpPr>
          <p:cNvPr id="4" name="Rectangle 3"/>
          <p:cNvSpPr/>
          <p:nvPr/>
        </p:nvSpPr>
        <p:spPr>
          <a:xfrm>
            <a:off x="731520" y="1508760"/>
            <a:ext cx="1072865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square" lIns="0" rIns="0" tIns="0" bIns="0">
            <a:spAutoFit/>
          </a:bodyPr>
          <a:lstStyle/>
          <a:p>
            <a:pPr>
              <a:defRPr sz="1000">
                <a:solidFill>
                  <a:srgbClr val="64748B"/>
                </a:solidFill>
                <a:latin typeface="Calibri"/>
              </a:defRPr>
            </a:pPr>
            <a:r>
              <a:t>Essential Deep Learning &amp; Transformers  |  Slide 10 of 10</a:t>
            </a:r>
          </a:p>
        </p:txBody>
      </p:sp>
      <p:sp>
        <p:nvSpPr>
          <p:cNvPr id="6" name="Rounded Rectangle 5"/>
          <p:cNvSpPr/>
          <p:nvPr/>
        </p:nvSpPr>
        <p:spPr>
          <a:xfrm>
            <a:off x="731520" y="1828800"/>
            <a:ext cx="3328416" cy="429768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sz="1600" b="1">
                <a:solidFill>
                  <a:srgbClr val="2563EB"/>
                </a:solidFill>
                <a:latin typeface="Arial"/>
              </a:defRPr>
            </a:pPr>
            <a:r>
              <a:t>The Golden Rule: Data Splits</a:t>
            </a:r>
          </a:p>
          <a:p>
            <a:pPr>
              <a:spcAft>
                <a:spcPts val="1000"/>
              </a:spcAft>
              <a:defRPr sz="1300">
                <a:solidFill>
                  <a:srgbClr val="334155"/>
                </a:solidFill>
                <a:latin typeface="Calibri"/>
              </a:defRPr>
            </a:pPr>
            <a:r>
              <a:t>• Training Set (70-80%): The homework problems used to tweak internal weights.</a:t>
            </a:r>
          </a:p>
          <a:p>
            <a:pPr>
              <a:spcAft>
                <a:spcPts val="1000"/>
              </a:spcAft>
              <a:defRPr sz="1300">
                <a:solidFill>
                  <a:srgbClr val="334155"/>
                </a:solidFill>
                <a:latin typeface="Calibri"/>
              </a:defRPr>
            </a:pPr>
            <a:r>
              <a:t>• Validation Set (10-15%): The mock test used to tune model settings and hyperparameters.</a:t>
            </a:r>
          </a:p>
          <a:p>
            <a:pPr>
              <a:spcAft>
                <a:spcPts val="1000"/>
              </a:spcAft>
              <a:defRPr sz="1300">
                <a:solidFill>
                  <a:srgbClr val="334155"/>
                </a:solidFill>
                <a:latin typeface="Calibri"/>
              </a:defRPr>
            </a:pPr>
            <a:r>
              <a:t>• Test Set (10-15%): The untouched final exam! Never tune weights on the test set, or you deceive yourself.</a:t>
            </a:r>
          </a:p>
        </p:txBody>
      </p:sp>
      <p:sp>
        <p:nvSpPr>
          <p:cNvPr id="7" name="Rounded Rectangle 6"/>
          <p:cNvSpPr/>
          <p:nvPr/>
        </p:nvSpPr>
        <p:spPr>
          <a:xfrm>
            <a:off x="4425696" y="1828800"/>
            <a:ext cx="3328416" cy="429768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sz="1600" b="1">
                <a:solidFill>
                  <a:srgbClr val="D97706"/>
                </a:solidFill>
                <a:latin typeface="Arial"/>
              </a:defRPr>
            </a:pPr>
            <a:r>
              <a:t>Avoiding Overfitting</a:t>
            </a:r>
          </a:p>
          <a:p>
            <a:pPr>
              <a:spcAft>
                <a:spcPts val="1000"/>
              </a:spcAft>
              <a:defRPr sz="1300">
                <a:solidFill>
                  <a:srgbClr val="334155"/>
                </a:solidFill>
                <a:latin typeface="Calibri"/>
              </a:defRPr>
            </a:pPr>
            <a:r>
              <a:t>• What is it? Memorizing noise in the training set instead of learning true concepts.</a:t>
            </a:r>
          </a:p>
          <a:p>
            <a:pPr>
              <a:spcAft>
                <a:spcPts val="1000"/>
              </a:spcAft>
              <a:defRPr sz="1300">
                <a:solidFill>
                  <a:srgbClr val="334155"/>
                </a:solidFill>
                <a:latin typeface="Calibri"/>
              </a:defRPr>
            </a:pPr>
            <a:r>
              <a:t>• High School Analogy: Memorizing the exact numbers on a practice math test instead of learning algebra.</a:t>
            </a:r>
          </a:p>
          <a:p>
            <a:pPr>
              <a:spcAft>
                <a:spcPts val="1000"/>
              </a:spcAft>
              <a:defRPr sz="1300">
                <a:solidFill>
                  <a:srgbClr val="334155"/>
                </a:solidFill>
                <a:latin typeface="Calibri"/>
              </a:defRPr>
            </a:pPr>
            <a:r>
              <a:t>• Symptom: 99% accuracy in training, but fails miserably on new real-world data.</a:t>
            </a:r>
          </a:p>
        </p:txBody>
      </p:sp>
      <p:sp>
        <p:nvSpPr>
          <p:cNvPr id="8" name="Rounded Rectangle 7"/>
          <p:cNvSpPr/>
          <p:nvPr/>
        </p:nvSpPr>
        <p:spPr>
          <a:xfrm>
            <a:off x="8119872" y="1828800"/>
            <a:ext cx="3328416" cy="4297680"/>
          </a:xfrm>
          <a:prstGeom prst="roundRect">
            <a:avLst/>
          </a:prstGeom>
          <a:solidFill>
            <a:srgbClr val="F8FAFC"/>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sz="1600" b="1">
                <a:solidFill>
                  <a:srgbClr val="059669"/>
                </a:solidFill>
                <a:latin typeface="Arial"/>
              </a:defRPr>
            </a:pPr>
            <a:r>
              <a:t>Responsible &amp; Ethical AI</a:t>
            </a:r>
          </a:p>
          <a:p>
            <a:pPr>
              <a:spcAft>
                <a:spcPts val="1000"/>
              </a:spcAft>
              <a:defRPr sz="1300">
                <a:solidFill>
                  <a:srgbClr val="334155"/>
                </a:solidFill>
                <a:latin typeface="Calibri"/>
              </a:defRPr>
            </a:pPr>
            <a:r>
              <a:t>• Dataset Bias: If training data contains historic societal prejudices, the model faithfully learns to reproduce them.</a:t>
            </a:r>
          </a:p>
          <a:p>
            <a:pPr>
              <a:spcAft>
                <a:spcPts val="1000"/>
              </a:spcAft>
              <a:defRPr sz="1300">
                <a:solidFill>
                  <a:srgbClr val="334155"/>
                </a:solidFill>
                <a:latin typeface="Calibri"/>
              </a:defRPr>
            </a:pPr>
            <a:r>
              <a:t>• Privacy &amp; Security: Protecting private records from leaking through generative outputs.</a:t>
            </a:r>
          </a:p>
          <a:p>
            <a:pPr>
              <a:spcAft>
                <a:spcPts val="1000"/>
              </a:spcAft>
              <a:defRPr sz="1300">
                <a:solidFill>
                  <a:srgbClr val="334155"/>
                </a:solidFill>
                <a:latin typeface="Calibri"/>
              </a:defRPr>
            </a:pPr>
            <a:r>
              <a:t>• Human in the Loop: Keeping expert human oversight for critical medical and legal decisions.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