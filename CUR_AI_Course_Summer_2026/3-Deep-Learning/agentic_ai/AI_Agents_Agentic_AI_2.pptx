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CA" sz="1800" b="0" u="none" strike="noStrike">
                <a:solidFill>
                  <a:schemeClr val="dk1"/>
                </a:solidFill>
                <a:effectLst/>
                <a:uFillTx/>
                <a:latin typeface="Calibri"/>
              </a:rPr>
              <a:t>Click to move the slide</a:t>
            </a:r>
            <a:endParaRPr lang="en-CA" sz="1800" b="0" u="none" strike="noStrike">
              <a:solidFill>
                <a:schemeClr val="dk1"/>
              </a:solidFill>
              <a:effectLst/>
              <a:uFillTx/>
              <a:latin typeface="Calibri"/>
            </a:endParaRPr>
          </a:p>
        </p:txBody>
      </p:sp>
      <p:sp>
        <p:nvSpPr>
          <p:cNvPr id="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CA" sz="2000" b="0" u="none" strike="noStrike">
                <a:solidFill>
                  <a:srgbClr val="000000"/>
                </a:solidFill>
                <a:effectLst/>
                <a:uFillTx/>
                <a:latin typeface="Arial"/>
              </a:rPr>
              <a:t>Click to edit the notes format</a:t>
            </a:r>
            <a:endParaRPr lang="en-CA" sz="2000" b="0" u="none" strike="noStrike">
              <a:solidFill>
                <a:srgbClr val="000000"/>
              </a:solidFill>
              <a:effectLst/>
              <a:uFillTx/>
              <a:latin typeface="Arial"/>
            </a:endParaRPr>
          </a:p>
        </p:txBody>
      </p:sp>
      <p:sp>
        <p:nvSpPr>
          <p:cNvPr id="8"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CA" sz="1400" b="0" u="none" strike="noStrike">
                <a:solidFill>
                  <a:srgbClr val="000000"/>
                </a:solidFill>
                <a:effectLst/>
                <a:uFillTx/>
                <a:latin typeface="Times New Roman"/>
              </a:rPr>
              <a:t> </a:t>
            </a:r>
            <a:endParaRPr lang="en-CA" sz="1400" b="0" u="none" strike="noStrike">
              <a:solidFill>
                <a:srgbClr val="000000"/>
              </a:solidFill>
              <a:effectLst/>
              <a:uFillTx/>
              <a:latin typeface="Times New Roman"/>
            </a:endParaRPr>
          </a:p>
        </p:txBody>
      </p:sp>
      <p:sp>
        <p:nvSpPr>
          <p:cNvPr id="9"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CA" sz="1400" b="0" u="none" strike="noStrike">
                <a:solidFill>
                  <a:srgbClr val="000000"/>
                </a:solidFill>
                <a:effectLst/>
                <a:uFillTx/>
                <a:latin typeface="Times New Roman"/>
              </a:defRPr>
            </a:lvl1pPr>
          </a:lstStyle>
          <a:p>
            <a:pPr indent="0" algn="r">
              <a:buNone/>
            </a:pPr>
            <a:r>
              <a:rPr lang="en-CA" sz="1400" b="0" u="none" strike="noStrike">
                <a:solidFill>
                  <a:srgbClr val="000000"/>
                </a:solidFill>
                <a:effectLst/>
                <a:uFillTx/>
                <a:latin typeface="Times New Roman"/>
              </a:rPr>
              <a:t> </a:t>
            </a:r>
            <a:endParaRPr lang="en-CA" sz="1400" b="0" u="none" strike="noStrike">
              <a:solidFill>
                <a:srgbClr val="000000"/>
              </a:solidFill>
              <a:effectLst/>
              <a:uFillTx/>
              <a:latin typeface="Times New Roman"/>
            </a:endParaRPr>
          </a:p>
        </p:txBody>
      </p:sp>
      <p:sp>
        <p:nvSpPr>
          <p:cNvPr id="10"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CA" sz="1400" b="0" u="none" strike="noStrike">
                <a:solidFill>
                  <a:srgbClr val="000000"/>
                </a:solidFill>
                <a:effectLst/>
                <a:uFillTx/>
                <a:latin typeface="Times New Roman"/>
              </a:defRPr>
            </a:lvl1pPr>
          </a:lstStyle>
          <a:p>
            <a:pPr indent="0" algn="l">
              <a:buNone/>
            </a:pPr>
            <a:r>
              <a:rPr lang="en-CA" sz="1400" b="0" u="none" strike="noStrike">
                <a:solidFill>
                  <a:srgbClr val="000000"/>
                </a:solidFill>
                <a:effectLst/>
                <a:uFillTx/>
                <a:latin typeface="Times New Roman"/>
              </a:rPr>
              <a:t> </a:t>
            </a:r>
            <a:endParaRPr lang="en-CA" sz="1400" b="0" u="none" strike="noStrike">
              <a:solidFill>
                <a:srgbClr val="000000"/>
              </a:solidFill>
              <a:effectLst/>
              <a:uFillTx/>
              <a:latin typeface="Times New Roman"/>
            </a:endParaRPr>
          </a:p>
        </p:txBody>
      </p:sp>
      <p:sp>
        <p:nvSpPr>
          <p:cNvPr id="11"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CA" sz="1400" b="0" u="none" strike="noStrike">
                <a:solidFill>
                  <a:srgbClr val="000000"/>
                </a:solidFill>
                <a:effectLst/>
                <a:uFillTx/>
                <a:latin typeface="Times New Roman"/>
              </a:defRPr>
            </a:lvl1pPr>
          </a:lstStyle>
          <a:p>
            <a:pPr indent="0" algn="r">
              <a:buNone/>
            </a:pPr>
            <a:fld id="{54C71F99-EC66-490C-AEB9-6A84AE32F9F1}" type="slidenum">
              <a:rPr lang="en-CA" sz="1400" b="0" u="none" strike="noStrike">
                <a:solidFill>
                  <a:srgbClr val="000000"/>
                </a:solidFill>
                <a:effectLst/>
                <a:uFillTx/>
                <a:latin typeface="Times New Roman"/>
              </a:rPr>
              <a:t>1</a:t>
            </a:fld>
            <a:endParaRPr lang="en-CA"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Img"/>
          </p:nvPr>
        </p:nvSpPr>
        <p:spPr>
          <a:xfrm>
            <a:off x="685800" y="1143000"/>
            <a:ext cx="5485680" cy="3085560"/>
          </a:xfrm>
          <a:prstGeom prst="rect">
            <a:avLst/>
          </a:prstGeom>
          <a:ln w="0">
            <a:noFill/>
          </a:ln>
        </p:spPr>
      </p:sp>
      <p:sp>
        <p:nvSpPr>
          <p:cNvPr id="57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575"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0F7B086-BF55-4C57-ACBC-B4945F37A0DF}"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Img"/>
          </p:nvPr>
        </p:nvSpPr>
        <p:spPr>
          <a:xfrm>
            <a:off x="685800" y="1143000"/>
            <a:ext cx="5485680" cy="3085560"/>
          </a:xfrm>
          <a:prstGeom prst="rect">
            <a:avLst/>
          </a:prstGeom>
          <a:ln w="0">
            <a:noFill/>
          </a:ln>
        </p:spPr>
      </p:sp>
      <p:sp>
        <p:nvSpPr>
          <p:cNvPr id="57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578"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F60049F-092F-4475-A570-457929D218B4}"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685800" y="1143000"/>
            <a:ext cx="5485680" cy="3085560"/>
          </a:xfrm>
          <a:prstGeom prst="rect">
            <a:avLst/>
          </a:prstGeom>
          <a:ln w="0">
            <a:noFill/>
          </a:ln>
        </p:spPr>
      </p:sp>
      <p:sp>
        <p:nvSpPr>
          <p:cNvPr id="58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581"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42104EC-AF1D-4A82-AFAF-D7B38FB14D30}"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Img"/>
          </p:nvPr>
        </p:nvSpPr>
        <p:spPr>
          <a:xfrm>
            <a:off x="685800" y="1143000"/>
            <a:ext cx="5485680" cy="3085560"/>
          </a:xfrm>
          <a:prstGeom prst="rect">
            <a:avLst/>
          </a:prstGeom>
          <a:ln w="0">
            <a:noFill/>
          </a:ln>
        </p:spPr>
      </p:sp>
      <p:sp>
        <p:nvSpPr>
          <p:cNvPr id="58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584"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2C0F732-0D81-48B4-9B82-B1EAAB42E82A}"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Img"/>
          </p:nvPr>
        </p:nvSpPr>
        <p:spPr>
          <a:xfrm>
            <a:off x="685800" y="1143000"/>
            <a:ext cx="5485680" cy="3085560"/>
          </a:xfrm>
          <a:prstGeom prst="rect">
            <a:avLst/>
          </a:prstGeom>
          <a:ln w="0">
            <a:noFill/>
          </a:ln>
        </p:spPr>
      </p:sp>
      <p:sp>
        <p:nvSpPr>
          <p:cNvPr id="58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587"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C0ED642-E83C-4083-9399-F78D548EEB1E}"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Img"/>
          </p:nvPr>
        </p:nvSpPr>
        <p:spPr>
          <a:xfrm>
            <a:off x="685800" y="1143000"/>
            <a:ext cx="5485680" cy="3085560"/>
          </a:xfrm>
          <a:prstGeom prst="rect">
            <a:avLst/>
          </a:prstGeom>
          <a:ln w="0">
            <a:noFill/>
          </a:ln>
        </p:spPr>
      </p:sp>
      <p:sp>
        <p:nvSpPr>
          <p:cNvPr id="58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590"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667528A-D7F0-47EF-B4A1-0E95B440A5B5}"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Img"/>
          </p:nvPr>
        </p:nvSpPr>
        <p:spPr>
          <a:xfrm>
            <a:off x="685800" y="1143000"/>
            <a:ext cx="5485680" cy="3085560"/>
          </a:xfrm>
          <a:prstGeom prst="rect">
            <a:avLst/>
          </a:prstGeom>
          <a:ln w="0">
            <a:noFill/>
          </a:ln>
        </p:spPr>
      </p:sp>
      <p:sp>
        <p:nvSpPr>
          <p:cNvPr id="59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593"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0B875A6-4C47-47E5-A395-2B8E2165EDF8}"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Img"/>
          </p:nvPr>
        </p:nvSpPr>
        <p:spPr>
          <a:xfrm>
            <a:off x="685800" y="1143000"/>
            <a:ext cx="5485680" cy="3085560"/>
          </a:xfrm>
          <a:prstGeom prst="rect">
            <a:avLst/>
          </a:prstGeom>
          <a:ln w="0">
            <a:noFill/>
          </a:ln>
        </p:spPr>
      </p:sp>
      <p:sp>
        <p:nvSpPr>
          <p:cNvPr id="59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596"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A05DB1D-DEFC-41E9-8B45-19663567E284}"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Img"/>
          </p:nvPr>
        </p:nvSpPr>
        <p:spPr>
          <a:xfrm>
            <a:off x="685800" y="1143000"/>
            <a:ext cx="5485680" cy="3085560"/>
          </a:xfrm>
          <a:prstGeom prst="rect">
            <a:avLst/>
          </a:prstGeom>
          <a:ln w="0">
            <a:noFill/>
          </a:ln>
        </p:spPr>
      </p:sp>
      <p:sp>
        <p:nvSpPr>
          <p:cNvPr id="59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599"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C88C630-7134-40FC-A834-F9873D8405BD}"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685800" y="1143000"/>
            <a:ext cx="5485680" cy="3085560"/>
          </a:xfrm>
          <a:prstGeom prst="rect">
            <a:avLst/>
          </a:prstGeom>
          <a:ln w="0">
            <a:noFill/>
          </a:ln>
        </p:spPr>
      </p:sp>
      <p:sp>
        <p:nvSpPr>
          <p:cNvPr id="60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02"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D537ADC-0DDA-4040-B506-1479BA6EB9DA}"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sldImg"/>
          </p:nvPr>
        </p:nvSpPr>
        <p:spPr>
          <a:xfrm>
            <a:off x="685800" y="1143000"/>
            <a:ext cx="5485680" cy="3085560"/>
          </a:xfrm>
          <a:prstGeom prst="rect">
            <a:avLst/>
          </a:prstGeom>
          <a:ln w="0">
            <a:noFill/>
          </a:ln>
        </p:spPr>
      </p:sp>
      <p:sp>
        <p:nvSpPr>
          <p:cNvPr id="60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05"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764D1B1-526E-4FE0-AF4D-BC5A18BF21EF}"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685800" y="1143000"/>
            <a:ext cx="5485680" cy="3085560"/>
          </a:xfrm>
          <a:prstGeom prst="rect">
            <a:avLst/>
          </a:prstGeom>
          <a:ln w="0">
            <a:noFill/>
          </a:ln>
        </p:spPr>
      </p:sp>
      <p:sp>
        <p:nvSpPr>
          <p:cNvPr id="60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08"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A645B75-8E1C-4F8D-B279-23C3AE6D903D}"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ldImg"/>
          </p:nvPr>
        </p:nvSpPr>
        <p:spPr>
          <a:xfrm>
            <a:off x="685800" y="1143000"/>
            <a:ext cx="5485680" cy="3085560"/>
          </a:xfrm>
          <a:prstGeom prst="rect">
            <a:avLst/>
          </a:prstGeom>
          <a:ln w="0">
            <a:noFill/>
          </a:ln>
        </p:spPr>
      </p:sp>
      <p:sp>
        <p:nvSpPr>
          <p:cNvPr id="61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11"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1862051-7F0D-44A6-86C0-CB4C463534E7}"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Img"/>
          </p:nvPr>
        </p:nvSpPr>
        <p:spPr>
          <a:xfrm>
            <a:off x="685800" y="1143000"/>
            <a:ext cx="5485680" cy="3085560"/>
          </a:xfrm>
          <a:prstGeom prst="rect">
            <a:avLst/>
          </a:prstGeom>
          <a:ln w="0">
            <a:noFill/>
          </a:ln>
        </p:spPr>
      </p:sp>
      <p:sp>
        <p:nvSpPr>
          <p:cNvPr id="61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14"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9B19CC6-F9CE-42BB-BBE0-03F212FF53F0}"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sldImg"/>
          </p:nvPr>
        </p:nvSpPr>
        <p:spPr>
          <a:xfrm>
            <a:off x="685800" y="1143000"/>
            <a:ext cx="5485680" cy="3085560"/>
          </a:xfrm>
          <a:prstGeom prst="rect">
            <a:avLst/>
          </a:prstGeom>
          <a:ln w="0">
            <a:noFill/>
          </a:ln>
        </p:spPr>
      </p:sp>
      <p:sp>
        <p:nvSpPr>
          <p:cNvPr id="61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17"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CC6F9C8-B51F-40CD-A71D-2FED8DC85201}"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sldImg"/>
          </p:nvPr>
        </p:nvSpPr>
        <p:spPr>
          <a:xfrm>
            <a:off x="685800" y="1143000"/>
            <a:ext cx="5485680" cy="3085560"/>
          </a:xfrm>
          <a:prstGeom prst="rect">
            <a:avLst/>
          </a:prstGeom>
          <a:ln w="0">
            <a:noFill/>
          </a:ln>
        </p:spPr>
      </p:sp>
      <p:sp>
        <p:nvSpPr>
          <p:cNvPr id="61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20"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F7B9851-5AD1-40C6-89A7-063D34502333}"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sldImg"/>
          </p:nvPr>
        </p:nvSpPr>
        <p:spPr>
          <a:xfrm>
            <a:off x="685800" y="1143000"/>
            <a:ext cx="5485680" cy="3085560"/>
          </a:xfrm>
          <a:prstGeom prst="rect">
            <a:avLst/>
          </a:prstGeom>
          <a:ln w="0">
            <a:noFill/>
          </a:ln>
        </p:spPr>
      </p:sp>
      <p:sp>
        <p:nvSpPr>
          <p:cNvPr id="62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23"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2F4F7C0-C543-42A3-BF9F-35037375C4C2}"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sldImg"/>
          </p:nvPr>
        </p:nvSpPr>
        <p:spPr>
          <a:xfrm>
            <a:off x="685800" y="1143000"/>
            <a:ext cx="5485680" cy="3085560"/>
          </a:xfrm>
          <a:prstGeom prst="rect">
            <a:avLst/>
          </a:prstGeom>
          <a:ln w="0">
            <a:noFill/>
          </a:ln>
        </p:spPr>
      </p:sp>
      <p:sp>
        <p:nvSpPr>
          <p:cNvPr id="62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Times New Roman"/>
            </a:endParaRPr>
          </a:p>
        </p:txBody>
      </p:sp>
      <p:sp>
        <p:nvSpPr>
          <p:cNvPr id="626"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D4EB50A-500C-4F55-8DE1-82F83364C08A}"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sldImg"/>
          </p:nvPr>
        </p:nvSpPr>
        <p:spPr>
          <a:xfrm>
            <a:off x="685800" y="1143000"/>
            <a:ext cx="5485680" cy="3085560"/>
          </a:xfrm>
          <a:prstGeom prst="rect">
            <a:avLst/>
          </a:prstGeom>
          <a:ln w="0">
            <a:noFill/>
          </a:ln>
        </p:spPr>
      </p:sp>
      <p:sp>
        <p:nvSpPr>
          <p:cNvPr id="62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Times New Roman"/>
            </a:endParaRPr>
          </a:p>
        </p:txBody>
      </p:sp>
      <p:sp>
        <p:nvSpPr>
          <p:cNvPr id="629"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1FEF4B1-44EA-4B9B-A0DB-25E7130CE8C2}"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Img"/>
          </p:nvPr>
        </p:nvSpPr>
        <p:spPr>
          <a:xfrm>
            <a:off x="685800" y="1143000"/>
            <a:ext cx="5485680" cy="3085560"/>
          </a:xfrm>
          <a:prstGeom prst="rect">
            <a:avLst/>
          </a:prstGeom>
          <a:ln w="0">
            <a:noFill/>
          </a:ln>
        </p:spPr>
      </p:sp>
      <p:sp>
        <p:nvSpPr>
          <p:cNvPr id="63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32"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5B6743E-0381-4F15-90D5-B5014C0A20AB}"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Img"/>
          </p:nvPr>
        </p:nvSpPr>
        <p:spPr>
          <a:xfrm>
            <a:off x="685800" y="1143000"/>
            <a:ext cx="5485680" cy="3085560"/>
          </a:xfrm>
          <a:prstGeom prst="rect">
            <a:avLst/>
          </a:prstGeom>
          <a:ln w="0">
            <a:noFill/>
          </a:ln>
        </p:spPr>
      </p:sp>
      <p:sp>
        <p:nvSpPr>
          <p:cNvPr id="63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35"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99B58CF-2562-454C-A15E-0410A8E9B1FD}"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Img"/>
          </p:nvPr>
        </p:nvSpPr>
        <p:spPr>
          <a:xfrm>
            <a:off x="685800" y="1143000"/>
            <a:ext cx="5485680" cy="3085560"/>
          </a:xfrm>
          <a:prstGeom prst="rect">
            <a:avLst/>
          </a:prstGeom>
          <a:ln w="0">
            <a:noFill/>
          </a:ln>
        </p:spPr>
      </p:sp>
      <p:sp>
        <p:nvSpPr>
          <p:cNvPr id="63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38"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34FBC77-8D31-457E-A20A-61873ED0D9AA}"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sldImg"/>
          </p:nvPr>
        </p:nvSpPr>
        <p:spPr>
          <a:xfrm>
            <a:off x="685800" y="1143000"/>
            <a:ext cx="5485680" cy="3085560"/>
          </a:xfrm>
          <a:prstGeom prst="rect">
            <a:avLst/>
          </a:prstGeom>
          <a:ln w="0">
            <a:noFill/>
          </a:ln>
        </p:spPr>
      </p:sp>
      <p:sp>
        <p:nvSpPr>
          <p:cNvPr id="64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41"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59DCB49-792E-4F36-AA60-84FADE44A52D}"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Img"/>
          </p:nvPr>
        </p:nvSpPr>
        <p:spPr>
          <a:xfrm>
            <a:off x="685800" y="1143000"/>
            <a:ext cx="5485680" cy="3085560"/>
          </a:xfrm>
          <a:prstGeom prst="rect">
            <a:avLst/>
          </a:prstGeom>
          <a:ln w="0">
            <a:noFill/>
          </a:ln>
        </p:spPr>
      </p:sp>
      <p:sp>
        <p:nvSpPr>
          <p:cNvPr id="64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44"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A973AD2-AB7A-4DBE-A0E7-5E5660701A1D}"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sldImg"/>
          </p:nvPr>
        </p:nvSpPr>
        <p:spPr>
          <a:xfrm>
            <a:off x="685800" y="1143000"/>
            <a:ext cx="5485680" cy="3085560"/>
          </a:xfrm>
          <a:prstGeom prst="rect">
            <a:avLst/>
          </a:prstGeom>
          <a:ln w="0">
            <a:noFill/>
          </a:ln>
        </p:spPr>
      </p:sp>
      <p:sp>
        <p:nvSpPr>
          <p:cNvPr id="64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47"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E7D0456-23AE-403C-B308-2AC1901B1B10}"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PlaceHolder 1"/>
          <p:cNvSpPr>
            <a:spLocks noGrp="1"/>
          </p:cNvSpPr>
          <p:nvPr>
            <p:ph type="sldImg"/>
          </p:nvPr>
        </p:nvSpPr>
        <p:spPr>
          <a:xfrm>
            <a:off x="685800" y="1143000"/>
            <a:ext cx="5485680" cy="3085560"/>
          </a:xfrm>
          <a:prstGeom prst="rect">
            <a:avLst/>
          </a:prstGeom>
          <a:ln w="0">
            <a:noFill/>
          </a:ln>
        </p:spPr>
      </p:sp>
      <p:sp>
        <p:nvSpPr>
          <p:cNvPr id="64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50"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B8CA049-EEB3-4ADE-862D-16B75916F2D9}"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PlaceHolder 1"/>
          <p:cNvSpPr>
            <a:spLocks noGrp="1"/>
          </p:cNvSpPr>
          <p:nvPr>
            <p:ph type="sldImg"/>
          </p:nvPr>
        </p:nvSpPr>
        <p:spPr>
          <a:xfrm>
            <a:off x="685800" y="1143000"/>
            <a:ext cx="5485680" cy="3085560"/>
          </a:xfrm>
          <a:prstGeom prst="rect">
            <a:avLst/>
          </a:prstGeom>
          <a:ln w="0">
            <a:noFill/>
          </a:ln>
        </p:spPr>
      </p:sp>
      <p:sp>
        <p:nvSpPr>
          <p:cNvPr id="65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53"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9B6CCF7-3843-46E4-AB64-39CA2E3B18FE}"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type="sldImg"/>
          </p:nvPr>
        </p:nvSpPr>
        <p:spPr>
          <a:xfrm>
            <a:off x="685800" y="1143000"/>
            <a:ext cx="5485680" cy="3085560"/>
          </a:xfrm>
          <a:prstGeom prst="rect">
            <a:avLst/>
          </a:prstGeom>
          <a:ln w="0">
            <a:noFill/>
          </a:ln>
        </p:spPr>
      </p:sp>
      <p:sp>
        <p:nvSpPr>
          <p:cNvPr id="65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56"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DEF202A-5BBB-4655-A411-1C731858DD98}"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PlaceHolder 1"/>
          <p:cNvSpPr>
            <a:spLocks noGrp="1"/>
          </p:cNvSpPr>
          <p:nvPr>
            <p:ph type="sldImg"/>
          </p:nvPr>
        </p:nvSpPr>
        <p:spPr>
          <a:xfrm>
            <a:off x="685800" y="1143000"/>
            <a:ext cx="5485680" cy="3085560"/>
          </a:xfrm>
          <a:prstGeom prst="rect">
            <a:avLst/>
          </a:prstGeom>
          <a:ln w="0">
            <a:noFill/>
          </a:ln>
        </p:spPr>
      </p:sp>
      <p:sp>
        <p:nvSpPr>
          <p:cNvPr id="65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59"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E1AAD44-5D76-4807-82C3-A464CFE3A980}"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sldImg"/>
          </p:nvPr>
        </p:nvSpPr>
        <p:spPr>
          <a:xfrm>
            <a:off x="685800" y="1143000"/>
            <a:ext cx="5485680" cy="3085560"/>
          </a:xfrm>
          <a:prstGeom prst="rect">
            <a:avLst/>
          </a:prstGeom>
          <a:ln w="0">
            <a:noFill/>
          </a:ln>
        </p:spPr>
      </p:sp>
      <p:sp>
        <p:nvSpPr>
          <p:cNvPr id="6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62"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D588DA9-ECB3-42C1-A669-0E2402301578}"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Img"/>
          </p:nvPr>
        </p:nvSpPr>
        <p:spPr>
          <a:xfrm>
            <a:off x="685800" y="1143000"/>
            <a:ext cx="5485680" cy="3085560"/>
          </a:xfrm>
          <a:prstGeom prst="rect">
            <a:avLst/>
          </a:prstGeom>
          <a:ln w="0">
            <a:noFill/>
          </a:ln>
        </p:spPr>
      </p:sp>
      <p:sp>
        <p:nvSpPr>
          <p:cNvPr id="6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65" name="PlaceHolder 3"/>
          <p:cNvSpPr>
            <a:spLocks noGrp="1"/>
          </p:cNvSpPr>
          <p:nvPr>
            <p:ph type="sldNum" idx="3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10C6F64-C591-461B-8407-ECBC374BFEDE}"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PlaceHolder 1"/>
          <p:cNvSpPr>
            <a:spLocks noGrp="1"/>
          </p:cNvSpPr>
          <p:nvPr>
            <p:ph type="sldImg"/>
          </p:nvPr>
        </p:nvSpPr>
        <p:spPr>
          <a:xfrm>
            <a:off x="685800" y="1143000"/>
            <a:ext cx="5485680" cy="3085560"/>
          </a:xfrm>
          <a:prstGeom prst="rect">
            <a:avLst/>
          </a:prstGeom>
          <a:ln w="0">
            <a:noFill/>
          </a:ln>
        </p:spPr>
      </p:sp>
      <p:sp>
        <p:nvSpPr>
          <p:cNvPr id="66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CA" sz="1800" b="0" u="none" strike="noStrike">
              <a:solidFill>
                <a:srgbClr val="000000"/>
              </a:solidFill>
              <a:effectLst/>
              <a:uFillTx/>
              <a:latin typeface="Arial"/>
            </a:endParaRPr>
          </a:p>
        </p:txBody>
      </p:sp>
      <p:sp>
        <p:nvSpPr>
          <p:cNvPr id="668" name="PlaceHolder 3"/>
          <p:cNvSpPr>
            <a:spLocks noGrp="1"/>
          </p:cNvSpPr>
          <p:nvPr>
            <p:ph type="sldNum" idx="3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FBEFE7D-AD51-4893-9527-1F0F114E8CBE}" type="slidenum">
              <a:rPr lang="en-US" sz="1200" b="0" u="none" strike="noStrike">
                <a:solidFill>
                  <a:schemeClr val="dk1"/>
                </a:solidFill>
                <a:effectLst/>
                <a:uFillTx/>
                <a:latin typeface="+mn-lt"/>
                <a:ea typeface="+mn-ea"/>
              </a:rPr>
              <a:t>&lt;number&gt;</a:t>
            </a:fld>
            <a:endParaRPr lang="en-CA"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CA" sz="1800" b="0" u="none" strike="noStrike">
                <a:solidFill>
                  <a:schemeClr val="dk1"/>
                </a:solidFill>
                <a:effectLst/>
                <a:uFillTx/>
                <a:latin typeface="Calibri"/>
              </a:defRPr>
            </a:lvl1pPr>
          </a:lstStyle>
          <a:p>
            <a:pPr indent="0" algn="l">
              <a:buNone/>
              <a:tabLst>
                <a:tab pos="0" algn="l"/>
              </a:tabLst>
            </a:pPr>
            <a:r>
              <a:rPr lang="en-CA" sz="1800" b="0" u="none" strike="noStrike">
                <a:solidFill>
                  <a:schemeClr val="dk1"/>
                </a:solidFill>
                <a:effectLst/>
                <a:uFillTx/>
                <a:latin typeface="Calibri"/>
              </a:rPr>
              <a:t>Click </a:t>
            </a:r>
            <a:r>
              <a:rPr lang="en-CA" sz="1800" b="0" u="none" strike="noStrike">
                <a:solidFill>
                  <a:schemeClr val="dk1"/>
                </a:solidFill>
                <a:effectLst/>
                <a:uFillTx/>
                <a:latin typeface="Calibri"/>
              </a:rPr>
              <a:t>to </a:t>
            </a:r>
            <a:r>
              <a:rPr lang="en-CA" sz="1800" b="0" u="none" strike="noStrike">
                <a:solidFill>
                  <a:schemeClr val="dk1"/>
                </a:solidFill>
                <a:effectLst/>
                <a:uFillTx/>
                <a:latin typeface="Calibri"/>
              </a:rPr>
              <a:t>edit </a:t>
            </a:r>
            <a:r>
              <a:rPr lang="en-CA" sz="1800" b="0" u="none" strike="noStrike">
                <a:solidFill>
                  <a:schemeClr val="dk1"/>
                </a:solidFill>
                <a:effectLst/>
                <a:uFillTx/>
                <a:latin typeface="Calibri"/>
              </a:rPr>
              <a:t>the </a:t>
            </a:r>
            <a:r>
              <a:rPr lang="en-CA" sz="1800" b="0" u="none" strike="noStrike">
                <a:solidFill>
                  <a:schemeClr val="dk1"/>
                </a:solidFill>
                <a:effectLst/>
                <a:uFillTx/>
                <a:latin typeface="Calibri"/>
              </a:rPr>
              <a:t>title </a:t>
            </a:r>
            <a:r>
              <a:rPr lang="en-CA" sz="1800" b="0" u="none" strike="noStrike">
                <a:solidFill>
                  <a:schemeClr val="dk1"/>
                </a:solidFill>
                <a:effectLst/>
                <a:uFillTx/>
                <a:latin typeface="Calibri"/>
              </a:rPr>
              <a:t>text </a:t>
            </a:r>
            <a:r>
              <a:rPr lang="en-CA" sz="1800" b="0" u="none" strike="noStrike">
                <a:solidFill>
                  <a:schemeClr val="dk1"/>
                </a:solidFill>
                <a:effectLst/>
                <a:uFillTx/>
                <a:latin typeface="Calibri"/>
              </a:rPr>
              <a:t>form</a:t>
            </a:r>
            <a:r>
              <a:rPr lang="en-CA" sz="1800" b="0" u="none" strike="noStrike">
                <a:solidFill>
                  <a:schemeClr val="dk1"/>
                </a:solidFill>
                <a:effectLst/>
                <a:uFillTx/>
                <a:latin typeface="Calibri"/>
              </a:rPr>
              <a:t>at</a:t>
            </a:r>
            <a:endParaRPr lang="en-CA"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CA"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CA"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CA"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CA"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CA"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CA"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CA"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CA" sz="3200" b="0" u="none" strike="noStrike">
                <a:solidFill>
                  <a:schemeClr val="dk1"/>
                </a:solidFill>
                <a:effectLst/>
                <a:uFillTx/>
                <a:latin typeface="Calibri"/>
              </a:rPr>
              <a:t>Click to edit the outline text format</a:t>
            </a:r>
            <a:endParaRPr lang="en-CA"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CA" sz="2400" b="0" u="none" strike="noStrike">
                <a:solidFill>
                  <a:schemeClr val="dk1"/>
                </a:solidFill>
                <a:effectLst/>
                <a:uFillTx/>
                <a:latin typeface="Calibri"/>
              </a:rPr>
              <a:t>Second Outline Level</a:t>
            </a:r>
            <a:endParaRPr lang="en-CA"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CA" sz="2000" b="0" u="none" strike="noStrike">
                <a:solidFill>
                  <a:schemeClr val="dk1"/>
                </a:solidFill>
                <a:effectLst/>
                <a:uFillTx/>
                <a:latin typeface="Calibri"/>
              </a:rPr>
              <a:t>Third Outline Level</a:t>
            </a:r>
            <a:endParaRPr lang="en-CA"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CA" sz="2000" b="0" u="none" strike="noStrike">
                <a:solidFill>
                  <a:schemeClr val="dk1"/>
                </a:solidFill>
                <a:effectLst/>
                <a:uFillTx/>
                <a:latin typeface="Calibri"/>
              </a:rPr>
              <a:t>Fourth Outline Level</a:t>
            </a:r>
            <a:endParaRPr lang="en-CA"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CA" sz="2000" b="0" u="none" strike="noStrike">
                <a:solidFill>
                  <a:schemeClr val="dk1"/>
                </a:solidFill>
                <a:effectLst/>
                <a:uFillTx/>
                <a:latin typeface="Calibri"/>
              </a:rPr>
              <a:t>Fifth Outline Level</a:t>
            </a:r>
            <a:endParaRPr lang="en-CA"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CA" sz="2000" b="0" u="none" strike="noStrike">
                <a:solidFill>
                  <a:schemeClr val="dk1"/>
                </a:solidFill>
                <a:effectLst/>
                <a:uFillTx/>
                <a:latin typeface="Calibri"/>
              </a:rPr>
              <a:t>Sixth Outline Level</a:t>
            </a:r>
            <a:endParaRPr lang="en-CA"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CA" sz="2000" b="0" u="none" strike="noStrike">
                <a:solidFill>
                  <a:schemeClr val="dk1"/>
                </a:solidFill>
                <a:effectLst/>
                <a:uFillTx/>
                <a:latin typeface="Calibri"/>
              </a:rPr>
              <a:t>Seventh Outline Level</a:t>
            </a:r>
            <a:endParaRPr lang="en-CA"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solidFill>
            <a:srgbClr val="729FCF"/>
          </a:solidFill>
          <a:ln w="0">
            <a:solidFill>
              <a:srgbClr val="3465A4"/>
            </a:solidFill>
          </a:ln>
        </p:spPr>
        <p:txBody>
          <a:bodyPr lIns="0" tIns="0" rIns="0" bIns="0" anchor="t">
            <a:noAutofit/>
          </a:bodyPr>
          <a:lstStyle>
            <a:lvl1pPr indent="0" algn="l">
              <a:buNone/>
              <a:defRPr lang="en-CA" sz="2400" b="0" u="none" strike="noStrike">
                <a:solidFill>
                  <a:srgbClr val="000000"/>
                </a:solidFill>
                <a:effectLst/>
                <a:uFillTx/>
                <a:latin typeface="Times New Roman"/>
              </a:defRPr>
            </a:lvl1pPr>
          </a:lstStyle>
          <a:p>
            <a:pPr indent="0" algn="l">
              <a:buNone/>
            </a:pPr>
            <a:r>
              <a:rPr lang="en-CA" sz="2400" b="0" u="none" strike="noStrike">
                <a:solidFill>
                  <a:srgbClr val="000000"/>
                </a:solidFill>
                <a:effectLst/>
                <a:uFillTx/>
                <a:latin typeface="Times New Roman"/>
              </a:rPr>
              <a:t>Click to edit the title text format</a:t>
            </a:r>
            <a:endParaRPr lang="en-CA" sz="2400" b="0" u="none" strike="noStrike">
              <a:solidFill>
                <a:srgbClr val="000000"/>
              </a:solidFill>
              <a:effectLst/>
              <a:uFillTx/>
              <a:latin typeface="Times New Roman"/>
            </a:endParaRPr>
          </a:p>
        </p:txBody>
      </p:sp>
      <p:sp>
        <p:nvSpPr>
          <p:cNvPr id="5" name="PlaceHolder 2"/>
          <p:cNvSpPr>
            <a:spLocks noGrp="1"/>
          </p:cNvSpPr>
          <p:nvPr>
            <p:ph type="body"/>
          </p:nvPr>
        </p:nvSpPr>
        <p:spPr>
          <a:xfrm>
            <a:off x="609480" y="1604520"/>
            <a:ext cx="10972440" cy="3977280"/>
          </a:xfrm>
          <a:prstGeom prst="rect">
            <a:avLst/>
          </a:prstGeom>
          <a:solidFill>
            <a:srgbClr val="729FCF"/>
          </a:solidFill>
          <a:ln w="0">
            <a:solidFill>
              <a:srgbClr val="3465A4"/>
            </a:solidFill>
          </a:ln>
        </p:spPr>
        <p:txBody>
          <a:bodyPr lIns="0" tIns="0" rIns="0" bIns="0" anchor="t">
            <a:noAutofit/>
          </a:bodyPr>
          <a:lstStyle>
            <a:lvl1pPr algn="l">
              <a:buClr>
                <a:srgbClr val="000000"/>
              </a:buClr>
              <a:buSzPct val="45000"/>
              <a:buFont typeface="Wingdings" charset="2"/>
              <a:buChar char=""/>
              <a:defRPr lang="en-CA" sz="2400" b="0" u="none" strike="noStrike">
                <a:solidFill>
                  <a:srgbClr val="000000"/>
                </a:solidFill>
                <a:effectLst/>
                <a:uFillTx/>
                <a:latin typeface="Times New Roman"/>
              </a:defRPr>
            </a:lvl1pPr>
            <a:lvl2pPr lvl="1" algn="l">
              <a:buClr>
                <a:srgbClr val="000000"/>
              </a:buClr>
              <a:buSzPct val="45000"/>
              <a:buFont typeface="Wingdings" charset="2"/>
              <a:buChar char=""/>
              <a:defRPr lang="en-CA" sz="2400" b="0" u="none" strike="noStrike">
                <a:solidFill>
                  <a:srgbClr val="000000"/>
                </a:solidFill>
                <a:effectLst/>
                <a:uFillTx/>
                <a:latin typeface="Times New Roman"/>
              </a:defRPr>
            </a:lvl2pPr>
            <a:lvl3pPr lvl="2" algn="l">
              <a:buClr>
                <a:srgbClr val="000000"/>
              </a:buClr>
              <a:buSzPct val="45000"/>
              <a:buFont typeface="Wingdings" charset="2"/>
              <a:buChar char=""/>
              <a:defRPr lang="en-CA" sz="2400" b="0" u="none" strike="noStrike">
                <a:solidFill>
                  <a:srgbClr val="000000"/>
                </a:solidFill>
                <a:effectLst/>
                <a:uFillTx/>
                <a:latin typeface="Times New Roman"/>
              </a:defRPr>
            </a:lvl3pPr>
            <a:lvl4pPr lvl="3" algn="l">
              <a:buClr>
                <a:srgbClr val="000000"/>
              </a:buClr>
              <a:buSzPct val="45000"/>
              <a:buFont typeface="Wingdings" charset="2"/>
              <a:buChar char=""/>
              <a:defRPr lang="en-CA" sz="2400" b="0" u="none" strike="noStrike">
                <a:solidFill>
                  <a:srgbClr val="000000"/>
                </a:solidFill>
                <a:effectLst/>
                <a:uFillTx/>
                <a:latin typeface="Times New Roman"/>
              </a:defRPr>
            </a:lvl4pPr>
            <a:lvl5pPr lvl="4" algn="l">
              <a:buClr>
                <a:srgbClr val="000000"/>
              </a:buClr>
              <a:buSzPct val="45000"/>
              <a:buFont typeface="Wingdings" charset="2"/>
              <a:buChar char=""/>
              <a:defRPr lang="en-CA" sz="2400" b="0" u="none" strike="noStrike">
                <a:solidFill>
                  <a:srgbClr val="000000"/>
                </a:solidFill>
                <a:effectLst/>
                <a:uFillTx/>
                <a:latin typeface="Times New Roman"/>
              </a:defRPr>
            </a:lvl5pPr>
            <a:lvl6pPr lvl="5" algn="l">
              <a:buClr>
                <a:srgbClr val="000000"/>
              </a:buClr>
              <a:buSzPct val="45000"/>
              <a:buFont typeface="Wingdings" charset="2"/>
              <a:buChar char=""/>
              <a:defRPr lang="en-CA" sz="2400" b="0" u="none" strike="noStrike">
                <a:solidFill>
                  <a:srgbClr val="000000"/>
                </a:solidFill>
                <a:effectLst/>
                <a:uFillTx/>
                <a:latin typeface="Times New Roman"/>
              </a:defRPr>
            </a:lvl6pPr>
            <a:lvl7pPr lvl="6" algn="l">
              <a:buClr>
                <a:srgbClr val="000000"/>
              </a:buClr>
              <a:buSzPct val="45000"/>
              <a:buFont typeface="Wingdings" charset="2"/>
              <a:buChar char=""/>
              <a:defRPr lang="en-CA" sz="2400" b="0" u="none" strike="noStrike">
                <a:solidFill>
                  <a:srgbClr val="000000"/>
                </a:solidFill>
                <a:effectLst/>
                <a:uFillTx/>
                <a:latin typeface="Times New Roman"/>
              </a:defRPr>
            </a:lvl7pPr>
          </a:lstStyle>
          <a:p>
            <a:pPr marL="216000" indent="-216000" algn="l">
              <a:buClr>
                <a:srgbClr val="000000"/>
              </a:buClr>
              <a:buSzPct val="45000"/>
              <a:buFont typeface="Wingdings" charset="2"/>
              <a:buChar char=""/>
            </a:pPr>
            <a:r>
              <a:rPr lang="en-CA" sz="2400" b="0" u="none" strike="noStrike">
                <a:solidFill>
                  <a:srgbClr val="000000"/>
                </a:solidFill>
                <a:effectLst/>
                <a:uFillTx/>
                <a:latin typeface="Times New Roman"/>
              </a:rPr>
              <a:t>Click to edit the outline text format</a:t>
            </a:r>
            <a:endParaRPr lang="en-CA" sz="2400" b="0" u="none" strike="noStrike">
              <a:solidFill>
                <a:srgbClr val="000000"/>
              </a:solidFill>
              <a:effectLst/>
              <a:uFillTx/>
              <a:latin typeface="Times New Roman"/>
            </a:endParaRPr>
          </a:p>
          <a:p>
            <a:pPr marL="432000" lvl="1" indent="-216000" algn="l">
              <a:buClr>
                <a:srgbClr val="000000"/>
              </a:buClr>
              <a:buSzPct val="45000"/>
              <a:buFont typeface="Wingdings" charset="2"/>
              <a:buChar char=""/>
            </a:pPr>
            <a:r>
              <a:rPr lang="en-CA" sz="2400" b="0" u="none" strike="noStrike">
                <a:solidFill>
                  <a:srgbClr val="000000"/>
                </a:solidFill>
                <a:effectLst/>
                <a:uFillTx/>
                <a:latin typeface="Times New Roman"/>
              </a:rPr>
              <a:t>Second Outline Level</a:t>
            </a:r>
            <a:endParaRPr lang="en-CA" sz="2400" b="0" u="none" strike="noStrike">
              <a:solidFill>
                <a:srgbClr val="000000"/>
              </a:solidFill>
              <a:effectLst/>
              <a:uFillTx/>
              <a:latin typeface="Times New Roman"/>
            </a:endParaRPr>
          </a:p>
          <a:p>
            <a:pPr marL="648000" lvl="2" indent="-216000" algn="l">
              <a:buClr>
                <a:srgbClr val="000000"/>
              </a:buClr>
              <a:buSzPct val="45000"/>
              <a:buFont typeface="Wingdings" charset="2"/>
              <a:buChar char=""/>
            </a:pPr>
            <a:r>
              <a:rPr lang="en-CA" sz="2400" b="0" u="none" strike="noStrike">
                <a:solidFill>
                  <a:srgbClr val="000000"/>
                </a:solidFill>
                <a:effectLst/>
                <a:uFillTx/>
                <a:latin typeface="Times New Roman"/>
              </a:rPr>
              <a:t>Third Outline Level</a:t>
            </a:r>
            <a:endParaRPr lang="en-CA" sz="2400" b="0" u="none" strike="noStrike">
              <a:solidFill>
                <a:srgbClr val="000000"/>
              </a:solidFill>
              <a:effectLst/>
              <a:uFillTx/>
              <a:latin typeface="Times New Roman"/>
            </a:endParaRPr>
          </a:p>
          <a:p>
            <a:pPr marL="864000" lvl="3" indent="-216000" algn="l">
              <a:buClr>
                <a:srgbClr val="000000"/>
              </a:buClr>
              <a:buSzPct val="45000"/>
              <a:buFont typeface="Wingdings" charset="2"/>
              <a:buChar char=""/>
            </a:pPr>
            <a:r>
              <a:rPr lang="en-CA" sz="2400" b="0" u="none" strike="noStrike">
                <a:solidFill>
                  <a:srgbClr val="000000"/>
                </a:solidFill>
                <a:effectLst/>
                <a:uFillTx/>
                <a:latin typeface="Times New Roman"/>
              </a:rPr>
              <a:t>Fourth Outline Level</a:t>
            </a:r>
            <a:endParaRPr lang="en-CA" sz="2400" b="0" u="none" strike="noStrike">
              <a:solidFill>
                <a:srgbClr val="000000"/>
              </a:solidFill>
              <a:effectLst/>
              <a:uFillTx/>
              <a:latin typeface="Times New Roman"/>
            </a:endParaRPr>
          </a:p>
          <a:p>
            <a:pPr marL="1080000" lvl="4" indent="-216000" algn="l">
              <a:buClr>
                <a:srgbClr val="000000"/>
              </a:buClr>
              <a:buSzPct val="45000"/>
              <a:buFont typeface="Wingdings" charset="2"/>
              <a:buChar char=""/>
            </a:pPr>
            <a:r>
              <a:rPr lang="en-CA" sz="2400" b="0" u="none" strike="noStrike">
                <a:solidFill>
                  <a:srgbClr val="000000"/>
                </a:solidFill>
                <a:effectLst/>
                <a:uFillTx/>
                <a:latin typeface="Times New Roman"/>
              </a:rPr>
              <a:t>Fifth Outline Level</a:t>
            </a:r>
            <a:endParaRPr lang="en-CA" sz="2400" b="0" u="none" strike="noStrike">
              <a:solidFill>
                <a:srgbClr val="000000"/>
              </a:solidFill>
              <a:effectLst/>
              <a:uFillTx/>
              <a:latin typeface="Times New Roman"/>
            </a:endParaRPr>
          </a:p>
          <a:p>
            <a:pPr marL="1296000" lvl="5" indent="-216000" algn="l">
              <a:buClr>
                <a:srgbClr val="000000"/>
              </a:buClr>
              <a:buSzPct val="45000"/>
              <a:buFont typeface="Wingdings" charset="2"/>
              <a:buChar char=""/>
            </a:pPr>
            <a:r>
              <a:rPr lang="en-CA" sz="2400" b="0" u="none" strike="noStrike">
                <a:solidFill>
                  <a:srgbClr val="000000"/>
                </a:solidFill>
                <a:effectLst/>
                <a:uFillTx/>
                <a:latin typeface="Times New Roman"/>
              </a:rPr>
              <a:t>Sixth Outline Level</a:t>
            </a:r>
            <a:endParaRPr lang="en-CA" sz="2400" b="0" u="none" strike="noStrike">
              <a:solidFill>
                <a:srgbClr val="000000"/>
              </a:solidFill>
              <a:effectLst/>
              <a:uFillTx/>
              <a:latin typeface="Times New Roman"/>
            </a:endParaRPr>
          </a:p>
          <a:p>
            <a:pPr marL="1512000" lvl="6" indent="-216000" algn="l">
              <a:buClr>
                <a:srgbClr val="000000"/>
              </a:buClr>
              <a:buSzPct val="45000"/>
              <a:buFont typeface="Wingdings" charset="2"/>
              <a:buChar char=""/>
            </a:pPr>
            <a:r>
              <a:rPr lang="en-CA" sz="2400" b="0" u="none" strike="noStrike">
                <a:solidFill>
                  <a:srgbClr val="000000"/>
                </a:solidFill>
                <a:effectLst/>
                <a:uFillTx/>
                <a:latin typeface="Times New Roman"/>
              </a:rPr>
              <a:t>Seventh Outline Level</a:t>
            </a:r>
            <a:endParaRPr lang="en-CA" sz="2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1.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slideLayout" Target="../slideLayouts/slideLayout1.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3.png"/><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6.png"/><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slideLayout" Target="../slideLayouts/slideLayout1.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slideLayout" Target="../slideLayouts/slideLayout2.xml"/><Relationship Id="rId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3.png"/><Relationship Id="rId3" Type="http://schemas.openxmlformats.org/officeDocument/2006/relationships/image" Target="../media/image23.png"/><Relationship Id="rId4" Type="http://schemas.openxmlformats.org/officeDocument/2006/relationships/image" Target="../media/image23.png"/><Relationship Id="rId5" Type="http://schemas.openxmlformats.org/officeDocument/2006/relationships/image" Target="../media/image23.png"/><Relationship Id="rId6" Type="http://schemas.openxmlformats.org/officeDocument/2006/relationships/slideLayout" Target="../slideLayouts/slideLayout1.xml"/><Relationship Id="rId7"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4.png"/><Relationship Id="rId6" Type="http://schemas.openxmlformats.org/officeDocument/2006/relationships/image" Target="../media/image24.png"/><Relationship Id="rId7" Type="http://schemas.openxmlformats.org/officeDocument/2006/relationships/slideLayout" Target="../slideLayouts/slideLayout1.xml"/><Relationship Id="rId8"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Relationship Id="rId3" Type="http://schemas.openxmlformats.org/officeDocument/2006/relationships/notesSlide" Target="../notesSlides/notesSlide3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12" name="Shape 0"/>
          <p:cNvSpPr/>
          <p:nvPr/>
        </p:nvSpPr>
        <p:spPr>
          <a:xfrm>
            <a:off x="0" y="0"/>
            <a:ext cx="12188160" cy="6857280"/>
          </a:xfrm>
          <a:prstGeom prst="rect">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13" name="Shape 1"/>
          <p:cNvSpPr/>
          <p:nvPr/>
        </p:nvSpPr>
        <p:spPr>
          <a:xfrm>
            <a:off x="9692640" y="-1280160"/>
            <a:ext cx="4114080" cy="4114080"/>
          </a:xfrm>
          <a:prstGeom prst="ellipse">
            <a:avLst/>
          </a:prstGeom>
          <a:solidFill>
            <a:srgbClr val="141A47"/>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14" name="Shape 2"/>
          <p:cNvSpPr/>
          <p:nvPr/>
        </p:nvSpPr>
        <p:spPr>
          <a:xfrm>
            <a:off x="10607040" y="4206240"/>
            <a:ext cx="2925360" cy="2925360"/>
          </a:xfrm>
          <a:prstGeom prst="ellipse">
            <a:avLst/>
          </a:prstGeom>
          <a:solidFill>
            <a:srgbClr val="141A47"/>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15" name="Shape 3"/>
          <p:cNvSpPr/>
          <p:nvPr/>
        </p:nvSpPr>
        <p:spPr>
          <a:xfrm>
            <a:off x="822960" y="777240"/>
            <a:ext cx="959400" cy="95940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16" name="Image 0" descr="preencoded.png"/>
          <p:cNvPicPr/>
          <p:nvPr/>
        </p:nvPicPr>
        <p:blipFill>
          <a:blip r:embed="rId1"/>
          <a:stretch/>
        </p:blipFill>
        <p:spPr>
          <a:xfrm>
            <a:off x="952560" y="906840"/>
            <a:ext cx="700200" cy="700200"/>
          </a:xfrm>
          <a:prstGeom prst="rect">
            <a:avLst/>
          </a:prstGeom>
          <a:noFill/>
          <a:ln w="0">
            <a:noFill/>
          </a:ln>
        </p:spPr>
      </p:pic>
      <p:sp>
        <p:nvSpPr>
          <p:cNvPr id="17" name="Text 4"/>
          <p:cNvSpPr/>
          <p:nvPr/>
        </p:nvSpPr>
        <p:spPr>
          <a:xfrm>
            <a:off x="822960" y="2148840"/>
            <a:ext cx="96004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pc="201" strike="noStrike">
                <a:solidFill>
                  <a:srgbClr val="CADCFC"/>
                </a:solidFill>
                <a:effectLst/>
                <a:uFillTx/>
                <a:latin typeface="Calibri"/>
                <a:ea typeface="Calibri"/>
              </a:rPr>
              <a:t>CATHOLIC UNIVERSITY OF RWANDA</a:t>
            </a:r>
            <a:endParaRPr lang="en-CA" sz="1700" b="0" u="none" strike="noStrike">
              <a:solidFill>
                <a:srgbClr val="FFFFFF"/>
              </a:solidFill>
              <a:effectLst/>
              <a:uFillTx/>
              <a:latin typeface="Arial"/>
            </a:endParaRPr>
          </a:p>
        </p:txBody>
      </p:sp>
      <p:sp>
        <p:nvSpPr>
          <p:cNvPr id="18" name="Text 5"/>
          <p:cNvSpPr/>
          <p:nvPr/>
        </p:nvSpPr>
        <p:spPr>
          <a:xfrm>
            <a:off x="777240" y="2606040"/>
            <a:ext cx="10514880" cy="1188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600" b="1" u="none" strike="noStrike">
                <a:solidFill>
                  <a:srgbClr val="FFFFFF"/>
                </a:solidFill>
                <a:effectLst/>
                <a:uFillTx/>
                <a:latin typeface="Cambria"/>
                <a:ea typeface="Cambria"/>
              </a:rPr>
              <a:t>AI Agents &amp; </a:t>
            </a:r>
            <a:r>
              <a:rPr lang="en-US" sz="4600" b="1" u="none" strike="noStrike">
                <a:solidFill>
                  <a:srgbClr val="FFFFFF"/>
                </a:solidFill>
                <a:effectLst/>
                <a:uFillTx/>
                <a:latin typeface="Cambria"/>
                <a:ea typeface="Cambria"/>
              </a:rPr>
              <a:t>Agentic AI</a:t>
            </a:r>
            <a:endParaRPr lang="en-CA" sz="4600" b="0" u="none" strike="noStrike">
              <a:solidFill>
                <a:srgbClr val="FFFFFF"/>
              </a:solidFill>
              <a:effectLst/>
              <a:uFillTx/>
              <a:latin typeface="Arial"/>
            </a:endParaRPr>
          </a:p>
        </p:txBody>
      </p:sp>
      <p:sp>
        <p:nvSpPr>
          <p:cNvPr id="19" name="Shape 6"/>
          <p:cNvSpPr/>
          <p:nvPr/>
        </p:nvSpPr>
        <p:spPr>
          <a:xfrm>
            <a:off x="822960" y="3886200"/>
            <a:ext cx="2743200" cy="360"/>
          </a:xfrm>
          <a:prstGeom prst="line">
            <a:avLst/>
          </a:prstGeom>
          <a:ln w="38100">
            <a:solidFill>
              <a:srgbClr val="00A896"/>
            </a:solidFill>
            <a:round/>
          </a:ln>
        </p:spPr>
        <p:style>
          <a:lnRef idx="0"/>
          <a:fillRef idx="0"/>
          <a:effectRef idx="0"/>
          <a:fontRef idx="minor"/>
        </p:style>
        <p:txBody>
          <a:bodyPr lIns="90000" tIns="-44640" rIns="90000" bIns="-44640" anchor="t" anchorCtr="1">
            <a:noAutofit/>
          </a:bodyPr>
          <a:p>
            <a:endParaRPr lang="en-CA" sz="1800" b="0" u="none" strike="noStrike">
              <a:solidFill>
                <a:srgbClr val="FFFFFF"/>
              </a:solidFill>
              <a:effectLst/>
              <a:uFillTx/>
              <a:latin typeface="Arial"/>
            </a:endParaRPr>
          </a:p>
        </p:txBody>
      </p:sp>
      <p:sp>
        <p:nvSpPr>
          <p:cNvPr id="20" name="Text 7"/>
          <p:cNvSpPr/>
          <p:nvPr/>
        </p:nvSpPr>
        <p:spPr>
          <a:xfrm>
            <a:off x="822960" y="4069080"/>
            <a:ext cx="96004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i="1" u="none" strike="noStrike">
                <a:solidFill>
                  <a:srgbClr val="CADCFC"/>
                </a:solidFill>
                <a:effectLst/>
                <a:uFillTx/>
                <a:latin typeface="Calibri"/>
                <a:ea typeface="Calibri"/>
              </a:rPr>
              <a:t>Weekend 4 of 5 — From Language Models to </a:t>
            </a:r>
            <a:r>
              <a:rPr lang="en-US" sz="1800" b="0" i="1" u="none" strike="noStrike">
                <a:solidFill>
                  <a:srgbClr val="CADCFC"/>
                </a:solidFill>
                <a:effectLst/>
                <a:uFillTx/>
                <a:latin typeface="Calibri"/>
                <a:ea typeface="Calibri"/>
              </a:rPr>
              <a:t>Autonomous Systems</a:t>
            </a:r>
            <a:endParaRPr lang="en-CA" sz="1800" b="0" u="none" strike="noStrike">
              <a:solidFill>
                <a:srgbClr val="FFFFFF"/>
              </a:solidFill>
              <a:effectLst/>
              <a:uFillTx/>
              <a:latin typeface="Arial"/>
            </a:endParaRPr>
          </a:p>
        </p:txBody>
      </p:sp>
      <p:sp>
        <p:nvSpPr>
          <p:cNvPr id="21" name="Text 8"/>
          <p:cNvSpPr/>
          <p:nvPr/>
        </p:nvSpPr>
        <p:spPr>
          <a:xfrm>
            <a:off x="822960" y="5806440"/>
            <a:ext cx="54856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libri"/>
                <a:ea typeface="Calibri"/>
              </a:rPr>
              <a:t>Lecturer: Fadl Musa</a:t>
            </a:r>
            <a:endParaRPr lang="en-CA" sz="1700" b="0" u="none" strike="noStrike">
              <a:solidFill>
                <a:srgbClr val="FFFFFF"/>
              </a:solidFill>
              <a:effectLst/>
              <a:uFillTx/>
              <a:latin typeface="Arial"/>
            </a:endParaRPr>
          </a:p>
        </p:txBody>
      </p:sp>
      <p:sp>
        <p:nvSpPr>
          <p:cNvPr id="22" name="Text 9"/>
          <p:cNvSpPr/>
          <p:nvPr/>
        </p:nvSpPr>
        <p:spPr>
          <a:xfrm>
            <a:off x="822960" y="6144840"/>
            <a:ext cx="54856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CADCFC"/>
                </a:solidFill>
                <a:effectLst/>
                <a:uFillTx/>
                <a:latin typeface="Calibri"/>
                <a:ea typeface="Calibri"/>
              </a:rPr>
              <a:t>September 2026</a:t>
            </a:r>
            <a:endParaRPr lang="en-CA"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RECAP · 1 OF 2</a:t>
            </a:r>
            <a:endParaRPr lang="en-CA" sz="1400" b="0" u="none" strike="noStrike">
              <a:solidFill>
                <a:srgbClr val="000000"/>
              </a:solidFill>
              <a:effectLst/>
              <a:uFillTx/>
              <a:latin typeface="Arial"/>
            </a:endParaRPr>
          </a:p>
        </p:txBody>
      </p:sp>
      <p:sp>
        <p:nvSpPr>
          <p:cNvPr id="24"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W</a:t>
            </a:r>
            <a:r>
              <a:rPr lang="en-US" sz="3400" b="1" u="none" strike="noStrike">
                <a:solidFill>
                  <a:srgbClr val="1E2761"/>
                </a:solidFill>
                <a:effectLst/>
                <a:uFillTx/>
                <a:latin typeface="Cambria"/>
                <a:ea typeface="Cambria"/>
              </a:rPr>
              <a:t>h</a:t>
            </a:r>
            <a:r>
              <a:rPr lang="en-US" sz="3400" b="1" u="none" strike="noStrike">
                <a:solidFill>
                  <a:srgbClr val="1E2761"/>
                </a:solidFill>
                <a:effectLst/>
                <a:uFillTx/>
                <a:latin typeface="Cambria"/>
                <a:ea typeface="Cambria"/>
              </a:rPr>
              <a:t>y </a:t>
            </a:r>
            <a:r>
              <a:rPr lang="en-US" sz="3400" b="1" u="none" strike="noStrike">
                <a:solidFill>
                  <a:srgbClr val="1E2761"/>
                </a:solidFill>
                <a:effectLst/>
                <a:uFillTx/>
                <a:latin typeface="Cambria"/>
                <a:ea typeface="Cambria"/>
              </a:rPr>
              <a:t>A</a:t>
            </a:r>
            <a:r>
              <a:rPr lang="en-US" sz="3400" b="1" u="none" strike="noStrike">
                <a:solidFill>
                  <a:srgbClr val="1E2761"/>
                </a:solidFill>
                <a:effectLst/>
                <a:uFillTx/>
                <a:latin typeface="Cambria"/>
                <a:ea typeface="Cambria"/>
              </a:rPr>
              <a:t>I </a:t>
            </a:r>
            <a:r>
              <a:rPr lang="en-US" sz="3400" b="1" u="none" strike="noStrike">
                <a:solidFill>
                  <a:srgbClr val="1E2761"/>
                </a:solidFill>
                <a:effectLst/>
                <a:uFillTx/>
                <a:latin typeface="Cambria"/>
                <a:ea typeface="Cambria"/>
              </a:rPr>
              <a:t>A</a:t>
            </a:r>
            <a:r>
              <a:rPr lang="en-US" sz="3400" b="1" u="none" strike="noStrike">
                <a:solidFill>
                  <a:srgbClr val="1E2761"/>
                </a:solidFill>
                <a:effectLst/>
                <a:uFillTx/>
                <a:latin typeface="Cambria"/>
                <a:ea typeface="Cambria"/>
              </a:rPr>
              <a:t>g</a:t>
            </a:r>
            <a:r>
              <a:rPr lang="en-US" sz="3400" b="1" u="none" strike="noStrike">
                <a:solidFill>
                  <a:srgbClr val="1E2761"/>
                </a:solidFill>
                <a:effectLst/>
                <a:uFillTx/>
                <a:latin typeface="Cambria"/>
                <a:ea typeface="Cambria"/>
              </a:rPr>
              <a:t>e</a:t>
            </a:r>
            <a:r>
              <a:rPr lang="en-US" sz="3400" b="1" u="none" strike="noStrike">
                <a:solidFill>
                  <a:srgbClr val="1E2761"/>
                </a:solidFill>
                <a:effectLst/>
                <a:uFillTx/>
                <a:latin typeface="Cambria"/>
                <a:ea typeface="Cambria"/>
              </a:rPr>
              <a:t>nt</a:t>
            </a:r>
            <a:r>
              <a:rPr lang="en-US" sz="3400" b="1" u="none" strike="noStrike">
                <a:solidFill>
                  <a:srgbClr val="1E2761"/>
                </a:solidFill>
                <a:effectLst/>
                <a:uFillTx/>
                <a:latin typeface="Cambria"/>
                <a:ea typeface="Cambria"/>
              </a:rPr>
              <a:t>s? </a:t>
            </a:r>
            <a:r>
              <a:rPr lang="en-US" sz="3400" b="1" u="none" strike="noStrike">
                <a:solidFill>
                  <a:srgbClr val="1E2761"/>
                </a:solidFill>
                <a:effectLst/>
                <a:uFillTx/>
                <a:latin typeface="Cambria"/>
                <a:ea typeface="Cambria"/>
              </a:rPr>
              <a:t>T</a:t>
            </a:r>
            <a:r>
              <a:rPr lang="en-US" sz="3400" b="1" u="none" strike="noStrike">
                <a:solidFill>
                  <a:srgbClr val="1E2761"/>
                </a:solidFill>
                <a:effectLst/>
                <a:uFillTx/>
                <a:latin typeface="Cambria"/>
                <a:ea typeface="Cambria"/>
              </a:rPr>
              <a:t>h</a:t>
            </a:r>
            <a:r>
              <a:rPr lang="en-US" sz="3400" b="1" u="none" strike="noStrike">
                <a:solidFill>
                  <a:srgbClr val="1E2761"/>
                </a:solidFill>
                <a:effectLst/>
                <a:uFillTx/>
                <a:latin typeface="Cambria"/>
                <a:ea typeface="Cambria"/>
              </a:rPr>
              <a:t>e </a:t>
            </a:r>
            <a:r>
              <a:rPr lang="en-US" sz="3400" b="1" u="none" strike="noStrike">
                <a:solidFill>
                  <a:srgbClr val="1E2761"/>
                </a:solidFill>
                <a:effectLst/>
                <a:uFillTx/>
                <a:latin typeface="Cambria"/>
                <a:ea typeface="Cambria"/>
              </a:rPr>
              <a:t>P</a:t>
            </a:r>
            <a:r>
              <a:rPr lang="en-US" sz="3400" b="1" u="none" strike="noStrike">
                <a:solidFill>
                  <a:srgbClr val="1E2761"/>
                </a:solidFill>
                <a:effectLst/>
                <a:uFillTx/>
                <a:latin typeface="Cambria"/>
                <a:ea typeface="Cambria"/>
              </a:rPr>
              <a:t>r</a:t>
            </a:r>
            <a:r>
              <a:rPr lang="en-US" sz="3400" b="1" u="none" strike="noStrike">
                <a:solidFill>
                  <a:srgbClr val="1E2761"/>
                </a:solidFill>
                <a:effectLst/>
                <a:uFillTx/>
                <a:latin typeface="Cambria"/>
                <a:ea typeface="Cambria"/>
              </a:rPr>
              <a:t>o</a:t>
            </a:r>
            <a:r>
              <a:rPr lang="en-US" sz="3400" b="1" u="none" strike="noStrike">
                <a:solidFill>
                  <a:srgbClr val="1E2761"/>
                </a:solidFill>
                <a:effectLst/>
                <a:uFillTx/>
                <a:latin typeface="Cambria"/>
                <a:ea typeface="Cambria"/>
              </a:rPr>
              <a:t>bl</a:t>
            </a:r>
            <a:r>
              <a:rPr lang="en-US" sz="3400" b="1" u="none" strike="noStrike">
                <a:solidFill>
                  <a:srgbClr val="1E2761"/>
                </a:solidFill>
                <a:effectLst/>
                <a:uFillTx/>
                <a:latin typeface="Cambria"/>
                <a:ea typeface="Cambria"/>
              </a:rPr>
              <a:t>e</a:t>
            </a:r>
            <a:r>
              <a:rPr lang="en-US" sz="3400" b="1" u="none" strike="noStrike">
                <a:solidFill>
                  <a:srgbClr val="1E2761"/>
                </a:solidFill>
                <a:effectLst/>
                <a:uFillTx/>
                <a:latin typeface="Cambria"/>
                <a:ea typeface="Cambria"/>
              </a:rPr>
              <a:t>m</a:t>
            </a:r>
            <a:endParaRPr lang="en-CA" sz="3400" b="0" u="none" strike="noStrike">
              <a:solidFill>
                <a:srgbClr val="000000"/>
              </a:solidFill>
              <a:effectLst/>
              <a:uFillTx/>
              <a:latin typeface="Arial"/>
            </a:endParaRPr>
          </a:p>
        </p:txBody>
      </p:sp>
      <p:sp>
        <p:nvSpPr>
          <p:cNvPr id="25" name="Text 2"/>
          <p:cNvSpPr/>
          <p:nvPr/>
        </p:nvSpPr>
        <p:spPr>
          <a:xfrm>
            <a:off x="548640" y="1417320"/>
            <a:ext cx="1106352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i="1" u="none" strike="noStrike">
                <a:solidFill>
                  <a:srgbClr val="6B7280"/>
                </a:solidFill>
                <a:effectLst/>
                <a:uFillTx/>
                <a:latin typeface="Calibri"/>
                <a:ea typeface="Calibri"/>
              </a:rPr>
              <a:t>What LLMs alone still cannot do</a:t>
            </a:r>
            <a:endParaRPr lang="en-CA" sz="1800" b="0" u="none" strike="noStrike">
              <a:solidFill>
                <a:srgbClr val="000000"/>
              </a:solidFill>
              <a:effectLst/>
              <a:uFillTx/>
              <a:latin typeface="Arial"/>
            </a:endParaRPr>
          </a:p>
        </p:txBody>
      </p:sp>
      <p:sp>
        <p:nvSpPr>
          <p:cNvPr id="26" name="Shape 3"/>
          <p:cNvSpPr/>
          <p:nvPr/>
        </p:nvSpPr>
        <p:spPr>
          <a:xfrm>
            <a:off x="640080" y="1828800"/>
            <a:ext cx="639360" cy="63936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7" name="Image 0" descr="preencoded.png"/>
          <p:cNvPicPr/>
          <p:nvPr/>
        </p:nvPicPr>
        <p:blipFill>
          <a:blip r:embed="rId1"/>
          <a:stretch/>
        </p:blipFill>
        <p:spPr>
          <a:xfrm>
            <a:off x="726480" y="1915200"/>
            <a:ext cx="466560" cy="466560"/>
          </a:xfrm>
          <a:prstGeom prst="rect">
            <a:avLst/>
          </a:prstGeom>
          <a:noFill/>
          <a:ln w="0">
            <a:noFill/>
          </a:ln>
        </p:spPr>
      </p:pic>
      <p:sp>
        <p:nvSpPr>
          <p:cNvPr id="28" name="Text 4"/>
          <p:cNvSpPr/>
          <p:nvPr/>
        </p:nvSpPr>
        <p:spPr>
          <a:xfrm>
            <a:off x="1508760" y="1783080"/>
            <a:ext cx="98748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E2761"/>
                </a:solidFill>
                <a:effectLst/>
                <a:uFillTx/>
                <a:latin typeface="Calibri"/>
                <a:ea typeface="Calibri"/>
              </a:rPr>
              <a:t>They freeze in time</a:t>
            </a:r>
            <a:endParaRPr lang="en-CA" sz="1900" b="0" u="none" strike="noStrike">
              <a:solidFill>
                <a:srgbClr val="000000"/>
              </a:solidFill>
              <a:effectLst/>
              <a:uFillTx/>
              <a:latin typeface="Arial"/>
            </a:endParaRPr>
          </a:p>
        </p:txBody>
      </p:sp>
      <p:sp>
        <p:nvSpPr>
          <p:cNvPr id="29" name="Text 5"/>
          <p:cNvSpPr/>
          <p:nvPr/>
        </p:nvSpPr>
        <p:spPr>
          <a:xfrm>
            <a:off x="1508760" y="2176200"/>
            <a:ext cx="996624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1A1A1A"/>
                </a:solidFill>
                <a:effectLst/>
                <a:uFillTx/>
                <a:latin typeface="Calibri"/>
                <a:ea typeface="Calibri"/>
              </a:rPr>
              <a:t>An LLM only knows what was in its training data — it cannot check today’s weather, a live database, or this morning’s email.</a:t>
            </a:r>
            <a:endParaRPr lang="en-CA" sz="1550" b="0" u="none" strike="noStrike">
              <a:solidFill>
                <a:srgbClr val="000000"/>
              </a:solidFill>
              <a:effectLst/>
              <a:uFillTx/>
              <a:latin typeface="Arial"/>
            </a:endParaRPr>
          </a:p>
        </p:txBody>
      </p:sp>
      <p:sp>
        <p:nvSpPr>
          <p:cNvPr id="30" name="Shape 6"/>
          <p:cNvSpPr/>
          <p:nvPr/>
        </p:nvSpPr>
        <p:spPr>
          <a:xfrm>
            <a:off x="640080" y="3017520"/>
            <a:ext cx="639360" cy="63936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31" name="Image 1" descr="preencoded.png"/>
          <p:cNvPicPr/>
          <p:nvPr/>
        </p:nvPicPr>
        <p:blipFill>
          <a:blip r:embed="rId2"/>
          <a:stretch/>
        </p:blipFill>
        <p:spPr>
          <a:xfrm>
            <a:off x="726480" y="3103920"/>
            <a:ext cx="466560" cy="466560"/>
          </a:xfrm>
          <a:prstGeom prst="rect">
            <a:avLst/>
          </a:prstGeom>
          <a:noFill/>
          <a:ln w="0">
            <a:noFill/>
          </a:ln>
        </p:spPr>
      </p:pic>
      <p:sp>
        <p:nvSpPr>
          <p:cNvPr id="32" name="Text 7"/>
          <p:cNvSpPr/>
          <p:nvPr/>
        </p:nvSpPr>
        <p:spPr>
          <a:xfrm>
            <a:off x="1508760" y="2971800"/>
            <a:ext cx="98748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E2761"/>
                </a:solidFill>
                <a:effectLst/>
                <a:uFillTx/>
                <a:latin typeface="Calibri"/>
                <a:ea typeface="Calibri"/>
              </a:rPr>
              <a:t>They only talk, they don’t act</a:t>
            </a:r>
            <a:endParaRPr lang="en-CA" sz="1900" b="0" u="none" strike="noStrike">
              <a:solidFill>
                <a:srgbClr val="000000"/>
              </a:solidFill>
              <a:effectLst/>
              <a:uFillTx/>
              <a:latin typeface="Arial"/>
            </a:endParaRPr>
          </a:p>
        </p:txBody>
      </p:sp>
      <p:sp>
        <p:nvSpPr>
          <p:cNvPr id="33" name="Text 8"/>
          <p:cNvSpPr/>
          <p:nvPr/>
        </p:nvSpPr>
        <p:spPr>
          <a:xfrm>
            <a:off x="1508760" y="3364920"/>
            <a:ext cx="996624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1A1A1A"/>
                </a:solidFill>
                <a:effectLst/>
                <a:uFillTx/>
                <a:latin typeface="Calibri"/>
                <a:ea typeface="Calibri"/>
              </a:rPr>
              <a:t>A raw LLM can describe how to send an email or book a meeting — it cannot actually do it.</a:t>
            </a:r>
            <a:endParaRPr lang="en-CA" sz="1550" b="0" u="none" strike="noStrike">
              <a:solidFill>
                <a:srgbClr val="000000"/>
              </a:solidFill>
              <a:effectLst/>
              <a:uFillTx/>
              <a:latin typeface="Arial"/>
            </a:endParaRPr>
          </a:p>
        </p:txBody>
      </p:sp>
      <p:sp>
        <p:nvSpPr>
          <p:cNvPr id="34" name="Shape 9"/>
          <p:cNvSpPr/>
          <p:nvPr/>
        </p:nvSpPr>
        <p:spPr>
          <a:xfrm>
            <a:off x="640080" y="4206240"/>
            <a:ext cx="639360" cy="63936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35" name="Image 2" descr="preencoded.png"/>
          <p:cNvPicPr/>
          <p:nvPr/>
        </p:nvPicPr>
        <p:blipFill>
          <a:blip r:embed="rId3"/>
          <a:stretch/>
        </p:blipFill>
        <p:spPr>
          <a:xfrm>
            <a:off x="726480" y="4292640"/>
            <a:ext cx="466560" cy="466560"/>
          </a:xfrm>
          <a:prstGeom prst="rect">
            <a:avLst/>
          </a:prstGeom>
          <a:noFill/>
          <a:ln w="0">
            <a:noFill/>
          </a:ln>
        </p:spPr>
      </p:pic>
      <p:sp>
        <p:nvSpPr>
          <p:cNvPr id="36" name="Text 10"/>
          <p:cNvSpPr/>
          <p:nvPr/>
        </p:nvSpPr>
        <p:spPr>
          <a:xfrm>
            <a:off x="1508760" y="4160520"/>
            <a:ext cx="98748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E2761"/>
                </a:solidFill>
                <a:effectLst/>
                <a:uFillTx/>
                <a:latin typeface="Calibri"/>
                <a:ea typeface="Calibri"/>
              </a:rPr>
              <a:t>They don’t remember</a:t>
            </a:r>
            <a:endParaRPr lang="en-CA" sz="1900" b="0" u="none" strike="noStrike">
              <a:solidFill>
                <a:srgbClr val="000000"/>
              </a:solidFill>
              <a:effectLst/>
              <a:uFillTx/>
              <a:latin typeface="Arial"/>
            </a:endParaRPr>
          </a:p>
        </p:txBody>
      </p:sp>
      <p:sp>
        <p:nvSpPr>
          <p:cNvPr id="37" name="Text 11"/>
          <p:cNvSpPr/>
          <p:nvPr/>
        </p:nvSpPr>
        <p:spPr>
          <a:xfrm>
            <a:off x="1508760" y="4553640"/>
            <a:ext cx="996624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1A1A1A"/>
                </a:solidFill>
                <a:effectLst/>
                <a:uFillTx/>
                <a:latin typeface="Calibri"/>
                <a:ea typeface="Calibri"/>
              </a:rPr>
              <a:t>Each prompt is (mostly) a fresh start. There is no persistent goal, plan, or memory of past steps.</a:t>
            </a:r>
            <a:endParaRPr lang="en-CA" sz="1550" b="0" u="none" strike="noStrike">
              <a:solidFill>
                <a:srgbClr val="000000"/>
              </a:solidFill>
              <a:effectLst/>
              <a:uFillTx/>
              <a:latin typeface="Arial"/>
            </a:endParaRPr>
          </a:p>
        </p:txBody>
      </p:sp>
      <p:sp>
        <p:nvSpPr>
          <p:cNvPr id="38" name="Shape 12"/>
          <p:cNvSpPr/>
          <p:nvPr/>
        </p:nvSpPr>
        <p:spPr>
          <a:xfrm>
            <a:off x="640080" y="5394960"/>
            <a:ext cx="639360" cy="63936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39" name="Image 3" descr="preencoded.png"/>
          <p:cNvPicPr/>
          <p:nvPr/>
        </p:nvPicPr>
        <p:blipFill>
          <a:blip r:embed="rId4"/>
          <a:stretch/>
        </p:blipFill>
        <p:spPr>
          <a:xfrm>
            <a:off x="726480" y="5481360"/>
            <a:ext cx="466560" cy="466560"/>
          </a:xfrm>
          <a:prstGeom prst="rect">
            <a:avLst/>
          </a:prstGeom>
          <a:noFill/>
          <a:ln w="0">
            <a:noFill/>
          </a:ln>
        </p:spPr>
      </p:pic>
      <p:sp>
        <p:nvSpPr>
          <p:cNvPr id="40" name="Text 13"/>
          <p:cNvSpPr/>
          <p:nvPr/>
        </p:nvSpPr>
        <p:spPr>
          <a:xfrm>
            <a:off x="1508760" y="5349240"/>
            <a:ext cx="98748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E2761"/>
                </a:solidFill>
                <a:effectLst/>
                <a:uFillTx/>
                <a:latin typeface="Calibri"/>
                <a:ea typeface="Calibri"/>
              </a:rPr>
              <a:t>They don’t self-check</a:t>
            </a:r>
            <a:endParaRPr lang="en-CA" sz="1900" b="0" u="none" strike="noStrike">
              <a:solidFill>
                <a:srgbClr val="000000"/>
              </a:solidFill>
              <a:effectLst/>
              <a:uFillTx/>
              <a:latin typeface="Arial"/>
            </a:endParaRPr>
          </a:p>
        </p:txBody>
      </p:sp>
      <p:sp>
        <p:nvSpPr>
          <p:cNvPr id="41" name="Text 14"/>
          <p:cNvSpPr/>
          <p:nvPr/>
        </p:nvSpPr>
        <p:spPr>
          <a:xfrm>
            <a:off x="1508760" y="5742360"/>
            <a:ext cx="996624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1A1A1A"/>
                </a:solidFill>
                <a:effectLst/>
                <a:uFillTx/>
                <a:latin typeface="Calibri"/>
                <a:ea typeface="Calibri"/>
              </a:rPr>
              <a:t>One-shot answers are not verified, re-planned, or corrected when they turn out wrong.</a:t>
            </a:r>
            <a:endParaRPr lang="en-CA" sz="1550" b="0" u="none" strike="noStrike">
              <a:solidFill>
                <a:srgbClr val="000000"/>
              </a:solidFill>
              <a:effectLst/>
              <a:uFillTx/>
              <a:latin typeface="Arial"/>
            </a:endParaRPr>
          </a:p>
        </p:txBody>
      </p:sp>
      <p:sp>
        <p:nvSpPr>
          <p:cNvPr id="42" name="Text 15"/>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43" name="Text 16"/>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2</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RECAP · 2 OF 2</a:t>
            </a:r>
            <a:endParaRPr lang="en-CA" sz="1400" b="0" u="none" strike="noStrike">
              <a:solidFill>
                <a:srgbClr val="000000"/>
              </a:solidFill>
              <a:effectLst/>
              <a:uFillTx/>
              <a:latin typeface="Arial"/>
            </a:endParaRPr>
          </a:p>
        </p:txBody>
      </p:sp>
      <p:sp>
        <p:nvSpPr>
          <p:cNvPr id="45"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From Predictive to Agentic AI</a:t>
            </a:r>
            <a:endParaRPr lang="en-CA" sz="3400" b="0" u="none" strike="noStrike">
              <a:solidFill>
                <a:srgbClr val="000000"/>
              </a:solidFill>
              <a:effectLst/>
              <a:uFillTx/>
              <a:latin typeface="Arial"/>
            </a:endParaRPr>
          </a:p>
        </p:txBody>
      </p:sp>
      <p:sp>
        <p:nvSpPr>
          <p:cNvPr id="46" name="Text 2"/>
          <p:cNvSpPr/>
          <p:nvPr/>
        </p:nvSpPr>
        <p:spPr>
          <a:xfrm>
            <a:off x="548640" y="1417320"/>
            <a:ext cx="1106352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i="1" u="none" strike="noStrike">
                <a:solidFill>
                  <a:srgbClr val="6B7280"/>
                </a:solidFill>
                <a:effectLst/>
                <a:uFillTx/>
                <a:latin typeface="Calibri"/>
                <a:ea typeface="Calibri"/>
              </a:rPr>
              <a:t>The shift we are building on</a:t>
            </a:r>
            <a:endParaRPr lang="en-CA" sz="1800" b="0" u="none" strike="noStrike">
              <a:solidFill>
                <a:srgbClr val="000000"/>
              </a:solidFill>
              <a:effectLst/>
              <a:uFillTx/>
              <a:latin typeface="Arial"/>
            </a:endParaRPr>
          </a:p>
        </p:txBody>
      </p:sp>
      <p:sp>
        <p:nvSpPr>
          <p:cNvPr id="47" name="Shape 3"/>
          <p:cNvSpPr/>
          <p:nvPr/>
        </p:nvSpPr>
        <p:spPr>
          <a:xfrm>
            <a:off x="640080" y="2148840"/>
            <a:ext cx="3245400" cy="1873800"/>
          </a:xfrm>
          <a:prstGeom prst="roundRect">
            <a:avLst>
              <a:gd name="adj" fmla="val 4878"/>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8" name="Shape 4"/>
          <p:cNvSpPr/>
          <p:nvPr/>
        </p:nvSpPr>
        <p:spPr>
          <a:xfrm>
            <a:off x="1933920" y="2350080"/>
            <a:ext cx="657720" cy="65772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49" name="Image 0" descr="preencoded.png"/>
          <p:cNvPicPr/>
          <p:nvPr/>
        </p:nvPicPr>
        <p:blipFill>
          <a:blip r:embed="rId1"/>
          <a:stretch/>
        </p:blipFill>
        <p:spPr>
          <a:xfrm>
            <a:off x="2022840" y="2439000"/>
            <a:ext cx="479880" cy="479880"/>
          </a:xfrm>
          <a:prstGeom prst="rect">
            <a:avLst/>
          </a:prstGeom>
          <a:noFill/>
          <a:ln w="0">
            <a:noFill/>
          </a:ln>
        </p:spPr>
      </p:pic>
      <p:sp>
        <p:nvSpPr>
          <p:cNvPr id="50" name="Text 5"/>
          <p:cNvSpPr/>
          <p:nvPr/>
        </p:nvSpPr>
        <p:spPr>
          <a:xfrm>
            <a:off x="731520" y="3108960"/>
            <a:ext cx="30625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1E2761"/>
                </a:solidFill>
                <a:effectLst/>
                <a:uFillTx/>
                <a:latin typeface="Calibri"/>
                <a:ea typeface="Calibri"/>
              </a:rPr>
              <a:t>Predictive AI</a:t>
            </a:r>
            <a:endParaRPr lang="en-CA" sz="1700" b="0" u="none" strike="noStrike">
              <a:solidFill>
                <a:srgbClr val="000000"/>
              </a:solidFill>
              <a:effectLst/>
              <a:uFillTx/>
              <a:latin typeface="Arial"/>
            </a:endParaRPr>
          </a:p>
        </p:txBody>
      </p:sp>
      <p:sp>
        <p:nvSpPr>
          <p:cNvPr id="51" name="Text 6"/>
          <p:cNvSpPr/>
          <p:nvPr/>
        </p:nvSpPr>
        <p:spPr>
          <a:xfrm>
            <a:off x="777240" y="3429000"/>
            <a:ext cx="297108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6B7280"/>
                </a:solidFill>
                <a:effectLst/>
                <a:uFillTx/>
                <a:latin typeface="Calibri"/>
                <a:ea typeface="Calibri"/>
              </a:rPr>
              <a:t>Predicts the next word.</a:t>
            </a:r>
            <a:endParaRPr lang="en-CA" sz="1300" b="0" u="none" strike="noStrike">
              <a:solidFill>
                <a:srgbClr val="000000"/>
              </a:solidFill>
              <a:effectLst/>
              <a:uFillTx/>
              <a:latin typeface="Arial"/>
            </a:endParaRPr>
          </a:p>
          <a:p>
            <a:pPr algn="ctr" defTabSz="914400">
              <a:lnSpc>
                <a:spcPct val="100000"/>
              </a:lnSpc>
              <a:tabLst>
                <a:tab pos="0" algn="l"/>
              </a:tabLst>
            </a:pPr>
            <a:r>
              <a:rPr lang="en-US" sz="1300" b="0" u="none" strike="noStrike">
                <a:solidFill>
                  <a:srgbClr val="6B7280"/>
                </a:solidFill>
                <a:effectLst/>
                <a:uFillTx/>
                <a:latin typeface="Calibri"/>
                <a:ea typeface="Calibri"/>
              </a:rPr>
              <a:t>Answers one prompt.</a:t>
            </a:r>
            <a:endParaRPr lang="en-CA" sz="1300" b="0" u="none" strike="noStrike">
              <a:solidFill>
                <a:srgbClr val="000000"/>
              </a:solidFill>
              <a:effectLst/>
              <a:uFillTx/>
              <a:latin typeface="Arial"/>
            </a:endParaRPr>
          </a:p>
        </p:txBody>
      </p:sp>
      <p:sp>
        <p:nvSpPr>
          <p:cNvPr id="52" name="Shape 7"/>
          <p:cNvSpPr/>
          <p:nvPr/>
        </p:nvSpPr>
        <p:spPr>
          <a:xfrm>
            <a:off x="3913560" y="2985480"/>
            <a:ext cx="264600" cy="20052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53" name="Shape 8"/>
          <p:cNvSpPr/>
          <p:nvPr/>
        </p:nvSpPr>
        <p:spPr>
          <a:xfrm>
            <a:off x="4206240" y="2148840"/>
            <a:ext cx="3245400" cy="1873800"/>
          </a:xfrm>
          <a:prstGeom prst="roundRect">
            <a:avLst>
              <a:gd name="adj" fmla="val 4878"/>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54" name="Shape 9"/>
          <p:cNvSpPr/>
          <p:nvPr/>
        </p:nvSpPr>
        <p:spPr>
          <a:xfrm>
            <a:off x="5500080" y="2350080"/>
            <a:ext cx="657720" cy="65772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5" name="Image 1" descr="preencoded.png"/>
          <p:cNvPicPr/>
          <p:nvPr/>
        </p:nvPicPr>
        <p:blipFill>
          <a:blip r:embed="rId2"/>
          <a:stretch/>
        </p:blipFill>
        <p:spPr>
          <a:xfrm>
            <a:off x="5589000" y="2439000"/>
            <a:ext cx="479880" cy="479880"/>
          </a:xfrm>
          <a:prstGeom prst="rect">
            <a:avLst/>
          </a:prstGeom>
          <a:noFill/>
          <a:ln w="0">
            <a:noFill/>
          </a:ln>
        </p:spPr>
      </p:pic>
      <p:sp>
        <p:nvSpPr>
          <p:cNvPr id="56" name="Text 10"/>
          <p:cNvSpPr/>
          <p:nvPr/>
        </p:nvSpPr>
        <p:spPr>
          <a:xfrm>
            <a:off x="4297680" y="3108960"/>
            <a:ext cx="30625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1E2761"/>
                </a:solidFill>
                <a:effectLst/>
                <a:uFillTx/>
                <a:latin typeface="Calibri"/>
                <a:ea typeface="Calibri"/>
              </a:rPr>
              <a:t>Tool-Using LLM</a:t>
            </a:r>
            <a:endParaRPr lang="en-CA" sz="1700" b="0" u="none" strike="noStrike">
              <a:solidFill>
                <a:srgbClr val="000000"/>
              </a:solidFill>
              <a:effectLst/>
              <a:uFillTx/>
              <a:latin typeface="Arial"/>
            </a:endParaRPr>
          </a:p>
        </p:txBody>
      </p:sp>
      <p:sp>
        <p:nvSpPr>
          <p:cNvPr id="57" name="Text 11"/>
          <p:cNvSpPr/>
          <p:nvPr/>
        </p:nvSpPr>
        <p:spPr>
          <a:xfrm>
            <a:off x="4343400" y="3429000"/>
            <a:ext cx="297108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6B7280"/>
                </a:solidFill>
                <a:effectLst/>
                <a:uFillTx/>
                <a:latin typeface="Calibri"/>
                <a:ea typeface="Calibri"/>
              </a:rPr>
              <a:t>Can call a function</a:t>
            </a:r>
            <a:endParaRPr lang="en-CA" sz="1300" b="0" u="none" strike="noStrike">
              <a:solidFill>
                <a:srgbClr val="000000"/>
              </a:solidFill>
              <a:effectLst/>
              <a:uFillTx/>
              <a:latin typeface="Arial"/>
            </a:endParaRPr>
          </a:p>
          <a:p>
            <a:pPr algn="ctr" defTabSz="914400">
              <a:lnSpc>
                <a:spcPct val="100000"/>
              </a:lnSpc>
              <a:tabLst>
                <a:tab pos="0" algn="l"/>
              </a:tabLst>
            </a:pPr>
            <a:r>
              <a:rPr lang="en-US" sz="1300" b="0" u="none" strike="noStrike">
                <a:solidFill>
                  <a:srgbClr val="6B7280"/>
                </a:solidFill>
                <a:effectLst/>
                <a:uFillTx/>
                <a:latin typeface="Calibri"/>
                <a:ea typeface="Calibri"/>
              </a:rPr>
              <a:t>when asked to.</a:t>
            </a:r>
            <a:endParaRPr lang="en-CA" sz="1300" b="0" u="none" strike="noStrike">
              <a:solidFill>
                <a:srgbClr val="000000"/>
              </a:solidFill>
              <a:effectLst/>
              <a:uFillTx/>
              <a:latin typeface="Arial"/>
            </a:endParaRPr>
          </a:p>
        </p:txBody>
      </p:sp>
      <p:sp>
        <p:nvSpPr>
          <p:cNvPr id="58" name="Shape 12"/>
          <p:cNvSpPr/>
          <p:nvPr/>
        </p:nvSpPr>
        <p:spPr>
          <a:xfrm>
            <a:off x="7479720" y="2985480"/>
            <a:ext cx="264600" cy="20052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59" name="Shape 13"/>
          <p:cNvSpPr/>
          <p:nvPr/>
        </p:nvSpPr>
        <p:spPr>
          <a:xfrm>
            <a:off x="7772400" y="2148840"/>
            <a:ext cx="3245400" cy="1873800"/>
          </a:xfrm>
          <a:prstGeom prst="roundRect">
            <a:avLst>
              <a:gd name="adj" fmla="val 4878"/>
            </a:avLst>
          </a:prstGeom>
          <a:solidFill>
            <a:srgbClr val="1E2761"/>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60" name="Shape 14"/>
          <p:cNvSpPr/>
          <p:nvPr/>
        </p:nvSpPr>
        <p:spPr>
          <a:xfrm>
            <a:off x="9066240" y="2350080"/>
            <a:ext cx="657720" cy="65772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61" name="Image 2" descr="preencoded.png"/>
          <p:cNvPicPr/>
          <p:nvPr/>
        </p:nvPicPr>
        <p:blipFill>
          <a:blip r:embed="rId3"/>
          <a:stretch/>
        </p:blipFill>
        <p:spPr>
          <a:xfrm>
            <a:off x="9155160" y="2439000"/>
            <a:ext cx="479880" cy="479880"/>
          </a:xfrm>
          <a:prstGeom prst="rect">
            <a:avLst/>
          </a:prstGeom>
          <a:noFill/>
          <a:ln w="0">
            <a:noFill/>
          </a:ln>
        </p:spPr>
      </p:pic>
      <p:sp>
        <p:nvSpPr>
          <p:cNvPr id="62" name="Text 15"/>
          <p:cNvSpPr/>
          <p:nvPr/>
        </p:nvSpPr>
        <p:spPr>
          <a:xfrm>
            <a:off x="7863840" y="3108960"/>
            <a:ext cx="30625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FFFFFF"/>
                </a:solidFill>
                <a:effectLst/>
                <a:uFillTx/>
                <a:latin typeface="Calibri"/>
                <a:ea typeface="Calibri"/>
              </a:rPr>
              <a:t>AI Agent</a:t>
            </a:r>
            <a:endParaRPr lang="en-CA" sz="1700" b="0" u="none" strike="noStrike">
              <a:solidFill>
                <a:srgbClr val="000000"/>
              </a:solidFill>
              <a:effectLst/>
              <a:uFillTx/>
              <a:latin typeface="Arial"/>
            </a:endParaRPr>
          </a:p>
        </p:txBody>
      </p:sp>
      <p:sp>
        <p:nvSpPr>
          <p:cNvPr id="63" name="Text 16"/>
          <p:cNvSpPr/>
          <p:nvPr/>
        </p:nvSpPr>
        <p:spPr>
          <a:xfrm>
            <a:off x="7909560" y="3429000"/>
            <a:ext cx="297108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CADCFC"/>
                </a:solidFill>
                <a:effectLst/>
                <a:uFillTx/>
                <a:latin typeface="Calibri"/>
                <a:ea typeface="Calibri"/>
              </a:rPr>
              <a:t>Perceives, plans, acts,</a:t>
            </a:r>
            <a:endParaRPr lang="en-CA" sz="1300" b="0" u="none" strike="noStrike">
              <a:solidFill>
                <a:srgbClr val="000000"/>
              </a:solidFill>
              <a:effectLst/>
              <a:uFillTx/>
              <a:latin typeface="Arial"/>
            </a:endParaRPr>
          </a:p>
          <a:p>
            <a:pPr algn="ctr" defTabSz="914400">
              <a:lnSpc>
                <a:spcPct val="100000"/>
              </a:lnSpc>
              <a:tabLst>
                <a:tab pos="0" algn="l"/>
              </a:tabLst>
            </a:pPr>
            <a:r>
              <a:rPr lang="en-US" sz="1300" b="0" u="none" strike="noStrike">
                <a:solidFill>
                  <a:srgbClr val="CADCFC"/>
                </a:solidFill>
                <a:effectLst/>
                <a:uFillTx/>
                <a:latin typeface="Calibri"/>
                <a:ea typeface="Calibri"/>
              </a:rPr>
              <a:t>and checks its own work.</a:t>
            </a:r>
            <a:endParaRPr lang="en-CA" sz="1300" b="0" u="none" strike="noStrike">
              <a:solidFill>
                <a:srgbClr val="000000"/>
              </a:solidFill>
              <a:effectLst/>
              <a:uFillTx/>
              <a:latin typeface="Arial"/>
            </a:endParaRPr>
          </a:p>
        </p:txBody>
      </p:sp>
      <p:sp>
        <p:nvSpPr>
          <p:cNvPr id="64" name="Text 17"/>
          <p:cNvSpPr/>
          <p:nvPr/>
        </p:nvSpPr>
        <p:spPr>
          <a:xfrm>
            <a:off x="720000" y="4668840"/>
            <a:ext cx="10880640" cy="730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i="1" u="none" strike="noStrike">
                <a:solidFill>
                  <a:srgbClr val="000000"/>
                </a:solidFill>
                <a:effectLst/>
                <a:uFillTx/>
                <a:latin typeface="Calibri"/>
                <a:ea typeface="Calibri"/>
              </a:rPr>
              <a:t>Today, we go deep on the third stage: how an AI Agent is defined, what it is built from, and how to build one.</a:t>
            </a:r>
            <a:endParaRPr lang="en-CA" sz="2000" b="0" u="none" strike="noStrike">
              <a:solidFill>
                <a:srgbClr val="000000"/>
              </a:solidFill>
              <a:effectLst/>
              <a:uFillTx/>
              <a:latin typeface="Arial"/>
            </a:endParaRPr>
          </a:p>
        </p:txBody>
      </p:sp>
      <p:sp>
        <p:nvSpPr>
          <p:cNvPr id="65" name="Text 18"/>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66" name="Text 19"/>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3</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TODAY’S SESSION</a:t>
            </a:r>
            <a:endParaRPr lang="en-CA" sz="1400" b="0" u="none" strike="noStrike">
              <a:solidFill>
                <a:srgbClr val="000000"/>
              </a:solidFill>
              <a:effectLst/>
              <a:uFillTx/>
              <a:latin typeface="Arial"/>
            </a:endParaRPr>
          </a:p>
        </p:txBody>
      </p:sp>
      <p:sp>
        <p:nvSpPr>
          <p:cNvPr id="68"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Agenda — AI Agents &amp; Agentic AI</a:t>
            </a:r>
            <a:endParaRPr lang="en-CA" sz="3400" b="0" u="none" strike="noStrike">
              <a:solidFill>
                <a:srgbClr val="000000"/>
              </a:solidFill>
              <a:effectLst/>
              <a:uFillTx/>
              <a:latin typeface="Arial"/>
            </a:endParaRPr>
          </a:p>
        </p:txBody>
      </p:sp>
      <p:sp>
        <p:nvSpPr>
          <p:cNvPr id="69" name="Text 2"/>
          <p:cNvSpPr/>
          <p:nvPr/>
        </p:nvSpPr>
        <p:spPr>
          <a:xfrm>
            <a:off x="640080" y="1828800"/>
            <a:ext cx="86796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CADCFC"/>
                </a:solidFill>
                <a:effectLst/>
                <a:uFillTx/>
                <a:latin typeface="Cambria"/>
                <a:ea typeface="Cambria"/>
              </a:rPr>
              <a:t>01</a:t>
            </a:r>
            <a:endParaRPr lang="en-CA" sz="3400" b="0" u="none" strike="noStrike">
              <a:solidFill>
                <a:srgbClr val="000000"/>
              </a:solidFill>
              <a:effectLst/>
              <a:uFillTx/>
              <a:latin typeface="Arial"/>
            </a:endParaRPr>
          </a:p>
        </p:txBody>
      </p:sp>
      <p:sp>
        <p:nvSpPr>
          <p:cNvPr id="70" name="Text 3"/>
          <p:cNvSpPr/>
          <p:nvPr/>
        </p:nvSpPr>
        <p:spPr>
          <a:xfrm>
            <a:off x="1554480" y="1901880"/>
            <a:ext cx="443412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Terminology: "AI Agent" vs "Agentic AI"</a:t>
            </a:r>
            <a:endParaRPr lang="en-CA" sz="1700" b="0" u="none" strike="noStrike">
              <a:solidFill>
                <a:srgbClr val="000000"/>
              </a:solidFill>
              <a:effectLst/>
              <a:uFillTx/>
              <a:latin typeface="Arial"/>
            </a:endParaRPr>
          </a:p>
        </p:txBody>
      </p:sp>
      <p:sp>
        <p:nvSpPr>
          <p:cNvPr id="71" name="Text 4"/>
          <p:cNvSpPr/>
          <p:nvPr/>
        </p:nvSpPr>
        <p:spPr>
          <a:xfrm>
            <a:off x="640080" y="2926080"/>
            <a:ext cx="86796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CADCFC"/>
                </a:solidFill>
                <a:effectLst/>
                <a:uFillTx/>
                <a:latin typeface="Cambria"/>
                <a:ea typeface="Cambria"/>
              </a:rPr>
              <a:t>02</a:t>
            </a:r>
            <a:endParaRPr lang="en-CA" sz="3400" b="0" u="none" strike="noStrike">
              <a:solidFill>
                <a:srgbClr val="000000"/>
              </a:solidFill>
              <a:effectLst/>
              <a:uFillTx/>
              <a:latin typeface="Arial"/>
            </a:endParaRPr>
          </a:p>
        </p:txBody>
      </p:sp>
      <p:sp>
        <p:nvSpPr>
          <p:cNvPr id="72" name="Text 5"/>
          <p:cNvSpPr/>
          <p:nvPr/>
        </p:nvSpPr>
        <p:spPr>
          <a:xfrm>
            <a:off x="1554480" y="2999160"/>
            <a:ext cx="443412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Formal definitions</a:t>
            </a:r>
            <a:endParaRPr lang="en-CA" sz="1700" b="0" u="none" strike="noStrike">
              <a:solidFill>
                <a:srgbClr val="000000"/>
              </a:solidFill>
              <a:effectLst/>
              <a:uFillTx/>
              <a:latin typeface="Arial"/>
            </a:endParaRPr>
          </a:p>
        </p:txBody>
      </p:sp>
      <p:sp>
        <p:nvSpPr>
          <p:cNvPr id="73" name="Text 6"/>
          <p:cNvSpPr/>
          <p:nvPr/>
        </p:nvSpPr>
        <p:spPr>
          <a:xfrm>
            <a:off x="640080" y="4023360"/>
            <a:ext cx="86796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CADCFC"/>
                </a:solidFill>
                <a:effectLst/>
                <a:uFillTx/>
                <a:latin typeface="Cambria"/>
                <a:ea typeface="Cambria"/>
              </a:rPr>
              <a:t>03</a:t>
            </a:r>
            <a:endParaRPr lang="en-CA" sz="3400" b="0" u="none" strike="noStrike">
              <a:solidFill>
                <a:srgbClr val="000000"/>
              </a:solidFill>
              <a:effectLst/>
              <a:uFillTx/>
              <a:latin typeface="Arial"/>
            </a:endParaRPr>
          </a:p>
        </p:txBody>
      </p:sp>
      <p:sp>
        <p:nvSpPr>
          <p:cNvPr id="74" name="Text 7"/>
          <p:cNvSpPr/>
          <p:nvPr/>
        </p:nvSpPr>
        <p:spPr>
          <a:xfrm>
            <a:off x="1554480" y="4096440"/>
            <a:ext cx="443412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The essential components of an agent</a:t>
            </a:r>
            <a:endParaRPr lang="en-CA" sz="1700" b="0" u="none" strike="noStrike">
              <a:solidFill>
                <a:srgbClr val="000000"/>
              </a:solidFill>
              <a:effectLst/>
              <a:uFillTx/>
              <a:latin typeface="Arial"/>
            </a:endParaRPr>
          </a:p>
        </p:txBody>
      </p:sp>
      <p:sp>
        <p:nvSpPr>
          <p:cNvPr id="75" name="Text 8"/>
          <p:cNvSpPr/>
          <p:nvPr/>
        </p:nvSpPr>
        <p:spPr>
          <a:xfrm>
            <a:off x="640080" y="5120640"/>
            <a:ext cx="86796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CADCFC"/>
                </a:solidFill>
                <a:effectLst/>
                <a:uFillTx/>
                <a:latin typeface="Cambria"/>
                <a:ea typeface="Cambria"/>
              </a:rPr>
              <a:t>04</a:t>
            </a:r>
            <a:endParaRPr lang="en-CA" sz="3400" b="0" u="none" strike="noStrike">
              <a:solidFill>
                <a:srgbClr val="000000"/>
              </a:solidFill>
              <a:effectLst/>
              <a:uFillTx/>
              <a:latin typeface="Arial"/>
            </a:endParaRPr>
          </a:p>
        </p:txBody>
      </p:sp>
      <p:sp>
        <p:nvSpPr>
          <p:cNvPr id="76" name="Text 9"/>
          <p:cNvSpPr/>
          <p:nvPr/>
        </p:nvSpPr>
        <p:spPr>
          <a:xfrm>
            <a:off x="1554480" y="5193720"/>
            <a:ext cx="443412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Case study: the Hermes agent</a:t>
            </a:r>
            <a:endParaRPr lang="en-CA" sz="1700" b="0" u="none" strike="noStrike">
              <a:solidFill>
                <a:srgbClr val="000000"/>
              </a:solidFill>
              <a:effectLst/>
              <a:uFillTx/>
              <a:latin typeface="Arial"/>
            </a:endParaRPr>
          </a:p>
        </p:txBody>
      </p:sp>
      <p:sp>
        <p:nvSpPr>
          <p:cNvPr id="77" name="Text 10"/>
          <p:cNvSpPr/>
          <p:nvPr/>
        </p:nvSpPr>
        <p:spPr>
          <a:xfrm>
            <a:off x="6309360" y="1828800"/>
            <a:ext cx="86796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CADCFC"/>
                </a:solidFill>
                <a:effectLst/>
                <a:uFillTx/>
                <a:latin typeface="Cambria"/>
                <a:ea typeface="Cambria"/>
              </a:rPr>
              <a:t>05</a:t>
            </a:r>
            <a:endParaRPr lang="en-CA" sz="3400" b="0" u="none" strike="noStrike">
              <a:solidFill>
                <a:srgbClr val="000000"/>
              </a:solidFill>
              <a:effectLst/>
              <a:uFillTx/>
              <a:latin typeface="Arial"/>
            </a:endParaRPr>
          </a:p>
        </p:txBody>
      </p:sp>
      <p:sp>
        <p:nvSpPr>
          <p:cNvPr id="78" name="Text 11"/>
          <p:cNvSpPr/>
          <p:nvPr/>
        </p:nvSpPr>
        <p:spPr>
          <a:xfrm>
            <a:off x="7223760" y="1901880"/>
            <a:ext cx="443412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Reasoning patterns: ReAct, Plan-Execute, Reflection</a:t>
            </a:r>
            <a:endParaRPr lang="en-CA" sz="1700" b="0" u="none" strike="noStrike">
              <a:solidFill>
                <a:srgbClr val="000000"/>
              </a:solidFill>
              <a:effectLst/>
              <a:uFillTx/>
              <a:latin typeface="Arial"/>
            </a:endParaRPr>
          </a:p>
        </p:txBody>
      </p:sp>
      <p:sp>
        <p:nvSpPr>
          <p:cNvPr id="79" name="Text 12"/>
          <p:cNvSpPr/>
          <p:nvPr/>
        </p:nvSpPr>
        <p:spPr>
          <a:xfrm>
            <a:off x="6309360" y="2926080"/>
            <a:ext cx="86796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CADCFC"/>
                </a:solidFill>
                <a:effectLst/>
                <a:uFillTx/>
                <a:latin typeface="Cambria"/>
                <a:ea typeface="Cambria"/>
              </a:rPr>
              <a:t>06</a:t>
            </a:r>
            <a:endParaRPr lang="en-CA" sz="3400" b="0" u="none" strike="noStrike">
              <a:solidFill>
                <a:srgbClr val="000000"/>
              </a:solidFill>
              <a:effectLst/>
              <a:uFillTx/>
              <a:latin typeface="Arial"/>
            </a:endParaRPr>
          </a:p>
        </p:txBody>
      </p:sp>
      <p:sp>
        <p:nvSpPr>
          <p:cNvPr id="80" name="Text 13"/>
          <p:cNvSpPr/>
          <p:nvPr/>
        </p:nvSpPr>
        <p:spPr>
          <a:xfrm>
            <a:off x="7223760" y="2999160"/>
            <a:ext cx="443412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Multi-agent systems</a:t>
            </a:r>
            <a:endParaRPr lang="en-CA" sz="1700" b="0" u="none" strike="noStrike">
              <a:solidFill>
                <a:srgbClr val="000000"/>
              </a:solidFill>
              <a:effectLst/>
              <a:uFillTx/>
              <a:latin typeface="Arial"/>
            </a:endParaRPr>
          </a:p>
        </p:txBody>
      </p:sp>
      <p:sp>
        <p:nvSpPr>
          <p:cNvPr id="81" name="Text 14"/>
          <p:cNvSpPr/>
          <p:nvPr/>
        </p:nvSpPr>
        <p:spPr>
          <a:xfrm>
            <a:off x="6309360" y="4023360"/>
            <a:ext cx="86796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CADCFC"/>
                </a:solidFill>
                <a:effectLst/>
                <a:uFillTx/>
                <a:latin typeface="Cambria"/>
                <a:ea typeface="Cambria"/>
              </a:rPr>
              <a:t>07</a:t>
            </a:r>
            <a:endParaRPr lang="en-CA" sz="3400" b="0" u="none" strike="noStrike">
              <a:solidFill>
                <a:srgbClr val="000000"/>
              </a:solidFill>
              <a:effectLst/>
              <a:uFillTx/>
              <a:latin typeface="Arial"/>
            </a:endParaRPr>
          </a:p>
        </p:txBody>
      </p:sp>
      <p:sp>
        <p:nvSpPr>
          <p:cNvPr id="82" name="Text 15"/>
          <p:cNvSpPr/>
          <p:nvPr/>
        </p:nvSpPr>
        <p:spPr>
          <a:xfrm>
            <a:off x="7223760" y="4096440"/>
            <a:ext cx="443412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How to build an agent, step by step</a:t>
            </a:r>
            <a:endParaRPr lang="en-CA" sz="1700" b="0" u="none" strike="noStrike">
              <a:solidFill>
                <a:srgbClr val="000000"/>
              </a:solidFill>
              <a:effectLst/>
              <a:uFillTx/>
              <a:latin typeface="Arial"/>
            </a:endParaRPr>
          </a:p>
        </p:txBody>
      </p:sp>
      <p:sp>
        <p:nvSpPr>
          <p:cNvPr id="83" name="Text 16"/>
          <p:cNvSpPr/>
          <p:nvPr/>
        </p:nvSpPr>
        <p:spPr>
          <a:xfrm>
            <a:off x="6309360" y="5120640"/>
            <a:ext cx="86796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CADCFC"/>
                </a:solidFill>
                <a:effectLst/>
                <a:uFillTx/>
                <a:latin typeface="Cambria"/>
                <a:ea typeface="Cambria"/>
              </a:rPr>
              <a:t>08</a:t>
            </a:r>
            <a:endParaRPr lang="en-CA" sz="3400" b="0" u="none" strike="noStrike">
              <a:solidFill>
                <a:srgbClr val="000000"/>
              </a:solidFill>
              <a:effectLst/>
              <a:uFillTx/>
              <a:latin typeface="Arial"/>
            </a:endParaRPr>
          </a:p>
        </p:txBody>
      </p:sp>
      <p:sp>
        <p:nvSpPr>
          <p:cNvPr id="84" name="Text 17"/>
          <p:cNvSpPr/>
          <p:nvPr/>
        </p:nvSpPr>
        <p:spPr>
          <a:xfrm>
            <a:off x="7223760" y="5193720"/>
            <a:ext cx="443412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Pitfalls, best practices &amp; takeaways</a:t>
            </a:r>
            <a:endParaRPr lang="en-CA" sz="1700" b="0" u="none" strike="noStrike">
              <a:solidFill>
                <a:srgbClr val="000000"/>
              </a:solidFill>
              <a:effectLst/>
              <a:uFillTx/>
              <a:latin typeface="Arial"/>
            </a:endParaRPr>
          </a:p>
        </p:txBody>
      </p:sp>
      <p:sp>
        <p:nvSpPr>
          <p:cNvPr id="85" name="Shape 18"/>
          <p:cNvSpPr/>
          <p:nvPr/>
        </p:nvSpPr>
        <p:spPr>
          <a:xfrm>
            <a:off x="5989320" y="1828800"/>
            <a:ext cx="360" cy="4389120"/>
          </a:xfrm>
          <a:prstGeom prst="line">
            <a:avLst/>
          </a:prstGeom>
          <a:ln w="12700">
            <a:solidFill>
              <a:srgbClr val="E5E7EB"/>
            </a:solidFill>
            <a:round/>
          </a:ln>
        </p:spPr>
        <p:style>
          <a:lnRef idx="0"/>
          <a:fillRef idx="0"/>
          <a:effectRef idx="0"/>
          <a:fontRef idx="minor"/>
        </p:style>
        <p:txBody>
          <a:bodyPr lIns="0" tIns="45000" rIns="0" bIns="45000" anchor="t" anchorCtr="1">
            <a:noAutofit/>
          </a:bodyPr>
          <a:p>
            <a:endParaRPr lang="en-CA" sz="1800" b="0" u="none" strike="noStrike">
              <a:solidFill>
                <a:srgbClr val="000000"/>
              </a:solidFill>
              <a:effectLst/>
              <a:uFillTx/>
              <a:latin typeface="Arial"/>
            </a:endParaRPr>
          </a:p>
        </p:txBody>
      </p:sp>
      <p:sp>
        <p:nvSpPr>
          <p:cNvPr id="86" name="Text 19"/>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87" name="Text 20"/>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4</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TERMINOLOGY</a:t>
            </a:r>
            <a:endParaRPr lang="en-CA" sz="1400" b="0" u="none" strike="noStrike">
              <a:solidFill>
                <a:srgbClr val="000000"/>
              </a:solidFill>
              <a:effectLst/>
              <a:uFillTx/>
              <a:latin typeface="Arial"/>
            </a:endParaRPr>
          </a:p>
        </p:txBody>
      </p:sp>
      <p:sp>
        <p:nvSpPr>
          <p:cNvPr id="89"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“AI Agent” vs “Agentic AI” — Same Thing?</a:t>
            </a:r>
            <a:endParaRPr lang="en-CA" sz="3400" b="0" u="none" strike="noStrike">
              <a:solidFill>
                <a:srgbClr val="000000"/>
              </a:solidFill>
              <a:effectLst/>
              <a:uFillTx/>
              <a:latin typeface="Arial"/>
            </a:endParaRPr>
          </a:p>
        </p:txBody>
      </p:sp>
      <p:sp>
        <p:nvSpPr>
          <p:cNvPr id="90" name="Text 2"/>
          <p:cNvSpPr/>
          <p:nvPr/>
        </p:nvSpPr>
        <p:spPr>
          <a:xfrm>
            <a:off x="548640" y="1417320"/>
            <a:ext cx="109720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i="1" u="none" strike="noStrike">
                <a:solidFill>
                  <a:srgbClr val="6B7280"/>
                </a:solidFill>
                <a:effectLst/>
                <a:uFillTx/>
                <a:latin typeface="Calibri"/>
                <a:ea typeface="Calibri"/>
              </a:rPr>
              <a:t>Not quite. They describe two different levels of the same idea.</a:t>
            </a:r>
            <a:endParaRPr lang="en-CA" sz="1700" b="0" u="none" strike="noStrike">
              <a:solidFill>
                <a:srgbClr val="000000"/>
              </a:solidFill>
              <a:effectLst/>
              <a:uFillTx/>
              <a:latin typeface="Arial"/>
            </a:endParaRPr>
          </a:p>
        </p:txBody>
      </p:sp>
      <p:sp>
        <p:nvSpPr>
          <p:cNvPr id="91" name="Shape 3"/>
          <p:cNvSpPr/>
          <p:nvPr/>
        </p:nvSpPr>
        <p:spPr>
          <a:xfrm>
            <a:off x="548640" y="1965960"/>
            <a:ext cx="5211360" cy="3519720"/>
          </a:xfrm>
          <a:prstGeom prst="roundRect">
            <a:avLst>
              <a:gd name="adj" fmla="val 2597"/>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92" name="Shape 4"/>
          <p:cNvSpPr/>
          <p:nvPr/>
        </p:nvSpPr>
        <p:spPr>
          <a:xfrm>
            <a:off x="868680" y="2240280"/>
            <a:ext cx="685080" cy="685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93" name="Image 0" descr="preencoded.png"/>
          <p:cNvPicPr/>
          <p:nvPr/>
        </p:nvPicPr>
        <p:blipFill>
          <a:blip r:embed="rId1"/>
          <a:stretch/>
        </p:blipFill>
        <p:spPr>
          <a:xfrm>
            <a:off x="961200" y="2332800"/>
            <a:ext cx="500040" cy="500040"/>
          </a:xfrm>
          <a:prstGeom prst="rect">
            <a:avLst/>
          </a:prstGeom>
          <a:noFill/>
          <a:ln w="0">
            <a:noFill/>
          </a:ln>
        </p:spPr>
      </p:pic>
      <p:sp>
        <p:nvSpPr>
          <p:cNvPr id="94" name="Text 5"/>
          <p:cNvSpPr/>
          <p:nvPr/>
        </p:nvSpPr>
        <p:spPr>
          <a:xfrm>
            <a:off x="1691640" y="2286000"/>
            <a:ext cx="393120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u="none" strike="noStrike">
                <a:solidFill>
                  <a:srgbClr val="1E2761"/>
                </a:solidFill>
                <a:effectLst/>
                <a:uFillTx/>
                <a:latin typeface="Calibri"/>
                <a:ea typeface="Calibri"/>
              </a:rPr>
              <a:t>AI Agent</a:t>
            </a:r>
            <a:endParaRPr lang="en-CA" sz="2100" b="0" u="none" strike="noStrike">
              <a:solidFill>
                <a:srgbClr val="000000"/>
              </a:solidFill>
              <a:effectLst/>
              <a:uFillTx/>
              <a:latin typeface="Arial"/>
            </a:endParaRPr>
          </a:p>
        </p:txBody>
      </p:sp>
      <p:sp>
        <p:nvSpPr>
          <p:cNvPr id="95" name="Text 6"/>
          <p:cNvSpPr/>
          <p:nvPr/>
        </p:nvSpPr>
        <p:spPr>
          <a:xfrm>
            <a:off x="868680" y="3108960"/>
            <a:ext cx="4571280" cy="228528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301"/>
              </a:spcAft>
              <a:buClr>
                <a:srgbClr val="1A1A1A"/>
              </a:buClr>
              <a:buFont typeface="Symbol" charset="2"/>
              <a:buChar char=""/>
            </a:pPr>
            <a:r>
              <a:rPr lang="en-US" sz="1500" b="1" u="none" strike="noStrike">
                <a:solidFill>
                  <a:srgbClr val="1A1A1A"/>
                </a:solidFill>
                <a:effectLst/>
                <a:uFillTx/>
                <a:latin typeface="Calibri"/>
                <a:ea typeface="Calibri"/>
              </a:rPr>
              <a:t>A single unit: one model + its tools, memory, and loop</a:t>
            </a:r>
            <a:endParaRPr lang="en-CA" sz="1500" b="0" u="none" strike="noStrike">
              <a:solidFill>
                <a:srgbClr val="000000"/>
              </a:solidFill>
              <a:effectLst/>
              <a:uFillTx/>
              <a:latin typeface="Arial"/>
            </a:endParaRPr>
          </a:p>
          <a:p>
            <a:pPr marL="254160" indent="-254160" defTabSz="914400">
              <a:lnSpc>
                <a:spcPct val="110000"/>
              </a:lnSpc>
              <a:spcAft>
                <a:spcPts val="1301"/>
              </a:spcAft>
              <a:buClr>
                <a:srgbClr val="1A1A1A"/>
              </a:buClr>
              <a:buFont typeface="Symbol" charset="2"/>
              <a:buChar char=""/>
            </a:pPr>
            <a:r>
              <a:rPr lang="en-US" sz="1500" b="1" u="none" strike="noStrike">
                <a:solidFill>
                  <a:srgbClr val="1A1A1A"/>
                </a:solidFill>
                <a:effectLst/>
                <a:uFillTx/>
                <a:latin typeface="Calibri"/>
                <a:ea typeface="Calibri"/>
              </a:rPr>
              <a:t>The "worker" — it perceives, decides, and acts</a:t>
            </a:r>
            <a:endParaRPr lang="en-CA" sz="1500" b="0" u="none" strike="noStrike">
              <a:solidFill>
                <a:srgbClr val="000000"/>
              </a:solidFill>
              <a:effectLst/>
              <a:uFillTx/>
              <a:latin typeface="Arial"/>
            </a:endParaRPr>
          </a:p>
          <a:p>
            <a:pPr marL="254160" indent="-254160" defTabSz="914400">
              <a:lnSpc>
                <a:spcPct val="110000"/>
              </a:lnSpc>
              <a:spcAft>
                <a:spcPts val="1301"/>
              </a:spcAft>
              <a:buClr>
                <a:srgbClr val="1A1A1A"/>
              </a:buClr>
              <a:buFont typeface="Symbol" charset="2"/>
              <a:buChar char=""/>
            </a:pPr>
            <a:r>
              <a:rPr lang="en-US" sz="1500" b="1" u="none" strike="noStrike">
                <a:solidFill>
                  <a:srgbClr val="1A1A1A"/>
                </a:solidFill>
                <a:effectLst/>
                <a:uFillTx/>
                <a:latin typeface="Calibri"/>
                <a:ea typeface="Calibri"/>
              </a:rPr>
              <a:t>Scope: one role, one goal at a time</a:t>
            </a:r>
            <a:endParaRPr lang="en-CA" sz="1500" b="0" u="none" strike="noStrike">
              <a:solidFill>
                <a:srgbClr val="000000"/>
              </a:solidFill>
              <a:effectLst/>
              <a:uFillTx/>
              <a:latin typeface="Arial"/>
            </a:endParaRPr>
          </a:p>
          <a:p>
            <a:pPr marL="254160" indent="-254160" defTabSz="914400">
              <a:lnSpc>
                <a:spcPct val="110000"/>
              </a:lnSpc>
              <a:spcAft>
                <a:spcPts val="1301"/>
              </a:spcAft>
              <a:buClr>
                <a:srgbClr val="1A1A1A"/>
              </a:buClr>
              <a:buFont typeface="Symbol" charset="2"/>
              <a:buChar char=""/>
            </a:pPr>
            <a:r>
              <a:rPr lang="en-US" sz="1500" b="1" u="none" strike="noStrike">
                <a:solidFill>
                  <a:srgbClr val="1A1A1A"/>
                </a:solidFill>
                <a:effectLst/>
                <a:uFillTx/>
                <a:latin typeface="Calibri"/>
                <a:ea typeface="Calibri"/>
              </a:rPr>
              <a:t>Example: a customer-support bot that can look up an order and issue a refund</a:t>
            </a:r>
            <a:endParaRPr lang="en-CA" sz="1500" b="0" u="none" strike="noStrike">
              <a:solidFill>
                <a:srgbClr val="000000"/>
              </a:solidFill>
              <a:effectLst/>
              <a:uFillTx/>
              <a:latin typeface="Arial"/>
            </a:endParaRPr>
          </a:p>
        </p:txBody>
      </p:sp>
      <p:sp>
        <p:nvSpPr>
          <p:cNvPr id="96" name="Shape 7"/>
          <p:cNvSpPr/>
          <p:nvPr/>
        </p:nvSpPr>
        <p:spPr>
          <a:xfrm>
            <a:off x="6355080" y="1965960"/>
            <a:ext cx="5211360" cy="3519720"/>
          </a:xfrm>
          <a:prstGeom prst="roundRect">
            <a:avLst>
              <a:gd name="adj" fmla="val 2597"/>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97" name="Shape 8"/>
          <p:cNvSpPr/>
          <p:nvPr/>
        </p:nvSpPr>
        <p:spPr>
          <a:xfrm>
            <a:off x="6675120" y="2240280"/>
            <a:ext cx="685080" cy="68508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98" name="Image 1" descr="preencoded.png"/>
          <p:cNvPicPr/>
          <p:nvPr/>
        </p:nvPicPr>
        <p:blipFill>
          <a:blip r:embed="rId2"/>
          <a:stretch/>
        </p:blipFill>
        <p:spPr>
          <a:xfrm>
            <a:off x="6767640" y="2332800"/>
            <a:ext cx="500040" cy="500040"/>
          </a:xfrm>
          <a:prstGeom prst="rect">
            <a:avLst/>
          </a:prstGeom>
          <a:noFill/>
          <a:ln w="0">
            <a:noFill/>
          </a:ln>
        </p:spPr>
      </p:pic>
      <p:sp>
        <p:nvSpPr>
          <p:cNvPr id="99" name="Text 9"/>
          <p:cNvSpPr/>
          <p:nvPr/>
        </p:nvSpPr>
        <p:spPr>
          <a:xfrm>
            <a:off x="7498080" y="2286000"/>
            <a:ext cx="393120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u="none" strike="noStrike">
                <a:solidFill>
                  <a:srgbClr val="FFFFFF"/>
                </a:solidFill>
                <a:effectLst/>
                <a:uFillTx/>
                <a:latin typeface="Calibri"/>
                <a:ea typeface="Calibri"/>
              </a:rPr>
              <a:t>Agentic AI</a:t>
            </a:r>
            <a:endParaRPr lang="en-CA" sz="2100" b="0" u="none" strike="noStrike">
              <a:solidFill>
                <a:srgbClr val="000000"/>
              </a:solidFill>
              <a:effectLst/>
              <a:uFillTx/>
              <a:latin typeface="Arial"/>
            </a:endParaRPr>
          </a:p>
        </p:txBody>
      </p:sp>
      <p:sp>
        <p:nvSpPr>
          <p:cNvPr id="100" name="Text 10"/>
          <p:cNvSpPr/>
          <p:nvPr/>
        </p:nvSpPr>
        <p:spPr>
          <a:xfrm>
            <a:off x="6675120" y="3108960"/>
            <a:ext cx="4571280" cy="228528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301"/>
              </a:spcAft>
              <a:buClr>
                <a:srgbClr val="FFFFFF"/>
              </a:buClr>
              <a:buFont typeface="Symbol" charset="2"/>
              <a:buChar char=""/>
            </a:pPr>
            <a:r>
              <a:rPr lang="en-US" sz="1500" b="0" u="none" strike="noStrike">
                <a:solidFill>
                  <a:srgbClr val="FFFFFF"/>
                </a:solidFill>
                <a:effectLst/>
                <a:uFillTx/>
                <a:latin typeface="Calibri"/>
                <a:ea typeface="Calibri"/>
              </a:rPr>
              <a:t>A system built from one or more agents working toward a larger goal</a:t>
            </a:r>
            <a:endParaRPr lang="en-CA" sz="1500" b="0" u="none" strike="noStrike">
              <a:solidFill>
                <a:srgbClr val="000000"/>
              </a:solidFill>
              <a:effectLst/>
              <a:uFillTx/>
              <a:latin typeface="Arial"/>
            </a:endParaRPr>
          </a:p>
          <a:p>
            <a:pPr marL="254160" indent="-254160" defTabSz="914400">
              <a:lnSpc>
                <a:spcPct val="110000"/>
              </a:lnSpc>
              <a:spcAft>
                <a:spcPts val="1301"/>
              </a:spcAft>
              <a:buClr>
                <a:srgbClr val="FFFFFF"/>
              </a:buClr>
              <a:buFont typeface="Symbol" charset="2"/>
              <a:buChar char=""/>
            </a:pPr>
            <a:r>
              <a:rPr lang="en-US" sz="1500" b="0" u="none" strike="noStrike">
                <a:solidFill>
                  <a:srgbClr val="FFFFFF"/>
                </a:solidFill>
                <a:effectLst/>
                <a:uFillTx/>
                <a:latin typeface="Calibri"/>
                <a:ea typeface="Calibri"/>
              </a:rPr>
              <a:t>The "organisation" — coordination, delegation, hand-offs</a:t>
            </a:r>
            <a:endParaRPr lang="en-CA" sz="1500" b="0" u="none" strike="noStrike">
              <a:solidFill>
                <a:srgbClr val="000000"/>
              </a:solidFill>
              <a:effectLst/>
              <a:uFillTx/>
              <a:latin typeface="Arial"/>
            </a:endParaRPr>
          </a:p>
          <a:p>
            <a:pPr marL="254160" indent="-254160" defTabSz="914400">
              <a:lnSpc>
                <a:spcPct val="110000"/>
              </a:lnSpc>
              <a:spcAft>
                <a:spcPts val="1301"/>
              </a:spcAft>
              <a:buClr>
                <a:srgbClr val="FFFFFF"/>
              </a:buClr>
              <a:buFont typeface="Symbol" charset="2"/>
              <a:buChar char=""/>
            </a:pPr>
            <a:r>
              <a:rPr lang="en-US" sz="1500" b="0" u="none" strike="noStrike">
                <a:solidFill>
                  <a:srgbClr val="FFFFFF"/>
                </a:solidFill>
                <a:effectLst/>
                <a:uFillTx/>
                <a:latin typeface="Calibri"/>
                <a:ea typeface="Calibri"/>
              </a:rPr>
              <a:t>Scope: multi-step, often multi-agent workflows</a:t>
            </a:r>
            <a:endParaRPr lang="en-CA" sz="1500" b="0" u="none" strike="noStrike">
              <a:solidFill>
                <a:srgbClr val="000000"/>
              </a:solidFill>
              <a:effectLst/>
              <a:uFillTx/>
              <a:latin typeface="Arial"/>
            </a:endParaRPr>
          </a:p>
          <a:p>
            <a:pPr marL="254160" indent="-254160" defTabSz="914400">
              <a:lnSpc>
                <a:spcPct val="110000"/>
              </a:lnSpc>
              <a:spcAft>
                <a:spcPts val="1301"/>
              </a:spcAft>
              <a:buClr>
                <a:srgbClr val="FFFFFF"/>
              </a:buClr>
              <a:buFont typeface="Symbol" charset="2"/>
              <a:buChar char=""/>
            </a:pPr>
            <a:r>
              <a:rPr lang="en-US" sz="1500" b="0" u="none" strike="noStrike">
                <a:solidFill>
                  <a:srgbClr val="FFFFFF"/>
                </a:solidFill>
                <a:effectLst/>
                <a:uFillTx/>
                <a:latin typeface="Calibri"/>
                <a:ea typeface="Calibri"/>
              </a:rPr>
              <a:t>Example: a research pipeline where a planner agent delegates to a search agent and a writer agent</a:t>
            </a:r>
            <a:endParaRPr lang="en-CA" sz="1500" b="0" u="none" strike="noStrike">
              <a:solidFill>
                <a:srgbClr val="000000"/>
              </a:solidFill>
              <a:effectLst/>
              <a:uFillTx/>
              <a:latin typeface="Arial"/>
            </a:endParaRPr>
          </a:p>
        </p:txBody>
      </p:sp>
      <p:sp>
        <p:nvSpPr>
          <p:cNvPr id="101" name="Text 11"/>
          <p:cNvSpPr/>
          <p:nvPr/>
        </p:nvSpPr>
        <p:spPr>
          <a:xfrm>
            <a:off x="548640" y="5623560"/>
            <a:ext cx="109720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A1A1A"/>
                </a:solidFill>
                <a:effectLst/>
                <a:uFillTx/>
                <a:latin typeface="Calibri"/>
                <a:ea typeface="Calibri"/>
              </a:rPr>
              <a:t>Rule of thumb: every agentic AI system is made of agents — but a single agent on its own is not yet an “agentic AI system.”</a:t>
            </a:r>
            <a:endParaRPr lang="en-CA" sz="1600" b="0" u="none" strike="noStrike">
              <a:solidFill>
                <a:srgbClr val="000000"/>
              </a:solidFill>
              <a:effectLst/>
              <a:uFillTx/>
              <a:latin typeface="Arial"/>
            </a:endParaRPr>
          </a:p>
        </p:txBody>
      </p:sp>
      <p:sp>
        <p:nvSpPr>
          <p:cNvPr id="102" name="Text 12"/>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103" name="Text 13"/>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5</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4"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DEFINITIONS · 1 OF 2</a:t>
            </a:r>
            <a:endParaRPr lang="en-CA" sz="1400" b="0" u="none" strike="noStrike">
              <a:solidFill>
                <a:srgbClr val="000000"/>
              </a:solidFill>
              <a:effectLst/>
              <a:uFillTx/>
              <a:latin typeface="Arial"/>
            </a:endParaRPr>
          </a:p>
        </p:txBody>
      </p:sp>
      <p:sp>
        <p:nvSpPr>
          <p:cNvPr id="105"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What Is an AI Agent?</a:t>
            </a:r>
            <a:endParaRPr lang="en-CA" sz="3400" b="0" u="none" strike="noStrike">
              <a:solidFill>
                <a:srgbClr val="000000"/>
              </a:solidFill>
              <a:effectLst/>
              <a:uFillTx/>
              <a:latin typeface="Arial"/>
            </a:endParaRPr>
          </a:p>
        </p:txBody>
      </p:sp>
      <p:sp>
        <p:nvSpPr>
          <p:cNvPr id="106" name="Shape 2"/>
          <p:cNvSpPr/>
          <p:nvPr/>
        </p:nvSpPr>
        <p:spPr>
          <a:xfrm>
            <a:off x="548640" y="1508760"/>
            <a:ext cx="11063520" cy="1142280"/>
          </a:xfrm>
          <a:prstGeom prst="roundRect">
            <a:avLst>
              <a:gd name="adj" fmla="val 8000"/>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107" name="Text 3"/>
          <p:cNvSpPr/>
          <p:nvPr/>
        </p:nvSpPr>
        <p:spPr>
          <a:xfrm>
            <a:off x="868680" y="1600200"/>
            <a:ext cx="10423440" cy="959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i="1" u="none" strike="noStrike">
                <a:solidFill>
                  <a:srgbClr val="FFFFFF"/>
                </a:solidFill>
                <a:effectLst/>
                <a:uFillTx/>
                <a:latin typeface="Calibri"/>
                <a:ea typeface="Calibri"/>
              </a:rPr>
              <a:t>An AI agent is a system that uses a language model to perceive its environment, decide on a course of action, and use tools to act on that environment — in a loop, toward a goal.</a:t>
            </a:r>
            <a:endParaRPr lang="en-CA" sz="1800" b="0" u="none" strike="noStrike">
              <a:solidFill>
                <a:srgbClr val="000000"/>
              </a:solidFill>
              <a:effectLst/>
              <a:uFillTx/>
              <a:latin typeface="Arial"/>
            </a:endParaRPr>
          </a:p>
        </p:txBody>
      </p:sp>
      <p:sp>
        <p:nvSpPr>
          <p:cNvPr id="108" name="Text 4"/>
          <p:cNvSpPr/>
          <p:nvPr/>
        </p:nvSpPr>
        <p:spPr>
          <a:xfrm>
            <a:off x="548640" y="2880360"/>
            <a:ext cx="100576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Four things separate an "agent" from a plain chatbot:</a:t>
            </a:r>
            <a:endParaRPr lang="en-CA" sz="1700" b="0" u="none" strike="noStrike">
              <a:solidFill>
                <a:srgbClr val="000000"/>
              </a:solidFill>
              <a:effectLst/>
              <a:uFillTx/>
              <a:latin typeface="Arial"/>
            </a:endParaRPr>
          </a:p>
        </p:txBody>
      </p:sp>
      <p:sp>
        <p:nvSpPr>
          <p:cNvPr id="109" name="Shape 5"/>
          <p:cNvSpPr/>
          <p:nvPr/>
        </p:nvSpPr>
        <p:spPr>
          <a:xfrm>
            <a:off x="1549800" y="3429000"/>
            <a:ext cx="694080" cy="69408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110" name="Image 0" descr="preencoded.png"/>
          <p:cNvPicPr/>
          <p:nvPr/>
        </p:nvPicPr>
        <p:blipFill>
          <a:blip r:embed="rId1"/>
          <a:stretch/>
        </p:blipFill>
        <p:spPr>
          <a:xfrm>
            <a:off x="1643760" y="3522960"/>
            <a:ext cx="506520" cy="506520"/>
          </a:xfrm>
          <a:prstGeom prst="rect">
            <a:avLst/>
          </a:prstGeom>
          <a:noFill/>
          <a:ln w="0">
            <a:noFill/>
          </a:ln>
        </p:spPr>
      </p:pic>
      <p:sp>
        <p:nvSpPr>
          <p:cNvPr id="111" name="Text 6"/>
          <p:cNvSpPr/>
          <p:nvPr/>
        </p:nvSpPr>
        <p:spPr>
          <a:xfrm>
            <a:off x="548640" y="4224600"/>
            <a:ext cx="2696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Goal-directed</a:t>
            </a:r>
            <a:endParaRPr lang="en-CA" sz="1600" b="0" u="none" strike="noStrike">
              <a:solidFill>
                <a:srgbClr val="000000"/>
              </a:solidFill>
              <a:effectLst/>
              <a:uFillTx/>
              <a:latin typeface="Arial"/>
            </a:endParaRPr>
          </a:p>
        </p:txBody>
      </p:sp>
      <p:sp>
        <p:nvSpPr>
          <p:cNvPr id="112" name="Text 7"/>
          <p:cNvSpPr/>
          <p:nvPr/>
        </p:nvSpPr>
        <p:spPr>
          <a:xfrm>
            <a:off x="360000" y="4711680"/>
            <a:ext cx="2793960" cy="867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000000"/>
                </a:solidFill>
                <a:effectLst/>
                <a:uFillTx/>
                <a:latin typeface="Calibri"/>
                <a:ea typeface="Calibri"/>
              </a:rPr>
              <a:t>Works toward an objective, not just the next reply</a:t>
            </a:r>
            <a:endParaRPr lang="en-CA" sz="1800" b="0" u="none" strike="noStrike">
              <a:solidFill>
                <a:srgbClr val="000000"/>
              </a:solidFill>
              <a:effectLst/>
              <a:uFillTx/>
              <a:latin typeface="Arial"/>
            </a:endParaRPr>
          </a:p>
        </p:txBody>
      </p:sp>
      <p:sp>
        <p:nvSpPr>
          <p:cNvPr id="113" name="Shape 8"/>
          <p:cNvSpPr/>
          <p:nvPr/>
        </p:nvSpPr>
        <p:spPr>
          <a:xfrm>
            <a:off x="4384440" y="3429000"/>
            <a:ext cx="694080" cy="69408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114" name="Image 1" descr="preencoded.png"/>
          <p:cNvPicPr/>
          <p:nvPr/>
        </p:nvPicPr>
        <p:blipFill>
          <a:blip r:embed="rId2"/>
          <a:stretch/>
        </p:blipFill>
        <p:spPr>
          <a:xfrm>
            <a:off x="4478400" y="3522960"/>
            <a:ext cx="506520" cy="506520"/>
          </a:xfrm>
          <a:prstGeom prst="rect">
            <a:avLst/>
          </a:prstGeom>
          <a:noFill/>
          <a:ln w="0">
            <a:noFill/>
          </a:ln>
        </p:spPr>
      </p:pic>
      <p:sp>
        <p:nvSpPr>
          <p:cNvPr id="115" name="Text 9"/>
          <p:cNvSpPr/>
          <p:nvPr/>
        </p:nvSpPr>
        <p:spPr>
          <a:xfrm>
            <a:off x="3383280" y="4224600"/>
            <a:ext cx="2696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Acts on the world</a:t>
            </a:r>
            <a:endParaRPr lang="en-CA" sz="1600" b="0" u="none" strike="noStrike">
              <a:solidFill>
                <a:srgbClr val="000000"/>
              </a:solidFill>
              <a:effectLst/>
              <a:uFillTx/>
              <a:latin typeface="Arial"/>
            </a:endParaRPr>
          </a:p>
        </p:txBody>
      </p:sp>
      <p:sp>
        <p:nvSpPr>
          <p:cNvPr id="116" name="Text 10"/>
          <p:cNvSpPr/>
          <p:nvPr/>
        </p:nvSpPr>
        <p:spPr>
          <a:xfrm>
            <a:off x="3474720" y="4860000"/>
            <a:ext cx="2513880" cy="867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000000"/>
                </a:solidFill>
                <a:effectLst/>
                <a:uFillTx/>
                <a:latin typeface="Calibri"/>
                <a:ea typeface="Calibri"/>
              </a:rPr>
              <a:t>Calls tools / APIs, not just generates text</a:t>
            </a:r>
            <a:endParaRPr lang="en-CA" sz="1800" b="0" u="none" strike="noStrike">
              <a:solidFill>
                <a:srgbClr val="000000"/>
              </a:solidFill>
              <a:effectLst/>
              <a:uFillTx/>
              <a:latin typeface="Arial"/>
            </a:endParaRPr>
          </a:p>
        </p:txBody>
      </p:sp>
      <p:sp>
        <p:nvSpPr>
          <p:cNvPr id="117" name="Shape 11"/>
          <p:cNvSpPr/>
          <p:nvPr/>
        </p:nvSpPr>
        <p:spPr>
          <a:xfrm>
            <a:off x="7219080" y="3429000"/>
            <a:ext cx="694080" cy="69408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118" name="Image 2" descr="preencoded.png"/>
          <p:cNvPicPr/>
          <p:nvPr/>
        </p:nvPicPr>
        <p:blipFill>
          <a:blip r:embed="rId3"/>
          <a:stretch/>
        </p:blipFill>
        <p:spPr>
          <a:xfrm>
            <a:off x="7313040" y="3522960"/>
            <a:ext cx="506520" cy="506520"/>
          </a:xfrm>
          <a:prstGeom prst="rect">
            <a:avLst/>
          </a:prstGeom>
          <a:noFill/>
          <a:ln w="0">
            <a:noFill/>
          </a:ln>
        </p:spPr>
      </p:pic>
      <p:sp>
        <p:nvSpPr>
          <p:cNvPr id="119" name="Text 12"/>
          <p:cNvSpPr/>
          <p:nvPr/>
        </p:nvSpPr>
        <p:spPr>
          <a:xfrm>
            <a:off x="6217920" y="4224600"/>
            <a:ext cx="2696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Has state</a:t>
            </a:r>
            <a:endParaRPr lang="en-CA" sz="1600" b="0" u="none" strike="noStrike">
              <a:solidFill>
                <a:srgbClr val="000000"/>
              </a:solidFill>
              <a:effectLst/>
              <a:uFillTx/>
              <a:latin typeface="Arial"/>
            </a:endParaRPr>
          </a:p>
        </p:txBody>
      </p:sp>
      <p:sp>
        <p:nvSpPr>
          <p:cNvPr id="120" name="Text 13"/>
          <p:cNvSpPr/>
          <p:nvPr/>
        </p:nvSpPr>
        <p:spPr>
          <a:xfrm>
            <a:off x="6300000" y="4860000"/>
            <a:ext cx="2513880" cy="867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000000"/>
                </a:solidFill>
                <a:effectLst/>
                <a:uFillTx/>
                <a:latin typeface="Calibri"/>
                <a:ea typeface="Calibri"/>
              </a:rPr>
              <a:t>Remembers context across steps</a:t>
            </a:r>
            <a:endParaRPr lang="en-CA" sz="1800" b="0" u="none" strike="noStrike">
              <a:solidFill>
                <a:srgbClr val="000000"/>
              </a:solidFill>
              <a:effectLst/>
              <a:uFillTx/>
              <a:latin typeface="Arial"/>
            </a:endParaRPr>
          </a:p>
        </p:txBody>
      </p:sp>
      <p:sp>
        <p:nvSpPr>
          <p:cNvPr id="121" name="Shape 14"/>
          <p:cNvSpPr/>
          <p:nvPr/>
        </p:nvSpPr>
        <p:spPr>
          <a:xfrm>
            <a:off x="10053720" y="3429000"/>
            <a:ext cx="694080" cy="69408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122" name="Image 3" descr="preencoded.png"/>
          <p:cNvPicPr/>
          <p:nvPr/>
        </p:nvPicPr>
        <p:blipFill>
          <a:blip r:embed="rId4"/>
          <a:stretch/>
        </p:blipFill>
        <p:spPr>
          <a:xfrm>
            <a:off x="10147680" y="3522960"/>
            <a:ext cx="506520" cy="506520"/>
          </a:xfrm>
          <a:prstGeom prst="rect">
            <a:avLst/>
          </a:prstGeom>
          <a:noFill/>
          <a:ln w="0">
            <a:noFill/>
          </a:ln>
        </p:spPr>
      </p:pic>
      <p:sp>
        <p:nvSpPr>
          <p:cNvPr id="123" name="Text 15"/>
          <p:cNvSpPr/>
          <p:nvPr/>
        </p:nvSpPr>
        <p:spPr>
          <a:xfrm>
            <a:off x="9052560" y="4224600"/>
            <a:ext cx="2696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Runs a loop</a:t>
            </a:r>
            <a:endParaRPr lang="en-CA" sz="1600" b="0" u="none" strike="noStrike">
              <a:solidFill>
                <a:srgbClr val="000000"/>
              </a:solidFill>
              <a:effectLst/>
              <a:uFillTx/>
              <a:latin typeface="Arial"/>
            </a:endParaRPr>
          </a:p>
        </p:txBody>
      </p:sp>
      <p:sp>
        <p:nvSpPr>
          <p:cNvPr id="124" name="Text 16"/>
          <p:cNvSpPr/>
          <p:nvPr/>
        </p:nvSpPr>
        <p:spPr>
          <a:xfrm>
            <a:off x="9144000" y="5040000"/>
            <a:ext cx="2513880" cy="41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000000"/>
                </a:solidFill>
                <a:effectLst/>
                <a:uFillTx/>
                <a:latin typeface="Calibri"/>
                <a:ea typeface="Calibri"/>
              </a:rPr>
              <a:t>Observes the result and decides the next step itself</a:t>
            </a:r>
            <a:endParaRPr lang="en-CA" sz="1800" b="0" u="none" strike="noStrike">
              <a:solidFill>
                <a:srgbClr val="000000"/>
              </a:solidFill>
              <a:effectLst/>
              <a:uFillTx/>
              <a:latin typeface="Arial"/>
            </a:endParaRPr>
          </a:p>
        </p:txBody>
      </p:sp>
      <p:sp>
        <p:nvSpPr>
          <p:cNvPr id="125" name="Text 17"/>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126" name="Text 18"/>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6</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7"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DEFINITIONS · 2 OF 2</a:t>
            </a:r>
            <a:endParaRPr lang="en-CA" sz="1400" b="0" u="none" strike="noStrike">
              <a:solidFill>
                <a:srgbClr val="000000"/>
              </a:solidFill>
              <a:effectLst/>
              <a:uFillTx/>
              <a:latin typeface="Arial"/>
            </a:endParaRPr>
          </a:p>
        </p:txBody>
      </p:sp>
      <p:sp>
        <p:nvSpPr>
          <p:cNvPr id="128"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What Is Agentic AI?</a:t>
            </a:r>
            <a:endParaRPr lang="en-CA" sz="3400" b="0" u="none" strike="noStrike">
              <a:solidFill>
                <a:srgbClr val="000000"/>
              </a:solidFill>
              <a:effectLst/>
              <a:uFillTx/>
              <a:latin typeface="Arial"/>
            </a:endParaRPr>
          </a:p>
        </p:txBody>
      </p:sp>
      <p:sp>
        <p:nvSpPr>
          <p:cNvPr id="129" name="Shape 2"/>
          <p:cNvSpPr/>
          <p:nvPr/>
        </p:nvSpPr>
        <p:spPr>
          <a:xfrm>
            <a:off x="548640" y="1508760"/>
            <a:ext cx="11063520" cy="1142280"/>
          </a:xfrm>
          <a:prstGeom prst="roundRect">
            <a:avLst>
              <a:gd name="adj" fmla="val 8000"/>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130" name="Text 3"/>
          <p:cNvSpPr/>
          <p:nvPr/>
        </p:nvSpPr>
        <p:spPr>
          <a:xfrm>
            <a:off x="868680" y="1600200"/>
            <a:ext cx="10423440" cy="959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i="1" u="none" strike="noStrike">
                <a:solidFill>
                  <a:srgbClr val="FFFFFF"/>
                </a:solidFill>
                <a:effectLst/>
                <a:uFillTx/>
                <a:latin typeface="Calibri"/>
                <a:ea typeface="Calibri"/>
              </a:rPr>
              <a:t>Agentic AI is an approach to building software in which one or more agents are given autonomy over how a goal is achieved — the system decides the steps, not just executes a fixed script.</a:t>
            </a:r>
            <a:endParaRPr lang="en-CA" sz="2000" b="0" u="none" strike="noStrike">
              <a:solidFill>
                <a:srgbClr val="000000"/>
              </a:solidFill>
              <a:effectLst/>
              <a:uFillTx/>
              <a:latin typeface="Arial"/>
            </a:endParaRPr>
          </a:p>
        </p:txBody>
      </p:sp>
      <p:sp>
        <p:nvSpPr>
          <p:cNvPr id="131" name="Text 4"/>
          <p:cNvSpPr/>
          <p:nvPr/>
        </p:nvSpPr>
        <p:spPr>
          <a:xfrm>
            <a:off x="548640" y="2880360"/>
            <a:ext cx="7314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A spectrum, not a switch</a:t>
            </a:r>
            <a:endParaRPr lang="en-CA" sz="1700" b="0" u="none" strike="noStrike">
              <a:solidFill>
                <a:srgbClr val="000000"/>
              </a:solidFill>
              <a:effectLst/>
              <a:uFillTx/>
              <a:latin typeface="Arial"/>
            </a:endParaRPr>
          </a:p>
        </p:txBody>
      </p:sp>
      <p:sp>
        <p:nvSpPr>
          <p:cNvPr id="132" name="Shape 5"/>
          <p:cNvSpPr/>
          <p:nvPr/>
        </p:nvSpPr>
        <p:spPr>
          <a:xfrm>
            <a:off x="548640" y="3429000"/>
            <a:ext cx="2010960" cy="959400"/>
          </a:xfrm>
          <a:prstGeom prst="roundRect">
            <a:avLst>
              <a:gd name="adj" fmla="val 7619"/>
            </a:avLst>
          </a:prstGeom>
          <a:solidFill>
            <a:srgbClr val="E5E7EB"/>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133" name="Text 6"/>
          <p:cNvSpPr/>
          <p:nvPr/>
        </p:nvSpPr>
        <p:spPr>
          <a:xfrm>
            <a:off x="594360" y="3429000"/>
            <a:ext cx="191952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E2761"/>
                </a:solidFill>
                <a:effectLst/>
                <a:uFillTx/>
                <a:latin typeface="Calibri"/>
                <a:ea typeface="Calibri"/>
              </a:rPr>
              <a:t>Fixed script</a:t>
            </a:r>
            <a:endParaRPr lang="en-CA"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rgbClr val="1E2761"/>
                </a:solidFill>
                <a:effectLst/>
                <a:uFillTx/>
                <a:latin typeface="Calibri"/>
                <a:ea typeface="Calibri"/>
              </a:rPr>
              <a:t>(if/else)</a:t>
            </a:r>
            <a:endParaRPr lang="en-CA" sz="1800" b="0" u="none" strike="noStrike">
              <a:solidFill>
                <a:srgbClr val="000000"/>
              </a:solidFill>
              <a:effectLst/>
              <a:uFillTx/>
              <a:latin typeface="Arial"/>
            </a:endParaRPr>
          </a:p>
        </p:txBody>
      </p:sp>
      <p:sp>
        <p:nvSpPr>
          <p:cNvPr id="134" name="Shape 7"/>
          <p:cNvSpPr/>
          <p:nvPr/>
        </p:nvSpPr>
        <p:spPr>
          <a:xfrm>
            <a:off x="2578680" y="3835800"/>
            <a:ext cx="191160" cy="14544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28080" rIns="90000" bIns="28080" anchor="t">
            <a:noAutofit/>
          </a:bodyPr>
          <a:p>
            <a:endParaRPr lang="en-CA" sz="1800" b="0" u="none" strike="noStrike">
              <a:solidFill>
                <a:srgbClr val="FFFFFF"/>
              </a:solidFill>
              <a:effectLst/>
              <a:uFillTx/>
              <a:latin typeface="Arial"/>
            </a:endParaRPr>
          </a:p>
        </p:txBody>
      </p:sp>
      <p:sp>
        <p:nvSpPr>
          <p:cNvPr id="135" name="Shape 8"/>
          <p:cNvSpPr/>
          <p:nvPr/>
        </p:nvSpPr>
        <p:spPr>
          <a:xfrm>
            <a:off x="2788920" y="3429000"/>
            <a:ext cx="2010960" cy="959400"/>
          </a:xfrm>
          <a:prstGeom prst="roundRect">
            <a:avLst>
              <a:gd name="adj" fmla="val 7619"/>
            </a:avLst>
          </a:prstGeom>
          <a:solidFill>
            <a:srgbClr val="CADCFC"/>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136" name="Text 9"/>
          <p:cNvSpPr/>
          <p:nvPr/>
        </p:nvSpPr>
        <p:spPr>
          <a:xfrm>
            <a:off x="2834640" y="3429000"/>
            <a:ext cx="191952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E2761"/>
                </a:solidFill>
                <a:effectLst/>
                <a:uFillTx/>
                <a:latin typeface="Calibri"/>
                <a:ea typeface="Calibri"/>
              </a:rPr>
              <a:t>LLM call</a:t>
            </a:r>
            <a:endParaRPr lang="en-CA"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rgbClr val="1E2761"/>
                </a:solidFill>
                <a:effectLst/>
                <a:uFillTx/>
                <a:latin typeface="Calibri"/>
                <a:ea typeface="Calibri"/>
              </a:rPr>
              <a:t>inside a script</a:t>
            </a:r>
            <a:endParaRPr lang="en-CA" sz="1800" b="0" u="none" strike="noStrike">
              <a:solidFill>
                <a:srgbClr val="000000"/>
              </a:solidFill>
              <a:effectLst/>
              <a:uFillTx/>
              <a:latin typeface="Arial"/>
            </a:endParaRPr>
          </a:p>
        </p:txBody>
      </p:sp>
      <p:sp>
        <p:nvSpPr>
          <p:cNvPr id="137" name="Shape 10"/>
          <p:cNvSpPr/>
          <p:nvPr/>
        </p:nvSpPr>
        <p:spPr>
          <a:xfrm>
            <a:off x="4818960" y="3835800"/>
            <a:ext cx="191160" cy="14544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28080" rIns="90000" bIns="28080" anchor="t">
            <a:noAutofit/>
          </a:bodyPr>
          <a:p>
            <a:endParaRPr lang="en-CA" sz="1800" b="0" u="none" strike="noStrike">
              <a:solidFill>
                <a:srgbClr val="FFFFFF"/>
              </a:solidFill>
              <a:effectLst/>
              <a:uFillTx/>
              <a:latin typeface="Arial"/>
            </a:endParaRPr>
          </a:p>
        </p:txBody>
      </p:sp>
      <p:sp>
        <p:nvSpPr>
          <p:cNvPr id="138" name="Shape 11"/>
          <p:cNvSpPr/>
          <p:nvPr/>
        </p:nvSpPr>
        <p:spPr>
          <a:xfrm>
            <a:off x="5029200" y="3429000"/>
            <a:ext cx="2010960" cy="959400"/>
          </a:xfrm>
          <a:prstGeom prst="roundRect">
            <a:avLst>
              <a:gd name="adj" fmla="val 7619"/>
            </a:avLst>
          </a:prstGeom>
          <a:solidFill>
            <a:srgbClr val="CADCFC"/>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139" name="Text 12"/>
          <p:cNvSpPr/>
          <p:nvPr/>
        </p:nvSpPr>
        <p:spPr>
          <a:xfrm>
            <a:off x="5074920" y="3429000"/>
            <a:ext cx="191952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E2761"/>
                </a:solidFill>
                <a:effectLst/>
                <a:uFillTx/>
                <a:latin typeface="Calibri"/>
                <a:ea typeface="Calibri"/>
              </a:rPr>
              <a:t>LLM chooses</a:t>
            </a:r>
            <a:endParaRPr lang="en-CA"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rgbClr val="1E2761"/>
                </a:solidFill>
                <a:effectLst/>
                <a:uFillTx/>
                <a:latin typeface="Calibri"/>
                <a:ea typeface="Calibri"/>
              </a:rPr>
              <a:t>which tool to call</a:t>
            </a:r>
            <a:endParaRPr lang="en-CA" sz="1800" b="0" u="none" strike="noStrike">
              <a:solidFill>
                <a:srgbClr val="000000"/>
              </a:solidFill>
              <a:effectLst/>
              <a:uFillTx/>
              <a:latin typeface="Arial"/>
            </a:endParaRPr>
          </a:p>
        </p:txBody>
      </p:sp>
      <p:sp>
        <p:nvSpPr>
          <p:cNvPr id="140" name="Shape 13"/>
          <p:cNvSpPr/>
          <p:nvPr/>
        </p:nvSpPr>
        <p:spPr>
          <a:xfrm>
            <a:off x="7059240" y="3835800"/>
            <a:ext cx="191160" cy="14544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28080" rIns="90000" bIns="28080" anchor="t">
            <a:noAutofit/>
          </a:bodyPr>
          <a:p>
            <a:endParaRPr lang="en-CA" sz="1800" b="0" u="none" strike="noStrike">
              <a:solidFill>
                <a:srgbClr val="FFFFFF"/>
              </a:solidFill>
              <a:effectLst/>
              <a:uFillTx/>
              <a:latin typeface="Arial"/>
            </a:endParaRPr>
          </a:p>
        </p:txBody>
      </p:sp>
      <p:sp>
        <p:nvSpPr>
          <p:cNvPr id="141" name="Shape 14"/>
          <p:cNvSpPr/>
          <p:nvPr/>
        </p:nvSpPr>
        <p:spPr>
          <a:xfrm>
            <a:off x="7269480" y="3429000"/>
            <a:ext cx="2010960" cy="959400"/>
          </a:xfrm>
          <a:prstGeom prst="roundRect">
            <a:avLst>
              <a:gd name="adj" fmla="val 7619"/>
            </a:avLst>
          </a:prstGeom>
          <a:solidFill>
            <a:srgbClr val="CADCFC"/>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142" name="Text 15"/>
          <p:cNvSpPr/>
          <p:nvPr/>
        </p:nvSpPr>
        <p:spPr>
          <a:xfrm>
            <a:off x="7315200" y="3429000"/>
            <a:ext cx="191952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E2761"/>
                </a:solidFill>
                <a:effectLst/>
                <a:uFillTx/>
                <a:latin typeface="Calibri"/>
                <a:ea typeface="Calibri"/>
              </a:rPr>
              <a:t>LLM plans multi-</a:t>
            </a:r>
            <a:endParaRPr lang="en-CA"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rgbClr val="1E2761"/>
                </a:solidFill>
                <a:effectLst/>
                <a:uFillTx/>
                <a:latin typeface="Calibri"/>
                <a:ea typeface="Calibri"/>
              </a:rPr>
              <a:t>step, self-corrects</a:t>
            </a:r>
            <a:endParaRPr lang="en-CA" sz="1800" b="0" u="none" strike="noStrike">
              <a:solidFill>
                <a:srgbClr val="000000"/>
              </a:solidFill>
              <a:effectLst/>
              <a:uFillTx/>
              <a:latin typeface="Arial"/>
            </a:endParaRPr>
          </a:p>
        </p:txBody>
      </p:sp>
      <p:sp>
        <p:nvSpPr>
          <p:cNvPr id="143" name="Shape 16"/>
          <p:cNvSpPr/>
          <p:nvPr/>
        </p:nvSpPr>
        <p:spPr>
          <a:xfrm>
            <a:off x="9299520" y="3835800"/>
            <a:ext cx="191160" cy="14544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28080" rIns="90000" bIns="28080" anchor="t">
            <a:noAutofit/>
          </a:bodyPr>
          <a:p>
            <a:endParaRPr lang="en-CA" sz="1800" b="0" u="none" strike="noStrike">
              <a:solidFill>
                <a:srgbClr val="FFFFFF"/>
              </a:solidFill>
              <a:effectLst/>
              <a:uFillTx/>
              <a:latin typeface="Arial"/>
            </a:endParaRPr>
          </a:p>
        </p:txBody>
      </p:sp>
      <p:sp>
        <p:nvSpPr>
          <p:cNvPr id="144" name="Shape 17"/>
          <p:cNvSpPr/>
          <p:nvPr/>
        </p:nvSpPr>
        <p:spPr>
          <a:xfrm>
            <a:off x="9509760" y="3429000"/>
            <a:ext cx="2010960" cy="959400"/>
          </a:xfrm>
          <a:prstGeom prst="roundRect">
            <a:avLst>
              <a:gd name="adj" fmla="val 7619"/>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145" name="Text 18"/>
          <p:cNvSpPr/>
          <p:nvPr/>
        </p:nvSpPr>
        <p:spPr>
          <a:xfrm>
            <a:off x="9555480" y="3429000"/>
            <a:ext cx="191952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libri"/>
                <a:ea typeface="Calibri"/>
              </a:rPr>
              <a:t>Multiple agents</a:t>
            </a:r>
            <a:endParaRPr lang="en-CA"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rgbClr val="FFFFFF"/>
                </a:solidFill>
                <a:effectLst/>
                <a:uFillTx/>
                <a:latin typeface="Calibri"/>
                <a:ea typeface="Calibri"/>
              </a:rPr>
              <a:t>collaborate</a:t>
            </a:r>
            <a:endParaRPr lang="en-CA" sz="1800" b="0" u="none" strike="noStrike">
              <a:solidFill>
                <a:srgbClr val="000000"/>
              </a:solidFill>
              <a:effectLst/>
              <a:uFillTx/>
              <a:latin typeface="Arial"/>
            </a:endParaRPr>
          </a:p>
        </p:txBody>
      </p:sp>
      <p:sp>
        <p:nvSpPr>
          <p:cNvPr id="146" name="Text 19"/>
          <p:cNvSpPr/>
          <p:nvPr/>
        </p:nvSpPr>
        <p:spPr>
          <a:xfrm>
            <a:off x="548640" y="4526280"/>
            <a:ext cx="20109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i="1" u="none" strike="noStrike">
                <a:solidFill>
                  <a:srgbClr val="FF0000"/>
                </a:solidFill>
                <a:effectLst/>
                <a:uFillTx/>
                <a:latin typeface="Calibri"/>
                <a:ea typeface="Calibri"/>
              </a:rPr>
              <a:t>Low autonomy</a:t>
            </a:r>
            <a:endParaRPr lang="en-CA" sz="1800" b="0" u="none" strike="noStrike">
              <a:solidFill>
                <a:srgbClr val="000000"/>
              </a:solidFill>
              <a:effectLst/>
              <a:uFillTx/>
              <a:latin typeface="Arial"/>
            </a:endParaRPr>
          </a:p>
        </p:txBody>
      </p:sp>
      <p:sp>
        <p:nvSpPr>
          <p:cNvPr id="147" name="Text 20"/>
          <p:cNvSpPr/>
          <p:nvPr/>
        </p:nvSpPr>
        <p:spPr>
          <a:xfrm>
            <a:off x="9281160" y="4526280"/>
            <a:ext cx="201096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800" b="0" i="1" u="none" strike="noStrike">
                <a:solidFill>
                  <a:srgbClr val="FF0000"/>
                </a:solidFill>
                <a:effectLst/>
                <a:uFillTx/>
                <a:latin typeface="Calibri"/>
                <a:ea typeface="Calibri"/>
              </a:rPr>
              <a:t>High autonomy</a:t>
            </a:r>
            <a:endParaRPr lang="en-CA" sz="1800" b="0" u="none" strike="noStrike">
              <a:solidFill>
                <a:srgbClr val="000000"/>
              </a:solidFill>
              <a:effectLst/>
              <a:uFillTx/>
              <a:latin typeface="Arial"/>
            </a:endParaRPr>
          </a:p>
        </p:txBody>
      </p:sp>
      <p:sp>
        <p:nvSpPr>
          <p:cNvPr id="148" name="Text 21"/>
          <p:cNvSpPr/>
          <p:nvPr/>
        </p:nvSpPr>
        <p:spPr>
          <a:xfrm>
            <a:off x="360000" y="5230800"/>
            <a:ext cx="11339640" cy="127944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199"/>
              </a:spcAft>
              <a:buClr>
                <a:srgbClr val="1A1A1A"/>
              </a:buClr>
              <a:buFont typeface="Symbol" charset="2"/>
              <a:buChar char=""/>
            </a:pPr>
            <a:r>
              <a:rPr lang="en-US" sz="2000" b="1" u="none" strike="noStrike">
                <a:solidFill>
                  <a:srgbClr val="1A1A1A"/>
                </a:solidFill>
                <a:effectLst/>
                <a:uFillTx/>
                <a:latin typeface="Calibri"/>
                <a:ea typeface="Calibri"/>
              </a:rPr>
              <a:t>Hermes, on Fadl’s VPS, sits toward the right of this spectrum — it decides which tool to call and when.</a:t>
            </a:r>
            <a:endParaRPr lang="en-CA" sz="2000" b="0" u="none" strike="noStrike">
              <a:solidFill>
                <a:srgbClr val="000000"/>
              </a:solidFill>
              <a:effectLst/>
              <a:uFillTx/>
              <a:latin typeface="Arial"/>
            </a:endParaRPr>
          </a:p>
          <a:p>
            <a:pPr marL="254160" indent="-254160" defTabSz="914400">
              <a:lnSpc>
                <a:spcPct val="110000"/>
              </a:lnSpc>
              <a:spcAft>
                <a:spcPts val="1199"/>
              </a:spcAft>
              <a:buClr>
                <a:srgbClr val="1A1A1A"/>
              </a:buClr>
              <a:buFont typeface="Symbol" charset="2"/>
              <a:buChar char=""/>
            </a:pPr>
            <a:r>
              <a:rPr lang="en-US" sz="2000" b="1" u="none" strike="noStrike">
                <a:solidFill>
                  <a:srgbClr val="1A1A1A"/>
                </a:solidFill>
                <a:effectLst/>
                <a:uFillTx/>
                <a:latin typeface="Calibri"/>
                <a:ea typeface="Calibri"/>
              </a:rPr>
              <a:t>Agentic AI is a design philosophy: give the model the goal and the tools, and let it figure out the "how".</a:t>
            </a:r>
            <a:endParaRPr lang="en-CA" sz="2000" b="0" u="none" strike="noStrike">
              <a:solidFill>
                <a:srgbClr val="000000"/>
              </a:solidFill>
              <a:effectLst/>
              <a:uFillTx/>
              <a:latin typeface="Arial"/>
            </a:endParaRPr>
          </a:p>
        </p:txBody>
      </p:sp>
      <p:sp>
        <p:nvSpPr>
          <p:cNvPr id="149" name="Text 22"/>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150" name="Text 23"/>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7</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FOUNDATIONS</a:t>
            </a:r>
            <a:endParaRPr lang="en-CA" sz="1400" b="0" u="none" strike="noStrike">
              <a:solidFill>
                <a:srgbClr val="000000"/>
              </a:solidFill>
              <a:effectLst/>
              <a:uFillTx/>
              <a:latin typeface="Arial"/>
            </a:endParaRPr>
          </a:p>
        </p:txBody>
      </p:sp>
      <p:sp>
        <p:nvSpPr>
          <p:cNvPr id="152"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The Core Agent Loop</a:t>
            </a:r>
            <a:endParaRPr lang="en-CA" sz="3400" b="0" u="none" strike="noStrike">
              <a:solidFill>
                <a:srgbClr val="000000"/>
              </a:solidFill>
              <a:effectLst/>
              <a:uFillTx/>
              <a:latin typeface="Arial"/>
            </a:endParaRPr>
          </a:p>
        </p:txBody>
      </p:sp>
      <p:sp>
        <p:nvSpPr>
          <p:cNvPr id="153" name="Text 2"/>
          <p:cNvSpPr/>
          <p:nvPr/>
        </p:nvSpPr>
        <p:spPr>
          <a:xfrm>
            <a:off x="540000" y="1440000"/>
            <a:ext cx="1106352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0" i="1" u="none" strike="noStrike">
                <a:solidFill>
                  <a:srgbClr val="6B7280"/>
                </a:solidFill>
                <a:effectLst/>
                <a:uFillTx/>
                <a:latin typeface="Calibri"/>
                <a:ea typeface="Calibri"/>
              </a:rPr>
              <a:t>Perceive → Reason → Act — repeated until the goal is met</a:t>
            </a:r>
            <a:endParaRPr lang="en-CA" sz="2400" b="0" u="none" strike="noStrike">
              <a:solidFill>
                <a:srgbClr val="000000"/>
              </a:solidFill>
              <a:effectLst/>
              <a:uFillTx/>
              <a:latin typeface="Arial"/>
            </a:endParaRPr>
          </a:p>
        </p:txBody>
      </p:sp>
      <p:sp>
        <p:nvSpPr>
          <p:cNvPr id="154" name="Shape 3"/>
          <p:cNvSpPr/>
          <p:nvPr/>
        </p:nvSpPr>
        <p:spPr>
          <a:xfrm>
            <a:off x="1280160" y="2286000"/>
            <a:ext cx="2833920" cy="1828080"/>
          </a:xfrm>
          <a:prstGeom prst="roundRect">
            <a:avLst>
              <a:gd name="adj" fmla="val 5000"/>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155" name="Shape 4"/>
          <p:cNvSpPr/>
          <p:nvPr/>
        </p:nvSpPr>
        <p:spPr>
          <a:xfrm>
            <a:off x="2350080" y="2468880"/>
            <a:ext cx="694080" cy="694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156" name="Image 0" descr="preencoded.png"/>
          <p:cNvPicPr/>
          <p:nvPr/>
        </p:nvPicPr>
        <p:blipFill>
          <a:blip r:embed="rId1"/>
          <a:stretch/>
        </p:blipFill>
        <p:spPr>
          <a:xfrm>
            <a:off x="2443680" y="2562840"/>
            <a:ext cx="506520" cy="506520"/>
          </a:xfrm>
          <a:prstGeom prst="rect">
            <a:avLst/>
          </a:prstGeom>
          <a:noFill/>
          <a:ln w="0">
            <a:noFill/>
          </a:ln>
        </p:spPr>
      </p:pic>
      <p:sp>
        <p:nvSpPr>
          <p:cNvPr id="157" name="Text 5"/>
          <p:cNvSpPr/>
          <p:nvPr/>
        </p:nvSpPr>
        <p:spPr>
          <a:xfrm>
            <a:off x="1280160" y="3218760"/>
            <a:ext cx="28339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1E2761"/>
                </a:solidFill>
                <a:effectLst/>
                <a:uFillTx/>
                <a:latin typeface="Calibri"/>
                <a:ea typeface="Calibri"/>
              </a:rPr>
              <a:t>PERCEIVE</a:t>
            </a:r>
            <a:endParaRPr lang="en-CA" sz="2200" b="0" u="none" strike="noStrike">
              <a:solidFill>
                <a:srgbClr val="000000"/>
              </a:solidFill>
              <a:effectLst/>
              <a:uFillTx/>
              <a:latin typeface="Arial"/>
            </a:endParaRPr>
          </a:p>
        </p:txBody>
      </p:sp>
      <p:sp>
        <p:nvSpPr>
          <p:cNvPr id="158" name="Text 6"/>
          <p:cNvSpPr/>
          <p:nvPr/>
        </p:nvSpPr>
        <p:spPr>
          <a:xfrm>
            <a:off x="1371600" y="3547800"/>
            <a:ext cx="265104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6B7280"/>
                </a:solidFill>
                <a:effectLst/>
                <a:uFillTx/>
                <a:latin typeface="Calibri"/>
                <a:ea typeface="Calibri"/>
              </a:rPr>
              <a:t>read input, tool</a:t>
            </a:r>
            <a:endParaRPr lang="en-CA"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rgbClr val="6B7280"/>
                </a:solidFill>
                <a:effectLst/>
                <a:uFillTx/>
                <a:latin typeface="Calibri"/>
                <a:ea typeface="Calibri"/>
              </a:rPr>
              <a:t>results, environment</a:t>
            </a:r>
            <a:endParaRPr lang="en-CA" sz="1800" b="0" u="none" strike="noStrike">
              <a:solidFill>
                <a:srgbClr val="000000"/>
              </a:solidFill>
              <a:effectLst/>
              <a:uFillTx/>
              <a:latin typeface="Arial"/>
            </a:endParaRPr>
          </a:p>
        </p:txBody>
      </p:sp>
      <p:sp>
        <p:nvSpPr>
          <p:cNvPr id="159" name="Shape 7"/>
          <p:cNvSpPr/>
          <p:nvPr/>
        </p:nvSpPr>
        <p:spPr>
          <a:xfrm>
            <a:off x="4160520" y="3099960"/>
            <a:ext cx="593640" cy="20052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160" name="Shape 8"/>
          <p:cNvSpPr/>
          <p:nvPr/>
        </p:nvSpPr>
        <p:spPr>
          <a:xfrm>
            <a:off x="4800600" y="2286000"/>
            <a:ext cx="2833920" cy="1828080"/>
          </a:xfrm>
          <a:prstGeom prst="roundRect">
            <a:avLst>
              <a:gd name="adj" fmla="val 5000"/>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161" name="Shape 9"/>
          <p:cNvSpPr/>
          <p:nvPr/>
        </p:nvSpPr>
        <p:spPr>
          <a:xfrm>
            <a:off x="5870520" y="2468880"/>
            <a:ext cx="694080" cy="694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162" name="Image 1" descr="preencoded.png"/>
          <p:cNvPicPr/>
          <p:nvPr/>
        </p:nvPicPr>
        <p:blipFill>
          <a:blip r:embed="rId2"/>
          <a:stretch/>
        </p:blipFill>
        <p:spPr>
          <a:xfrm>
            <a:off x="5964120" y="2562840"/>
            <a:ext cx="506520" cy="506520"/>
          </a:xfrm>
          <a:prstGeom prst="rect">
            <a:avLst/>
          </a:prstGeom>
          <a:noFill/>
          <a:ln w="0">
            <a:noFill/>
          </a:ln>
        </p:spPr>
      </p:pic>
      <p:sp>
        <p:nvSpPr>
          <p:cNvPr id="163" name="Text 10"/>
          <p:cNvSpPr/>
          <p:nvPr/>
        </p:nvSpPr>
        <p:spPr>
          <a:xfrm>
            <a:off x="4800600" y="3218760"/>
            <a:ext cx="28339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1E2761"/>
                </a:solidFill>
                <a:effectLst/>
                <a:uFillTx/>
                <a:latin typeface="Calibri"/>
                <a:ea typeface="Calibri"/>
              </a:rPr>
              <a:t>REASON</a:t>
            </a:r>
            <a:endParaRPr lang="en-CA" sz="2200" b="0" u="none" strike="noStrike">
              <a:solidFill>
                <a:srgbClr val="000000"/>
              </a:solidFill>
              <a:effectLst/>
              <a:uFillTx/>
              <a:latin typeface="Arial"/>
            </a:endParaRPr>
          </a:p>
        </p:txBody>
      </p:sp>
      <p:sp>
        <p:nvSpPr>
          <p:cNvPr id="164" name="Text 11"/>
          <p:cNvSpPr/>
          <p:nvPr/>
        </p:nvSpPr>
        <p:spPr>
          <a:xfrm>
            <a:off x="4892040" y="3547800"/>
            <a:ext cx="265104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6B7280"/>
                </a:solidFill>
                <a:effectLst/>
                <a:uFillTx/>
                <a:latin typeface="Calibri"/>
                <a:ea typeface="Calibri"/>
              </a:rPr>
              <a:t>plan the next step</a:t>
            </a:r>
            <a:endParaRPr lang="en-CA"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rgbClr val="6B7280"/>
                </a:solidFill>
                <a:effectLst/>
                <a:uFillTx/>
                <a:latin typeface="Calibri"/>
                <a:ea typeface="Calibri"/>
              </a:rPr>
              <a:t>with the LLM</a:t>
            </a:r>
            <a:endParaRPr lang="en-CA" sz="1800" b="0" u="none" strike="noStrike">
              <a:solidFill>
                <a:srgbClr val="000000"/>
              </a:solidFill>
              <a:effectLst/>
              <a:uFillTx/>
              <a:latin typeface="Arial"/>
            </a:endParaRPr>
          </a:p>
        </p:txBody>
      </p:sp>
      <p:sp>
        <p:nvSpPr>
          <p:cNvPr id="165" name="Shape 12"/>
          <p:cNvSpPr/>
          <p:nvPr/>
        </p:nvSpPr>
        <p:spPr>
          <a:xfrm>
            <a:off x="7680960" y="3099960"/>
            <a:ext cx="593640" cy="20052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166" name="Shape 13"/>
          <p:cNvSpPr/>
          <p:nvPr/>
        </p:nvSpPr>
        <p:spPr>
          <a:xfrm>
            <a:off x="8321040" y="2286000"/>
            <a:ext cx="2833920" cy="1828080"/>
          </a:xfrm>
          <a:prstGeom prst="roundRect">
            <a:avLst>
              <a:gd name="adj" fmla="val 5000"/>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167" name="Shape 14"/>
          <p:cNvSpPr/>
          <p:nvPr/>
        </p:nvSpPr>
        <p:spPr>
          <a:xfrm>
            <a:off x="9390960" y="2468880"/>
            <a:ext cx="694080" cy="694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168" name="Image 2" descr="preencoded.png"/>
          <p:cNvPicPr/>
          <p:nvPr/>
        </p:nvPicPr>
        <p:blipFill>
          <a:blip r:embed="rId3"/>
          <a:stretch/>
        </p:blipFill>
        <p:spPr>
          <a:xfrm>
            <a:off x="9484560" y="2562840"/>
            <a:ext cx="506520" cy="506520"/>
          </a:xfrm>
          <a:prstGeom prst="rect">
            <a:avLst/>
          </a:prstGeom>
          <a:noFill/>
          <a:ln w="0">
            <a:noFill/>
          </a:ln>
        </p:spPr>
      </p:pic>
      <p:sp>
        <p:nvSpPr>
          <p:cNvPr id="169" name="Text 15"/>
          <p:cNvSpPr/>
          <p:nvPr/>
        </p:nvSpPr>
        <p:spPr>
          <a:xfrm>
            <a:off x="8321040" y="3218760"/>
            <a:ext cx="28339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1E2761"/>
                </a:solidFill>
                <a:effectLst/>
                <a:uFillTx/>
                <a:latin typeface="Calibri"/>
                <a:ea typeface="Calibri"/>
              </a:rPr>
              <a:t>ACT</a:t>
            </a:r>
            <a:endParaRPr lang="en-CA" sz="2200" b="0" u="none" strike="noStrike">
              <a:solidFill>
                <a:srgbClr val="000000"/>
              </a:solidFill>
              <a:effectLst/>
              <a:uFillTx/>
              <a:latin typeface="Arial"/>
            </a:endParaRPr>
          </a:p>
        </p:txBody>
      </p:sp>
      <p:sp>
        <p:nvSpPr>
          <p:cNvPr id="170" name="Text 16"/>
          <p:cNvSpPr/>
          <p:nvPr/>
        </p:nvSpPr>
        <p:spPr>
          <a:xfrm>
            <a:off x="8412480" y="3547800"/>
            <a:ext cx="265104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6B7280"/>
                </a:solidFill>
                <a:effectLst/>
                <a:uFillTx/>
                <a:latin typeface="Calibri"/>
                <a:ea typeface="Calibri"/>
              </a:rPr>
              <a:t>call a tool or</a:t>
            </a:r>
            <a:endParaRPr lang="en-CA"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rgbClr val="6B7280"/>
                </a:solidFill>
                <a:effectLst/>
                <a:uFillTx/>
                <a:latin typeface="Calibri"/>
                <a:ea typeface="Calibri"/>
              </a:rPr>
              <a:t>return an answer</a:t>
            </a:r>
            <a:endParaRPr lang="en-CA" sz="1800" b="0" u="none" strike="noStrike">
              <a:solidFill>
                <a:srgbClr val="000000"/>
              </a:solidFill>
              <a:effectLst/>
              <a:uFillTx/>
              <a:latin typeface="Arial"/>
            </a:endParaRPr>
          </a:p>
        </p:txBody>
      </p:sp>
      <p:sp>
        <p:nvSpPr>
          <p:cNvPr id="171" name="Text 17"/>
          <p:cNvSpPr/>
          <p:nvPr/>
        </p:nvSpPr>
        <p:spPr>
          <a:xfrm>
            <a:off x="900000" y="4808880"/>
            <a:ext cx="1033200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i="1" u="none" strike="noStrike">
                <a:solidFill>
                  <a:srgbClr val="00A896"/>
                </a:solidFill>
                <a:effectLst/>
                <a:uFillTx/>
                <a:latin typeface="Calibri"/>
                <a:ea typeface="Calibri"/>
              </a:rPr>
              <a:t>↺ </a:t>
            </a:r>
            <a:r>
              <a:rPr lang="en-US" sz="2000" b="1" i="1" u="none" strike="noStrike">
                <a:solidFill>
                  <a:srgbClr val="00A896"/>
                </a:solidFill>
                <a:effectLst/>
                <a:uFillTx/>
                <a:latin typeface="Calibri"/>
                <a:ea typeface="Calibri"/>
              </a:rPr>
              <a:t>the agent loops back to PERCEIVE with the new result, and repeats until the goal is reached</a:t>
            </a:r>
            <a:endParaRPr lang="en-CA" sz="2000" b="0" u="none" strike="noStrike">
              <a:solidFill>
                <a:srgbClr val="000000"/>
              </a:solidFill>
              <a:effectLst/>
              <a:uFillTx/>
              <a:latin typeface="Arial"/>
            </a:endParaRPr>
          </a:p>
        </p:txBody>
      </p:sp>
      <p:sp>
        <p:nvSpPr>
          <p:cNvPr id="172" name="Text 18"/>
          <p:cNvSpPr/>
          <p:nvPr/>
        </p:nvSpPr>
        <p:spPr>
          <a:xfrm>
            <a:off x="731520" y="5580000"/>
            <a:ext cx="10608120" cy="53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0" u="none" strike="noStrike">
                <a:solidFill>
                  <a:srgbClr val="1A1A1A"/>
                </a:solidFill>
                <a:effectLst/>
                <a:uFillTx/>
                <a:latin typeface="Calibri"/>
                <a:ea typeface="Calibri"/>
              </a:rPr>
              <a:t>This loop is the one idea underneath every architecture and pattern in the rest of today’s lecture.</a:t>
            </a:r>
            <a:endParaRPr lang="en-CA" sz="2400" b="0" u="none" strike="noStrike">
              <a:solidFill>
                <a:srgbClr val="000000"/>
              </a:solidFill>
              <a:effectLst/>
              <a:uFillTx/>
              <a:latin typeface="Arial"/>
            </a:endParaRPr>
          </a:p>
        </p:txBody>
      </p:sp>
      <p:sp>
        <p:nvSpPr>
          <p:cNvPr id="173" name="Text 19"/>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174" name="Text 20"/>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8</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5"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ESSENTIAL COMPONENTS · 1 OF 5</a:t>
            </a:r>
            <a:endParaRPr lang="en-CA" sz="1400" b="0" u="none" strike="noStrike">
              <a:solidFill>
                <a:srgbClr val="000000"/>
              </a:solidFill>
              <a:effectLst/>
              <a:uFillTx/>
              <a:latin typeface="Arial"/>
            </a:endParaRPr>
          </a:p>
        </p:txBody>
      </p:sp>
      <p:sp>
        <p:nvSpPr>
          <p:cNvPr id="176"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The Brain — the LLM Core</a:t>
            </a:r>
            <a:endParaRPr lang="en-CA" sz="3400" b="0" u="none" strike="noStrike">
              <a:solidFill>
                <a:srgbClr val="000000"/>
              </a:solidFill>
              <a:effectLst/>
              <a:uFillTx/>
              <a:latin typeface="Arial"/>
            </a:endParaRPr>
          </a:p>
        </p:txBody>
      </p:sp>
      <p:sp>
        <p:nvSpPr>
          <p:cNvPr id="177" name="Shape 2"/>
          <p:cNvSpPr/>
          <p:nvPr/>
        </p:nvSpPr>
        <p:spPr>
          <a:xfrm>
            <a:off x="9418320" y="731520"/>
            <a:ext cx="1919520" cy="191952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178" name="Image 0" descr="preencoded.png"/>
          <p:cNvPicPr/>
          <p:nvPr/>
        </p:nvPicPr>
        <p:blipFill>
          <a:blip r:embed="rId1"/>
          <a:stretch/>
        </p:blipFill>
        <p:spPr>
          <a:xfrm>
            <a:off x="9677520" y="990720"/>
            <a:ext cx="1401120" cy="1401120"/>
          </a:xfrm>
          <a:prstGeom prst="rect">
            <a:avLst/>
          </a:prstGeom>
          <a:noFill/>
          <a:ln w="0">
            <a:noFill/>
          </a:ln>
        </p:spPr>
      </p:pic>
      <p:sp>
        <p:nvSpPr>
          <p:cNvPr id="179" name="Text 3"/>
          <p:cNvSpPr/>
          <p:nvPr/>
        </p:nvSpPr>
        <p:spPr>
          <a:xfrm>
            <a:off x="548640" y="1828800"/>
            <a:ext cx="8686080" cy="420552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2599"/>
              </a:spcAft>
              <a:buClr>
                <a:srgbClr val="1A1A1A"/>
              </a:buClr>
              <a:buFont typeface="Symbol" charset="2"/>
              <a:buChar char=""/>
            </a:pPr>
            <a:r>
              <a:rPr lang="en-US" sz="2200" b="0" u="none" strike="noStrike">
                <a:solidFill>
                  <a:srgbClr val="1A1A1A"/>
                </a:solidFill>
                <a:effectLst/>
                <a:uFillTx/>
                <a:latin typeface="Calibri"/>
                <a:ea typeface="Calibri"/>
              </a:rPr>
              <a:t>The reasoning engine of the agent — usually a large language model (GPT, Claude, Llama, Mistral, etc.)</a:t>
            </a:r>
            <a:endParaRPr lang="en-CA" sz="2200" b="0" u="none" strike="noStrike">
              <a:solidFill>
                <a:srgbClr val="000000"/>
              </a:solidFill>
              <a:effectLst/>
              <a:uFillTx/>
              <a:latin typeface="Arial"/>
            </a:endParaRPr>
          </a:p>
          <a:p>
            <a:pPr marL="254160" indent="-254160" defTabSz="914400">
              <a:lnSpc>
                <a:spcPct val="110000"/>
              </a:lnSpc>
              <a:spcAft>
                <a:spcPts val="2599"/>
              </a:spcAft>
              <a:buClr>
                <a:srgbClr val="1A1A1A"/>
              </a:buClr>
              <a:buFont typeface="Symbol" charset="2"/>
              <a:buChar char=""/>
            </a:pPr>
            <a:r>
              <a:rPr lang="en-US" sz="2200" b="0" u="none" strike="noStrike">
                <a:solidFill>
                  <a:srgbClr val="1A1A1A"/>
                </a:solidFill>
                <a:effectLst/>
                <a:uFillTx/>
                <a:latin typeface="Calibri"/>
                <a:ea typeface="Calibri"/>
              </a:rPr>
              <a:t>Reads the goal, the conversation so far, and any tool results, then decides the next move</a:t>
            </a:r>
            <a:endParaRPr lang="en-CA" sz="2200" b="0" u="none" strike="noStrike">
              <a:solidFill>
                <a:srgbClr val="000000"/>
              </a:solidFill>
              <a:effectLst/>
              <a:uFillTx/>
              <a:latin typeface="Arial"/>
            </a:endParaRPr>
          </a:p>
          <a:p>
            <a:pPr marL="254160" indent="-254160" defTabSz="914400">
              <a:lnSpc>
                <a:spcPct val="110000"/>
              </a:lnSpc>
              <a:spcAft>
                <a:spcPts val="2599"/>
              </a:spcAft>
              <a:buClr>
                <a:srgbClr val="1A1A1A"/>
              </a:buClr>
              <a:buFont typeface="Symbol" charset="2"/>
              <a:buChar char=""/>
            </a:pPr>
            <a:r>
              <a:rPr lang="en-US" sz="2200" b="0" u="none" strike="noStrike">
                <a:solidFill>
                  <a:srgbClr val="1A1A1A"/>
                </a:solidFill>
                <a:effectLst/>
                <a:uFillTx/>
                <a:latin typeface="Calibri"/>
                <a:ea typeface="Calibri"/>
              </a:rPr>
              <a:t>Is not fixed to one model: agents are typically model-agnostic</a:t>
            </a:r>
            <a:endParaRPr lang="en-CA" sz="2200" b="0" u="none" strike="noStrike">
              <a:solidFill>
                <a:srgbClr val="000000"/>
              </a:solidFill>
              <a:effectLst/>
              <a:uFillTx/>
              <a:latin typeface="Arial"/>
            </a:endParaRPr>
          </a:p>
          <a:p>
            <a:pPr marL="254160" indent="-254160" defTabSz="914400">
              <a:lnSpc>
                <a:spcPct val="110000"/>
              </a:lnSpc>
              <a:spcAft>
                <a:spcPts val="2599"/>
              </a:spcAft>
              <a:buClr>
                <a:srgbClr val="1A1A1A"/>
              </a:buClr>
              <a:buFont typeface="Symbol" charset="2"/>
              <a:buChar char=""/>
            </a:pPr>
            <a:r>
              <a:rPr lang="en-US" sz="2200" b="1" u="none" strike="noStrike">
                <a:solidFill>
                  <a:srgbClr val="1A1A1A"/>
                </a:solidFill>
                <a:effectLst/>
                <a:uFillTx/>
                <a:latin typeface="Calibri"/>
                <a:ea typeface="Calibri"/>
              </a:rPr>
              <a:t>Hermes uses OpenRouter as its model backend — one API that can route to many different LLMs, so the "brain" can be swapped without rewriting the agent</a:t>
            </a:r>
            <a:endParaRPr lang="en-CA" sz="2200" b="0" u="none" strike="noStrike">
              <a:solidFill>
                <a:srgbClr val="000000"/>
              </a:solidFill>
              <a:effectLst/>
              <a:uFillTx/>
              <a:latin typeface="Arial"/>
            </a:endParaRPr>
          </a:p>
        </p:txBody>
      </p:sp>
      <p:sp>
        <p:nvSpPr>
          <p:cNvPr id="180" name="Text 4"/>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181" name="Text 5"/>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9</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ESSENTIAL COMPONENTS · 2 OF 5</a:t>
            </a:r>
            <a:endParaRPr lang="en-CA" sz="1400" b="0" u="none" strike="noStrike">
              <a:solidFill>
                <a:srgbClr val="000000"/>
              </a:solidFill>
              <a:effectLst/>
              <a:uFillTx/>
              <a:latin typeface="Arial"/>
            </a:endParaRPr>
          </a:p>
        </p:txBody>
      </p:sp>
      <p:sp>
        <p:nvSpPr>
          <p:cNvPr id="183"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Memory — Short-Term &amp; Long-Term</a:t>
            </a:r>
            <a:endParaRPr lang="en-CA" sz="3400" b="0" u="none" strike="noStrike">
              <a:solidFill>
                <a:srgbClr val="000000"/>
              </a:solidFill>
              <a:effectLst/>
              <a:uFillTx/>
              <a:latin typeface="Arial"/>
            </a:endParaRPr>
          </a:p>
        </p:txBody>
      </p:sp>
      <p:sp>
        <p:nvSpPr>
          <p:cNvPr id="184" name="Shape 2"/>
          <p:cNvSpPr/>
          <p:nvPr/>
        </p:nvSpPr>
        <p:spPr>
          <a:xfrm>
            <a:off x="548640" y="1737360"/>
            <a:ext cx="5211360" cy="4562280"/>
          </a:xfrm>
          <a:prstGeom prst="roundRect">
            <a:avLst>
              <a:gd name="adj" fmla="val 2174"/>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185" name="Shape 3"/>
          <p:cNvSpPr/>
          <p:nvPr/>
        </p:nvSpPr>
        <p:spPr>
          <a:xfrm>
            <a:off x="868680" y="2057400"/>
            <a:ext cx="685080" cy="685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186" name="Image 0" descr="preencoded.png"/>
          <p:cNvPicPr/>
          <p:nvPr/>
        </p:nvPicPr>
        <p:blipFill>
          <a:blip r:embed="rId1"/>
          <a:stretch/>
        </p:blipFill>
        <p:spPr>
          <a:xfrm>
            <a:off x="961200" y="2149920"/>
            <a:ext cx="500040" cy="500040"/>
          </a:xfrm>
          <a:prstGeom prst="rect">
            <a:avLst/>
          </a:prstGeom>
          <a:noFill/>
          <a:ln w="0">
            <a:noFill/>
          </a:ln>
        </p:spPr>
      </p:pic>
      <p:sp>
        <p:nvSpPr>
          <p:cNvPr id="187" name="Text 4"/>
          <p:cNvSpPr/>
          <p:nvPr/>
        </p:nvSpPr>
        <p:spPr>
          <a:xfrm>
            <a:off x="1737360" y="2103120"/>
            <a:ext cx="383976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1E2761"/>
                </a:solidFill>
                <a:effectLst/>
                <a:uFillTx/>
                <a:latin typeface="Calibri"/>
                <a:ea typeface="Calibri"/>
              </a:rPr>
              <a:t>Short-Term Memory</a:t>
            </a:r>
            <a:endParaRPr lang="en-CA" sz="2400" b="0" u="none" strike="noStrike">
              <a:solidFill>
                <a:srgbClr val="000000"/>
              </a:solidFill>
              <a:effectLst/>
              <a:uFillTx/>
              <a:latin typeface="Arial"/>
            </a:endParaRPr>
          </a:p>
        </p:txBody>
      </p:sp>
      <p:sp>
        <p:nvSpPr>
          <p:cNvPr id="188" name="Text 5"/>
          <p:cNvSpPr/>
          <p:nvPr/>
        </p:nvSpPr>
        <p:spPr>
          <a:xfrm>
            <a:off x="548640" y="2971800"/>
            <a:ext cx="5211360" cy="274248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599"/>
              </a:spcAft>
              <a:buClr>
                <a:srgbClr val="1A1A1A"/>
              </a:buClr>
              <a:buFont typeface="Symbol" charset="2"/>
              <a:buChar char=""/>
            </a:pPr>
            <a:r>
              <a:rPr lang="en-US" sz="2200" b="1" u="none" strike="noStrike">
                <a:solidFill>
                  <a:srgbClr val="1A1A1A"/>
                </a:solidFill>
                <a:effectLst/>
                <a:uFillTx/>
                <a:latin typeface="Calibri"/>
                <a:ea typeface="Calibri"/>
              </a:rPr>
              <a:t>The current conversation / task context window</a:t>
            </a:r>
            <a:endParaRPr lang="en-CA" sz="2200" b="0" u="none" strike="noStrike">
              <a:solidFill>
                <a:srgbClr val="000000"/>
              </a:solidFill>
              <a:effectLst/>
              <a:uFillTx/>
              <a:latin typeface="Arial"/>
            </a:endParaRPr>
          </a:p>
          <a:p>
            <a:pPr marL="254160" indent="-254160" defTabSz="914400">
              <a:lnSpc>
                <a:spcPct val="110000"/>
              </a:lnSpc>
              <a:spcAft>
                <a:spcPts val="1599"/>
              </a:spcAft>
              <a:buClr>
                <a:srgbClr val="1A1A1A"/>
              </a:buClr>
              <a:buFont typeface="Symbol" charset="2"/>
              <a:buChar char=""/>
            </a:pPr>
            <a:r>
              <a:rPr lang="en-US" sz="2200" b="1" u="none" strike="noStrike">
                <a:solidFill>
                  <a:srgbClr val="1A1A1A"/>
                </a:solidFill>
                <a:effectLst/>
                <a:uFillTx/>
                <a:latin typeface="Calibri"/>
                <a:ea typeface="Calibri"/>
              </a:rPr>
              <a:t>Holds the last few turns, recent tool outputs</a:t>
            </a:r>
            <a:endParaRPr lang="en-CA" sz="2200" b="0" u="none" strike="noStrike">
              <a:solidFill>
                <a:srgbClr val="000000"/>
              </a:solidFill>
              <a:effectLst/>
              <a:uFillTx/>
              <a:latin typeface="Arial"/>
            </a:endParaRPr>
          </a:p>
          <a:p>
            <a:pPr marL="254160" indent="-254160" defTabSz="914400">
              <a:lnSpc>
                <a:spcPct val="110000"/>
              </a:lnSpc>
              <a:spcAft>
                <a:spcPts val="1599"/>
              </a:spcAft>
              <a:buClr>
                <a:srgbClr val="1A1A1A"/>
              </a:buClr>
              <a:buFont typeface="Symbol" charset="2"/>
              <a:buChar char=""/>
            </a:pPr>
            <a:r>
              <a:rPr lang="en-US" sz="2200" b="1" u="none" strike="noStrike">
                <a:solidFill>
                  <a:srgbClr val="1A1A1A"/>
                </a:solidFill>
                <a:effectLst/>
                <a:uFillTx/>
                <a:latin typeface="Calibri"/>
                <a:ea typeface="Calibri"/>
              </a:rPr>
              <a:t>Cleared or summarised once the task ends</a:t>
            </a:r>
            <a:endParaRPr lang="en-CA" sz="2200" b="0" u="none" strike="noStrike">
              <a:solidFill>
                <a:srgbClr val="000000"/>
              </a:solidFill>
              <a:effectLst/>
              <a:uFillTx/>
              <a:latin typeface="Arial"/>
            </a:endParaRPr>
          </a:p>
          <a:p>
            <a:pPr marL="254160" indent="-254160" defTabSz="914400">
              <a:lnSpc>
                <a:spcPct val="110000"/>
              </a:lnSpc>
              <a:spcAft>
                <a:spcPts val="1599"/>
              </a:spcAft>
              <a:buClr>
                <a:srgbClr val="1A1A1A"/>
              </a:buClr>
              <a:buFont typeface="Symbol" charset="2"/>
              <a:buChar char=""/>
            </a:pPr>
            <a:r>
              <a:rPr lang="en-US" sz="2200" b="1" u="none" strike="noStrike">
                <a:solidFill>
                  <a:srgbClr val="1A1A1A"/>
                </a:solidFill>
                <a:effectLst/>
                <a:uFillTx/>
                <a:latin typeface="Calibri"/>
                <a:ea typeface="Calibri"/>
              </a:rPr>
              <a:t>Limited by the model’s context window size</a:t>
            </a:r>
            <a:endParaRPr lang="en-CA" sz="2200" b="0" u="none" strike="noStrike">
              <a:solidFill>
                <a:srgbClr val="000000"/>
              </a:solidFill>
              <a:effectLst/>
              <a:uFillTx/>
              <a:latin typeface="Arial"/>
            </a:endParaRPr>
          </a:p>
        </p:txBody>
      </p:sp>
      <p:sp>
        <p:nvSpPr>
          <p:cNvPr id="189" name="Shape 6"/>
          <p:cNvSpPr/>
          <p:nvPr/>
        </p:nvSpPr>
        <p:spPr>
          <a:xfrm>
            <a:off x="6355080" y="1737360"/>
            <a:ext cx="5211360" cy="4562280"/>
          </a:xfrm>
          <a:prstGeom prst="roundRect">
            <a:avLst>
              <a:gd name="adj" fmla="val 2174"/>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190" name="Shape 7"/>
          <p:cNvSpPr/>
          <p:nvPr/>
        </p:nvSpPr>
        <p:spPr>
          <a:xfrm>
            <a:off x="6675120" y="2057400"/>
            <a:ext cx="685080" cy="68508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191" name="Image 1" descr="preencoded.png"/>
          <p:cNvPicPr/>
          <p:nvPr/>
        </p:nvPicPr>
        <p:blipFill>
          <a:blip r:embed="rId2"/>
          <a:stretch/>
        </p:blipFill>
        <p:spPr>
          <a:xfrm>
            <a:off x="6767640" y="2149920"/>
            <a:ext cx="500040" cy="500040"/>
          </a:xfrm>
          <a:prstGeom prst="rect">
            <a:avLst/>
          </a:prstGeom>
          <a:noFill/>
          <a:ln w="0">
            <a:noFill/>
          </a:ln>
        </p:spPr>
      </p:pic>
      <p:sp>
        <p:nvSpPr>
          <p:cNvPr id="192" name="Text 8"/>
          <p:cNvSpPr/>
          <p:nvPr/>
        </p:nvSpPr>
        <p:spPr>
          <a:xfrm>
            <a:off x="7543800" y="2103120"/>
            <a:ext cx="383976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FFFFFF"/>
                </a:solidFill>
                <a:effectLst/>
                <a:uFillTx/>
                <a:latin typeface="Calibri"/>
                <a:ea typeface="Calibri"/>
              </a:rPr>
              <a:t>Long-Term Memory</a:t>
            </a:r>
            <a:endParaRPr lang="en-CA" sz="2400" b="0" u="none" strike="noStrike">
              <a:solidFill>
                <a:srgbClr val="000000"/>
              </a:solidFill>
              <a:effectLst/>
              <a:uFillTx/>
              <a:latin typeface="Arial"/>
            </a:endParaRPr>
          </a:p>
        </p:txBody>
      </p:sp>
      <p:sp>
        <p:nvSpPr>
          <p:cNvPr id="193" name="Text 9"/>
          <p:cNvSpPr/>
          <p:nvPr/>
        </p:nvSpPr>
        <p:spPr>
          <a:xfrm>
            <a:off x="6300000" y="2971800"/>
            <a:ext cx="5039640" cy="274248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599"/>
              </a:spcAft>
              <a:buClr>
                <a:srgbClr val="FFFFFF"/>
              </a:buClr>
              <a:buFont typeface="Symbol" charset="2"/>
              <a:buChar char=""/>
            </a:pPr>
            <a:r>
              <a:rPr lang="en-US" sz="2200" b="0" u="none" strike="noStrike">
                <a:solidFill>
                  <a:srgbClr val="FFFFFF"/>
                </a:solidFill>
                <a:effectLst/>
                <a:uFillTx/>
                <a:latin typeface="Calibri"/>
                <a:ea typeface="Calibri"/>
              </a:rPr>
              <a:t>Persisted across sessions — a database, vector store, or file</a:t>
            </a:r>
            <a:endParaRPr lang="en-CA" sz="2200" b="0" u="none" strike="noStrike">
              <a:solidFill>
                <a:srgbClr val="000000"/>
              </a:solidFill>
              <a:effectLst/>
              <a:uFillTx/>
              <a:latin typeface="Arial"/>
            </a:endParaRPr>
          </a:p>
          <a:p>
            <a:pPr marL="254160" indent="-254160" defTabSz="914400">
              <a:lnSpc>
                <a:spcPct val="110000"/>
              </a:lnSpc>
              <a:spcAft>
                <a:spcPts val="1599"/>
              </a:spcAft>
              <a:buClr>
                <a:srgbClr val="FFFFFF"/>
              </a:buClr>
              <a:buFont typeface="Symbol" charset="2"/>
              <a:buChar char=""/>
            </a:pPr>
            <a:r>
              <a:rPr lang="en-US" sz="2200" b="0" u="none" strike="noStrike">
                <a:solidFill>
                  <a:srgbClr val="FFFFFF"/>
                </a:solidFill>
                <a:effectLst/>
                <a:uFillTx/>
                <a:latin typeface="Calibri"/>
                <a:ea typeface="Calibri"/>
              </a:rPr>
              <a:t>Stores facts, past decisions, user preferences</a:t>
            </a:r>
            <a:endParaRPr lang="en-CA" sz="2200" b="0" u="none" strike="noStrike">
              <a:solidFill>
                <a:srgbClr val="000000"/>
              </a:solidFill>
              <a:effectLst/>
              <a:uFillTx/>
              <a:latin typeface="Arial"/>
            </a:endParaRPr>
          </a:p>
          <a:p>
            <a:pPr marL="254160" indent="-254160" defTabSz="914400">
              <a:lnSpc>
                <a:spcPct val="110000"/>
              </a:lnSpc>
              <a:spcAft>
                <a:spcPts val="1599"/>
              </a:spcAft>
              <a:buClr>
                <a:srgbClr val="FFFFFF"/>
              </a:buClr>
              <a:buFont typeface="Symbol" charset="2"/>
              <a:buChar char=""/>
            </a:pPr>
            <a:r>
              <a:rPr lang="en-US" sz="2200" b="0" u="none" strike="noStrike">
                <a:solidFill>
                  <a:srgbClr val="FFFFFF"/>
                </a:solidFill>
                <a:effectLst/>
                <a:uFillTx/>
                <a:latin typeface="Calibri"/>
                <a:ea typeface="Calibri"/>
              </a:rPr>
              <a:t>Retrieved back into context when relevant (often via embeddings / RAG)</a:t>
            </a:r>
            <a:endParaRPr lang="en-CA" sz="2200" b="0" u="none" strike="noStrike">
              <a:solidFill>
                <a:srgbClr val="000000"/>
              </a:solidFill>
              <a:effectLst/>
              <a:uFillTx/>
              <a:latin typeface="Arial"/>
            </a:endParaRPr>
          </a:p>
          <a:p>
            <a:pPr marL="254160" indent="-254160" defTabSz="914400">
              <a:lnSpc>
                <a:spcPct val="110000"/>
              </a:lnSpc>
              <a:spcAft>
                <a:spcPts val="1599"/>
              </a:spcAft>
              <a:buClr>
                <a:srgbClr val="FFFFFF"/>
              </a:buClr>
              <a:buFont typeface="Symbol" charset="2"/>
              <a:buChar char=""/>
            </a:pPr>
            <a:r>
              <a:rPr lang="en-US" sz="2200" b="1" u="none" strike="noStrike">
                <a:solidFill>
                  <a:srgbClr val="FFFFFF"/>
                </a:solidFill>
                <a:effectLst/>
                <a:uFillTx/>
                <a:latin typeface="Calibri"/>
                <a:ea typeface="Calibri"/>
              </a:rPr>
              <a:t>This is what lets Hermes "remember" you between conversations</a:t>
            </a:r>
            <a:endParaRPr lang="en-CA" sz="2200" b="0" u="none" strike="noStrike">
              <a:solidFill>
                <a:srgbClr val="000000"/>
              </a:solidFill>
              <a:effectLst/>
              <a:uFillTx/>
              <a:latin typeface="Arial"/>
            </a:endParaRPr>
          </a:p>
        </p:txBody>
      </p:sp>
      <p:sp>
        <p:nvSpPr>
          <p:cNvPr id="194" name="Text 10"/>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195" name="Text 11"/>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10</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6"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ESSENTIAL COMPONENTS · 3 OF 5</a:t>
            </a:r>
            <a:endParaRPr lang="en-CA" sz="1400" b="0" u="none" strike="noStrike">
              <a:solidFill>
                <a:srgbClr val="000000"/>
              </a:solidFill>
              <a:effectLst/>
              <a:uFillTx/>
              <a:latin typeface="Arial"/>
            </a:endParaRPr>
          </a:p>
        </p:txBody>
      </p:sp>
      <p:sp>
        <p:nvSpPr>
          <p:cNvPr id="197"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Tools — Function Calling</a:t>
            </a:r>
            <a:endParaRPr lang="en-CA" sz="3400" b="0" u="none" strike="noStrike">
              <a:solidFill>
                <a:srgbClr val="000000"/>
              </a:solidFill>
              <a:effectLst/>
              <a:uFillTx/>
              <a:latin typeface="Arial"/>
            </a:endParaRPr>
          </a:p>
        </p:txBody>
      </p:sp>
      <p:sp>
        <p:nvSpPr>
          <p:cNvPr id="198" name="Text 2"/>
          <p:cNvSpPr/>
          <p:nvPr/>
        </p:nvSpPr>
        <p:spPr>
          <a:xfrm>
            <a:off x="548640" y="1417320"/>
            <a:ext cx="109720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i="1" u="none" strike="noStrike">
                <a:solidFill>
                  <a:srgbClr val="6B7280"/>
                </a:solidFill>
                <a:effectLst/>
                <a:uFillTx/>
                <a:latin typeface="Calibri"/>
                <a:ea typeface="Calibri"/>
              </a:rPr>
              <a:t>Tools are how an agent stops "talking about" the world and starts changing it.</a:t>
            </a:r>
            <a:endParaRPr lang="en-CA" sz="2000" b="0" u="none" strike="noStrike">
              <a:solidFill>
                <a:srgbClr val="000000"/>
              </a:solidFill>
              <a:effectLst/>
              <a:uFillTx/>
              <a:latin typeface="Arial"/>
            </a:endParaRPr>
          </a:p>
        </p:txBody>
      </p:sp>
      <p:sp>
        <p:nvSpPr>
          <p:cNvPr id="199" name="Shape 3"/>
          <p:cNvSpPr/>
          <p:nvPr/>
        </p:nvSpPr>
        <p:spPr>
          <a:xfrm>
            <a:off x="548640" y="2011680"/>
            <a:ext cx="2696760" cy="1965240"/>
          </a:xfrm>
          <a:prstGeom prst="roundRect">
            <a:avLst>
              <a:gd name="adj" fmla="val 4651"/>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00" name="Shape 4"/>
          <p:cNvSpPr/>
          <p:nvPr/>
        </p:nvSpPr>
        <p:spPr>
          <a:xfrm>
            <a:off x="3429000" y="2011680"/>
            <a:ext cx="2696760" cy="1965240"/>
          </a:xfrm>
          <a:prstGeom prst="roundRect">
            <a:avLst>
              <a:gd name="adj" fmla="val 4651"/>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01" name="Shape 5"/>
          <p:cNvSpPr/>
          <p:nvPr/>
        </p:nvSpPr>
        <p:spPr>
          <a:xfrm>
            <a:off x="6309360" y="2011680"/>
            <a:ext cx="2696760" cy="1965240"/>
          </a:xfrm>
          <a:prstGeom prst="roundRect">
            <a:avLst>
              <a:gd name="adj" fmla="val 4651"/>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02" name="Shape 6"/>
          <p:cNvSpPr/>
          <p:nvPr/>
        </p:nvSpPr>
        <p:spPr>
          <a:xfrm>
            <a:off x="9189720" y="2011680"/>
            <a:ext cx="2696760" cy="1965240"/>
          </a:xfrm>
          <a:prstGeom prst="roundRect">
            <a:avLst>
              <a:gd name="adj" fmla="val 4651"/>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03" name="Shape 7"/>
          <p:cNvSpPr/>
          <p:nvPr/>
        </p:nvSpPr>
        <p:spPr>
          <a:xfrm>
            <a:off x="1559160" y="2212920"/>
            <a:ext cx="676080" cy="676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04" name="Image 0" descr="preencoded.png"/>
          <p:cNvPicPr/>
          <p:nvPr/>
        </p:nvPicPr>
        <p:blipFill>
          <a:blip r:embed="rId1"/>
          <a:stretch/>
        </p:blipFill>
        <p:spPr>
          <a:xfrm>
            <a:off x="1650240" y="2304360"/>
            <a:ext cx="493200" cy="493200"/>
          </a:xfrm>
          <a:prstGeom prst="rect">
            <a:avLst/>
          </a:prstGeom>
          <a:noFill/>
          <a:ln w="0">
            <a:noFill/>
          </a:ln>
        </p:spPr>
      </p:pic>
      <p:sp>
        <p:nvSpPr>
          <p:cNvPr id="205" name="Text 8"/>
          <p:cNvSpPr/>
          <p:nvPr/>
        </p:nvSpPr>
        <p:spPr>
          <a:xfrm>
            <a:off x="640080" y="2999160"/>
            <a:ext cx="251388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E2761"/>
                </a:solidFill>
                <a:effectLst/>
                <a:uFillTx/>
                <a:latin typeface="Calibri"/>
                <a:ea typeface="Calibri"/>
              </a:rPr>
              <a:t>Web / API search</a:t>
            </a:r>
            <a:endParaRPr lang="en-CA" sz="2000" b="0" u="none" strike="noStrike">
              <a:solidFill>
                <a:srgbClr val="000000"/>
              </a:solidFill>
              <a:effectLst/>
              <a:uFillTx/>
              <a:latin typeface="Arial"/>
            </a:endParaRPr>
          </a:p>
        </p:txBody>
      </p:sp>
      <p:sp>
        <p:nvSpPr>
          <p:cNvPr id="206" name="Text 9"/>
          <p:cNvSpPr/>
          <p:nvPr/>
        </p:nvSpPr>
        <p:spPr>
          <a:xfrm>
            <a:off x="685800" y="3383280"/>
            <a:ext cx="242244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rgbClr val="6B7280"/>
                </a:solidFill>
                <a:effectLst/>
                <a:uFillTx/>
                <a:latin typeface="Calibri"/>
                <a:ea typeface="Calibri"/>
              </a:rPr>
              <a:t>Look up current information</a:t>
            </a:r>
            <a:endParaRPr lang="en-CA" sz="1600" b="0" u="none" strike="noStrike">
              <a:solidFill>
                <a:srgbClr val="000000"/>
              </a:solidFill>
              <a:effectLst/>
              <a:uFillTx/>
              <a:latin typeface="Arial"/>
            </a:endParaRPr>
          </a:p>
        </p:txBody>
      </p:sp>
      <p:sp>
        <p:nvSpPr>
          <p:cNvPr id="207" name="Shape 10"/>
          <p:cNvSpPr/>
          <p:nvPr/>
        </p:nvSpPr>
        <p:spPr>
          <a:xfrm>
            <a:off x="4439520" y="2212920"/>
            <a:ext cx="676080" cy="676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08" name="Image 1" descr="preencoded.png"/>
          <p:cNvPicPr/>
          <p:nvPr/>
        </p:nvPicPr>
        <p:blipFill>
          <a:blip r:embed="rId2"/>
          <a:stretch/>
        </p:blipFill>
        <p:spPr>
          <a:xfrm>
            <a:off x="4530600" y="2304360"/>
            <a:ext cx="493200" cy="493200"/>
          </a:xfrm>
          <a:prstGeom prst="rect">
            <a:avLst/>
          </a:prstGeom>
          <a:noFill/>
          <a:ln w="0">
            <a:noFill/>
          </a:ln>
        </p:spPr>
      </p:pic>
      <p:sp>
        <p:nvSpPr>
          <p:cNvPr id="209" name="Text 11"/>
          <p:cNvSpPr/>
          <p:nvPr/>
        </p:nvSpPr>
        <p:spPr>
          <a:xfrm>
            <a:off x="3520440" y="2999160"/>
            <a:ext cx="251388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E2761"/>
                </a:solidFill>
                <a:effectLst/>
                <a:uFillTx/>
                <a:latin typeface="Calibri"/>
                <a:ea typeface="Calibri"/>
              </a:rPr>
              <a:t>Code execution</a:t>
            </a:r>
            <a:endParaRPr lang="en-CA" sz="2000" b="0" u="none" strike="noStrike">
              <a:solidFill>
                <a:srgbClr val="000000"/>
              </a:solidFill>
              <a:effectLst/>
              <a:uFillTx/>
              <a:latin typeface="Arial"/>
            </a:endParaRPr>
          </a:p>
        </p:txBody>
      </p:sp>
      <p:sp>
        <p:nvSpPr>
          <p:cNvPr id="210" name="Text 12"/>
          <p:cNvSpPr/>
          <p:nvPr/>
        </p:nvSpPr>
        <p:spPr>
          <a:xfrm>
            <a:off x="3566160" y="3383280"/>
            <a:ext cx="242244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rgbClr val="6B7280"/>
                </a:solidFill>
                <a:effectLst/>
                <a:uFillTx/>
                <a:latin typeface="Calibri"/>
                <a:ea typeface="Calibri"/>
              </a:rPr>
              <a:t>Run scripts, do calculations</a:t>
            </a:r>
            <a:endParaRPr lang="en-CA" sz="1600" b="0" u="none" strike="noStrike">
              <a:solidFill>
                <a:srgbClr val="000000"/>
              </a:solidFill>
              <a:effectLst/>
              <a:uFillTx/>
              <a:latin typeface="Arial"/>
            </a:endParaRPr>
          </a:p>
        </p:txBody>
      </p:sp>
      <p:sp>
        <p:nvSpPr>
          <p:cNvPr id="211" name="Shape 13"/>
          <p:cNvSpPr/>
          <p:nvPr/>
        </p:nvSpPr>
        <p:spPr>
          <a:xfrm>
            <a:off x="7319880" y="2212920"/>
            <a:ext cx="676080" cy="676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12" name="Image 2" descr="preencoded.png"/>
          <p:cNvPicPr/>
          <p:nvPr/>
        </p:nvPicPr>
        <p:blipFill>
          <a:blip r:embed="rId3"/>
          <a:stretch/>
        </p:blipFill>
        <p:spPr>
          <a:xfrm>
            <a:off x="7410960" y="2304360"/>
            <a:ext cx="493200" cy="493200"/>
          </a:xfrm>
          <a:prstGeom prst="rect">
            <a:avLst/>
          </a:prstGeom>
          <a:noFill/>
          <a:ln w="0">
            <a:noFill/>
          </a:ln>
        </p:spPr>
      </p:pic>
      <p:sp>
        <p:nvSpPr>
          <p:cNvPr id="213" name="Text 14"/>
          <p:cNvSpPr/>
          <p:nvPr/>
        </p:nvSpPr>
        <p:spPr>
          <a:xfrm>
            <a:off x="6400800" y="2999160"/>
            <a:ext cx="251388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E2761"/>
                </a:solidFill>
                <a:effectLst/>
                <a:uFillTx/>
                <a:latin typeface="Calibri"/>
                <a:ea typeface="Calibri"/>
              </a:rPr>
              <a:t>Database access</a:t>
            </a:r>
            <a:endParaRPr lang="en-CA" sz="2000" b="0" u="none" strike="noStrike">
              <a:solidFill>
                <a:srgbClr val="000000"/>
              </a:solidFill>
              <a:effectLst/>
              <a:uFillTx/>
              <a:latin typeface="Arial"/>
            </a:endParaRPr>
          </a:p>
        </p:txBody>
      </p:sp>
      <p:sp>
        <p:nvSpPr>
          <p:cNvPr id="214" name="Text 15"/>
          <p:cNvSpPr/>
          <p:nvPr/>
        </p:nvSpPr>
        <p:spPr>
          <a:xfrm>
            <a:off x="6446520" y="3383280"/>
            <a:ext cx="242244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rgbClr val="6B7280"/>
                </a:solidFill>
                <a:effectLst/>
                <a:uFillTx/>
                <a:latin typeface="Calibri"/>
                <a:ea typeface="Calibri"/>
              </a:rPr>
              <a:t>Read or write records</a:t>
            </a:r>
            <a:endParaRPr lang="en-CA" sz="1600" b="0" u="none" strike="noStrike">
              <a:solidFill>
                <a:srgbClr val="000000"/>
              </a:solidFill>
              <a:effectLst/>
              <a:uFillTx/>
              <a:latin typeface="Arial"/>
            </a:endParaRPr>
          </a:p>
        </p:txBody>
      </p:sp>
      <p:sp>
        <p:nvSpPr>
          <p:cNvPr id="215" name="Shape 16"/>
          <p:cNvSpPr/>
          <p:nvPr/>
        </p:nvSpPr>
        <p:spPr>
          <a:xfrm>
            <a:off x="10200240" y="2212920"/>
            <a:ext cx="676080" cy="676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16" name="Image 3" descr="preencoded.png"/>
          <p:cNvPicPr/>
          <p:nvPr/>
        </p:nvPicPr>
        <p:blipFill>
          <a:blip r:embed="rId4"/>
          <a:stretch/>
        </p:blipFill>
        <p:spPr>
          <a:xfrm>
            <a:off x="10291320" y="2304360"/>
            <a:ext cx="493200" cy="493200"/>
          </a:xfrm>
          <a:prstGeom prst="rect">
            <a:avLst/>
          </a:prstGeom>
          <a:noFill/>
          <a:ln w="0">
            <a:noFill/>
          </a:ln>
        </p:spPr>
      </p:pic>
      <p:sp>
        <p:nvSpPr>
          <p:cNvPr id="217" name="Text 17"/>
          <p:cNvSpPr/>
          <p:nvPr/>
        </p:nvSpPr>
        <p:spPr>
          <a:xfrm>
            <a:off x="9281160" y="2999160"/>
            <a:ext cx="251388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E2761"/>
                </a:solidFill>
                <a:effectLst/>
                <a:uFillTx/>
                <a:latin typeface="Calibri"/>
                <a:ea typeface="Calibri"/>
              </a:rPr>
              <a:t>External services</a:t>
            </a:r>
            <a:endParaRPr lang="en-CA" sz="2000" b="0" u="none" strike="noStrike">
              <a:solidFill>
                <a:srgbClr val="000000"/>
              </a:solidFill>
              <a:effectLst/>
              <a:uFillTx/>
              <a:latin typeface="Arial"/>
            </a:endParaRPr>
          </a:p>
        </p:txBody>
      </p:sp>
      <p:sp>
        <p:nvSpPr>
          <p:cNvPr id="218" name="Text 18"/>
          <p:cNvSpPr/>
          <p:nvPr/>
        </p:nvSpPr>
        <p:spPr>
          <a:xfrm>
            <a:off x="9326880" y="3383280"/>
            <a:ext cx="242244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rgbClr val="6B7280"/>
                </a:solidFill>
                <a:effectLst/>
                <a:uFillTx/>
                <a:latin typeface="Calibri"/>
                <a:ea typeface="Calibri"/>
              </a:rPr>
              <a:t>Send email, post a message, call a webhook</a:t>
            </a:r>
            <a:endParaRPr lang="en-CA" sz="1600" b="0" u="none" strike="noStrike">
              <a:solidFill>
                <a:srgbClr val="000000"/>
              </a:solidFill>
              <a:effectLst/>
              <a:uFillTx/>
              <a:latin typeface="Arial"/>
            </a:endParaRPr>
          </a:p>
        </p:txBody>
      </p:sp>
      <p:sp>
        <p:nvSpPr>
          <p:cNvPr id="219" name="Text 19"/>
          <p:cNvSpPr/>
          <p:nvPr/>
        </p:nvSpPr>
        <p:spPr>
          <a:xfrm>
            <a:off x="548640" y="4343400"/>
            <a:ext cx="10880640" cy="1188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u="none" strike="noStrike">
                <a:solidFill>
                  <a:srgbClr val="1A1A1A"/>
                </a:solidFill>
                <a:effectLst/>
                <a:uFillTx/>
                <a:latin typeface="Calibri"/>
                <a:ea typeface="Calibri"/>
              </a:rPr>
              <a:t>How it works: the LLM is shown a list of tools (name + description + expected arguments). It replies with a structured "call this tool with these arguments" instead of prose. The agent framework executes the call and feeds the result back in.</a:t>
            </a:r>
            <a:endParaRPr lang="en-CA" sz="2000" b="0" u="none" strike="noStrike">
              <a:solidFill>
                <a:srgbClr val="000000"/>
              </a:solidFill>
              <a:effectLst/>
              <a:uFillTx/>
              <a:latin typeface="Arial"/>
            </a:endParaRPr>
          </a:p>
        </p:txBody>
      </p:sp>
      <p:sp>
        <p:nvSpPr>
          <p:cNvPr id="220" name="Text 20"/>
          <p:cNvSpPr/>
          <p:nvPr/>
        </p:nvSpPr>
        <p:spPr>
          <a:xfrm>
            <a:off x="548640" y="5623560"/>
            <a:ext cx="108806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E2761"/>
                </a:solidFill>
                <a:effectLst/>
                <a:uFillTx/>
                <a:latin typeface="Calibri"/>
                <a:ea typeface="Calibri"/>
              </a:rPr>
              <a:t>Hermes exposes its capabilities — e.g. web search, running shell commands on its VPS — as tools the LLM can call.</a:t>
            </a:r>
            <a:endParaRPr lang="en-CA" sz="2000" b="0" u="none" strike="noStrike">
              <a:solidFill>
                <a:srgbClr val="000000"/>
              </a:solidFill>
              <a:effectLst/>
              <a:uFillTx/>
              <a:latin typeface="Arial"/>
            </a:endParaRPr>
          </a:p>
        </p:txBody>
      </p:sp>
      <p:sp>
        <p:nvSpPr>
          <p:cNvPr id="221" name="Text 21"/>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222" name="Text 22"/>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11</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3"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ESSENTIAL COMPONENTS · 4 OF 5</a:t>
            </a:r>
            <a:endParaRPr lang="en-CA" sz="1400" b="0" u="none" strike="noStrike">
              <a:solidFill>
                <a:srgbClr val="000000"/>
              </a:solidFill>
              <a:effectLst/>
              <a:uFillTx/>
              <a:latin typeface="Arial"/>
            </a:endParaRPr>
          </a:p>
        </p:txBody>
      </p:sp>
      <p:sp>
        <p:nvSpPr>
          <p:cNvPr id="224"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Planning</a:t>
            </a:r>
            <a:endParaRPr lang="en-CA" sz="3400" b="0" u="none" strike="noStrike">
              <a:solidFill>
                <a:srgbClr val="000000"/>
              </a:solidFill>
              <a:effectLst/>
              <a:uFillTx/>
              <a:latin typeface="Arial"/>
            </a:endParaRPr>
          </a:p>
        </p:txBody>
      </p:sp>
      <p:sp>
        <p:nvSpPr>
          <p:cNvPr id="225" name="Shape 2"/>
          <p:cNvSpPr/>
          <p:nvPr/>
        </p:nvSpPr>
        <p:spPr>
          <a:xfrm>
            <a:off x="9418320" y="731520"/>
            <a:ext cx="1919520" cy="191952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26" name="Image 0" descr="preencoded.png"/>
          <p:cNvPicPr/>
          <p:nvPr/>
        </p:nvPicPr>
        <p:blipFill>
          <a:blip r:embed="rId1"/>
          <a:stretch/>
        </p:blipFill>
        <p:spPr>
          <a:xfrm>
            <a:off x="9677520" y="990720"/>
            <a:ext cx="1401120" cy="1401120"/>
          </a:xfrm>
          <a:prstGeom prst="rect">
            <a:avLst/>
          </a:prstGeom>
          <a:noFill/>
          <a:ln w="0">
            <a:noFill/>
          </a:ln>
        </p:spPr>
      </p:pic>
      <p:sp>
        <p:nvSpPr>
          <p:cNvPr id="227" name="Text 3"/>
          <p:cNvSpPr/>
          <p:nvPr/>
        </p:nvSpPr>
        <p:spPr>
          <a:xfrm>
            <a:off x="548640" y="1828800"/>
            <a:ext cx="8686080" cy="420552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2599"/>
              </a:spcAft>
              <a:buClr>
                <a:srgbClr val="1A1A1A"/>
              </a:buClr>
              <a:buFont typeface="Symbol" charset="2"/>
              <a:buChar char=""/>
            </a:pPr>
            <a:r>
              <a:rPr lang="en-US" sz="2100" b="1" u="none" strike="noStrike">
                <a:solidFill>
                  <a:srgbClr val="1A1A1A"/>
                </a:solidFill>
                <a:effectLst/>
                <a:uFillTx/>
                <a:latin typeface="Calibri"/>
                <a:ea typeface="Calibri"/>
              </a:rPr>
              <a:t>Breaks a goal down into a sequence of smaller steps before (or while) acting</a:t>
            </a:r>
            <a:endParaRPr lang="en-CA" sz="2100" b="0" u="none" strike="noStrike">
              <a:solidFill>
                <a:srgbClr val="000000"/>
              </a:solidFill>
              <a:effectLst/>
              <a:uFillTx/>
              <a:latin typeface="Arial"/>
            </a:endParaRPr>
          </a:p>
          <a:p>
            <a:pPr marL="254160" indent="-254160" defTabSz="914400">
              <a:lnSpc>
                <a:spcPct val="110000"/>
              </a:lnSpc>
              <a:spcAft>
                <a:spcPts val="2599"/>
              </a:spcAft>
              <a:buClr>
                <a:srgbClr val="1A1A1A"/>
              </a:buClr>
              <a:buFont typeface="Symbol" charset="2"/>
              <a:buChar char=""/>
            </a:pPr>
            <a:r>
              <a:rPr lang="en-US" sz="2100" b="1" u="none" strike="noStrike">
                <a:solidFill>
                  <a:srgbClr val="1A1A1A"/>
                </a:solidFill>
                <a:effectLst/>
                <a:uFillTx/>
                <a:latin typeface="Calibri"/>
                <a:ea typeface="Calibri"/>
              </a:rPr>
              <a:t>Can be explicit — the LLM writes out a numbered plan first</a:t>
            </a:r>
            <a:endParaRPr lang="en-CA" sz="2100" b="0" u="none" strike="noStrike">
              <a:solidFill>
                <a:srgbClr val="000000"/>
              </a:solidFill>
              <a:effectLst/>
              <a:uFillTx/>
              <a:latin typeface="Arial"/>
            </a:endParaRPr>
          </a:p>
          <a:p>
            <a:pPr marL="254160" indent="-254160" defTabSz="914400">
              <a:lnSpc>
                <a:spcPct val="110000"/>
              </a:lnSpc>
              <a:spcAft>
                <a:spcPts val="2599"/>
              </a:spcAft>
              <a:buClr>
                <a:srgbClr val="1A1A1A"/>
              </a:buClr>
              <a:buFont typeface="Symbol" charset="2"/>
              <a:buChar char=""/>
            </a:pPr>
            <a:r>
              <a:rPr lang="en-US" sz="2100" b="1" u="none" strike="noStrike">
                <a:solidFill>
                  <a:srgbClr val="1A1A1A"/>
                </a:solidFill>
                <a:effectLst/>
                <a:uFillTx/>
                <a:latin typeface="Calibri"/>
                <a:ea typeface="Calibri"/>
              </a:rPr>
              <a:t>Can be implicit — the agent decides one step at a time, re-planning after each result</a:t>
            </a:r>
            <a:endParaRPr lang="en-CA" sz="2100" b="0" u="none" strike="noStrike">
              <a:solidFill>
                <a:srgbClr val="000000"/>
              </a:solidFill>
              <a:effectLst/>
              <a:uFillTx/>
              <a:latin typeface="Arial"/>
            </a:endParaRPr>
          </a:p>
          <a:p>
            <a:pPr marL="254160" indent="-254160" defTabSz="914400">
              <a:lnSpc>
                <a:spcPct val="110000"/>
              </a:lnSpc>
              <a:spcAft>
                <a:spcPts val="2599"/>
              </a:spcAft>
              <a:buClr>
                <a:srgbClr val="1A1A1A"/>
              </a:buClr>
              <a:buFont typeface="Symbol" charset="2"/>
              <a:buChar char=""/>
            </a:pPr>
            <a:r>
              <a:rPr lang="en-US" sz="2100" b="1" u="none" strike="noStrike">
                <a:solidFill>
                  <a:srgbClr val="1A1A1A"/>
                </a:solidFill>
                <a:effectLst/>
                <a:uFillTx/>
                <a:latin typeface="Calibri"/>
                <a:ea typeface="Calibri"/>
              </a:rPr>
              <a:t>Good planning is what lets an agent handle tasks that need many tool calls in the right order, e.g. "check disk usage, then restart the service, then confirm it is healthy"</a:t>
            </a:r>
            <a:endParaRPr lang="en-CA" sz="2100" b="0" u="none" strike="noStrike">
              <a:solidFill>
                <a:srgbClr val="000000"/>
              </a:solidFill>
              <a:effectLst/>
              <a:uFillTx/>
              <a:latin typeface="Arial"/>
            </a:endParaRPr>
          </a:p>
        </p:txBody>
      </p:sp>
      <p:sp>
        <p:nvSpPr>
          <p:cNvPr id="228" name="Text 4"/>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229" name="Text 5"/>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12</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ESSENTIAL COMPONENTS · 5 OF 5</a:t>
            </a:r>
            <a:endParaRPr lang="en-CA" sz="1400" b="0" u="none" strike="noStrike">
              <a:solidFill>
                <a:srgbClr val="000000"/>
              </a:solidFill>
              <a:effectLst/>
              <a:uFillTx/>
              <a:latin typeface="Arial"/>
            </a:endParaRPr>
          </a:p>
        </p:txBody>
      </p:sp>
      <p:sp>
        <p:nvSpPr>
          <p:cNvPr id="231"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Orchestration &amp; Control</a:t>
            </a:r>
            <a:endParaRPr lang="en-CA" sz="3400" b="0" u="none" strike="noStrike">
              <a:solidFill>
                <a:srgbClr val="000000"/>
              </a:solidFill>
              <a:effectLst/>
              <a:uFillTx/>
              <a:latin typeface="Arial"/>
            </a:endParaRPr>
          </a:p>
        </p:txBody>
      </p:sp>
      <p:sp>
        <p:nvSpPr>
          <p:cNvPr id="232" name="Shape 2"/>
          <p:cNvSpPr/>
          <p:nvPr/>
        </p:nvSpPr>
        <p:spPr>
          <a:xfrm>
            <a:off x="9418320" y="731520"/>
            <a:ext cx="1919520" cy="191952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33" name="Image 0" descr="preencoded.png"/>
          <p:cNvPicPr/>
          <p:nvPr/>
        </p:nvPicPr>
        <p:blipFill>
          <a:blip r:embed="rId1"/>
          <a:stretch/>
        </p:blipFill>
        <p:spPr>
          <a:xfrm>
            <a:off x="9677520" y="990720"/>
            <a:ext cx="1401120" cy="1401120"/>
          </a:xfrm>
          <a:prstGeom prst="rect">
            <a:avLst/>
          </a:prstGeom>
          <a:noFill/>
          <a:ln w="0">
            <a:noFill/>
          </a:ln>
        </p:spPr>
      </p:pic>
      <p:sp>
        <p:nvSpPr>
          <p:cNvPr id="234" name="Text 3"/>
          <p:cNvSpPr/>
          <p:nvPr/>
        </p:nvSpPr>
        <p:spPr>
          <a:xfrm>
            <a:off x="548640" y="1828800"/>
            <a:ext cx="8686080" cy="420552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2599"/>
              </a:spcAft>
              <a:buClr>
                <a:srgbClr val="1A1A1A"/>
              </a:buClr>
              <a:buFont typeface="Symbol" charset="2"/>
              <a:buChar char=""/>
            </a:pPr>
            <a:r>
              <a:rPr lang="en-US" sz="2100" b="1" u="none" strike="noStrike">
                <a:solidFill>
                  <a:srgbClr val="1A1A1A"/>
                </a:solidFill>
                <a:effectLst/>
                <a:uFillTx/>
                <a:latin typeface="Calibri"/>
                <a:ea typeface="Calibri"/>
              </a:rPr>
              <a:t>The "glue" code around the LLM: it runs the loop, calls tools, manages memory, and decides when to stop</a:t>
            </a:r>
            <a:endParaRPr lang="en-CA" sz="2100" b="0" u="none" strike="noStrike">
              <a:solidFill>
                <a:srgbClr val="000000"/>
              </a:solidFill>
              <a:effectLst/>
              <a:uFillTx/>
              <a:latin typeface="Arial"/>
            </a:endParaRPr>
          </a:p>
          <a:p>
            <a:pPr marL="254160" indent="-254160" defTabSz="914400">
              <a:lnSpc>
                <a:spcPct val="110000"/>
              </a:lnSpc>
              <a:spcAft>
                <a:spcPts val="2599"/>
              </a:spcAft>
              <a:buClr>
                <a:srgbClr val="1A1A1A"/>
              </a:buClr>
              <a:buFont typeface="Symbol" charset="2"/>
              <a:buChar char=""/>
            </a:pPr>
            <a:r>
              <a:rPr lang="en-US" sz="2100" b="1" u="none" strike="noStrike">
                <a:solidFill>
                  <a:srgbClr val="1A1A1A"/>
                </a:solidFill>
                <a:effectLst/>
                <a:uFillTx/>
                <a:latin typeface="Calibri"/>
                <a:ea typeface="Calibri"/>
              </a:rPr>
              <a:t>Enforces guardrails — limits on tool use, cost, and turns, so the agent cannot run away</a:t>
            </a:r>
            <a:endParaRPr lang="en-CA" sz="2100" b="0" u="none" strike="noStrike">
              <a:solidFill>
                <a:srgbClr val="000000"/>
              </a:solidFill>
              <a:effectLst/>
              <a:uFillTx/>
              <a:latin typeface="Arial"/>
            </a:endParaRPr>
          </a:p>
          <a:p>
            <a:pPr marL="254160" indent="-254160" defTabSz="914400">
              <a:lnSpc>
                <a:spcPct val="110000"/>
              </a:lnSpc>
              <a:spcAft>
                <a:spcPts val="2599"/>
              </a:spcAft>
              <a:buClr>
                <a:srgbClr val="1A1A1A"/>
              </a:buClr>
              <a:buFont typeface="Symbol" charset="2"/>
              <a:buChar char=""/>
            </a:pPr>
            <a:r>
              <a:rPr lang="en-US" sz="2100" b="1" u="none" strike="noStrike">
                <a:solidFill>
                  <a:srgbClr val="1A1A1A"/>
                </a:solidFill>
                <a:effectLst/>
                <a:uFillTx/>
                <a:latin typeface="Calibri"/>
                <a:ea typeface="Calibri"/>
              </a:rPr>
              <a:t>Handles errors: what happens when a tool fails or the model gives a bad response?</a:t>
            </a:r>
            <a:endParaRPr lang="en-CA" sz="2100" b="0" u="none" strike="noStrike">
              <a:solidFill>
                <a:srgbClr val="000000"/>
              </a:solidFill>
              <a:effectLst/>
              <a:uFillTx/>
              <a:latin typeface="Arial"/>
            </a:endParaRPr>
          </a:p>
          <a:p>
            <a:pPr marL="254160" indent="-254160" defTabSz="914400">
              <a:lnSpc>
                <a:spcPct val="110000"/>
              </a:lnSpc>
              <a:spcAft>
                <a:spcPts val="2599"/>
              </a:spcAft>
              <a:buClr>
                <a:srgbClr val="1A1A1A"/>
              </a:buClr>
              <a:buFont typeface="Symbol" charset="2"/>
              <a:buChar char=""/>
            </a:pPr>
            <a:r>
              <a:rPr lang="en-US" sz="2100" b="1" u="none" strike="noStrike">
                <a:solidFill>
                  <a:srgbClr val="1A1A1A"/>
                </a:solidFill>
                <a:effectLst/>
                <a:uFillTx/>
                <a:latin typeface="Calibri"/>
                <a:ea typeface="Calibri"/>
              </a:rPr>
              <a:t>This is the part of the system that is not the LLM at all — it is ordinary software wrapped around it</a:t>
            </a:r>
            <a:endParaRPr lang="en-CA" sz="2100" b="0" u="none" strike="noStrike">
              <a:solidFill>
                <a:srgbClr val="000000"/>
              </a:solidFill>
              <a:effectLst/>
              <a:uFillTx/>
              <a:latin typeface="Arial"/>
            </a:endParaRPr>
          </a:p>
        </p:txBody>
      </p:sp>
      <p:sp>
        <p:nvSpPr>
          <p:cNvPr id="235" name="Text 4"/>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236" name="Text 5"/>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13</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7"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PUTTING IT TOGETHER</a:t>
            </a:r>
            <a:endParaRPr lang="en-CA" sz="1400" b="0" u="none" strike="noStrike">
              <a:solidFill>
                <a:srgbClr val="000000"/>
              </a:solidFill>
              <a:effectLst/>
              <a:uFillTx/>
              <a:latin typeface="Arial"/>
            </a:endParaRPr>
          </a:p>
        </p:txBody>
      </p:sp>
      <p:sp>
        <p:nvSpPr>
          <p:cNvPr id="238"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The Full Agent Architecture</a:t>
            </a:r>
            <a:endParaRPr lang="en-CA" sz="3400" b="0" u="none" strike="noStrike">
              <a:solidFill>
                <a:srgbClr val="000000"/>
              </a:solidFill>
              <a:effectLst/>
              <a:uFillTx/>
              <a:latin typeface="Arial"/>
            </a:endParaRPr>
          </a:p>
        </p:txBody>
      </p:sp>
      <p:sp>
        <p:nvSpPr>
          <p:cNvPr id="239" name="Shape 2"/>
          <p:cNvSpPr/>
          <p:nvPr/>
        </p:nvSpPr>
        <p:spPr>
          <a:xfrm>
            <a:off x="6094440" y="2788920"/>
            <a:ext cx="720" cy="731520"/>
          </a:xfrm>
          <a:prstGeom prst="line">
            <a:avLst/>
          </a:prstGeom>
          <a:ln w="31750">
            <a:solidFill>
              <a:srgbClr val="00A896"/>
            </a:solidFill>
            <a:round/>
            <a:tailEnd len="med" type="triangle" w="med"/>
          </a:ln>
        </p:spPr>
        <p:style>
          <a:lnRef idx="0"/>
          <a:fillRef idx="0"/>
          <a:effectRef idx="0"/>
          <a:fontRef idx="minor"/>
        </p:style>
        <p:txBody>
          <a:bodyPr lIns="360" tIns="45000" rIns="360" bIns="45000" anchor="t" anchorCtr="1">
            <a:noAutofit/>
          </a:bodyPr>
          <a:p>
            <a:endParaRPr lang="en-CA" sz="1800" b="0" u="none" strike="noStrike">
              <a:solidFill>
                <a:srgbClr val="000000"/>
              </a:solidFill>
              <a:effectLst/>
              <a:uFillTx/>
              <a:latin typeface="Arial"/>
            </a:endParaRPr>
          </a:p>
        </p:txBody>
      </p:sp>
      <p:sp>
        <p:nvSpPr>
          <p:cNvPr id="240" name="Shape 3"/>
          <p:cNvSpPr/>
          <p:nvPr/>
        </p:nvSpPr>
        <p:spPr>
          <a:xfrm>
            <a:off x="6094440" y="4572000"/>
            <a:ext cx="720" cy="320040"/>
          </a:xfrm>
          <a:prstGeom prst="line">
            <a:avLst/>
          </a:prstGeom>
          <a:ln w="31750">
            <a:solidFill>
              <a:srgbClr val="00A896"/>
            </a:solidFill>
            <a:round/>
            <a:tailEnd len="med" type="triangle" w="med"/>
          </a:ln>
        </p:spPr>
        <p:style>
          <a:lnRef idx="0"/>
          <a:fillRef idx="0"/>
          <a:effectRef idx="0"/>
          <a:fontRef idx="minor"/>
        </p:style>
        <p:txBody>
          <a:bodyPr lIns="360" tIns="45000" rIns="360" bIns="45000" anchor="t" anchorCtr="1">
            <a:noAutofit/>
          </a:bodyPr>
          <a:p>
            <a:endParaRPr lang="en-CA" sz="1800" b="0" u="none" strike="noStrike">
              <a:solidFill>
                <a:srgbClr val="000000"/>
              </a:solidFill>
              <a:effectLst/>
              <a:uFillTx/>
              <a:latin typeface="Arial"/>
            </a:endParaRPr>
          </a:p>
        </p:txBody>
      </p:sp>
      <p:sp>
        <p:nvSpPr>
          <p:cNvPr id="241" name="Shape 4"/>
          <p:cNvSpPr/>
          <p:nvPr/>
        </p:nvSpPr>
        <p:spPr>
          <a:xfrm>
            <a:off x="3246120" y="4046040"/>
            <a:ext cx="1613880" cy="1080"/>
          </a:xfrm>
          <a:prstGeom prst="line">
            <a:avLst/>
          </a:prstGeom>
          <a:ln w="31750">
            <a:solidFill>
              <a:srgbClr val="00A896"/>
            </a:solidFill>
            <a:round/>
            <a:tailEnd len="med" type="triangle" w="med"/>
          </a:ln>
        </p:spPr>
        <p:style>
          <a:lnRef idx="0"/>
          <a:fillRef idx="0"/>
          <a:effectRef idx="0"/>
          <a:fontRef idx="minor"/>
        </p:style>
        <p:txBody>
          <a:bodyPr lIns="90000" tIns="-43920" rIns="90000" bIns="-43920" anchor="t" anchorCtr="1">
            <a:noAutofit/>
          </a:bodyPr>
          <a:p>
            <a:endParaRPr lang="en-CA" sz="1800" b="0" u="none" strike="noStrike">
              <a:solidFill>
                <a:srgbClr val="000000"/>
              </a:solidFill>
              <a:effectLst/>
              <a:uFillTx/>
              <a:latin typeface="Arial"/>
            </a:endParaRPr>
          </a:p>
        </p:txBody>
      </p:sp>
      <p:sp>
        <p:nvSpPr>
          <p:cNvPr id="242" name="Shape 5"/>
          <p:cNvSpPr/>
          <p:nvPr/>
        </p:nvSpPr>
        <p:spPr>
          <a:xfrm>
            <a:off x="7328880" y="4046040"/>
            <a:ext cx="1613880" cy="1080"/>
          </a:xfrm>
          <a:prstGeom prst="line">
            <a:avLst/>
          </a:prstGeom>
          <a:ln w="31750">
            <a:solidFill>
              <a:srgbClr val="00A896"/>
            </a:solidFill>
            <a:round/>
            <a:tailEnd len="med" type="triangle" w="med"/>
          </a:ln>
        </p:spPr>
        <p:style>
          <a:lnRef idx="0"/>
          <a:fillRef idx="0"/>
          <a:effectRef idx="0"/>
          <a:fontRef idx="minor"/>
        </p:style>
        <p:txBody>
          <a:bodyPr lIns="90000" tIns="-43920" rIns="90000" bIns="-43920" anchor="t" anchorCtr="1">
            <a:noAutofit/>
          </a:bodyPr>
          <a:p>
            <a:endParaRPr lang="en-CA" sz="1800" b="0" u="none" strike="noStrike">
              <a:solidFill>
                <a:srgbClr val="000000"/>
              </a:solidFill>
              <a:effectLst/>
              <a:uFillTx/>
              <a:latin typeface="Arial"/>
            </a:endParaRPr>
          </a:p>
        </p:txBody>
      </p:sp>
      <p:sp>
        <p:nvSpPr>
          <p:cNvPr id="243" name="Shape 6"/>
          <p:cNvSpPr/>
          <p:nvPr/>
        </p:nvSpPr>
        <p:spPr>
          <a:xfrm>
            <a:off x="4860000" y="3520440"/>
            <a:ext cx="2468160" cy="1050840"/>
          </a:xfrm>
          <a:prstGeom prst="roundRect">
            <a:avLst>
              <a:gd name="adj" fmla="val 8696"/>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244" name="Text 7"/>
          <p:cNvSpPr/>
          <p:nvPr/>
        </p:nvSpPr>
        <p:spPr>
          <a:xfrm>
            <a:off x="4860000" y="3520440"/>
            <a:ext cx="2468160" cy="1050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LLM CORE</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FFFFFF"/>
                </a:solidFill>
                <a:effectLst/>
                <a:uFillTx/>
                <a:latin typeface="Calibri"/>
                <a:ea typeface="Calibri"/>
              </a:rPr>
              <a:t>(the Brain)</a:t>
            </a:r>
            <a:endParaRPr lang="en-CA" sz="1600" b="0" u="none" strike="noStrike">
              <a:solidFill>
                <a:srgbClr val="000000"/>
              </a:solidFill>
              <a:effectLst/>
              <a:uFillTx/>
              <a:latin typeface="Arial"/>
            </a:endParaRPr>
          </a:p>
        </p:txBody>
      </p:sp>
      <p:sp>
        <p:nvSpPr>
          <p:cNvPr id="245" name="Shape 8"/>
          <p:cNvSpPr/>
          <p:nvPr/>
        </p:nvSpPr>
        <p:spPr>
          <a:xfrm>
            <a:off x="4791600" y="1737360"/>
            <a:ext cx="2605320" cy="1050840"/>
          </a:xfrm>
          <a:prstGeom prst="roundRect">
            <a:avLst>
              <a:gd name="adj" fmla="val 7826"/>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46" name="Shape 9"/>
          <p:cNvSpPr/>
          <p:nvPr/>
        </p:nvSpPr>
        <p:spPr>
          <a:xfrm>
            <a:off x="4919400" y="1989000"/>
            <a:ext cx="547920" cy="54792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47" name="Image 0" descr="preencoded.png"/>
          <p:cNvPicPr/>
          <p:nvPr/>
        </p:nvPicPr>
        <p:blipFill>
          <a:blip r:embed="rId1"/>
          <a:stretch/>
        </p:blipFill>
        <p:spPr>
          <a:xfrm>
            <a:off x="4993560" y="2062800"/>
            <a:ext cx="399960" cy="399960"/>
          </a:xfrm>
          <a:prstGeom prst="rect">
            <a:avLst/>
          </a:prstGeom>
          <a:noFill/>
          <a:ln w="0">
            <a:noFill/>
          </a:ln>
        </p:spPr>
      </p:pic>
      <p:sp>
        <p:nvSpPr>
          <p:cNvPr id="248" name="Text 10"/>
          <p:cNvSpPr/>
          <p:nvPr/>
        </p:nvSpPr>
        <p:spPr>
          <a:xfrm>
            <a:off x="5541120" y="1737360"/>
            <a:ext cx="1764000" cy="1050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E2761"/>
                </a:solidFill>
                <a:effectLst/>
                <a:uFillTx/>
                <a:latin typeface="Calibri"/>
                <a:ea typeface="Calibri"/>
              </a:rPr>
              <a:t>Memory</a:t>
            </a:r>
            <a:endParaRPr lang="en-CA" sz="1450" b="0" u="none" strike="noStrike">
              <a:solidFill>
                <a:srgbClr val="000000"/>
              </a:solidFill>
              <a:effectLst/>
              <a:uFillTx/>
              <a:latin typeface="Arial"/>
            </a:endParaRPr>
          </a:p>
          <a:p>
            <a:pPr defTabSz="914400">
              <a:lnSpc>
                <a:spcPct val="100000"/>
              </a:lnSpc>
              <a:tabLst>
                <a:tab pos="0" algn="l"/>
              </a:tabLst>
            </a:pPr>
            <a:r>
              <a:rPr lang="en-US" sz="1450" b="1" u="none" strike="noStrike">
                <a:solidFill>
                  <a:srgbClr val="1E2761"/>
                </a:solidFill>
                <a:effectLst/>
                <a:uFillTx/>
                <a:latin typeface="Calibri"/>
                <a:ea typeface="Calibri"/>
              </a:rPr>
              <a:t>(short + long term)</a:t>
            </a:r>
            <a:endParaRPr lang="en-CA" sz="1450" b="0" u="none" strike="noStrike">
              <a:solidFill>
                <a:srgbClr val="000000"/>
              </a:solidFill>
              <a:effectLst/>
              <a:uFillTx/>
              <a:latin typeface="Arial"/>
            </a:endParaRPr>
          </a:p>
        </p:txBody>
      </p:sp>
      <p:sp>
        <p:nvSpPr>
          <p:cNvPr id="249" name="Shape 11"/>
          <p:cNvSpPr/>
          <p:nvPr/>
        </p:nvSpPr>
        <p:spPr>
          <a:xfrm>
            <a:off x="4791600" y="4892040"/>
            <a:ext cx="2605320" cy="1050840"/>
          </a:xfrm>
          <a:prstGeom prst="roundRect">
            <a:avLst>
              <a:gd name="adj" fmla="val 7826"/>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50" name="Shape 12"/>
          <p:cNvSpPr/>
          <p:nvPr/>
        </p:nvSpPr>
        <p:spPr>
          <a:xfrm>
            <a:off x="4919400" y="5143680"/>
            <a:ext cx="547920" cy="54792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51" name="Image 1" descr="preencoded.png"/>
          <p:cNvPicPr/>
          <p:nvPr/>
        </p:nvPicPr>
        <p:blipFill>
          <a:blip r:embed="rId2"/>
          <a:stretch/>
        </p:blipFill>
        <p:spPr>
          <a:xfrm>
            <a:off x="4993560" y="5217480"/>
            <a:ext cx="399960" cy="399960"/>
          </a:xfrm>
          <a:prstGeom prst="rect">
            <a:avLst/>
          </a:prstGeom>
          <a:noFill/>
          <a:ln w="0">
            <a:noFill/>
          </a:ln>
        </p:spPr>
      </p:pic>
      <p:sp>
        <p:nvSpPr>
          <p:cNvPr id="252" name="Text 13"/>
          <p:cNvSpPr/>
          <p:nvPr/>
        </p:nvSpPr>
        <p:spPr>
          <a:xfrm>
            <a:off x="5541120" y="4892040"/>
            <a:ext cx="1764000" cy="1050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E2761"/>
                </a:solidFill>
                <a:effectLst/>
                <a:uFillTx/>
                <a:latin typeface="Calibri"/>
                <a:ea typeface="Calibri"/>
              </a:rPr>
              <a:t>Orchestration</a:t>
            </a:r>
            <a:endParaRPr lang="en-CA" sz="1450" b="0" u="none" strike="noStrike">
              <a:solidFill>
                <a:srgbClr val="000000"/>
              </a:solidFill>
              <a:effectLst/>
              <a:uFillTx/>
              <a:latin typeface="Arial"/>
            </a:endParaRPr>
          </a:p>
          <a:p>
            <a:pPr defTabSz="914400">
              <a:lnSpc>
                <a:spcPct val="100000"/>
              </a:lnSpc>
              <a:tabLst>
                <a:tab pos="0" algn="l"/>
              </a:tabLst>
            </a:pPr>
            <a:r>
              <a:rPr lang="en-US" sz="1450" b="1" u="none" strike="noStrike">
                <a:solidFill>
                  <a:srgbClr val="1E2761"/>
                </a:solidFill>
                <a:effectLst/>
                <a:uFillTx/>
                <a:latin typeface="Calibri"/>
                <a:ea typeface="Calibri"/>
              </a:rPr>
              <a:t>&amp; guardrails</a:t>
            </a:r>
            <a:endParaRPr lang="en-CA" sz="1450" b="0" u="none" strike="noStrike">
              <a:solidFill>
                <a:srgbClr val="000000"/>
              </a:solidFill>
              <a:effectLst/>
              <a:uFillTx/>
              <a:latin typeface="Arial"/>
            </a:endParaRPr>
          </a:p>
        </p:txBody>
      </p:sp>
      <p:sp>
        <p:nvSpPr>
          <p:cNvPr id="253" name="Shape 14"/>
          <p:cNvSpPr/>
          <p:nvPr/>
        </p:nvSpPr>
        <p:spPr>
          <a:xfrm>
            <a:off x="640080" y="3520440"/>
            <a:ext cx="2605320" cy="1050840"/>
          </a:xfrm>
          <a:prstGeom prst="roundRect">
            <a:avLst>
              <a:gd name="adj" fmla="val 7826"/>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54" name="Shape 15"/>
          <p:cNvSpPr/>
          <p:nvPr/>
        </p:nvSpPr>
        <p:spPr>
          <a:xfrm>
            <a:off x="768240" y="3772080"/>
            <a:ext cx="547920" cy="54792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55" name="Image 2" descr="preencoded.png"/>
          <p:cNvPicPr/>
          <p:nvPr/>
        </p:nvPicPr>
        <p:blipFill>
          <a:blip r:embed="rId3"/>
          <a:stretch/>
        </p:blipFill>
        <p:spPr>
          <a:xfrm>
            <a:off x="842040" y="3845880"/>
            <a:ext cx="399960" cy="399960"/>
          </a:xfrm>
          <a:prstGeom prst="rect">
            <a:avLst/>
          </a:prstGeom>
          <a:noFill/>
          <a:ln w="0">
            <a:noFill/>
          </a:ln>
        </p:spPr>
      </p:pic>
      <p:sp>
        <p:nvSpPr>
          <p:cNvPr id="256" name="Text 16"/>
          <p:cNvSpPr/>
          <p:nvPr/>
        </p:nvSpPr>
        <p:spPr>
          <a:xfrm>
            <a:off x="1389960" y="3520440"/>
            <a:ext cx="1764000" cy="1050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E2761"/>
                </a:solidFill>
                <a:effectLst/>
                <a:uFillTx/>
                <a:latin typeface="Calibri"/>
                <a:ea typeface="Calibri"/>
              </a:rPr>
              <a:t>Tools</a:t>
            </a:r>
            <a:endParaRPr lang="en-CA" sz="1450" b="0" u="none" strike="noStrike">
              <a:solidFill>
                <a:srgbClr val="000000"/>
              </a:solidFill>
              <a:effectLst/>
              <a:uFillTx/>
              <a:latin typeface="Arial"/>
            </a:endParaRPr>
          </a:p>
          <a:p>
            <a:pPr defTabSz="914400">
              <a:lnSpc>
                <a:spcPct val="100000"/>
              </a:lnSpc>
              <a:tabLst>
                <a:tab pos="0" algn="l"/>
              </a:tabLst>
            </a:pPr>
            <a:r>
              <a:rPr lang="en-US" sz="1450" b="1" u="none" strike="noStrike">
                <a:solidFill>
                  <a:srgbClr val="1E2761"/>
                </a:solidFill>
                <a:effectLst/>
                <a:uFillTx/>
                <a:latin typeface="Calibri"/>
                <a:ea typeface="Calibri"/>
              </a:rPr>
              <a:t>(functions / APIs)</a:t>
            </a:r>
            <a:endParaRPr lang="en-CA" sz="1450" b="0" u="none" strike="noStrike">
              <a:solidFill>
                <a:srgbClr val="000000"/>
              </a:solidFill>
              <a:effectLst/>
              <a:uFillTx/>
              <a:latin typeface="Arial"/>
            </a:endParaRPr>
          </a:p>
        </p:txBody>
      </p:sp>
      <p:sp>
        <p:nvSpPr>
          <p:cNvPr id="257" name="Shape 17"/>
          <p:cNvSpPr/>
          <p:nvPr/>
        </p:nvSpPr>
        <p:spPr>
          <a:xfrm>
            <a:off x="8942760" y="3520440"/>
            <a:ext cx="2605320" cy="1050840"/>
          </a:xfrm>
          <a:prstGeom prst="roundRect">
            <a:avLst>
              <a:gd name="adj" fmla="val 7826"/>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58" name="Shape 18"/>
          <p:cNvSpPr/>
          <p:nvPr/>
        </p:nvSpPr>
        <p:spPr>
          <a:xfrm>
            <a:off x="9070920" y="3772080"/>
            <a:ext cx="547920" cy="54792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59" name="Image 3" descr="preencoded.png"/>
          <p:cNvPicPr/>
          <p:nvPr/>
        </p:nvPicPr>
        <p:blipFill>
          <a:blip r:embed="rId4"/>
          <a:stretch/>
        </p:blipFill>
        <p:spPr>
          <a:xfrm>
            <a:off x="9145080" y="3845880"/>
            <a:ext cx="399960" cy="399960"/>
          </a:xfrm>
          <a:prstGeom prst="rect">
            <a:avLst/>
          </a:prstGeom>
          <a:noFill/>
          <a:ln w="0">
            <a:noFill/>
          </a:ln>
        </p:spPr>
      </p:pic>
      <p:sp>
        <p:nvSpPr>
          <p:cNvPr id="260" name="Text 19"/>
          <p:cNvSpPr/>
          <p:nvPr/>
        </p:nvSpPr>
        <p:spPr>
          <a:xfrm>
            <a:off x="9692640" y="3520440"/>
            <a:ext cx="1764000" cy="1050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E2761"/>
                </a:solidFill>
                <a:effectLst/>
                <a:uFillTx/>
                <a:latin typeface="Calibri"/>
                <a:ea typeface="Calibri"/>
              </a:rPr>
              <a:t>Planning</a:t>
            </a:r>
            <a:endParaRPr lang="en-CA" sz="1450" b="0" u="none" strike="noStrike">
              <a:solidFill>
                <a:srgbClr val="000000"/>
              </a:solidFill>
              <a:effectLst/>
              <a:uFillTx/>
              <a:latin typeface="Arial"/>
            </a:endParaRPr>
          </a:p>
        </p:txBody>
      </p:sp>
      <p:sp>
        <p:nvSpPr>
          <p:cNvPr id="261" name="Text 20"/>
          <p:cNvSpPr/>
          <p:nvPr/>
        </p:nvSpPr>
        <p:spPr>
          <a:xfrm>
            <a:off x="640080" y="6053400"/>
            <a:ext cx="1088064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0" i="1" u="none" strike="noStrike">
                <a:solidFill>
                  <a:srgbClr val="6B7280"/>
                </a:solidFill>
                <a:effectLst/>
                <a:uFillTx/>
                <a:latin typeface="Calibri"/>
                <a:ea typeface="Calibri"/>
              </a:rPr>
              <a:t>The LLM core sits in the middle of the loop — every other component exists to feed it information or carry out what it decides.</a:t>
            </a:r>
            <a:endParaRPr lang="en-CA" sz="1350" b="0" u="none" strike="noStrike">
              <a:solidFill>
                <a:srgbClr val="000000"/>
              </a:solidFill>
              <a:effectLst/>
              <a:uFillTx/>
              <a:latin typeface="Arial"/>
            </a:endParaRPr>
          </a:p>
        </p:txBody>
      </p:sp>
      <p:sp>
        <p:nvSpPr>
          <p:cNvPr id="262" name="Text 21"/>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263" name="Text 22"/>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14</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4"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CASE STUDY</a:t>
            </a:r>
            <a:endParaRPr lang="en-CA" sz="1400" b="0" u="none" strike="noStrike">
              <a:solidFill>
                <a:srgbClr val="000000"/>
              </a:solidFill>
              <a:effectLst/>
              <a:uFillTx/>
              <a:latin typeface="Arial"/>
            </a:endParaRPr>
          </a:p>
        </p:txBody>
      </p:sp>
      <p:sp>
        <p:nvSpPr>
          <p:cNvPr id="265"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Meet Hermes</a:t>
            </a:r>
            <a:endParaRPr lang="en-CA" sz="3400" b="0" u="none" strike="noStrike">
              <a:solidFill>
                <a:srgbClr val="000000"/>
              </a:solidFill>
              <a:effectLst/>
              <a:uFillTx/>
              <a:latin typeface="Arial"/>
            </a:endParaRPr>
          </a:p>
        </p:txBody>
      </p:sp>
      <p:sp>
        <p:nvSpPr>
          <p:cNvPr id="266" name="Shape 2"/>
          <p:cNvSpPr/>
          <p:nvPr/>
        </p:nvSpPr>
        <p:spPr>
          <a:xfrm>
            <a:off x="9326880" y="731520"/>
            <a:ext cx="1965240" cy="196524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267" name="Image 0" descr="preencoded.png"/>
          <p:cNvPicPr/>
          <p:nvPr/>
        </p:nvPicPr>
        <p:blipFill>
          <a:blip r:embed="rId1"/>
          <a:stretch/>
        </p:blipFill>
        <p:spPr>
          <a:xfrm>
            <a:off x="9592200" y="996840"/>
            <a:ext cx="1434600" cy="1434600"/>
          </a:xfrm>
          <a:prstGeom prst="rect">
            <a:avLst/>
          </a:prstGeom>
          <a:noFill/>
          <a:ln w="0">
            <a:noFill/>
          </a:ln>
        </p:spPr>
      </p:pic>
      <p:sp>
        <p:nvSpPr>
          <p:cNvPr id="268" name="Text 3"/>
          <p:cNvSpPr/>
          <p:nvPr/>
        </p:nvSpPr>
        <p:spPr>
          <a:xfrm>
            <a:off x="548640" y="1828800"/>
            <a:ext cx="8686080" cy="438840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800"/>
              </a:spcAft>
              <a:buClr>
                <a:srgbClr val="1A1A1A"/>
              </a:buClr>
              <a:buFont typeface="Symbol" charset="2"/>
              <a:buChar char=""/>
            </a:pPr>
            <a:r>
              <a:rPr lang="en-US" sz="1850" b="1" u="none" strike="noStrike">
                <a:solidFill>
                  <a:srgbClr val="1A1A1A"/>
                </a:solidFill>
                <a:effectLst/>
                <a:uFillTx/>
                <a:latin typeface="Calibri"/>
                <a:ea typeface="Calibri"/>
              </a:rPr>
              <a:t>An AI agent system running on a personal VPS — the example we will use for the rest of this session</a:t>
            </a:r>
            <a:endParaRPr lang="en-CA" sz="1850" b="0" u="none" strike="noStrike">
              <a:solidFill>
                <a:srgbClr val="000000"/>
              </a:solidFill>
              <a:effectLst/>
              <a:uFillTx/>
              <a:latin typeface="Arial"/>
            </a:endParaRPr>
          </a:p>
          <a:p>
            <a:pPr marL="254160" indent="-254160" defTabSz="914400">
              <a:lnSpc>
                <a:spcPct val="110000"/>
              </a:lnSpc>
              <a:spcAft>
                <a:spcPts val="1800"/>
              </a:spcAft>
              <a:buClr>
                <a:srgbClr val="1A1A1A"/>
              </a:buClr>
              <a:buFont typeface="Symbol" charset="2"/>
              <a:buChar char=""/>
            </a:pPr>
            <a:r>
              <a:rPr lang="en-US" sz="1850" b="1" u="none" strike="noStrike">
                <a:solidFill>
                  <a:srgbClr val="1A1A1A"/>
                </a:solidFill>
                <a:effectLst/>
                <a:uFillTx/>
                <a:latin typeface="Calibri"/>
                <a:ea typeface="Calibri"/>
              </a:rPr>
              <a:t>Uses OpenRouter as its LLM backend, so the underlying model can be swapped without changing the agent’s code</a:t>
            </a:r>
            <a:endParaRPr lang="en-CA" sz="1850" b="0" u="none" strike="noStrike">
              <a:solidFill>
                <a:srgbClr val="000000"/>
              </a:solidFill>
              <a:effectLst/>
              <a:uFillTx/>
              <a:latin typeface="Arial"/>
            </a:endParaRPr>
          </a:p>
          <a:p>
            <a:pPr marL="254160" indent="-254160" defTabSz="914400">
              <a:lnSpc>
                <a:spcPct val="110000"/>
              </a:lnSpc>
              <a:spcAft>
                <a:spcPts val="1800"/>
              </a:spcAft>
              <a:buClr>
                <a:srgbClr val="1A1A1A"/>
              </a:buClr>
              <a:buFont typeface="Symbol" charset="2"/>
              <a:buChar char=""/>
            </a:pPr>
            <a:r>
              <a:rPr lang="en-US" sz="1850" b="1" u="none" strike="noStrike">
                <a:solidFill>
                  <a:srgbClr val="1A1A1A"/>
                </a:solidFill>
                <a:effectLst/>
                <a:uFillTx/>
                <a:latin typeface="Calibri"/>
                <a:ea typeface="Calibri"/>
              </a:rPr>
              <a:t>Exposes real tools: web access, running commands on its own server, and more</a:t>
            </a:r>
            <a:endParaRPr lang="en-CA" sz="1850" b="0" u="none" strike="noStrike">
              <a:solidFill>
                <a:srgbClr val="000000"/>
              </a:solidFill>
              <a:effectLst/>
              <a:uFillTx/>
              <a:latin typeface="Arial"/>
            </a:endParaRPr>
          </a:p>
          <a:p>
            <a:pPr marL="254160" indent="-254160" defTabSz="914400">
              <a:lnSpc>
                <a:spcPct val="110000"/>
              </a:lnSpc>
              <a:spcAft>
                <a:spcPts val="1800"/>
              </a:spcAft>
              <a:buClr>
                <a:srgbClr val="1A1A1A"/>
              </a:buClr>
              <a:buFont typeface="Symbol" charset="2"/>
              <a:buChar char=""/>
            </a:pPr>
            <a:r>
              <a:rPr lang="en-US" sz="1850" b="1" u="none" strike="noStrike">
                <a:solidFill>
                  <a:srgbClr val="1A1A1A"/>
                </a:solidFill>
                <a:effectLst/>
                <a:uFillTx/>
                <a:latin typeface="Calibri"/>
                <a:ea typeface="Calibri"/>
              </a:rPr>
              <a:t>Persists memory so it can pick up context across sessions</a:t>
            </a:r>
            <a:endParaRPr lang="en-CA" sz="1850" b="0" u="none" strike="noStrike">
              <a:solidFill>
                <a:srgbClr val="000000"/>
              </a:solidFill>
              <a:effectLst/>
              <a:uFillTx/>
              <a:latin typeface="Arial"/>
            </a:endParaRPr>
          </a:p>
          <a:p>
            <a:pPr marL="254160" indent="-254160" defTabSz="914400">
              <a:lnSpc>
                <a:spcPct val="110000"/>
              </a:lnSpc>
              <a:spcAft>
                <a:spcPts val="1800"/>
              </a:spcAft>
              <a:buClr>
                <a:srgbClr val="1A1A1A"/>
              </a:buClr>
              <a:buFont typeface="Symbol" charset="2"/>
              <a:buChar char=""/>
            </a:pPr>
            <a:r>
              <a:rPr lang="en-US" sz="1850" b="1" u="none" strike="noStrike">
                <a:solidFill>
                  <a:srgbClr val="1A1A1A"/>
                </a:solidFill>
                <a:effectLst/>
                <a:uFillTx/>
                <a:latin typeface="Calibri"/>
                <a:ea typeface="Calibri"/>
              </a:rPr>
              <a:t>A good teaching example precisely because it is small enough to reason about end-to-end — unlike a black-box commercial product</a:t>
            </a:r>
            <a:endParaRPr lang="en-CA" sz="1850" b="0" u="none" strike="noStrike">
              <a:solidFill>
                <a:srgbClr val="000000"/>
              </a:solidFill>
              <a:effectLst/>
              <a:uFillTx/>
              <a:latin typeface="Arial"/>
            </a:endParaRPr>
          </a:p>
        </p:txBody>
      </p:sp>
      <p:sp>
        <p:nvSpPr>
          <p:cNvPr id="269" name="Text 4"/>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270" name="Text 5"/>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15</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1"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CASE STUDY</a:t>
            </a:r>
            <a:endParaRPr lang="en-CA" sz="1400" b="0" u="none" strike="noStrike">
              <a:solidFill>
                <a:srgbClr val="000000"/>
              </a:solidFill>
              <a:effectLst/>
              <a:uFillTx/>
              <a:latin typeface="Arial"/>
            </a:endParaRPr>
          </a:p>
        </p:txBody>
      </p:sp>
      <p:sp>
        <p:nvSpPr>
          <p:cNvPr id="272"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Hermes — Architecture Walkthrough</a:t>
            </a:r>
            <a:endParaRPr lang="en-CA" sz="3400" b="0" u="none" strike="noStrike">
              <a:solidFill>
                <a:srgbClr val="000000"/>
              </a:solidFill>
              <a:effectLst/>
              <a:uFillTx/>
              <a:latin typeface="Arial"/>
            </a:endParaRPr>
          </a:p>
        </p:txBody>
      </p:sp>
      <p:sp>
        <p:nvSpPr>
          <p:cNvPr id="273" name="Shape 2"/>
          <p:cNvSpPr/>
          <p:nvPr/>
        </p:nvSpPr>
        <p:spPr>
          <a:xfrm>
            <a:off x="502920" y="2194560"/>
            <a:ext cx="1965240" cy="1005120"/>
          </a:xfrm>
          <a:prstGeom prst="roundRect">
            <a:avLst>
              <a:gd name="adj" fmla="val 7273"/>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74" name="Text 3"/>
          <p:cNvSpPr/>
          <p:nvPr/>
        </p:nvSpPr>
        <p:spPr>
          <a:xfrm>
            <a:off x="548640" y="2194560"/>
            <a:ext cx="1873800" cy="1005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E2761"/>
                </a:solidFill>
                <a:effectLst/>
                <a:uFillTx/>
                <a:latin typeface="Calibri"/>
                <a:ea typeface="Calibri"/>
              </a:rPr>
              <a:t>User</a:t>
            </a:r>
            <a:endParaRPr lang="en-CA"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1E2761"/>
                </a:solidFill>
                <a:effectLst/>
                <a:uFillTx/>
                <a:latin typeface="Calibri"/>
                <a:ea typeface="Calibri"/>
              </a:rPr>
              <a:t>(chat / CLI)</a:t>
            </a:r>
            <a:endParaRPr lang="en-CA" sz="1350" b="0" u="none" strike="noStrike">
              <a:solidFill>
                <a:srgbClr val="000000"/>
              </a:solidFill>
              <a:effectLst/>
              <a:uFillTx/>
              <a:latin typeface="Arial"/>
            </a:endParaRPr>
          </a:p>
        </p:txBody>
      </p:sp>
      <p:sp>
        <p:nvSpPr>
          <p:cNvPr id="275" name="Shape 4"/>
          <p:cNvSpPr/>
          <p:nvPr/>
        </p:nvSpPr>
        <p:spPr>
          <a:xfrm>
            <a:off x="2514600" y="2606040"/>
            <a:ext cx="410760" cy="182160"/>
          </a:xfrm>
          <a:prstGeom prst="rightArrow">
            <a:avLst>
              <a:gd name="adj1" fmla="val 50000"/>
              <a:gd name="adj2" fmla="val 50000"/>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276" name="Shape 5"/>
          <p:cNvSpPr/>
          <p:nvPr/>
        </p:nvSpPr>
        <p:spPr>
          <a:xfrm>
            <a:off x="2971800" y="1920240"/>
            <a:ext cx="2331000" cy="1553760"/>
          </a:xfrm>
          <a:prstGeom prst="roundRect">
            <a:avLst>
              <a:gd name="adj" fmla="val 4706"/>
            </a:avLst>
          </a:prstGeom>
          <a:solidFill>
            <a:srgbClr val="1E2761"/>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277" name="Text 6"/>
          <p:cNvSpPr/>
          <p:nvPr/>
        </p:nvSpPr>
        <p:spPr>
          <a:xfrm>
            <a:off x="3017520" y="1920240"/>
            <a:ext cx="2239560" cy="155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Hermes</a:t>
            </a:r>
            <a:endParaRPr lang="en-CA" sz="1500" b="0" u="none" strike="noStrike">
              <a:solidFill>
                <a:srgbClr val="000000"/>
              </a:solidFill>
              <a:effectLst/>
              <a:uFillTx/>
              <a:latin typeface="Arial"/>
            </a:endParaRPr>
          </a:p>
          <a:p>
            <a:pPr algn="ctr" defTabSz="914400">
              <a:lnSpc>
                <a:spcPct val="100000"/>
              </a:lnSpc>
              <a:tabLst>
                <a:tab pos="0" algn="l"/>
              </a:tabLst>
            </a:pPr>
            <a:r>
              <a:rPr lang="en-US" sz="1500" b="1" u="none" strike="noStrike">
                <a:solidFill>
                  <a:srgbClr val="FFFFFF"/>
                </a:solidFill>
                <a:effectLst/>
                <a:uFillTx/>
                <a:latin typeface="Calibri"/>
                <a:ea typeface="Calibri"/>
              </a:rPr>
              <a:t>Orchestrator</a:t>
            </a:r>
            <a:endParaRPr lang="en-CA" sz="1500" b="0" u="none" strike="noStrike">
              <a:solidFill>
                <a:srgbClr val="000000"/>
              </a:solidFill>
              <a:effectLst/>
              <a:uFillTx/>
              <a:latin typeface="Arial"/>
            </a:endParaRPr>
          </a:p>
        </p:txBody>
      </p:sp>
      <p:sp>
        <p:nvSpPr>
          <p:cNvPr id="278" name="Shape 7"/>
          <p:cNvSpPr/>
          <p:nvPr/>
        </p:nvSpPr>
        <p:spPr>
          <a:xfrm>
            <a:off x="5349240" y="2194560"/>
            <a:ext cx="410760" cy="182160"/>
          </a:xfrm>
          <a:prstGeom prst="rightArrow">
            <a:avLst>
              <a:gd name="adj1" fmla="val 50000"/>
              <a:gd name="adj2" fmla="val 50000"/>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279" name="Shape 8"/>
          <p:cNvSpPr/>
          <p:nvPr/>
        </p:nvSpPr>
        <p:spPr>
          <a:xfrm>
            <a:off x="5806440" y="1783080"/>
            <a:ext cx="2513880" cy="867960"/>
          </a:xfrm>
          <a:prstGeom prst="roundRect">
            <a:avLst>
              <a:gd name="adj" fmla="val 8421"/>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80" name="Text 9"/>
          <p:cNvSpPr/>
          <p:nvPr/>
        </p:nvSpPr>
        <p:spPr>
          <a:xfrm>
            <a:off x="5852160" y="1783080"/>
            <a:ext cx="2422440" cy="867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E2761"/>
                </a:solidFill>
                <a:effectLst/>
                <a:uFillTx/>
                <a:latin typeface="Calibri"/>
                <a:ea typeface="Calibri"/>
              </a:rPr>
              <a:t>LLM via OpenRouter</a:t>
            </a:r>
            <a:endParaRPr lang="en-CA"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1E2761"/>
                </a:solidFill>
                <a:effectLst/>
                <a:uFillTx/>
                <a:latin typeface="Calibri"/>
                <a:ea typeface="Calibri"/>
              </a:rPr>
              <a:t>(swappable model)</a:t>
            </a:r>
            <a:endParaRPr lang="en-CA" sz="1350" b="0" u="none" strike="noStrike">
              <a:solidFill>
                <a:srgbClr val="000000"/>
              </a:solidFill>
              <a:effectLst/>
              <a:uFillTx/>
              <a:latin typeface="Arial"/>
            </a:endParaRPr>
          </a:p>
        </p:txBody>
      </p:sp>
      <p:sp>
        <p:nvSpPr>
          <p:cNvPr id="281" name="Shape 10"/>
          <p:cNvSpPr/>
          <p:nvPr/>
        </p:nvSpPr>
        <p:spPr>
          <a:xfrm>
            <a:off x="5349240" y="2834640"/>
            <a:ext cx="410760" cy="182160"/>
          </a:xfrm>
          <a:prstGeom prst="rightArrow">
            <a:avLst>
              <a:gd name="adj1" fmla="val 50000"/>
              <a:gd name="adj2" fmla="val 50000"/>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282" name="Shape 11"/>
          <p:cNvSpPr/>
          <p:nvPr/>
        </p:nvSpPr>
        <p:spPr>
          <a:xfrm>
            <a:off x="5806440" y="2743200"/>
            <a:ext cx="2513880" cy="867960"/>
          </a:xfrm>
          <a:prstGeom prst="roundRect">
            <a:avLst>
              <a:gd name="adj" fmla="val 8421"/>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83" name="Text 12"/>
          <p:cNvSpPr/>
          <p:nvPr/>
        </p:nvSpPr>
        <p:spPr>
          <a:xfrm>
            <a:off x="5852160" y="2743200"/>
            <a:ext cx="2422440" cy="867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E2761"/>
                </a:solidFill>
                <a:effectLst/>
                <a:uFillTx/>
                <a:latin typeface="Calibri"/>
                <a:ea typeface="Calibri"/>
              </a:rPr>
              <a:t>Tool Modules</a:t>
            </a:r>
            <a:endParaRPr lang="en-CA"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1E2761"/>
                </a:solidFill>
                <a:effectLst/>
                <a:uFillTx/>
                <a:latin typeface="Calibri"/>
                <a:ea typeface="Calibri"/>
              </a:rPr>
              <a:t>(search, shell, files…)</a:t>
            </a:r>
            <a:endParaRPr lang="en-CA" sz="1350" b="0" u="none" strike="noStrike">
              <a:solidFill>
                <a:srgbClr val="000000"/>
              </a:solidFill>
              <a:effectLst/>
              <a:uFillTx/>
              <a:latin typeface="Arial"/>
            </a:endParaRPr>
          </a:p>
        </p:txBody>
      </p:sp>
      <p:sp>
        <p:nvSpPr>
          <p:cNvPr id="284" name="Shape 13"/>
          <p:cNvSpPr/>
          <p:nvPr/>
        </p:nvSpPr>
        <p:spPr>
          <a:xfrm>
            <a:off x="4041720" y="3474720"/>
            <a:ext cx="182160" cy="365040"/>
          </a:xfrm>
          <a:prstGeom prst="downArrow">
            <a:avLst>
              <a:gd name="adj1" fmla="val 50000"/>
              <a:gd name="adj2" fmla="val 50000"/>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285" name="Shape 14"/>
          <p:cNvSpPr/>
          <p:nvPr/>
        </p:nvSpPr>
        <p:spPr>
          <a:xfrm>
            <a:off x="2971800" y="3886200"/>
            <a:ext cx="2331000" cy="867960"/>
          </a:xfrm>
          <a:prstGeom prst="roundRect">
            <a:avLst>
              <a:gd name="adj" fmla="val 8421"/>
            </a:avLst>
          </a:prstGeom>
          <a:solidFill>
            <a:srgbClr val="CADC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86" name="Text 15"/>
          <p:cNvSpPr/>
          <p:nvPr/>
        </p:nvSpPr>
        <p:spPr>
          <a:xfrm>
            <a:off x="3017520" y="3886200"/>
            <a:ext cx="2239560" cy="867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E2761"/>
                </a:solidFill>
                <a:effectLst/>
                <a:uFillTx/>
                <a:latin typeface="Calibri"/>
                <a:ea typeface="Calibri"/>
              </a:rPr>
              <a:t>Memory Store</a:t>
            </a:r>
            <a:endParaRPr lang="en-CA"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1E2761"/>
                </a:solidFill>
                <a:effectLst/>
                <a:uFillTx/>
                <a:latin typeface="Calibri"/>
                <a:ea typeface="Calibri"/>
              </a:rPr>
              <a:t>(persisted on VPS)</a:t>
            </a:r>
            <a:endParaRPr lang="en-CA" sz="1350" b="0" u="none" strike="noStrike">
              <a:solidFill>
                <a:srgbClr val="000000"/>
              </a:solidFill>
              <a:effectLst/>
              <a:uFillTx/>
              <a:latin typeface="Arial"/>
            </a:endParaRPr>
          </a:p>
        </p:txBody>
      </p:sp>
      <p:sp>
        <p:nvSpPr>
          <p:cNvPr id="287" name="Shape 16"/>
          <p:cNvSpPr/>
          <p:nvPr/>
        </p:nvSpPr>
        <p:spPr>
          <a:xfrm>
            <a:off x="8321040" y="3017520"/>
            <a:ext cx="365040" cy="182160"/>
          </a:xfrm>
          <a:prstGeom prst="rightArrow">
            <a:avLst>
              <a:gd name="adj1" fmla="val 50000"/>
              <a:gd name="adj2" fmla="val 50000"/>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288" name="Shape 17"/>
          <p:cNvSpPr/>
          <p:nvPr/>
        </p:nvSpPr>
        <p:spPr>
          <a:xfrm>
            <a:off x="8732520" y="2743200"/>
            <a:ext cx="2742480" cy="867960"/>
          </a:xfrm>
          <a:prstGeom prst="roundRect">
            <a:avLst>
              <a:gd name="adj" fmla="val 8421"/>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289" name="Text 18"/>
          <p:cNvSpPr/>
          <p:nvPr/>
        </p:nvSpPr>
        <p:spPr>
          <a:xfrm>
            <a:off x="8778240" y="2743200"/>
            <a:ext cx="2651040" cy="867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E2761"/>
                </a:solidFill>
                <a:effectLst/>
                <a:uFillTx/>
                <a:latin typeface="Calibri"/>
                <a:ea typeface="Calibri"/>
              </a:rPr>
              <a:t>VPS Resources</a:t>
            </a:r>
            <a:endParaRPr lang="en-CA"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1E2761"/>
                </a:solidFill>
                <a:effectLst/>
                <a:uFillTx/>
                <a:latin typeface="Calibri"/>
                <a:ea typeface="Calibri"/>
              </a:rPr>
              <a:t>(server, files, network)</a:t>
            </a:r>
            <a:endParaRPr lang="en-CA" sz="1300" b="0" u="none" strike="noStrike">
              <a:solidFill>
                <a:srgbClr val="000000"/>
              </a:solidFill>
              <a:effectLst/>
              <a:uFillTx/>
              <a:latin typeface="Arial"/>
            </a:endParaRPr>
          </a:p>
        </p:txBody>
      </p:sp>
      <p:sp>
        <p:nvSpPr>
          <p:cNvPr id="290" name="Text 19"/>
          <p:cNvSpPr/>
          <p:nvPr/>
        </p:nvSpPr>
        <p:spPr>
          <a:xfrm>
            <a:off x="548640" y="5220000"/>
            <a:ext cx="11063520" cy="814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Request flow: the user message enters the orchestrator → it calls the LLM with the goal, memory, and available tools → the model may request a tool call → the orchestrator runs it against real VPS resources → the result is fed back until the model returns a final answer.</a:t>
            </a:r>
            <a:endParaRPr lang="en-CA" sz="1800" b="0" u="none" strike="noStrike">
              <a:solidFill>
                <a:srgbClr val="000000"/>
              </a:solidFill>
              <a:effectLst/>
              <a:uFillTx/>
              <a:latin typeface="Arial"/>
            </a:endParaRPr>
          </a:p>
        </p:txBody>
      </p:sp>
      <p:sp>
        <p:nvSpPr>
          <p:cNvPr id="291" name="Text 20"/>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292" name="Text 21"/>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16</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3"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CASE STUDY</a:t>
            </a:r>
            <a:endParaRPr lang="en-CA" sz="1400" b="0" u="none" strike="noStrike">
              <a:solidFill>
                <a:srgbClr val="000000"/>
              </a:solidFill>
              <a:effectLst/>
              <a:uFillTx/>
              <a:latin typeface="Arial"/>
            </a:endParaRPr>
          </a:p>
        </p:txBody>
      </p:sp>
      <p:sp>
        <p:nvSpPr>
          <p:cNvPr id="294"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Hermes in Action — A Worked Example</a:t>
            </a:r>
            <a:endParaRPr lang="en-CA" sz="3400" b="0" u="none" strike="noStrike">
              <a:solidFill>
                <a:srgbClr val="000000"/>
              </a:solidFill>
              <a:effectLst/>
              <a:uFillTx/>
              <a:latin typeface="Arial"/>
            </a:endParaRPr>
          </a:p>
        </p:txBody>
      </p:sp>
      <p:sp>
        <p:nvSpPr>
          <p:cNvPr id="295" name="Text 2"/>
          <p:cNvSpPr/>
          <p:nvPr/>
        </p:nvSpPr>
        <p:spPr>
          <a:xfrm>
            <a:off x="548640" y="1417320"/>
            <a:ext cx="1106352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i="1" u="none" strike="noStrike">
                <a:solidFill>
                  <a:srgbClr val="6B7280"/>
                </a:solidFill>
                <a:effectLst/>
                <a:uFillTx/>
                <a:latin typeface="Calibri"/>
                <a:ea typeface="Calibri"/>
              </a:rPr>
              <a:t>Task: "Is my web server still running? Restart it if not."</a:t>
            </a:r>
            <a:endParaRPr lang="en-CA" sz="1800" b="0" u="none" strike="noStrike">
              <a:solidFill>
                <a:srgbClr val="000000"/>
              </a:solidFill>
              <a:effectLst/>
              <a:uFillTx/>
              <a:latin typeface="Arial"/>
            </a:endParaRPr>
          </a:p>
        </p:txBody>
      </p:sp>
      <p:sp>
        <p:nvSpPr>
          <p:cNvPr id="296" name="Shape 3"/>
          <p:cNvSpPr/>
          <p:nvPr/>
        </p:nvSpPr>
        <p:spPr>
          <a:xfrm>
            <a:off x="548640" y="1783080"/>
            <a:ext cx="419760" cy="41976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297" name="Text 4"/>
          <p:cNvSpPr/>
          <p:nvPr/>
        </p:nvSpPr>
        <p:spPr>
          <a:xfrm>
            <a:off x="548640" y="178308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a:t>
            </a:r>
            <a:endParaRPr lang="en-CA" sz="1400" b="0" u="none" strike="noStrike">
              <a:solidFill>
                <a:srgbClr val="000000"/>
              </a:solidFill>
              <a:effectLst/>
              <a:uFillTx/>
              <a:latin typeface="Arial"/>
            </a:endParaRPr>
          </a:p>
        </p:txBody>
      </p:sp>
      <p:sp>
        <p:nvSpPr>
          <p:cNvPr id="298" name="Text 5"/>
          <p:cNvSpPr/>
          <p:nvPr/>
        </p:nvSpPr>
        <p:spPr>
          <a:xfrm>
            <a:off x="1115640" y="1755720"/>
            <a:ext cx="19652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761"/>
                </a:solidFill>
                <a:effectLst/>
                <a:uFillTx/>
                <a:latin typeface="Calibri"/>
                <a:ea typeface="Calibri"/>
              </a:rPr>
              <a:t>Perceive:</a:t>
            </a:r>
            <a:endParaRPr lang="en-CA" sz="1400" b="0" u="none" strike="noStrike">
              <a:solidFill>
                <a:srgbClr val="000000"/>
              </a:solidFill>
              <a:effectLst/>
              <a:uFillTx/>
              <a:latin typeface="Arial"/>
            </a:endParaRPr>
          </a:p>
        </p:txBody>
      </p:sp>
      <p:sp>
        <p:nvSpPr>
          <p:cNvPr id="299" name="Text 6"/>
          <p:cNvSpPr/>
          <p:nvPr/>
        </p:nvSpPr>
        <p:spPr>
          <a:xfrm>
            <a:off x="3063240" y="1755720"/>
            <a:ext cx="85946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Hermes receives the request as its current goal.</a:t>
            </a:r>
            <a:endParaRPr lang="en-CA" sz="1800" b="0" u="none" strike="noStrike">
              <a:solidFill>
                <a:srgbClr val="000000"/>
              </a:solidFill>
              <a:effectLst/>
              <a:uFillTx/>
              <a:latin typeface="Arial"/>
            </a:endParaRPr>
          </a:p>
        </p:txBody>
      </p:sp>
      <p:sp>
        <p:nvSpPr>
          <p:cNvPr id="300" name="Shape 7"/>
          <p:cNvSpPr/>
          <p:nvPr/>
        </p:nvSpPr>
        <p:spPr>
          <a:xfrm>
            <a:off x="548640" y="2345400"/>
            <a:ext cx="419760" cy="41976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01" name="Text 8"/>
          <p:cNvSpPr/>
          <p:nvPr/>
        </p:nvSpPr>
        <p:spPr>
          <a:xfrm>
            <a:off x="548640" y="234540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2</a:t>
            </a:r>
            <a:endParaRPr lang="en-CA" sz="1400" b="0" u="none" strike="noStrike">
              <a:solidFill>
                <a:srgbClr val="000000"/>
              </a:solidFill>
              <a:effectLst/>
              <a:uFillTx/>
              <a:latin typeface="Arial"/>
            </a:endParaRPr>
          </a:p>
        </p:txBody>
      </p:sp>
      <p:sp>
        <p:nvSpPr>
          <p:cNvPr id="302" name="Text 9"/>
          <p:cNvSpPr/>
          <p:nvPr/>
        </p:nvSpPr>
        <p:spPr>
          <a:xfrm>
            <a:off x="1115640" y="2318040"/>
            <a:ext cx="19652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761"/>
                </a:solidFill>
                <a:effectLst/>
                <a:uFillTx/>
                <a:latin typeface="Calibri"/>
                <a:ea typeface="Calibri"/>
              </a:rPr>
              <a:t>Reason:</a:t>
            </a:r>
            <a:endParaRPr lang="en-CA" sz="1400" b="0" u="none" strike="noStrike">
              <a:solidFill>
                <a:srgbClr val="000000"/>
              </a:solidFill>
              <a:effectLst/>
              <a:uFillTx/>
              <a:latin typeface="Arial"/>
            </a:endParaRPr>
          </a:p>
        </p:txBody>
      </p:sp>
      <p:sp>
        <p:nvSpPr>
          <p:cNvPr id="303" name="Text 10"/>
          <p:cNvSpPr/>
          <p:nvPr/>
        </p:nvSpPr>
        <p:spPr>
          <a:xfrm>
            <a:off x="3063240" y="2318040"/>
            <a:ext cx="881640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The LLM decides it needs to check the process status — it cannot know this from training data.</a:t>
            </a:r>
            <a:endParaRPr lang="en-CA" sz="1800" b="0" u="none" strike="noStrike">
              <a:solidFill>
                <a:srgbClr val="000000"/>
              </a:solidFill>
              <a:effectLst/>
              <a:uFillTx/>
              <a:latin typeface="Arial"/>
            </a:endParaRPr>
          </a:p>
        </p:txBody>
      </p:sp>
      <p:sp>
        <p:nvSpPr>
          <p:cNvPr id="304" name="Shape 11"/>
          <p:cNvSpPr/>
          <p:nvPr/>
        </p:nvSpPr>
        <p:spPr>
          <a:xfrm>
            <a:off x="548640" y="2907720"/>
            <a:ext cx="419760" cy="41976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05" name="Text 12"/>
          <p:cNvSpPr/>
          <p:nvPr/>
        </p:nvSpPr>
        <p:spPr>
          <a:xfrm>
            <a:off x="548640" y="290772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3</a:t>
            </a:r>
            <a:endParaRPr lang="en-CA" sz="1400" b="0" u="none" strike="noStrike">
              <a:solidFill>
                <a:srgbClr val="000000"/>
              </a:solidFill>
              <a:effectLst/>
              <a:uFillTx/>
              <a:latin typeface="Arial"/>
            </a:endParaRPr>
          </a:p>
        </p:txBody>
      </p:sp>
      <p:sp>
        <p:nvSpPr>
          <p:cNvPr id="306" name="Text 13"/>
          <p:cNvSpPr/>
          <p:nvPr/>
        </p:nvSpPr>
        <p:spPr>
          <a:xfrm>
            <a:off x="1115640" y="2880360"/>
            <a:ext cx="19652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761"/>
                </a:solidFill>
                <a:effectLst/>
                <a:uFillTx/>
                <a:latin typeface="Calibri"/>
                <a:ea typeface="Calibri"/>
              </a:rPr>
              <a:t>Act:</a:t>
            </a:r>
            <a:endParaRPr lang="en-CA" sz="1400" b="0" u="none" strike="noStrike">
              <a:solidFill>
                <a:srgbClr val="000000"/>
              </a:solidFill>
              <a:effectLst/>
              <a:uFillTx/>
              <a:latin typeface="Arial"/>
            </a:endParaRPr>
          </a:p>
        </p:txBody>
      </p:sp>
      <p:sp>
        <p:nvSpPr>
          <p:cNvPr id="307" name="Text 14"/>
          <p:cNvSpPr/>
          <p:nvPr/>
        </p:nvSpPr>
        <p:spPr>
          <a:xfrm>
            <a:off x="3063240" y="2880360"/>
            <a:ext cx="85946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Calls a shell tool: runs a status check command on the VPS.</a:t>
            </a:r>
            <a:endParaRPr lang="en-CA" sz="1800" b="0" u="none" strike="noStrike">
              <a:solidFill>
                <a:srgbClr val="000000"/>
              </a:solidFill>
              <a:effectLst/>
              <a:uFillTx/>
              <a:latin typeface="Arial"/>
            </a:endParaRPr>
          </a:p>
        </p:txBody>
      </p:sp>
      <p:sp>
        <p:nvSpPr>
          <p:cNvPr id="308" name="Shape 15"/>
          <p:cNvSpPr/>
          <p:nvPr/>
        </p:nvSpPr>
        <p:spPr>
          <a:xfrm>
            <a:off x="548640" y="3470040"/>
            <a:ext cx="419760" cy="41976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09" name="Text 16"/>
          <p:cNvSpPr/>
          <p:nvPr/>
        </p:nvSpPr>
        <p:spPr>
          <a:xfrm>
            <a:off x="548640" y="347004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4</a:t>
            </a:r>
            <a:endParaRPr lang="en-CA" sz="1400" b="0" u="none" strike="noStrike">
              <a:solidFill>
                <a:srgbClr val="000000"/>
              </a:solidFill>
              <a:effectLst/>
              <a:uFillTx/>
              <a:latin typeface="Arial"/>
            </a:endParaRPr>
          </a:p>
        </p:txBody>
      </p:sp>
      <p:sp>
        <p:nvSpPr>
          <p:cNvPr id="310" name="Text 17"/>
          <p:cNvSpPr/>
          <p:nvPr/>
        </p:nvSpPr>
        <p:spPr>
          <a:xfrm>
            <a:off x="1115640" y="3442680"/>
            <a:ext cx="19652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761"/>
                </a:solidFill>
                <a:effectLst/>
                <a:uFillTx/>
                <a:latin typeface="Calibri"/>
                <a:ea typeface="Calibri"/>
              </a:rPr>
              <a:t>Observe:</a:t>
            </a:r>
            <a:endParaRPr lang="en-CA" sz="1400" b="0" u="none" strike="noStrike">
              <a:solidFill>
                <a:srgbClr val="000000"/>
              </a:solidFill>
              <a:effectLst/>
              <a:uFillTx/>
              <a:latin typeface="Arial"/>
            </a:endParaRPr>
          </a:p>
        </p:txBody>
      </p:sp>
      <p:sp>
        <p:nvSpPr>
          <p:cNvPr id="311" name="Text 18"/>
          <p:cNvSpPr/>
          <p:nvPr/>
        </p:nvSpPr>
        <p:spPr>
          <a:xfrm>
            <a:off x="3063240" y="3442680"/>
            <a:ext cx="85946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Tool returns: "service inactive."</a:t>
            </a:r>
            <a:endParaRPr lang="en-CA" sz="1800" b="0" u="none" strike="noStrike">
              <a:solidFill>
                <a:srgbClr val="000000"/>
              </a:solidFill>
              <a:effectLst/>
              <a:uFillTx/>
              <a:latin typeface="Arial"/>
            </a:endParaRPr>
          </a:p>
        </p:txBody>
      </p:sp>
      <p:sp>
        <p:nvSpPr>
          <p:cNvPr id="312" name="Shape 19"/>
          <p:cNvSpPr/>
          <p:nvPr/>
        </p:nvSpPr>
        <p:spPr>
          <a:xfrm>
            <a:off x="548640" y="4032360"/>
            <a:ext cx="419760" cy="41976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13" name="Text 20"/>
          <p:cNvSpPr/>
          <p:nvPr/>
        </p:nvSpPr>
        <p:spPr>
          <a:xfrm>
            <a:off x="548640" y="403236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5</a:t>
            </a:r>
            <a:endParaRPr lang="en-CA" sz="1400" b="0" u="none" strike="noStrike">
              <a:solidFill>
                <a:srgbClr val="000000"/>
              </a:solidFill>
              <a:effectLst/>
              <a:uFillTx/>
              <a:latin typeface="Arial"/>
            </a:endParaRPr>
          </a:p>
        </p:txBody>
      </p:sp>
      <p:sp>
        <p:nvSpPr>
          <p:cNvPr id="314" name="Text 21"/>
          <p:cNvSpPr/>
          <p:nvPr/>
        </p:nvSpPr>
        <p:spPr>
          <a:xfrm>
            <a:off x="1115640" y="4005000"/>
            <a:ext cx="19652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761"/>
                </a:solidFill>
                <a:effectLst/>
                <a:uFillTx/>
                <a:latin typeface="Calibri"/>
                <a:ea typeface="Calibri"/>
              </a:rPr>
              <a:t>Reason again:</a:t>
            </a:r>
            <a:endParaRPr lang="en-CA" sz="1400" b="0" u="none" strike="noStrike">
              <a:solidFill>
                <a:srgbClr val="000000"/>
              </a:solidFill>
              <a:effectLst/>
              <a:uFillTx/>
              <a:latin typeface="Arial"/>
            </a:endParaRPr>
          </a:p>
        </p:txBody>
      </p:sp>
      <p:sp>
        <p:nvSpPr>
          <p:cNvPr id="315" name="Text 22"/>
          <p:cNvSpPr/>
          <p:nvPr/>
        </p:nvSpPr>
        <p:spPr>
          <a:xfrm>
            <a:off x="3063240" y="4005000"/>
            <a:ext cx="85946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The LLM decides the fix: restart the service.</a:t>
            </a:r>
            <a:endParaRPr lang="en-CA" sz="1800" b="0" u="none" strike="noStrike">
              <a:solidFill>
                <a:srgbClr val="000000"/>
              </a:solidFill>
              <a:effectLst/>
              <a:uFillTx/>
              <a:latin typeface="Arial"/>
            </a:endParaRPr>
          </a:p>
        </p:txBody>
      </p:sp>
      <p:sp>
        <p:nvSpPr>
          <p:cNvPr id="316" name="Shape 23"/>
          <p:cNvSpPr/>
          <p:nvPr/>
        </p:nvSpPr>
        <p:spPr>
          <a:xfrm>
            <a:off x="548640" y="4595040"/>
            <a:ext cx="419760" cy="41976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17" name="Text 24"/>
          <p:cNvSpPr/>
          <p:nvPr/>
        </p:nvSpPr>
        <p:spPr>
          <a:xfrm>
            <a:off x="548640" y="459504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6</a:t>
            </a:r>
            <a:endParaRPr lang="en-CA" sz="1400" b="0" u="none" strike="noStrike">
              <a:solidFill>
                <a:srgbClr val="000000"/>
              </a:solidFill>
              <a:effectLst/>
              <a:uFillTx/>
              <a:latin typeface="Arial"/>
            </a:endParaRPr>
          </a:p>
        </p:txBody>
      </p:sp>
      <p:sp>
        <p:nvSpPr>
          <p:cNvPr id="318" name="Text 25"/>
          <p:cNvSpPr/>
          <p:nvPr/>
        </p:nvSpPr>
        <p:spPr>
          <a:xfrm>
            <a:off x="1115640" y="4567320"/>
            <a:ext cx="19652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761"/>
                </a:solidFill>
                <a:effectLst/>
                <a:uFillTx/>
                <a:latin typeface="Calibri"/>
                <a:ea typeface="Calibri"/>
              </a:rPr>
              <a:t>Act again:</a:t>
            </a:r>
            <a:endParaRPr lang="en-CA" sz="1400" b="0" u="none" strike="noStrike">
              <a:solidFill>
                <a:srgbClr val="000000"/>
              </a:solidFill>
              <a:effectLst/>
              <a:uFillTx/>
              <a:latin typeface="Arial"/>
            </a:endParaRPr>
          </a:p>
        </p:txBody>
      </p:sp>
      <p:sp>
        <p:nvSpPr>
          <p:cNvPr id="319" name="Text 26"/>
          <p:cNvSpPr/>
          <p:nvPr/>
        </p:nvSpPr>
        <p:spPr>
          <a:xfrm>
            <a:off x="3063240" y="4567320"/>
            <a:ext cx="85946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Calls the shell tool to restart it, then re-checks status.</a:t>
            </a:r>
            <a:endParaRPr lang="en-CA" sz="1800" b="0" u="none" strike="noStrike">
              <a:solidFill>
                <a:srgbClr val="000000"/>
              </a:solidFill>
              <a:effectLst/>
              <a:uFillTx/>
              <a:latin typeface="Arial"/>
            </a:endParaRPr>
          </a:p>
        </p:txBody>
      </p:sp>
      <p:sp>
        <p:nvSpPr>
          <p:cNvPr id="320" name="Shape 27"/>
          <p:cNvSpPr/>
          <p:nvPr/>
        </p:nvSpPr>
        <p:spPr>
          <a:xfrm>
            <a:off x="548640" y="5157360"/>
            <a:ext cx="419760" cy="41976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21" name="Text 28"/>
          <p:cNvSpPr/>
          <p:nvPr/>
        </p:nvSpPr>
        <p:spPr>
          <a:xfrm>
            <a:off x="548640" y="515736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7</a:t>
            </a:r>
            <a:endParaRPr lang="en-CA" sz="1400" b="0" u="none" strike="noStrike">
              <a:solidFill>
                <a:srgbClr val="000000"/>
              </a:solidFill>
              <a:effectLst/>
              <a:uFillTx/>
              <a:latin typeface="Arial"/>
            </a:endParaRPr>
          </a:p>
        </p:txBody>
      </p:sp>
      <p:sp>
        <p:nvSpPr>
          <p:cNvPr id="322" name="Text 29"/>
          <p:cNvSpPr/>
          <p:nvPr/>
        </p:nvSpPr>
        <p:spPr>
          <a:xfrm>
            <a:off x="1115640" y="5129640"/>
            <a:ext cx="19652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761"/>
                </a:solidFill>
                <a:effectLst/>
                <a:uFillTx/>
                <a:latin typeface="Calibri"/>
                <a:ea typeface="Calibri"/>
              </a:rPr>
              <a:t>Respond:</a:t>
            </a:r>
            <a:endParaRPr lang="en-CA" sz="1400" b="0" u="none" strike="noStrike">
              <a:solidFill>
                <a:srgbClr val="000000"/>
              </a:solidFill>
              <a:effectLst/>
              <a:uFillTx/>
              <a:latin typeface="Arial"/>
            </a:endParaRPr>
          </a:p>
        </p:txBody>
      </p:sp>
      <p:sp>
        <p:nvSpPr>
          <p:cNvPr id="323" name="Text 30"/>
          <p:cNvSpPr/>
          <p:nvPr/>
        </p:nvSpPr>
        <p:spPr>
          <a:xfrm>
            <a:off x="3063240" y="5129640"/>
            <a:ext cx="85946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Reports back: "Service was down — restarted, now running."</a:t>
            </a:r>
            <a:endParaRPr lang="en-CA" sz="1800" b="0" u="none" strike="noStrike">
              <a:solidFill>
                <a:srgbClr val="000000"/>
              </a:solidFill>
              <a:effectLst/>
              <a:uFillTx/>
              <a:latin typeface="Arial"/>
            </a:endParaRPr>
          </a:p>
        </p:txBody>
      </p:sp>
      <p:sp>
        <p:nvSpPr>
          <p:cNvPr id="324" name="Text 31"/>
          <p:cNvSpPr/>
          <p:nvPr/>
        </p:nvSpPr>
        <p:spPr>
          <a:xfrm>
            <a:off x="548640" y="5792760"/>
            <a:ext cx="1097208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i="1" u="none" strike="noStrike">
                <a:solidFill>
                  <a:srgbClr val="6B7280"/>
                </a:solidFill>
                <a:effectLst/>
                <a:uFillTx/>
                <a:latin typeface="Calibri"/>
                <a:ea typeface="Calibri"/>
              </a:rPr>
              <a:t>Notice: two full Reason→Act cycles happened before the agent answered — this is the loop from Slide 8 in practice.</a:t>
            </a:r>
            <a:endParaRPr lang="en-CA" sz="1800" b="0" u="none" strike="noStrike">
              <a:solidFill>
                <a:srgbClr val="000000"/>
              </a:solidFill>
              <a:effectLst/>
              <a:uFillTx/>
              <a:latin typeface="Arial"/>
            </a:endParaRPr>
          </a:p>
        </p:txBody>
      </p:sp>
      <p:sp>
        <p:nvSpPr>
          <p:cNvPr id="325" name="Text 32"/>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326" name="Text 33"/>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17</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7" name="Text 34"/>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CASE STUDY</a:t>
            </a:r>
            <a:endParaRPr lang="en-CA" sz="1400" b="0" u="none" strike="noStrike">
              <a:solidFill>
                <a:srgbClr val="000000"/>
              </a:solidFill>
              <a:effectLst/>
              <a:uFillTx/>
              <a:latin typeface="Times New Roman"/>
            </a:endParaRPr>
          </a:p>
        </p:txBody>
      </p:sp>
      <p:sp>
        <p:nvSpPr>
          <p:cNvPr id="328" name="Text 35"/>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Hermes’ Configuration Files</a:t>
            </a:r>
            <a:endParaRPr lang="en-CA" sz="3400" b="0" u="none" strike="noStrike">
              <a:solidFill>
                <a:srgbClr val="000000"/>
              </a:solidFill>
              <a:effectLst/>
              <a:uFillTx/>
              <a:latin typeface="Times New Roman"/>
            </a:endParaRPr>
          </a:p>
        </p:txBody>
      </p:sp>
      <p:sp>
        <p:nvSpPr>
          <p:cNvPr id="329" name="Text 36"/>
          <p:cNvSpPr/>
          <p:nvPr/>
        </p:nvSpPr>
        <p:spPr>
          <a:xfrm>
            <a:off x="548640" y="1417320"/>
            <a:ext cx="109720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6B7280"/>
                </a:solidFill>
                <a:effectLst/>
                <a:uFillTx/>
                <a:latin typeface="Calibri"/>
                <a:ea typeface="Calibri"/>
              </a:rPr>
              <a:t>Three plain text files that shape every session — loaded before the loop ever starts.</a:t>
            </a:r>
            <a:endParaRPr lang="en-CA" sz="1600" b="0" u="none" strike="noStrike">
              <a:solidFill>
                <a:srgbClr val="000000"/>
              </a:solidFill>
              <a:effectLst/>
              <a:uFillTx/>
              <a:latin typeface="Times New Roman"/>
            </a:endParaRPr>
          </a:p>
        </p:txBody>
      </p:sp>
      <p:sp>
        <p:nvSpPr>
          <p:cNvPr id="330" name="Shape 21"/>
          <p:cNvSpPr/>
          <p:nvPr/>
        </p:nvSpPr>
        <p:spPr>
          <a:xfrm>
            <a:off x="503280" y="1945080"/>
            <a:ext cx="3501360" cy="4354560"/>
          </a:xfrm>
          <a:prstGeom prst="roundRect">
            <a:avLst>
              <a:gd name="adj" fmla="val 2611"/>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31" name="Shape 22"/>
          <p:cNvSpPr/>
          <p:nvPr/>
        </p:nvSpPr>
        <p:spPr>
          <a:xfrm>
            <a:off x="1933920" y="2240280"/>
            <a:ext cx="730800" cy="730800"/>
          </a:xfrm>
          <a:prstGeom prst="ellipse">
            <a:avLst/>
          </a:prstGeom>
          <a:solidFill>
            <a:srgbClr val="FFFFFF"/>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pic>
        <p:nvPicPr>
          <p:cNvPr id="332" name="Image 6" descr="preencoded.png"/>
          <p:cNvPicPr/>
          <p:nvPr/>
        </p:nvPicPr>
        <p:blipFill>
          <a:blip r:embed="rId1"/>
          <a:stretch/>
        </p:blipFill>
        <p:spPr>
          <a:xfrm>
            <a:off x="2032560" y="2338920"/>
            <a:ext cx="533160" cy="533160"/>
          </a:xfrm>
          <a:prstGeom prst="rect">
            <a:avLst/>
          </a:prstGeom>
          <a:noFill/>
          <a:ln w="0">
            <a:noFill/>
          </a:ln>
        </p:spPr>
      </p:pic>
      <p:sp>
        <p:nvSpPr>
          <p:cNvPr id="333" name="Text 37"/>
          <p:cNvSpPr/>
          <p:nvPr/>
        </p:nvSpPr>
        <p:spPr>
          <a:xfrm>
            <a:off x="731520" y="3154680"/>
            <a:ext cx="31356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libri"/>
                <a:ea typeface="Calibri"/>
              </a:rPr>
              <a:t>SOUL.md</a:t>
            </a:r>
            <a:endParaRPr lang="en-CA" sz="1800" b="0" u="none" strike="noStrike">
              <a:solidFill>
                <a:srgbClr val="000000"/>
              </a:solidFill>
              <a:effectLst/>
              <a:uFillTx/>
              <a:latin typeface="Times New Roman"/>
            </a:endParaRPr>
          </a:p>
        </p:txBody>
      </p:sp>
      <p:sp>
        <p:nvSpPr>
          <p:cNvPr id="334" name="Text 38"/>
          <p:cNvSpPr/>
          <p:nvPr/>
        </p:nvSpPr>
        <p:spPr>
          <a:xfrm>
            <a:off x="731520" y="3502080"/>
            <a:ext cx="31356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i="1" u="none" strike="noStrike">
                <a:solidFill>
                  <a:srgbClr val="CADCFC"/>
                </a:solidFill>
                <a:effectLst/>
                <a:uFillTx/>
                <a:latin typeface="Calibri"/>
                <a:ea typeface="Calibri"/>
              </a:rPr>
              <a:t>Identity &amp; Operating Rules</a:t>
            </a:r>
            <a:endParaRPr lang="en-CA" sz="1300" b="0" u="none" strike="noStrike">
              <a:solidFill>
                <a:srgbClr val="000000"/>
              </a:solidFill>
              <a:effectLst/>
              <a:uFillTx/>
              <a:latin typeface="Times New Roman"/>
            </a:endParaRPr>
          </a:p>
        </p:txBody>
      </p:sp>
      <p:sp>
        <p:nvSpPr>
          <p:cNvPr id="335" name="Text 39"/>
          <p:cNvSpPr/>
          <p:nvPr/>
        </p:nvSpPr>
        <p:spPr>
          <a:xfrm>
            <a:off x="804600" y="3977640"/>
            <a:ext cx="2998440" cy="182808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001"/>
              </a:spcAft>
              <a:buClr>
                <a:srgbClr val="FFFFFF"/>
              </a:buClr>
              <a:buFont typeface="Symbol" charset="2"/>
              <a:buChar char=""/>
            </a:pPr>
            <a:r>
              <a:rPr lang="en-US" sz="2000" b="0" u="none" strike="noStrike">
                <a:solidFill>
                  <a:srgbClr val="FFFFFF"/>
                </a:solidFill>
                <a:effectLst/>
                <a:uFillTx/>
                <a:latin typeface="Calibri"/>
                <a:ea typeface="Calibri"/>
              </a:rPr>
              <a:t>Who Hermes is: tone, personality, values</a:t>
            </a:r>
            <a:endParaRPr lang="en-CA" sz="2000" b="0" u="none" strike="noStrike">
              <a:solidFill>
                <a:srgbClr val="000000"/>
              </a:solidFill>
              <a:effectLst/>
              <a:uFillTx/>
              <a:latin typeface="Times New Roman"/>
            </a:endParaRPr>
          </a:p>
          <a:p>
            <a:pPr marL="254160" indent="-254160" defTabSz="914400">
              <a:lnSpc>
                <a:spcPct val="110000"/>
              </a:lnSpc>
              <a:spcAft>
                <a:spcPts val="1001"/>
              </a:spcAft>
              <a:buClr>
                <a:srgbClr val="FFFFFF"/>
              </a:buClr>
              <a:buFont typeface="Symbol" charset="2"/>
              <a:buChar char=""/>
            </a:pPr>
            <a:r>
              <a:rPr lang="en-US" sz="2000" b="0" u="none" strike="noStrike">
                <a:solidFill>
                  <a:srgbClr val="FFFFFF"/>
                </a:solidFill>
                <a:effectLst/>
                <a:uFillTx/>
                <a:latin typeface="Calibri"/>
                <a:ea typeface="Calibri"/>
              </a:rPr>
              <a:t>Non-negotiable rules it always follows, whatever the task</a:t>
            </a:r>
            <a:endParaRPr lang="en-CA" sz="2000" b="0" u="none" strike="noStrike">
              <a:solidFill>
                <a:srgbClr val="000000"/>
              </a:solidFill>
              <a:effectLst/>
              <a:uFillTx/>
              <a:latin typeface="Times New Roman"/>
            </a:endParaRPr>
          </a:p>
          <a:p>
            <a:pPr marL="254160" indent="-254160" defTabSz="914400">
              <a:lnSpc>
                <a:spcPct val="110000"/>
              </a:lnSpc>
              <a:spcAft>
                <a:spcPts val="1001"/>
              </a:spcAft>
              <a:buClr>
                <a:srgbClr val="FFFFFF"/>
              </a:buClr>
              <a:buFont typeface="Symbol" charset="2"/>
              <a:buChar char=""/>
            </a:pPr>
            <a:r>
              <a:rPr lang="en-US" sz="2000" b="0" u="none" strike="noStrike">
                <a:solidFill>
                  <a:srgbClr val="FFFFFF"/>
                </a:solidFill>
                <a:effectLst/>
                <a:uFillTx/>
                <a:latin typeface="Calibri"/>
                <a:ea typeface="Calibri"/>
              </a:rPr>
              <a:t>Loaded once — shapes every response it gives</a:t>
            </a:r>
            <a:endParaRPr lang="en-CA" sz="2000" b="0" u="none" strike="noStrike">
              <a:solidFill>
                <a:srgbClr val="000000"/>
              </a:solidFill>
              <a:effectLst/>
              <a:uFillTx/>
              <a:latin typeface="Times New Roman"/>
            </a:endParaRPr>
          </a:p>
        </p:txBody>
      </p:sp>
      <p:sp>
        <p:nvSpPr>
          <p:cNvPr id="336" name="Shape 24"/>
          <p:cNvSpPr/>
          <p:nvPr/>
        </p:nvSpPr>
        <p:spPr>
          <a:xfrm>
            <a:off x="4325040" y="1965960"/>
            <a:ext cx="3501360" cy="4333680"/>
          </a:xfrm>
          <a:prstGeom prst="roundRect">
            <a:avLst>
              <a:gd name="adj" fmla="val 2611"/>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337" name="Shape 25"/>
          <p:cNvSpPr/>
          <p:nvPr/>
        </p:nvSpPr>
        <p:spPr>
          <a:xfrm>
            <a:off x="5710320" y="2240280"/>
            <a:ext cx="730800" cy="73080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338" name="Image 7" descr="preencoded.png"/>
          <p:cNvPicPr/>
          <p:nvPr/>
        </p:nvPicPr>
        <p:blipFill>
          <a:blip r:embed="rId2"/>
          <a:stretch/>
        </p:blipFill>
        <p:spPr>
          <a:xfrm>
            <a:off x="5809320" y="2338920"/>
            <a:ext cx="533160" cy="533160"/>
          </a:xfrm>
          <a:prstGeom prst="rect">
            <a:avLst/>
          </a:prstGeom>
          <a:noFill/>
          <a:ln w="0">
            <a:noFill/>
          </a:ln>
        </p:spPr>
      </p:pic>
      <p:sp>
        <p:nvSpPr>
          <p:cNvPr id="339" name="Text 40"/>
          <p:cNvSpPr/>
          <p:nvPr/>
        </p:nvSpPr>
        <p:spPr>
          <a:xfrm>
            <a:off x="4507920" y="3154680"/>
            <a:ext cx="31356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E2761"/>
                </a:solidFill>
                <a:effectLst/>
                <a:uFillTx/>
                <a:latin typeface="Calibri"/>
                <a:ea typeface="Calibri"/>
              </a:rPr>
              <a:t>memory.md</a:t>
            </a:r>
            <a:endParaRPr lang="en-CA" sz="1800" b="0" u="none" strike="noStrike">
              <a:solidFill>
                <a:srgbClr val="000000"/>
              </a:solidFill>
              <a:effectLst/>
              <a:uFillTx/>
              <a:latin typeface="Times New Roman"/>
            </a:endParaRPr>
          </a:p>
        </p:txBody>
      </p:sp>
      <p:sp>
        <p:nvSpPr>
          <p:cNvPr id="340" name="Text 41"/>
          <p:cNvSpPr/>
          <p:nvPr/>
        </p:nvSpPr>
        <p:spPr>
          <a:xfrm>
            <a:off x="4507920" y="3502080"/>
            <a:ext cx="31356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i="1" u="none" strike="noStrike">
                <a:solidFill>
                  <a:srgbClr val="6B7280"/>
                </a:solidFill>
                <a:effectLst/>
                <a:uFillTx/>
                <a:latin typeface="Calibri"/>
                <a:ea typeface="Calibri"/>
              </a:rPr>
              <a:t>Long-Term Memory</a:t>
            </a:r>
            <a:endParaRPr lang="en-CA" sz="1300" b="0" u="none" strike="noStrike">
              <a:solidFill>
                <a:srgbClr val="000000"/>
              </a:solidFill>
              <a:effectLst/>
              <a:uFillTx/>
              <a:latin typeface="Times New Roman"/>
            </a:endParaRPr>
          </a:p>
        </p:txBody>
      </p:sp>
      <p:sp>
        <p:nvSpPr>
          <p:cNvPr id="341" name="Text 42"/>
          <p:cNvSpPr/>
          <p:nvPr/>
        </p:nvSpPr>
        <p:spPr>
          <a:xfrm>
            <a:off x="4526280" y="3841560"/>
            <a:ext cx="3158640" cy="182808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001"/>
              </a:spcAft>
              <a:buClr>
                <a:srgbClr val="1E2761"/>
              </a:buClr>
              <a:buFont typeface="Symbol" charset="2"/>
              <a:buChar char=""/>
            </a:pPr>
            <a:r>
              <a:rPr lang="en-US" sz="1800" b="0" u="none" strike="noStrike">
                <a:solidFill>
                  <a:srgbClr val="1E2761"/>
                </a:solidFill>
                <a:effectLst/>
                <a:uFillTx/>
                <a:latin typeface="Calibri"/>
                <a:ea typeface="Calibri"/>
              </a:rPr>
              <a:t>Persistent facts, past decisions, context saved across sessions</a:t>
            </a:r>
            <a:endParaRPr lang="en-CA" sz="1800" b="0" u="none" strike="noStrike">
              <a:solidFill>
                <a:srgbClr val="000000"/>
              </a:solidFill>
              <a:effectLst/>
              <a:uFillTx/>
              <a:latin typeface="Times New Roman"/>
            </a:endParaRPr>
          </a:p>
          <a:p>
            <a:pPr marL="254160" indent="-254160" defTabSz="914400">
              <a:lnSpc>
                <a:spcPct val="110000"/>
              </a:lnSpc>
              <a:spcAft>
                <a:spcPts val="1001"/>
              </a:spcAft>
              <a:buClr>
                <a:srgbClr val="1E2761"/>
              </a:buClr>
              <a:buFont typeface="Symbol" charset="2"/>
              <a:buChar char=""/>
            </a:pPr>
            <a:r>
              <a:rPr lang="en-US" sz="1800" b="0" u="none" strike="noStrike">
                <a:solidFill>
                  <a:srgbClr val="1E2761"/>
                </a:solidFill>
                <a:effectLst/>
                <a:uFillTx/>
                <a:latin typeface="Calibri"/>
                <a:ea typeface="Calibri"/>
              </a:rPr>
              <a:t>The long-term half of the Memory component</a:t>
            </a:r>
            <a:endParaRPr lang="en-CA" sz="1800" b="0" u="none" strike="noStrike">
              <a:solidFill>
                <a:srgbClr val="000000"/>
              </a:solidFill>
              <a:effectLst/>
              <a:uFillTx/>
              <a:latin typeface="Times New Roman"/>
            </a:endParaRPr>
          </a:p>
          <a:p>
            <a:pPr marL="254160" indent="-254160" defTabSz="914400">
              <a:lnSpc>
                <a:spcPct val="110000"/>
              </a:lnSpc>
              <a:spcAft>
                <a:spcPts val="1001"/>
              </a:spcAft>
              <a:buClr>
                <a:srgbClr val="1E2761"/>
              </a:buClr>
              <a:buFont typeface="Symbol" charset="2"/>
              <a:buChar char=""/>
            </a:pPr>
            <a:r>
              <a:rPr lang="en-US" sz="1800" b="0" u="none" strike="noStrike">
                <a:solidFill>
                  <a:srgbClr val="1E2761"/>
                </a:solidFill>
                <a:effectLst/>
                <a:uFillTx/>
                <a:latin typeface="Calibri"/>
                <a:ea typeface="Calibri"/>
              </a:rPr>
              <a:t>Grows over time as Hermes learns more</a:t>
            </a:r>
            <a:endParaRPr lang="en-CA" sz="1800" b="0" u="none" strike="noStrike">
              <a:solidFill>
                <a:srgbClr val="000000"/>
              </a:solidFill>
              <a:effectLst/>
              <a:uFillTx/>
              <a:latin typeface="Times New Roman"/>
            </a:endParaRPr>
          </a:p>
        </p:txBody>
      </p:sp>
      <p:sp>
        <p:nvSpPr>
          <p:cNvPr id="342" name="Shape 26"/>
          <p:cNvSpPr/>
          <p:nvPr/>
        </p:nvSpPr>
        <p:spPr>
          <a:xfrm>
            <a:off x="8100000" y="1800000"/>
            <a:ext cx="3501360" cy="4499640"/>
          </a:xfrm>
          <a:prstGeom prst="roundRect">
            <a:avLst>
              <a:gd name="adj" fmla="val 2611"/>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43" name="Shape 28"/>
          <p:cNvSpPr/>
          <p:nvPr/>
        </p:nvSpPr>
        <p:spPr>
          <a:xfrm>
            <a:off x="9487080" y="2240280"/>
            <a:ext cx="730800" cy="730800"/>
          </a:xfrm>
          <a:prstGeom prst="ellipse">
            <a:avLst/>
          </a:prstGeom>
          <a:solidFill>
            <a:srgbClr val="FFFFFF"/>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pic>
        <p:nvPicPr>
          <p:cNvPr id="344" name="Image 8" descr="preencoded.png"/>
          <p:cNvPicPr/>
          <p:nvPr/>
        </p:nvPicPr>
        <p:blipFill>
          <a:blip r:embed="rId3"/>
          <a:stretch/>
        </p:blipFill>
        <p:spPr>
          <a:xfrm>
            <a:off x="9585720" y="2338920"/>
            <a:ext cx="533160" cy="533160"/>
          </a:xfrm>
          <a:prstGeom prst="rect">
            <a:avLst/>
          </a:prstGeom>
          <a:noFill/>
          <a:ln w="0">
            <a:noFill/>
          </a:ln>
        </p:spPr>
      </p:pic>
      <p:sp>
        <p:nvSpPr>
          <p:cNvPr id="345" name="Text 43"/>
          <p:cNvSpPr/>
          <p:nvPr/>
        </p:nvSpPr>
        <p:spPr>
          <a:xfrm>
            <a:off x="8284320" y="3154680"/>
            <a:ext cx="31356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libri"/>
                <a:ea typeface="Calibri"/>
              </a:rPr>
              <a:t>user.md</a:t>
            </a:r>
            <a:endParaRPr lang="en-CA" sz="1800" b="0" u="none" strike="noStrike">
              <a:solidFill>
                <a:srgbClr val="000000"/>
              </a:solidFill>
              <a:effectLst/>
              <a:uFillTx/>
              <a:latin typeface="Times New Roman"/>
            </a:endParaRPr>
          </a:p>
        </p:txBody>
      </p:sp>
      <p:sp>
        <p:nvSpPr>
          <p:cNvPr id="346" name="Text 44"/>
          <p:cNvSpPr/>
          <p:nvPr/>
        </p:nvSpPr>
        <p:spPr>
          <a:xfrm>
            <a:off x="8284320" y="3502080"/>
            <a:ext cx="31356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i="1" u="none" strike="noStrike">
                <a:solidFill>
                  <a:srgbClr val="CADCFC"/>
                </a:solidFill>
                <a:effectLst/>
                <a:uFillTx/>
                <a:latin typeface="Calibri"/>
                <a:ea typeface="Calibri"/>
              </a:rPr>
              <a:t>User Profile</a:t>
            </a:r>
            <a:endParaRPr lang="en-CA" sz="1300" b="0" u="none" strike="noStrike">
              <a:solidFill>
                <a:srgbClr val="000000"/>
              </a:solidFill>
              <a:effectLst/>
              <a:uFillTx/>
              <a:latin typeface="Times New Roman"/>
            </a:endParaRPr>
          </a:p>
        </p:txBody>
      </p:sp>
      <p:sp>
        <p:nvSpPr>
          <p:cNvPr id="347" name="Text 45"/>
          <p:cNvSpPr/>
          <p:nvPr/>
        </p:nvSpPr>
        <p:spPr>
          <a:xfrm>
            <a:off x="8284320" y="3751560"/>
            <a:ext cx="2998440" cy="182808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001"/>
              </a:spcAft>
              <a:buClr>
                <a:srgbClr val="FFFFFF"/>
              </a:buClr>
              <a:buFont typeface="Symbol" charset="2"/>
              <a:buChar char=""/>
            </a:pPr>
            <a:r>
              <a:rPr lang="en-US" sz="1800" b="0" u="none" strike="noStrike">
                <a:solidFill>
                  <a:srgbClr val="FFFFFF"/>
                </a:solidFill>
                <a:effectLst/>
                <a:uFillTx/>
                <a:latin typeface="Calibri"/>
                <a:ea typeface="Calibri"/>
              </a:rPr>
              <a:t>Who it’s talking to: preferences, recurring context, style</a:t>
            </a:r>
            <a:endParaRPr lang="en-CA" sz="1800" b="0" u="none" strike="noStrike">
              <a:solidFill>
                <a:srgbClr val="000000"/>
              </a:solidFill>
              <a:effectLst/>
              <a:uFillTx/>
              <a:latin typeface="Times New Roman"/>
            </a:endParaRPr>
          </a:p>
          <a:p>
            <a:pPr marL="254160" indent="-254160" defTabSz="914400">
              <a:lnSpc>
                <a:spcPct val="110000"/>
              </a:lnSpc>
              <a:spcAft>
                <a:spcPts val="1001"/>
              </a:spcAft>
              <a:buClr>
                <a:srgbClr val="FFFFFF"/>
              </a:buClr>
              <a:buFont typeface="Symbol" charset="2"/>
              <a:buChar char=""/>
            </a:pPr>
            <a:r>
              <a:rPr lang="en-US" sz="1800" b="0" u="none" strike="noStrike">
                <a:solidFill>
                  <a:srgbClr val="FFFFFF"/>
                </a:solidFill>
                <a:effectLst/>
                <a:uFillTx/>
                <a:latin typeface="Calibri"/>
                <a:ea typeface="Calibri"/>
              </a:rPr>
              <a:t>Personalizes every session without repeating yourself</a:t>
            </a:r>
            <a:endParaRPr lang="en-CA" sz="1800" b="0" u="none" strike="noStrike">
              <a:solidFill>
                <a:srgbClr val="000000"/>
              </a:solidFill>
              <a:effectLst/>
              <a:uFillTx/>
              <a:latin typeface="Times New Roman"/>
            </a:endParaRPr>
          </a:p>
          <a:p>
            <a:pPr marL="254160" indent="-254160" defTabSz="914400">
              <a:lnSpc>
                <a:spcPct val="110000"/>
              </a:lnSpc>
              <a:spcAft>
                <a:spcPts val="1001"/>
              </a:spcAft>
              <a:buClr>
                <a:srgbClr val="FFFFFF"/>
              </a:buClr>
              <a:buFont typeface="Symbol" charset="2"/>
              <a:buChar char=""/>
            </a:pPr>
            <a:r>
              <a:rPr lang="en-US" sz="1800" b="0" u="none" strike="noStrike">
                <a:solidFill>
                  <a:srgbClr val="FFFFFF"/>
                </a:solidFill>
                <a:effectLst/>
                <a:uFillTx/>
                <a:latin typeface="Calibri"/>
                <a:ea typeface="Calibri"/>
              </a:rPr>
              <a:t>About the person — not the world (that’s memory.md</a:t>
            </a:r>
            <a:r>
              <a:rPr lang="en-US" sz="1250" b="0" u="none" strike="noStrike">
                <a:solidFill>
                  <a:srgbClr val="FFFFFF"/>
                </a:solidFill>
                <a:effectLst/>
                <a:uFillTx/>
                <a:latin typeface="Calibri"/>
                <a:ea typeface="Calibri"/>
              </a:rPr>
              <a:t>)</a:t>
            </a:r>
            <a:endParaRPr lang="en-CA" sz="1250" b="0" u="none" strike="noStrike">
              <a:solidFill>
                <a:srgbClr val="000000"/>
              </a:solidFill>
              <a:effectLst/>
              <a:uFillTx/>
              <a:latin typeface="Times New Roman"/>
            </a:endParaRPr>
          </a:p>
        </p:txBody>
      </p:sp>
      <p:sp>
        <p:nvSpPr>
          <p:cNvPr id="348" name="Text 46"/>
          <p:cNvSpPr/>
          <p:nvPr/>
        </p:nvSpPr>
        <p:spPr>
          <a:xfrm>
            <a:off x="557640" y="6334560"/>
            <a:ext cx="109720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A1A1A"/>
                </a:solidFill>
                <a:effectLst/>
                <a:uFillTx/>
                <a:latin typeface="Calibri"/>
                <a:ea typeface="Calibri"/>
              </a:rPr>
              <a:t>All three load into context at the start of a session — they’re scaffolding the agent starts with, not something it decides to call.</a:t>
            </a:r>
            <a:endParaRPr lang="en-CA" sz="13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9" name="Text 47"/>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CASE STUDY</a:t>
            </a:r>
            <a:endParaRPr lang="en-CA" sz="1400" b="0" u="none" strike="noStrike">
              <a:solidFill>
                <a:srgbClr val="000000"/>
              </a:solidFill>
              <a:effectLst/>
              <a:uFillTx/>
              <a:latin typeface="Times New Roman"/>
            </a:endParaRPr>
          </a:p>
        </p:txBody>
      </p:sp>
      <p:sp>
        <p:nvSpPr>
          <p:cNvPr id="350" name="Text 48"/>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Where They Fit in the Architecture</a:t>
            </a:r>
            <a:endParaRPr lang="en-CA" sz="3400" b="0" u="none" strike="noStrike">
              <a:solidFill>
                <a:srgbClr val="000000"/>
              </a:solidFill>
              <a:effectLst/>
              <a:uFillTx/>
              <a:latin typeface="Times New Roman"/>
            </a:endParaRPr>
          </a:p>
        </p:txBody>
      </p:sp>
      <p:sp>
        <p:nvSpPr>
          <p:cNvPr id="351" name="Shape 29"/>
          <p:cNvSpPr/>
          <p:nvPr/>
        </p:nvSpPr>
        <p:spPr>
          <a:xfrm>
            <a:off x="548640" y="1691640"/>
            <a:ext cx="2193840" cy="867960"/>
          </a:xfrm>
          <a:prstGeom prst="roundRect">
            <a:avLst>
              <a:gd name="adj" fmla="val 8421"/>
            </a:avLst>
          </a:prstGeom>
          <a:solidFill>
            <a:srgbClr val="1E2761"/>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52" name="Text 49"/>
          <p:cNvSpPr/>
          <p:nvPr/>
        </p:nvSpPr>
        <p:spPr>
          <a:xfrm>
            <a:off x="594360" y="1691640"/>
            <a:ext cx="2102400" cy="867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SOUL.md</a:t>
            </a:r>
            <a:endParaRPr lang="en-CA" sz="1600" b="0" u="none" strike="noStrike">
              <a:solidFill>
                <a:srgbClr val="000000"/>
              </a:solidFill>
              <a:effectLst/>
              <a:uFillTx/>
              <a:latin typeface="Times New Roman"/>
            </a:endParaRPr>
          </a:p>
        </p:txBody>
      </p:sp>
      <p:sp>
        <p:nvSpPr>
          <p:cNvPr id="353" name="Shape 30"/>
          <p:cNvSpPr/>
          <p:nvPr/>
        </p:nvSpPr>
        <p:spPr>
          <a:xfrm>
            <a:off x="2743200" y="2125800"/>
            <a:ext cx="2286000" cy="914400"/>
          </a:xfrm>
          <a:prstGeom prst="line">
            <a:avLst/>
          </a:prstGeom>
          <a:ln w="28575">
            <a:solidFill>
              <a:srgbClr val="00A896"/>
            </a:solidFill>
            <a:round/>
            <a:tailEnd len="med" type="triangle" w="med"/>
          </a:ln>
        </p:spPr>
        <p:style>
          <a:lnRef idx="0"/>
          <a:fillRef idx="0"/>
          <a:effectRef idx="0"/>
          <a:fontRef idx="minor"/>
        </p:style>
        <p:txBody>
          <a:bodyPr lIns="90000" tIns="45000" rIns="90000" bIns="45000" anchor="t" anchorCtr="1">
            <a:noAutofit/>
          </a:bodyPr>
          <a:p>
            <a:endParaRPr lang="en-CA" sz="1800" b="0" u="none" strike="noStrike">
              <a:solidFill>
                <a:srgbClr val="000000"/>
              </a:solidFill>
              <a:effectLst/>
              <a:uFillTx/>
              <a:latin typeface="Arial"/>
            </a:endParaRPr>
          </a:p>
        </p:txBody>
      </p:sp>
      <p:sp>
        <p:nvSpPr>
          <p:cNvPr id="354" name="Shape 31"/>
          <p:cNvSpPr/>
          <p:nvPr/>
        </p:nvSpPr>
        <p:spPr>
          <a:xfrm>
            <a:off x="548640" y="2606040"/>
            <a:ext cx="2193840" cy="867960"/>
          </a:xfrm>
          <a:prstGeom prst="roundRect">
            <a:avLst>
              <a:gd name="adj" fmla="val 8421"/>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355" name="Text 50"/>
          <p:cNvSpPr/>
          <p:nvPr/>
        </p:nvSpPr>
        <p:spPr>
          <a:xfrm>
            <a:off x="594360" y="2606040"/>
            <a:ext cx="2102400" cy="867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memory.md</a:t>
            </a:r>
            <a:endParaRPr lang="en-CA" sz="1600" b="0" u="none" strike="noStrike">
              <a:solidFill>
                <a:srgbClr val="000000"/>
              </a:solidFill>
              <a:effectLst/>
              <a:uFillTx/>
              <a:latin typeface="Times New Roman"/>
            </a:endParaRPr>
          </a:p>
        </p:txBody>
      </p:sp>
      <p:sp>
        <p:nvSpPr>
          <p:cNvPr id="356" name="Shape 32"/>
          <p:cNvSpPr/>
          <p:nvPr/>
        </p:nvSpPr>
        <p:spPr>
          <a:xfrm>
            <a:off x="2743200" y="3040200"/>
            <a:ext cx="2286000" cy="9000"/>
          </a:xfrm>
          <a:prstGeom prst="line">
            <a:avLst/>
          </a:prstGeom>
          <a:ln w="28575">
            <a:solidFill>
              <a:srgbClr val="00A896"/>
            </a:solidFill>
            <a:round/>
            <a:tailEnd len="med" type="triangle" w="med"/>
          </a:ln>
        </p:spPr>
        <p:style>
          <a:lnRef idx="0"/>
          <a:fillRef idx="0"/>
          <a:effectRef idx="0"/>
          <a:fontRef idx="minor"/>
        </p:style>
        <p:txBody>
          <a:bodyPr lIns="90000" tIns="-36000" rIns="90000" bIns="-36000" anchor="t" anchorCtr="1">
            <a:noAutofit/>
          </a:bodyPr>
          <a:p>
            <a:endParaRPr lang="en-CA" sz="1800" b="0" u="none" strike="noStrike">
              <a:solidFill>
                <a:srgbClr val="000000"/>
              </a:solidFill>
              <a:effectLst/>
              <a:uFillTx/>
              <a:latin typeface="Arial"/>
            </a:endParaRPr>
          </a:p>
        </p:txBody>
      </p:sp>
      <p:sp>
        <p:nvSpPr>
          <p:cNvPr id="357" name="Shape 33"/>
          <p:cNvSpPr/>
          <p:nvPr/>
        </p:nvSpPr>
        <p:spPr>
          <a:xfrm>
            <a:off x="548640" y="3520440"/>
            <a:ext cx="2193840" cy="867960"/>
          </a:xfrm>
          <a:prstGeom prst="roundRect">
            <a:avLst>
              <a:gd name="adj" fmla="val 8421"/>
            </a:avLst>
          </a:prstGeom>
          <a:solidFill>
            <a:srgbClr val="00A896"/>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58" name="Text 51"/>
          <p:cNvSpPr/>
          <p:nvPr/>
        </p:nvSpPr>
        <p:spPr>
          <a:xfrm>
            <a:off x="594360" y="3520440"/>
            <a:ext cx="2102400" cy="867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user.md</a:t>
            </a:r>
            <a:endParaRPr lang="en-CA" sz="1600" b="0" u="none" strike="noStrike">
              <a:solidFill>
                <a:srgbClr val="000000"/>
              </a:solidFill>
              <a:effectLst/>
              <a:uFillTx/>
              <a:latin typeface="Times New Roman"/>
            </a:endParaRPr>
          </a:p>
        </p:txBody>
      </p:sp>
      <p:sp>
        <p:nvSpPr>
          <p:cNvPr id="359" name="Shape 34"/>
          <p:cNvSpPr/>
          <p:nvPr/>
        </p:nvSpPr>
        <p:spPr>
          <a:xfrm flipV="1">
            <a:off x="2743200" y="3040200"/>
            <a:ext cx="2286000" cy="914400"/>
          </a:xfrm>
          <a:prstGeom prst="line">
            <a:avLst/>
          </a:prstGeom>
          <a:ln w="28575">
            <a:solidFill>
              <a:srgbClr val="00A896"/>
            </a:solidFill>
            <a:round/>
            <a:tailEnd len="med" type="triangle" w="med"/>
          </a:ln>
        </p:spPr>
        <p:style>
          <a:lnRef idx="0"/>
          <a:fillRef idx="0"/>
          <a:effectRef idx="0"/>
          <a:fontRef idx="minor"/>
        </p:style>
        <p:txBody>
          <a:bodyPr lIns="90000" tIns="45000" rIns="90000" bIns="45000" anchor="t" anchorCtr="1">
            <a:noAutofit/>
          </a:bodyPr>
          <a:p>
            <a:endParaRPr lang="en-CA" sz="1800" b="0" u="none" strike="noStrike">
              <a:solidFill>
                <a:srgbClr val="000000"/>
              </a:solidFill>
              <a:effectLst/>
              <a:uFillTx/>
              <a:latin typeface="Arial"/>
            </a:endParaRPr>
          </a:p>
        </p:txBody>
      </p:sp>
      <p:sp>
        <p:nvSpPr>
          <p:cNvPr id="360" name="Shape 35"/>
          <p:cNvSpPr/>
          <p:nvPr/>
        </p:nvSpPr>
        <p:spPr>
          <a:xfrm>
            <a:off x="5029200" y="2400480"/>
            <a:ext cx="2651040" cy="1279440"/>
          </a:xfrm>
          <a:prstGeom prst="roundRect">
            <a:avLst>
              <a:gd name="adj" fmla="val 5714"/>
            </a:avLst>
          </a:prstGeom>
          <a:solidFill>
            <a:srgbClr val="1E2761"/>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61" name="Text 52"/>
          <p:cNvSpPr/>
          <p:nvPr/>
        </p:nvSpPr>
        <p:spPr>
          <a:xfrm>
            <a:off x="5074920" y="2400480"/>
            <a:ext cx="2559600" cy="127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FFFFFF"/>
                </a:solidFill>
                <a:effectLst/>
                <a:uFillTx/>
                <a:latin typeface="Calibri"/>
                <a:ea typeface="Calibri"/>
              </a:rPr>
              <a:t>LLM CORE</a:t>
            </a:r>
            <a:endParaRPr lang="en-CA" sz="1700" b="0" u="none" strike="noStrike">
              <a:solidFill>
                <a:srgbClr val="000000"/>
              </a:solidFill>
              <a:effectLst/>
              <a:uFillTx/>
              <a:latin typeface="Times New Roman"/>
            </a:endParaRPr>
          </a:p>
          <a:p>
            <a:pPr algn="ctr" defTabSz="914400">
              <a:lnSpc>
                <a:spcPct val="100000"/>
              </a:lnSpc>
              <a:tabLst>
                <a:tab pos="0" algn="l"/>
              </a:tabLst>
            </a:pPr>
            <a:r>
              <a:rPr lang="en-US" sz="1700" b="1" u="none" strike="noStrike">
                <a:solidFill>
                  <a:srgbClr val="FFFFFF"/>
                </a:solidFill>
                <a:effectLst/>
                <a:uFillTx/>
                <a:latin typeface="Calibri"/>
                <a:ea typeface="Calibri"/>
              </a:rPr>
              <a:t>(the Brain)</a:t>
            </a:r>
            <a:endParaRPr lang="en-CA" sz="1700" b="0" u="none" strike="noStrike">
              <a:solidFill>
                <a:srgbClr val="000000"/>
              </a:solidFill>
              <a:effectLst/>
              <a:uFillTx/>
              <a:latin typeface="Times New Roman"/>
            </a:endParaRPr>
          </a:p>
        </p:txBody>
      </p:sp>
      <p:sp>
        <p:nvSpPr>
          <p:cNvPr id="362" name="Text 53"/>
          <p:cNvSpPr/>
          <p:nvPr/>
        </p:nvSpPr>
        <p:spPr>
          <a:xfrm>
            <a:off x="7863840" y="2629080"/>
            <a:ext cx="319968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i="1" u="none" strike="noStrike">
                <a:solidFill>
                  <a:srgbClr val="6B7280"/>
                </a:solidFill>
                <a:effectLst/>
                <a:uFillTx/>
                <a:latin typeface="Calibri"/>
                <a:ea typeface="Calibri"/>
              </a:rPr>
              <a:t>loaded as context</a:t>
            </a:r>
            <a:endParaRPr lang="en-CA" sz="1800" b="0" u="none" strike="noStrike">
              <a:solidFill>
                <a:srgbClr val="000000"/>
              </a:solidFill>
              <a:effectLst/>
              <a:uFillTx/>
              <a:latin typeface="Times New Roman"/>
            </a:endParaRPr>
          </a:p>
          <a:p>
            <a:pPr defTabSz="914400">
              <a:lnSpc>
                <a:spcPct val="100000"/>
              </a:lnSpc>
              <a:tabLst>
                <a:tab pos="0" algn="l"/>
              </a:tabLst>
            </a:pPr>
            <a:r>
              <a:rPr lang="en-US" sz="1800" b="0" i="1" u="none" strike="noStrike">
                <a:solidFill>
                  <a:srgbClr val="6B7280"/>
                </a:solidFill>
                <a:effectLst/>
                <a:uFillTx/>
                <a:latin typeface="Calibri"/>
                <a:ea typeface="Calibri"/>
              </a:rPr>
              <a:t>every session</a:t>
            </a:r>
            <a:endParaRPr lang="en-CA" sz="1800" b="0" u="none" strike="noStrike">
              <a:solidFill>
                <a:srgbClr val="000000"/>
              </a:solidFill>
              <a:effectLst/>
              <a:uFillTx/>
              <a:latin typeface="Times New Roman"/>
            </a:endParaRPr>
          </a:p>
        </p:txBody>
      </p:sp>
      <p:sp>
        <p:nvSpPr>
          <p:cNvPr id="363" name="Text 54"/>
          <p:cNvSpPr/>
          <p:nvPr/>
        </p:nvSpPr>
        <p:spPr>
          <a:xfrm>
            <a:off x="548640" y="4892040"/>
            <a:ext cx="10880640" cy="182808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199"/>
              </a:spcAft>
              <a:buClr>
                <a:srgbClr val="1A1A1A"/>
              </a:buClr>
              <a:buFont typeface="Symbol" charset="2"/>
              <a:buChar char=""/>
            </a:pPr>
            <a:r>
              <a:rPr lang="en-US" sz="1800" b="0" u="none" strike="noStrike">
                <a:solidFill>
                  <a:srgbClr val="1A1A1A"/>
                </a:solidFill>
                <a:effectLst/>
                <a:uFillTx/>
                <a:latin typeface="Calibri"/>
                <a:ea typeface="Calibri"/>
              </a:rPr>
              <a:t>SOUL.md shapes Orchestration — it’s the identity and rules the loop always operates inside of</a:t>
            </a:r>
            <a:endParaRPr lang="en-CA" sz="1800" b="0" u="none" strike="noStrike">
              <a:solidFill>
                <a:srgbClr val="000000"/>
              </a:solidFill>
              <a:effectLst/>
              <a:uFillTx/>
              <a:latin typeface="Times New Roman"/>
            </a:endParaRPr>
          </a:p>
          <a:p>
            <a:pPr marL="254160" indent="-254160" defTabSz="914400">
              <a:lnSpc>
                <a:spcPct val="110000"/>
              </a:lnSpc>
              <a:spcAft>
                <a:spcPts val="1199"/>
              </a:spcAft>
              <a:buClr>
                <a:srgbClr val="1A1A1A"/>
              </a:buClr>
              <a:buFont typeface="Symbol" charset="2"/>
              <a:buChar char=""/>
            </a:pPr>
            <a:r>
              <a:rPr lang="en-US" sz="1800" b="0" u="none" strike="noStrike">
                <a:solidFill>
                  <a:srgbClr val="1A1A1A"/>
                </a:solidFill>
                <a:effectLst/>
                <a:uFillTx/>
                <a:latin typeface="Calibri"/>
                <a:ea typeface="Calibri"/>
              </a:rPr>
              <a:t>memory.md is the Long-Term Memory component itself, in file form</a:t>
            </a:r>
            <a:endParaRPr lang="en-CA" sz="1800" b="0" u="none" strike="noStrike">
              <a:solidFill>
                <a:srgbClr val="000000"/>
              </a:solidFill>
              <a:effectLst/>
              <a:uFillTx/>
              <a:latin typeface="Times New Roman"/>
            </a:endParaRPr>
          </a:p>
          <a:p>
            <a:pPr marL="254160" indent="-254160" defTabSz="914400">
              <a:lnSpc>
                <a:spcPct val="110000"/>
              </a:lnSpc>
              <a:spcAft>
                <a:spcPts val="1199"/>
              </a:spcAft>
              <a:buClr>
                <a:srgbClr val="1A1A1A"/>
              </a:buClr>
              <a:buFont typeface="Symbol" charset="2"/>
              <a:buChar char=""/>
            </a:pPr>
            <a:r>
              <a:rPr lang="en-US" sz="1800" b="0" u="none" strike="noStrike">
                <a:solidFill>
                  <a:srgbClr val="1A1A1A"/>
                </a:solidFill>
                <a:effectLst/>
                <a:uFillTx/>
                <a:latin typeface="Calibri"/>
                <a:ea typeface="Calibri"/>
              </a:rPr>
              <a:t>user.md personalizes what the LLM sees before the loop even starts</a:t>
            </a:r>
            <a:endParaRPr lang="en-CA" sz="1800" b="0" u="none" strike="noStrike">
              <a:solidFill>
                <a:srgbClr val="000000"/>
              </a:solidFill>
              <a:effectLst/>
              <a:uFillTx/>
              <a:latin typeface="Times New Roman"/>
            </a:endParaRPr>
          </a:p>
          <a:p>
            <a:pPr marL="254160" indent="-254160" defTabSz="914400">
              <a:lnSpc>
                <a:spcPct val="110000"/>
              </a:lnSpc>
              <a:spcAft>
                <a:spcPts val="1199"/>
              </a:spcAft>
              <a:buClr>
                <a:srgbClr val="1A1A1A"/>
              </a:buClr>
              <a:buFont typeface="Symbol" charset="2"/>
              <a:buChar char=""/>
            </a:pPr>
            <a:r>
              <a:rPr lang="en-US" sz="1800" b="1" u="none" strike="noStrike">
                <a:solidFill>
                  <a:srgbClr val="1A1A1A"/>
                </a:solidFill>
                <a:effectLst/>
                <a:uFillTx/>
                <a:latin typeface="Calibri"/>
                <a:ea typeface="Calibri"/>
              </a:rPr>
              <a:t>None of these are tools the LLM calls mid-task — they’re read once, up front, unlike memory retrieved via RAG</a:t>
            </a:r>
            <a:endParaRPr lang="en-CA" sz="18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4"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REASONING PATTERNS · 1 OF 3</a:t>
            </a:r>
            <a:endParaRPr lang="en-CA" sz="1400" b="0" u="none" strike="noStrike">
              <a:solidFill>
                <a:srgbClr val="000000"/>
              </a:solidFill>
              <a:effectLst/>
              <a:uFillTx/>
              <a:latin typeface="Arial"/>
            </a:endParaRPr>
          </a:p>
        </p:txBody>
      </p:sp>
      <p:sp>
        <p:nvSpPr>
          <p:cNvPr id="365"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ReAct — Reason + Act</a:t>
            </a:r>
            <a:endParaRPr lang="en-CA" sz="3400" b="0" u="none" strike="noStrike">
              <a:solidFill>
                <a:srgbClr val="000000"/>
              </a:solidFill>
              <a:effectLst/>
              <a:uFillTx/>
              <a:latin typeface="Arial"/>
            </a:endParaRPr>
          </a:p>
        </p:txBody>
      </p:sp>
      <p:sp>
        <p:nvSpPr>
          <p:cNvPr id="366" name="Text 2"/>
          <p:cNvSpPr/>
          <p:nvPr/>
        </p:nvSpPr>
        <p:spPr>
          <a:xfrm>
            <a:off x="548640" y="1417320"/>
            <a:ext cx="109720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i="1" u="none" strike="noStrike">
                <a:solidFill>
                  <a:srgbClr val="6B7280"/>
                </a:solidFill>
                <a:effectLst/>
                <a:uFillTx/>
                <a:latin typeface="Calibri"/>
                <a:ea typeface="Calibri"/>
              </a:rPr>
              <a:t>The pattern behind the Hermes example we just walked through.</a:t>
            </a:r>
            <a:endParaRPr lang="en-CA" sz="1700" b="0" u="none" strike="noStrike">
              <a:solidFill>
                <a:srgbClr val="000000"/>
              </a:solidFill>
              <a:effectLst/>
              <a:uFillTx/>
              <a:latin typeface="Arial"/>
            </a:endParaRPr>
          </a:p>
        </p:txBody>
      </p:sp>
      <p:sp>
        <p:nvSpPr>
          <p:cNvPr id="367" name="Shape 3"/>
          <p:cNvSpPr/>
          <p:nvPr/>
        </p:nvSpPr>
        <p:spPr>
          <a:xfrm>
            <a:off x="822960" y="2194560"/>
            <a:ext cx="2925360" cy="1416600"/>
          </a:xfrm>
          <a:prstGeom prst="roundRect">
            <a:avLst>
              <a:gd name="adj" fmla="val 5161"/>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368" name="Text 4"/>
          <p:cNvSpPr/>
          <p:nvPr/>
        </p:nvSpPr>
        <p:spPr>
          <a:xfrm>
            <a:off x="868680" y="2194560"/>
            <a:ext cx="2833920" cy="1416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Thought</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"what should I</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do next?"</a:t>
            </a:r>
            <a:endParaRPr lang="en-CA" sz="1600" b="0" u="none" strike="noStrike">
              <a:solidFill>
                <a:srgbClr val="000000"/>
              </a:solidFill>
              <a:effectLst/>
              <a:uFillTx/>
              <a:latin typeface="Arial"/>
            </a:endParaRPr>
          </a:p>
        </p:txBody>
      </p:sp>
      <p:sp>
        <p:nvSpPr>
          <p:cNvPr id="369" name="Shape 5"/>
          <p:cNvSpPr/>
          <p:nvPr/>
        </p:nvSpPr>
        <p:spPr>
          <a:xfrm>
            <a:off x="3794760" y="2811960"/>
            <a:ext cx="547920" cy="20052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70" name="Shape 6"/>
          <p:cNvSpPr/>
          <p:nvPr/>
        </p:nvSpPr>
        <p:spPr>
          <a:xfrm>
            <a:off x="4389120" y="2194560"/>
            <a:ext cx="2925360" cy="1416600"/>
          </a:xfrm>
          <a:prstGeom prst="roundRect">
            <a:avLst>
              <a:gd name="adj" fmla="val 5161"/>
            </a:avLst>
          </a:prstGeom>
          <a:solidFill>
            <a:srgbClr val="1E2761"/>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71" name="Text 7"/>
          <p:cNvSpPr/>
          <p:nvPr/>
        </p:nvSpPr>
        <p:spPr>
          <a:xfrm>
            <a:off x="4434840" y="2194560"/>
            <a:ext cx="2833920" cy="1416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Action</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FFFFFF"/>
                </a:solidFill>
                <a:effectLst/>
                <a:uFillTx/>
                <a:latin typeface="Calibri"/>
                <a:ea typeface="Calibri"/>
              </a:rPr>
              <a:t>call a tool</a:t>
            </a:r>
            <a:endParaRPr lang="en-CA" sz="1600" b="0" u="none" strike="noStrike">
              <a:solidFill>
                <a:srgbClr val="000000"/>
              </a:solidFill>
              <a:effectLst/>
              <a:uFillTx/>
              <a:latin typeface="Arial"/>
            </a:endParaRPr>
          </a:p>
        </p:txBody>
      </p:sp>
      <p:sp>
        <p:nvSpPr>
          <p:cNvPr id="372" name="Shape 8"/>
          <p:cNvSpPr/>
          <p:nvPr/>
        </p:nvSpPr>
        <p:spPr>
          <a:xfrm>
            <a:off x="7360920" y="2811960"/>
            <a:ext cx="547920" cy="20052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73" name="Shape 9"/>
          <p:cNvSpPr/>
          <p:nvPr/>
        </p:nvSpPr>
        <p:spPr>
          <a:xfrm>
            <a:off x="7955280" y="2194560"/>
            <a:ext cx="2925360" cy="1416600"/>
          </a:xfrm>
          <a:prstGeom prst="roundRect">
            <a:avLst>
              <a:gd name="adj" fmla="val 5161"/>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374" name="Text 10"/>
          <p:cNvSpPr/>
          <p:nvPr/>
        </p:nvSpPr>
        <p:spPr>
          <a:xfrm>
            <a:off x="8001000" y="2194560"/>
            <a:ext cx="2833920" cy="1416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Observation</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read the tool</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result</a:t>
            </a:r>
            <a:endParaRPr lang="en-CA" sz="1600" b="0" u="none" strike="noStrike">
              <a:solidFill>
                <a:srgbClr val="000000"/>
              </a:solidFill>
              <a:effectLst/>
              <a:uFillTx/>
              <a:latin typeface="Arial"/>
            </a:endParaRPr>
          </a:p>
        </p:txBody>
      </p:sp>
      <p:sp>
        <p:nvSpPr>
          <p:cNvPr id="375" name="Text 11"/>
          <p:cNvSpPr/>
          <p:nvPr/>
        </p:nvSpPr>
        <p:spPr>
          <a:xfrm>
            <a:off x="822960" y="3886200"/>
            <a:ext cx="1060632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i="1" u="none" strike="noStrike">
                <a:solidFill>
                  <a:srgbClr val="00A896"/>
                </a:solidFill>
                <a:effectLst/>
                <a:uFillTx/>
                <a:latin typeface="Calibri"/>
                <a:ea typeface="Calibri"/>
              </a:rPr>
              <a:t>↺ repeats until the model decides it has enough information to answer</a:t>
            </a:r>
            <a:endParaRPr lang="en-CA" sz="1600" b="0" u="none" strike="noStrike">
              <a:solidFill>
                <a:srgbClr val="000000"/>
              </a:solidFill>
              <a:effectLst/>
              <a:uFillTx/>
              <a:latin typeface="Arial"/>
            </a:endParaRPr>
          </a:p>
        </p:txBody>
      </p:sp>
      <p:sp>
        <p:nvSpPr>
          <p:cNvPr id="376" name="Text 12"/>
          <p:cNvSpPr/>
          <p:nvPr/>
        </p:nvSpPr>
        <p:spPr>
          <a:xfrm>
            <a:off x="548640" y="4480560"/>
            <a:ext cx="10880640" cy="173664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400"/>
              </a:spcAft>
              <a:buClr>
                <a:srgbClr val="1A1A1A"/>
              </a:buClr>
              <a:buFont typeface="Symbol" charset="2"/>
              <a:buChar char=""/>
            </a:pPr>
            <a:r>
              <a:rPr lang="en-US" sz="1700" b="1" u="none" strike="noStrike">
                <a:solidFill>
                  <a:srgbClr val="1A1A1A"/>
                </a:solidFill>
                <a:effectLst/>
                <a:uFillTx/>
                <a:latin typeface="Calibri"/>
                <a:ea typeface="Calibri"/>
              </a:rPr>
              <a:t>Interleaves reasoning ("thought") with tool calls ("action"), one step at a time</a:t>
            </a:r>
            <a:endParaRPr lang="en-CA" sz="170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700" b="1" u="none" strike="noStrike">
                <a:solidFill>
                  <a:srgbClr val="1A1A1A"/>
                </a:solidFill>
                <a:effectLst/>
                <a:uFillTx/>
                <a:latin typeface="Calibri"/>
                <a:ea typeface="Calibri"/>
              </a:rPr>
              <a:t>Simple to implement and easy to debug — you can read the transcript step by step</a:t>
            </a:r>
            <a:endParaRPr lang="en-CA" sz="170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700" b="1" u="none" strike="noStrike">
                <a:solidFill>
                  <a:srgbClr val="1A1A1A"/>
                </a:solidFill>
                <a:effectLst/>
                <a:uFillTx/>
                <a:latin typeface="Calibri"/>
                <a:ea typeface="Calibri"/>
              </a:rPr>
              <a:t>Best for tasks where the next step depends on what the last tool call returned</a:t>
            </a:r>
            <a:endParaRPr lang="en-CA" sz="1700" b="0" u="none" strike="noStrike">
              <a:solidFill>
                <a:srgbClr val="000000"/>
              </a:solidFill>
              <a:effectLst/>
              <a:uFillTx/>
              <a:latin typeface="Arial"/>
            </a:endParaRPr>
          </a:p>
        </p:txBody>
      </p:sp>
      <p:sp>
        <p:nvSpPr>
          <p:cNvPr id="377" name="Text 13"/>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378" name="Text 14"/>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18</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9"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REASONING PATTERNS · 2 OF 3</a:t>
            </a:r>
            <a:endParaRPr lang="en-CA" sz="1400" b="0" u="none" strike="noStrike">
              <a:solidFill>
                <a:srgbClr val="000000"/>
              </a:solidFill>
              <a:effectLst/>
              <a:uFillTx/>
              <a:latin typeface="Arial"/>
            </a:endParaRPr>
          </a:p>
        </p:txBody>
      </p:sp>
      <p:sp>
        <p:nvSpPr>
          <p:cNvPr id="380"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Plan-and-Execute</a:t>
            </a:r>
            <a:endParaRPr lang="en-CA" sz="3400" b="0" u="none" strike="noStrike">
              <a:solidFill>
                <a:srgbClr val="000000"/>
              </a:solidFill>
              <a:effectLst/>
              <a:uFillTx/>
              <a:latin typeface="Arial"/>
            </a:endParaRPr>
          </a:p>
        </p:txBody>
      </p:sp>
      <p:sp>
        <p:nvSpPr>
          <p:cNvPr id="381" name="Shape 2"/>
          <p:cNvSpPr/>
          <p:nvPr/>
        </p:nvSpPr>
        <p:spPr>
          <a:xfrm>
            <a:off x="548640" y="1783080"/>
            <a:ext cx="2376720" cy="1096560"/>
          </a:xfrm>
          <a:prstGeom prst="roundRect">
            <a:avLst>
              <a:gd name="adj" fmla="val 6667"/>
            </a:avLst>
          </a:prstGeom>
          <a:solidFill>
            <a:srgbClr val="1E2761"/>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82" name="Text 3"/>
          <p:cNvSpPr/>
          <p:nvPr/>
        </p:nvSpPr>
        <p:spPr>
          <a:xfrm>
            <a:off x="594360" y="1783080"/>
            <a:ext cx="2285280" cy="1096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Planner</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FFFFFF"/>
                </a:solidFill>
                <a:effectLst/>
                <a:uFillTx/>
                <a:latin typeface="Calibri"/>
                <a:ea typeface="Calibri"/>
              </a:rPr>
              <a:t>(LLM)</a:t>
            </a:r>
            <a:endParaRPr lang="en-CA" sz="1600" b="0" u="none" strike="noStrike">
              <a:solidFill>
                <a:srgbClr val="000000"/>
              </a:solidFill>
              <a:effectLst/>
              <a:uFillTx/>
              <a:latin typeface="Arial"/>
            </a:endParaRPr>
          </a:p>
        </p:txBody>
      </p:sp>
      <p:sp>
        <p:nvSpPr>
          <p:cNvPr id="383" name="Shape 4"/>
          <p:cNvSpPr/>
          <p:nvPr/>
        </p:nvSpPr>
        <p:spPr>
          <a:xfrm>
            <a:off x="2971800" y="2194560"/>
            <a:ext cx="365040" cy="182160"/>
          </a:xfrm>
          <a:prstGeom prst="rightArrow">
            <a:avLst>
              <a:gd name="adj1" fmla="val 50000"/>
              <a:gd name="adj2" fmla="val 50000"/>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84" name="Shape 5"/>
          <p:cNvSpPr/>
          <p:nvPr/>
        </p:nvSpPr>
        <p:spPr>
          <a:xfrm>
            <a:off x="3383280" y="1508760"/>
            <a:ext cx="1599480" cy="502200"/>
          </a:xfrm>
          <a:prstGeom prst="roundRect">
            <a:avLst>
              <a:gd name="adj" fmla="val 14545"/>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385" name="Text 6"/>
          <p:cNvSpPr/>
          <p:nvPr/>
        </p:nvSpPr>
        <p:spPr>
          <a:xfrm>
            <a:off x="3429000" y="1508760"/>
            <a:ext cx="150804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E2761"/>
                </a:solidFill>
                <a:effectLst/>
                <a:uFillTx/>
                <a:latin typeface="Calibri"/>
                <a:ea typeface="Calibri"/>
              </a:rPr>
              <a:t>Step 1</a:t>
            </a:r>
            <a:endParaRPr lang="en-CA" sz="1350" b="0" u="none" strike="noStrike">
              <a:solidFill>
                <a:srgbClr val="000000"/>
              </a:solidFill>
              <a:effectLst/>
              <a:uFillTx/>
              <a:latin typeface="Arial"/>
            </a:endParaRPr>
          </a:p>
        </p:txBody>
      </p:sp>
      <p:sp>
        <p:nvSpPr>
          <p:cNvPr id="386" name="Shape 7"/>
          <p:cNvSpPr/>
          <p:nvPr/>
        </p:nvSpPr>
        <p:spPr>
          <a:xfrm>
            <a:off x="3383280" y="2130480"/>
            <a:ext cx="1599480" cy="502200"/>
          </a:xfrm>
          <a:prstGeom prst="roundRect">
            <a:avLst>
              <a:gd name="adj" fmla="val 14545"/>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387" name="Text 8"/>
          <p:cNvSpPr/>
          <p:nvPr/>
        </p:nvSpPr>
        <p:spPr>
          <a:xfrm>
            <a:off x="3429000" y="2130480"/>
            <a:ext cx="150804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E2761"/>
                </a:solidFill>
                <a:effectLst/>
                <a:uFillTx/>
                <a:latin typeface="Calibri"/>
                <a:ea typeface="Calibri"/>
              </a:rPr>
              <a:t>Step 2</a:t>
            </a:r>
            <a:endParaRPr lang="en-CA" sz="1350" b="0" u="none" strike="noStrike">
              <a:solidFill>
                <a:srgbClr val="000000"/>
              </a:solidFill>
              <a:effectLst/>
              <a:uFillTx/>
              <a:latin typeface="Arial"/>
            </a:endParaRPr>
          </a:p>
        </p:txBody>
      </p:sp>
      <p:sp>
        <p:nvSpPr>
          <p:cNvPr id="388" name="Shape 9"/>
          <p:cNvSpPr/>
          <p:nvPr/>
        </p:nvSpPr>
        <p:spPr>
          <a:xfrm>
            <a:off x="3383280" y="2752200"/>
            <a:ext cx="1599480" cy="502200"/>
          </a:xfrm>
          <a:prstGeom prst="roundRect">
            <a:avLst>
              <a:gd name="adj" fmla="val 14545"/>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389" name="Text 10"/>
          <p:cNvSpPr/>
          <p:nvPr/>
        </p:nvSpPr>
        <p:spPr>
          <a:xfrm>
            <a:off x="3429000" y="2752200"/>
            <a:ext cx="150804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E2761"/>
                </a:solidFill>
                <a:effectLst/>
                <a:uFillTx/>
                <a:latin typeface="Calibri"/>
                <a:ea typeface="Calibri"/>
              </a:rPr>
              <a:t>Step 3</a:t>
            </a:r>
            <a:endParaRPr lang="en-CA" sz="1350" b="0" u="none" strike="noStrike">
              <a:solidFill>
                <a:srgbClr val="000000"/>
              </a:solidFill>
              <a:effectLst/>
              <a:uFillTx/>
              <a:latin typeface="Arial"/>
            </a:endParaRPr>
          </a:p>
        </p:txBody>
      </p:sp>
      <p:sp>
        <p:nvSpPr>
          <p:cNvPr id="390" name="Shape 11"/>
          <p:cNvSpPr/>
          <p:nvPr/>
        </p:nvSpPr>
        <p:spPr>
          <a:xfrm>
            <a:off x="3383280" y="3374280"/>
            <a:ext cx="1599480" cy="502200"/>
          </a:xfrm>
          <a:prstGeom prst="roundRect">
            <a:avLst>
              <a:gd name="adj" fmla="val 14545"/>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391" name="Text 12"/>
          <p:cNvSpPr/>
          <p:nvPr/>
        </p:nvSpPr>
        <p:spPr>
          <a:xfrm>
            <a:off x="3429000" y="3374280"/>
            <a:ext cx="1508040" cy="502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E2761"/>
                </a:solidFill>
                <a:effectLst/>
                <a:uFillTx/>
                <a:latin typeface="Calibri"/>
                <a:ea typeface="Calibri"/>
              </a:rPr>
              <a:t>Step 4</a:t>
            </a:r>
            <a:endParaRPr lang="en-CA" sz="1350" b="0" u="none" strike="noStrike">
              <a:solidFill>
                <a:srgbClr val="000000"/>
              </a:solidFill>
              <a:effectLst/>
              <a:uFillTx/>
              <a:latin typeface="Arial"/>
            </a:endParaRPr>
          </a:p>
        </p:txBody>
      </p:sp>
      <p:sp>
        <p:nvSpPr>
          <p:cNvPr id="392" name="Shape 13"/>
          <p:cNvSpPr/>
          <p:nvPr/>
        </p:nvSpPr>
        <p:spPr>
          <a:xfrm>
            <a:off x="5029200" y="2194560"/>
            <a:ext cx="410760" cy="182160"/>
          </a:xfrm>
          <a:prstGeom prst="rightArrow">
            <a:avLst>
              <a:gd name="adj1" fmla="val 50000"/>
              <a:gd name="adj2" fmla="val 50000"/>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93" name="Shape 14"/>
          <p:cNvSpPr/>
          <p:nvPr/>
        </p:nvSpPr>
        <p:spPr>
          <a:xfrm>
            <a:off x="5486400" y="1645920"/>
            <a:ext cx="2513880" cy="1370880"/>
          </a:xfrm>
          <a:prstGeom prst="roundRect">
            <a:avLst>
              <a:gd name="adj" fmla="val 5333"/>
            </a:avLst>
          </a:prstGeom>
          <a:solidFill>
            <a:srgbClr val="1E2761"/>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94" name="Text 15"/>
          <p:cNvSpPr/>
          <p:nvPr/>
        </p:nvSpPr>
        <p:spPr>
          <a:xfrm>
            <a:off x="5532120" y="1645920"/>
            <a:ext cx="2422440" cy="137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50" b="1" u="none" strike="noStrike">
                <a:solidFill>
                  <a:srgbClr val="FFFFFF"/>
                </a:solidFill>
                <a:effectLst/>
                <a:uFillTx/>
                <a:latin typeface="Calibri"/>
                <a:ea typeface="Calibri"/>
              </a:rPr>
              <a:t>Executor</a:t>
            </a:r>
            <a:endParaRPr lang="en-CA" sz="1450" b="0" u="none" strike="noStrike">
              <a:solidFill>
                <a:srgbClr val="000000"/>
              </a:solidFill>
              <a:effectLst/>
              <a:uFillTx/>
              <a:latin typeface="Arial"/>
            </a:endParaRPr>
          </a:p>
          <a:p>
            <a:pPr algn="ctr" defTabSz="914400">
              <a:lnSpc>
                <a:spcPct val="100000"/>
              </a:lnSpc>
              <a:tabLst>
                <a:tab pos="0" algn="l"/>
              </a:tabLst>
            </a:pPr>
            <a:r>
              <a:rPr lang="en-US" sz="1450" b="1" u="none" strike="noStrike">
                <a:solidFill>
                  <a:srgbClr val="FFFFFF"/>
                </a:solidFill>
                <a:effectLst/>
                <a:uFillTx/>
                <a:latin typeface="Calibri"/>
                <a:ea typeface="Calibri"/>
              </a:rPr>
              <a:t>(runs each step,</a:t>
            </a:r>
            <a:endParaRPr lang="en-CA" sz="1450" b="0" u="none" strike="noStrike">
              <a:solidFill>
                <a:srgbClr val="000000"/>
              </a:solidFill>
              <a:effectLst/>
              <a:uFillTx/>
              <a:latin typeface="Arial"/>
            </a:endParaRPr>
          </a:p>
          <a:p>
            <a:pPr algn="ctr" defTabSz="914400">
              <a:lnSpc>
                <a:spcPct val="100000"/>
              </a:lnSpc>
              <a:tabLst>
                <a:tab pos="0" algn="l"/>
              </a:tabLst>
            </a:pPr>
            <a:r>
              <a:rPr lang="en-US" sz="1450" b="1" u="none" strike="noStrike">
                <a:solidFill>
                  <a:srgbClr val="FFFFFF"/>
                </a:solidFill>
                <a:effectLst/>
                <a:uFillTx/>
                <a:latin typeface="Calibri"/>
                <a:ea typeface="Calibri"/>
              </a:rPr>
              <a:t>calls tools)</a:t>
            </a:r>
            <a:endParaRPr lang="en-CA" sz="1450" b="0" u="none" strike="noStrike">
              <a:solidFill>
                <a:srgbClr val="000000"/>
              </a:solidFill>
              <a:effectLst/>
              <a:uFillTx/>
              <a:latin typeface="Arial"/>
            </a:endParaRPr>
          </a:p>
        </p:txBody>
      </p:sp>
      <p:sp>
        <p:nvSpPr>
          <p:cNvPr id="395" name="Shape 16"/>
          <p:cNvSpPr/>
          <p:nvPr/>
        </p:nvSpPr>
        <p:spPr>
          <a:xfrm>
            <a:off x="8046720" y="2194560"/>
            <a:ext cx="365040" cy="182160"/>
          </a:xfrm>
          <a:prstGeom prst="rightArrow">
            <a:avLst>
              <a:gd name="adj1" fmla="val 50000"/>
              <a:gd name="adj2" fmla="val 50000"/>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396" name="Shape 17"/>
          <p:cNvSpPr/>
          <p:nvPr/>
        </p:nvSpPr>
        <p:spPr>
          <a:xfrm>
            <a:off x="8458200" y="1783080"/>
            <a:ext cx="2651040" cy="1096560"/>
          </a:xfrm>
          <a:prstGeom prst="roundRect">
            <a:avLst>
              <a:gd name="adj" fmla="val 6667"/>
            </a:avLst>
          </a:prstGeom>
          <a:solidFill>
            <a:srgbClr val="CADC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397" name="Text 18"/>
          <p:cNvSpPr/>
          <p:nvPr/>
        </p:nvSpPr>
        <p:spPr>
          <a:xfrm>
            <a:off x="8503920" y="1783080"/>
            <a:ext cx="2559600" cy="1096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Aggregated</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Result</a:t>
            </a:r>
            <a:endParaRPr lang="en-CA" sz="1600" b="0" u="none" strike="noStrike">
              <a:solidFill>
                <a:srgbClr val="000000"/>
              </a:solidFill>
              <a:effectLst/>
              <a:uFillTx/>
              <a:latin typeface="Arial"/>
            </a:endParaRPr>
          </a:p>
        </p:txBody>
      </p:sp>
      <p:sp>
        <p:nvSpPr>
          <p:cNvPr id="398" name="Text 19"/>
          <p:cNvSpPr/>
          <p:nvPr/>
        </p:nvSpPr>
        <p:spPr>
          <a:xfrm>
            <a:off x="548640" y="4297680"/>
            <a:ext cx="10880640" cy="219384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400"/>
              </a:spcAft>
              <a:buClr>
                <a:srgbClr val="1A1A1A"/>
              </a:buClr>
              <a:buFont typeface="Symbol" charset="2"/>
              <a:buChar char=""/>
            </a:pPr>
            <a:r>
              <a:rPr lang="en-US" sz="1700" b="1" u="none" strike="noStrike">
                <a:solidFill>
                  <a:srgbClr val="1A1A1A"/>
                </a:solidFill>
                <a:effectLst/>
                <a:uFillTx/>
                <a:latin typeface="Calibri"/>
                <a:ea typeface="Calibri"/>
              </a:rPr>
              <a:t>The LLM writes the whole plan up front, before any tool is called</a:t>
            </a:r>
            <a:endParaRPr lang="en-CA" sz="170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700" b="1" u="none" strike="noStrike">
                <a:solidFill>
                  <a:srgbClr val="1A1A1A"/>
                </a:solidFill>
                <a:effectLst/>
                <a:uFillTx/>
                <a:latin typeface="Calibri"/>
                <a:ea typeface="Calibri"/>
              </a:rPr>
              <a:t>An executor (often simpler / cheaper logic) works through the steps</a:t>
            </a:r>
            <a:endParaRPr lang="en-CA" sz="170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700" b="1" u="none" strike="noStrike">
                <a:solidFill>
                  <a:srgbClr val="1A1A1A"/>
                </a:solidFill>
                <a:effectLst/>
                <a:uFillTx/>
                <a:latin typeface="Calibri"/>
                <a:ea typeface="Calibri"/>
              </a:rPr>
              <a:t>Easier to review and approve a plan before it runs — useful for higher-stakes actions</a:t>
            </a:r>
            <a:endParaRPr lang="en-CA" sz="170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700" b="1" u="none" strike="noStrike">
                <a:solidFill>
                  <a:srgbClr val="1A1A1A"/>
                </a:solidFill>
                <a:effectLst/>
                <a:uFillTx/>
                <a:latin typeface="Calibri"/>
                <a:ea typeface="Calibri"/>
              </a:rPr>
              <a:t>Weaker when the right next step truly depends on an earlier result — then ReAct fits better</a:t>
            </a:r>
            <a:endParaRPr lang="en-CA" sz="1700" b="0" u="none" strike="noStrike">
              <a:solidFill>
                <a:srgbClr val="000000"/>
              </a:solidFill>
              <a:effectLst/>
              <a:uFillTx/>
              <a:latin typeface="Arial"/>
            </a:endParaRPr>
          </a:p>
        </p:txBody>
      </p:sp>
      <p:sp>
        <p:nvSpPr>
          <p:cNvPr id="399" name="Text 20"/>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400" name="Text 21"/>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19</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1"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REASONING PATTERNS · 3 OF 3</a:t>
            </a:r>
            <a:endParaRPr lang="en-CA" sz="1400" b="0" u="none" strike="noStrike">
              <a:solidFill>
                <a:srgbClr val="000000"/>
              </a:solidFill>
              <a:effectLst/>
              <a:uFillTx/>
              <a:latin typeface="Arial"/>
            </a:endParaRPr>
          </a:p>
        </p:txBody>
      </p:sp>
      <p:sp>
        <p:nvSpPr>
          <p:cNvPr id="402"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Reflection — Self-Critique</a:t>
            </a:r>
            <a:endParaRPr lang="en-CA" sz="3400" b="0" u="none" strike="noStrike">
              <a:solidFill>
                <a:srgbClr val="000000"/>
              </a:solidFill>
              <a:effectLst/>
              <a:uFillTx/>
              <a:latin typeface="Arial"/>
            </a:endParaRPr>
          </a:p>
        </p:txBody>
      </p:sp>
      <p:sp>
        <p:nvSpPr>
          <p:cNvPr id="403" name="Shape 2"/>
          <p:cNvSpPr/>
          <p:nvPr/>
        </p:nvSpPr>
        <p:spPr>
          <a:xfrm>
            <a:off x="822960" y="1965960"/>
            <a:ext cx="2925360" cy="1416600"/>
          </a:xfrm>
          <a:prstGeom prst="roundRect">
            <a:avLst>
              <a:gd name="adj" fmla="val 5161"/>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04" name="Text 3"/>
          <p:cNvSpPr/>
          <p:nvPr/>
        </p:nvSpPr>
        <p:spPr>
          <a:xfrm>
            <a:off x="868680" y="1965960"/>
            <a:ext cx="2833920" cy="1416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Draft</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an answer</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or action</a:t>
            </a:r>
            <a:endParaRPr lang="en-CA" sz="1600" b="0" u="none" strike="noStrike">
              <a:solidFill>
                <a:srgbClr val="000000"/>
              </a:solidFill>
              <a:effectLst/>
              <a:uFillTx/>
              <a:latin typeface="Arial"/>
            </a:endParaRPr>
          </a:p>
        </p:txBody>
      </p:sp>
      <p:sp>
        <p:nvSpPr>
          <p:cNvPr id="405" name="Shape 4"/>
          <p:cNvSpPr/>
          <p:nvPr/>
        </p:nvSpPr>
        <p:spPr>
          <a:xfrm>
            <a:off x="3794760" y="2583360"/>
            <a:ext cx="547920" cy="20052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406" name="Shape 5"/>
          <p:cNvSpPr/>
          <p:nvPr/>
        </p:nvSpPr>
        <p:spPr>
          <a:xfrm>
            <a:off x="4389120" y="1965960"/>
            <a:ext cx="2925360" cy="1416600"/>
          </a:xfrm>
          <a:prstGeom prst="roundRect">
            <a:avLst>
              <a:gd name="adj" fmla="val 5161"/>
            </a:avLst>
          </a:prstGeom>
          <a:solidFill>
            <a:srgbClr val="1E2761"/>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407" name="Text 6"/>
          <p:cNvSpPr/>
          <p:nvPr/>
        </p:nvSpPr>
        <p:spPr>
          <a:xfrm>
            <a:off x="4434840" y="1965960"/>
            <a:ext cx="2833920" cy="1416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Critique</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FFFFFF"/>
                </a:solidFill>
                <a:effectLst/>
                <a:uFillTx/>
                <a:latin typeface="Calibri"/>
                <a:ea typeface="Calibri"/>
              </a:rPr>
              <a:t>"did this actually</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FFFFFF"/>
                </a:solidFill>
                <a:effectLst/>
                <a:uFillTx/>
                <a:latin typeface="Calibri"/>
                <a:ea typeface="Calibri"/>
              </a:rPr>
              <a:t>solve the goal?"</a:t>
            </a:r>
            <a:endParaRPr lang="en-CA" sz="1600" b="0" u="none" strike="noStrike">
              <a:solidFill>
                <a:srgbClr val="000000"/>
              </a:solidFill>
              <a:effectLst/>
              <a:uFillTx/>
              <a:latin typeface="Arial"/>
            </a:endParaRPr>
          </a:p>
        </p:txBody>
      </p:sp>
      <p:sp>
        <p:nvSpPr>
          <p:cNvPr id="408" name="Shape 7"/>
          <p:cNvSpPr/>
          <p:nvPr/>
        </p:nvSpPr>
        <p:spPr>
          <a:xfrm>
            <a:off x="7360920" y="2583360"/>
            <a:ext cx="547920" cy="200520"/>
          </a:xfrm>
          <a:prstGeom prst="rightArrow">
            <a:avLst>
              <a:gd name="adj1" fmla="val 50000"/>
              <a:gd name="adj2" fmla="val 50000"/>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409" name="Shape 8"/>
          <p:cNvSpPr/>
          <p:nvPr/>
        </p:nvSpPr>
        <p:spPr>
          <a:xfrm>
            <a:off x="7955280" y="1965960"/>
            <a:ext cx="2925360" cy="1416600"/>
          </a:xfrm>
          <a:prstGeom prst="roundRect">
            <a:avLst>
              <a:gd name="adj" fmla="val 5161"/>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10" name="Text 9"/>
          <p:cNvSpPr/>
          <p:nvPr/>
        </p:nvSpPr>
        <p:spPr>
          <a:xfrm>
            <a:off x="8001000" y="1965960"/>
            <a:ext cx="2833920" cy="1416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Revise</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fix the plan</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or the answer</a:t>
            </a:r>
            <a:endParaRPr lang="en-CA" sz="1600" b="0" u="none" strike="noStrike">
              <a:solidFill>
                <a:srgbClr val="000000"/>
              </a:solidFill>
              <a:effectLst/>
              <a:uFillTx/>
              <a:latin typeface="Arial"/>
            </a:endParaRPr>
          </a:p>
        </p:txBody>
      </p:sp>
      <p:sp>
        <p:nvSpPr>
          <p:cNvPr id="411" name="Text 10"/>
          <p:cNvSpPr/>
          <p:nvPr/>
        </p:nvSpPr>
        <p:spPr>
          <a:xfrm>
            <a:off x="822960" y="3657600"/>
            <a:ext cx="1060632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i="1" u="none" strike="noStrike">
                <a:solidFill>
                  <a:srgbClr val="00A896"/>
                </a:solidFill>
                <a:effectLst/>
                <a:uFillTx/>
                <a:latin typeface="Calibri"/>
                <a:ea typeface="Calibri"/>
              </a:rPr>
              <a:t>↺ the agent can loop through this more than once before answering</a:t>
            </a:r>
            <a:endParaRPr lang="en-CA" sz="1600" b="0" u="none" strike="noStrike">
              <a:solidFill>
                <a:srgbClr val="000000"/>
              </a:solidFill>
              <a:effectLst/>
              <a:uFillTx/>
              <a:latin typeface="Arial"/>
            </a:endParaRPr>
          </a:p>
        </p:txBody>
      </p:sp>
      <p:sp>
        <p:nvSpPr>
          <p:cNvPr id="412" name="Text 11"/>
          <p:cNvSpPr/>
          <p:nvPr/>
        </p:nvSpPr>
        <p:spPr>
          <a:xfrm>
            <a:off x="548640" y="4251960"/>
            <a:ext cx="10880640" cy="173664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400"/>
              </a:spcAft>
              <a:buClr>
                <a:srgbClr val="1A1A1A"/>
              </a:buClr>
              <a:buFont typeface="Symbol" charset="2"/>
              <a:buChar char=""/>
            </a:pPr>
            <a:r>
              <a:rPr lang="en-US" sz="1700" b="1" u="none" strike="noStrike">
                <a:solidFill>
                  <a:srgbClr val="1A1A1A"/>
                </a:solidFill>
                <a:effectLst/>
                <a:uFillTx/>
                <a:latin typeface="Calibri"/>
                <a:ea typeface="Calibri"/>
              </a:rPr>
              <a:t>The agent uses a second LLM pass to check its own work before returning it</a:t>
            </a:r>
            <a:endParaRPr lang="en-CA" sz="170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700" b="1" u="none" strike="noStrike">
                <a:solidFill>
                  <a:srgbClr val="1A1A1A"/>
                </a:solidFill>
                <a:effectLst/>
                <a:uFillTx/>
                <a:latin typeface="Calibri"/>
                <a:ea typeface="Calibri"/>
              </a:rPr>
              <a:t>Catches obvious mistakes: a wrong file path, a tool call that failed silently, a plan that skipped a step</a:t>
            </a:r>
            <a:endParaRPr lang="en-CA" sz="170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700" b="1" u="none" strike="noStrike">
                <a:solidFill>
                  <a:srgbClr val="1A1A1A"/>
                </a:solidFill>
                <a:effectLst/>
                <a:uFillTx/>
                <a:latin typeface="Calibri"/>
                <a:ea typeface="Calibri"/>
              </a:rPr>
              <a:t>Costs extra tokens and time — usually reserved for higher-stakes or complex tasks</a:t>
            </a:r>
            <a:endParaRPr lang="en-CA" sz="1700" b="0" u="none" strike="noStrike">
              <a:solidFill>
                <a:srgbClr val="000000"/>
              </a:solidFill>
              <a:effectLst/>
              <a:uFillTx/>
              <a:latin typeface="Arial"/>
            </a:endParaRPr>
          </a:p>
        </p:txBody>
      </p:sp>
      <p:sp>
        <p:nvSpPr>
          <p:cNvPr id="413" name="Text 12"/>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414" name="Text 13"/>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20</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5"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MULTI-AGENT SYSTEMS</a:t>
            </a:r>
            <a:endParaRPr lang="en-CA" sz="1400" b="0" u="none" strike="noStrike">
              <a:solidFill>
                <a:srgbClr val="000000"/>
              </a:solidFill>
              <a:effectLst/>
              <a:uFillTx/>
              <a:latin typeface="Arial"/>
            </a:endParaRPr>
          </a:p>
        </p:txBody>
      </p:sp>
      <p:sp>
        <p:nvSpPr>
          <p:cNvPr id="416"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Why One Agent Isn’t Always Enough</a:t>
            </a:r>
            <a:endParaRPr lang="en-CA" sz="3400" b="0" u="none" strike="noStrike">
              <a:solidFill>
                <a:srgbClr val="000000"/>
              </a:solidFill>
              <a:effectLst/>
              <a:uFillTx/>
              <a:latin typeface="Arial"/>
            </a:endParaRPr>
          </a:p>
        </p:txBody>
      </p:sp>
      <p:sp>
        <p:nvSpPr>
          <p:cNvPr id="417" name="Shape 2"/>
          <p:cNvSpPr/>
          <p:nvPr/>
        </p:nvSpPr>
        <p:spPr>
          <a:xfrm>
            <a:off x="9326880" y="731520"/>
            <a:ext cx="1965240" cy="196524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418" name="Image 0" descr="preencoded.png"/>
          <p:cNvPicPr/>
          <p:nvPr/>
        </p:nvPicPr>
        <p:blipFill>
          <a:blip r:embed="rId1"/>
          <a:stretch/>
        </p:blipFill>
        <p:spPr>
          <a:xfrm>
            <a:off x="9592200" y="996840"/>
            <a:ext cx="1434600" cy="1434600"/>
          </a:xfrm>
          <a:prstGeom prst="rect">
            <a:avLst/>
          </a:prstGeom>
          <a:noFill/>
          <a:ln w="0">
            <a:noFill/>
          </a:ln>
        </p:spPr>
      </p:pic>
      <p:sp>
        <p:nvSpPr>
          <p:cNvPr id="419" name="Text 3"/>
          <p:cNvSpPr/>
          <p:nvPr/>
        </p:nvSpPr>
        <p:spPr>
          <a:xfrm>
            <a:off x="548640" y="1828800"/>
            <a:ext cx="8686080" cy="420552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2401"/>
              </a:spcAft>
              <a:buClr>
                <a:srgbClr val="1A1A1A"/>
              </a:buClr>
              <a:buFont typeface="Symbol" charset="2"/>
              <a:buChar char=""/>
            </a:pPr>
            <a:r>
              <a:rPr lang="en-US" sz="2000" b="0" u="none" strike="noStrike">
                <a:solidFill>
                  <a:srgbClr val="1A1A1A"/>
                </a:solidFill>
                <a:effectLst/>
                <a:uFillTx/>
                <a:latin typeface="Calibri"/>
                <a:ea typeface="Calibri"/>
              </a:rPr>
              <a:t>A single agent juggling too many tools and instructions gets confused — it forgets constraints and mixes up unrelated tasks</a:t>
            </a:r>
            <a:endParaRPr lang="en-CA" sz="2000" b="0" u="none" strike="noStrike">
              <a:solidFill>
                <a:srgbClr val="000000"/>
              </a:solidFill>
              <a:effectLst/>
              <a:uFillTx/>
              <a:latin typeface="Arial"/>
            </a:endParaRPr>
          </a:p>
          <a:p>
            <a:pPr marL="254160" indent="-254160" defTabSz="914400">
              <a:lnSpc>
                <a:spcPct val="110000"/>
              </a:lnSpc>
              <a:spcAft>
                <a:spcPts val="2401"/>
              </a:spcAft>
              <a:buClr>
                <a:srgbClr val="1A1A1A"/>
              </a:buClr>
              <a:buFont typeface="Symbol" charset="2"/>
              <a:buChar char=""/>
            </a:pPr>
            <a:r>
              <a:rPr lang="en-US" sz="2000" b="1" u="none" strike="noStrike">
                <a:solidFill>
                  <a:srgbClr val="1A1A1A"/>
                </a:solidFill>
                <a:effectLst/>
                <a:uFillTx/>
                <a:latin typeface="Calibri"/>
                <a:ea typeface="Calibri"/>
              </a:rPr>
              <a:t>Splitting work by role keeps each agent’s instructions short, focused, and easier to test</a:t>
            </a:r>
            <a:endParaRPr lang="en-CA" sz="2000" b="0" u="none" strike="noStrike">
              <a:solidFill>
                <a:srgbClr val="000000"/>
              </a:solidFill>
              <a:effectLst/>
              <a:uFillTx/>
              <a:latin typeface="Arial"/>
            </a:endParaRPr>
          </a:p>
          <a:p>
            <a:pPr marL="254160" indent="-254160" defTabSz="914400">
              <a:lnSpc>
                <a:spcPct val="110000"/>
              </a:lnSpc>
              <a:spcAft>
                <a:spcPts val="2401"/>
              </a:spcAft>
              <a:buClr>
                <a:srgbClr val="1A1A1A"/>
              </a:buClr>
              <a:buFont typeface="Symbol" charset="2"/>
              <a:buChar char=""/>
            </a:pPr>
            <a:r>
              <a:rPr lang="en-US" sz="2000" b="1" u="none" strike="noStrike">
                <a:solidFill>
                  <a:srgbClr val="1A1A1A"/>
                </a:solidFill>
                <a:effectLst/>
                <a:uFillTx/>
                <a:latin typeface="Calibri"/>
                <a:ea typeface="Calibri"/>
              </a:rPr>
              <a:t>Some tasks are naturally parallel — e.g. researching five sources at once</a:t>
            </a:r>
            <a:endParaRPr lang="en-CA" sz="2000" b="0" u="none" strike="noStrike">
              <a:solidFill>
                <a:srgbClr val="000000"/>
              </a:solidFill>
              <a:effectLst/>
              <a:uFillTx/>
              <a:latin typeface="Arial"/>
            </a:endParaRPr>
          </a:p>
          <a:p>
            <a:pPr marL="254160" indent="-254160" defTabSz="914400">
              <a:lnSpc>
                <a:spcPct val="110000"/>
              </a:lnSpc>
              <a:spcAft>
                <a:spcPts val="2401"/>
              </a:spcAft>
              <a:buClr>
                <a:srgbClr val="1A1A1A"/>
              </a:buClr>
              <a:buFont typeface="Symbol" charset="2"/>
              <a:buChar char=""/>
            </a:pPr>
            <a:r>
              <a:rPr lang="en-US" sz="2000" b="1" u="none" strike="noStrike">
                <a:solidFill>
                  <a:srgbClr val="1A1A1A"/>
                </a:solidFill>
                <a:effectLst/>
                <a:uFillTx/>
                <a:latin typeface="Calibri"/>
                <a:ea typeface="Calibri"/>
              </a:rPr>
              <a:t>This is where "agentic AI" as a system-level idea becomes necessary, not just one agent</a:t>
            </a:r>
            <a:endParaRPr lang="en-CA" sz="2000" b="0" u="none" strike="noStrike">
              <a:solidFill>
                <a:srgbClr val="000000"/>
              </a:solidFill>
              <a:effectLst/>
              <a:uFillTx/>
              <a:latin typeface="Arial"/>
            </a:endParaRPr>
          </a:p>
        </p:txBody>
      </p:sp>
      <p:sp>
        <p:nvSpPr>
          <p:cNvPr id="420" name="Text 4"/>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421" name="Text 5"/>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21</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2"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MULTI-AGENT SYSTEMS</a:t>
            </a:r>
            <a:endParaRPr lang="en-CA" sz="1400" b="0" u="none" strike="noStrike">
              <a:solidFill>
                <a:srgbClr val="000000"/>
              </a:solidFill>
              <a:effectLst/>
              <a:uFillTx/>
              <a:latin typeface="Arial"/>
            </a:endParaRPr>
          </a:p>
        </p:txBody>
      </p:sp>
      <p:sp>
        <p:nvSpPr>
          <p:cNvPr id="423"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A Common Pattern: Orchestrator — Workers</a:t>
            </a:r>
            <a:endParaRPr lang="en-CA" sz="3400" b="0" u="none" strike="noStrike">
              <a:solidFill>
                <a:srgbClr val="000000"/>
              </a:solidFill>
              <a:effectLst/>
              <a:uFillTx/>
              <a:latin typeface="Arial"/>
            </a:endParaRPr>
          </a:p>
        </p:txBody>
      </p:sp>
      <p:sp>
        <p:nvSpPr>
          <p:cNvPr id="424" name="Shape 2"/>
          <p:cNvSpPr/>
          <p:nvPr/>
        </p:nvSpPr>
        <p:spPr>
          <a:xfrm>
            <a:off x="4768560" y="1828800"/>
            <a:ext cx="2651040" cy="1142280"/>
          </a:xfrm>
          <a:prstGeom prst="roundRect">
            <a:avLst>
              <a:gd name="adj" fmla="val 6400"/>
            </a:avLst>
          </a:prstGeom>
          <a:solidFill>
            <a:srgbClr val="1E2761"/>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425" name="Text 3"/>
          <p:cNvSpPr/>
          <p:nvPr/>
        </p:nvSpPr>
        <p:spPr>
          <a:xfrm>
            <a:off x="4814280" y="1828800"/>
            <a:ext cx="2559600" cy="1142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FFFFFF"/>
                </a:solidFill>
                <a:effectLst/>
                <a:uFillTx/>
                <a:latin typeface="Calibri"/>
                <a:ea typeface="Calibri"/>
              </a:rPr>
              <a:t>Orchestrator</a:t>
            </a:r>
            <a:endParaRPr lang="en-CA" sz="1700" b="0" u="none" strike="noStrike">
              <a:solidFill>
                <a:srgbClr val="000000"/>
              </a:solidFill>
              <a:effectLst/>
              <a:uFillTx/>
              <a:latin typeface="Arial"/>
            </a:endParaRPr>
          </a:p>
          <a:p>
            <a:pPr algn="ctr" defTabSz="914400">
              <a:lnSpc>
                <a:spcPct val="100000"/>
              </a:lnSpc>
              <a:tabLst>
                <a:tab pos="0" algn="l"/>
              </a:tabLst>
            </a:pPr>
            <a:r>
              <a:rPr lang="en-US" sz="1700" b="1" u="none" strike="noStrike">
                <a:solidFill>
                  <a:srgbClr val="FFFFFF"/>
                </a:solidFill>
                <a:effectLst/>
                <a:uFillTx/>
                <a:latin typeface="Calibri"/>
                <a:ea typeface="Calibri"/>
              </a:rPr>
              <a:t>Agent</a:t>
            </a:r>
            <a:endParaRPr lang="en-CA" sz="1700" b="0" u="none" strike="noStrike">
              <a:solidFill>
                <a:srgbClr val="000000"/>
              </a:solidFill>
              <a:effectLst/>
              <a:uFillTx/>
              <a:latin typeface="Arial"/>
            </a:endParaRPr>
          </a:p>
        </p:txBody>
      </p:sp>
      <p:sp>
        <p:nvSpPr>
          <p:cNvPr id="426" name="Shape 4"/>
          <p:cNvSpPr/>
          <p:nvPr/>
        </p:nvSpPr>
        <p:spPr>
          <a:xfrm>
            <a:off x="1522440" y="3749040"/>
            <a:ext cx="2285280" cy="1050840"/>
          </a:xfrm>
          <a:prstGeom prst="roundRect">
            <a:avLst>
              <a:gd name="adj" fmla="val 6957"/>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27" name="Text 5"/>
          <p:cNvSpPr/>
          <p:nvPr/>
        </p:nvSpPr>
        <p:spPr>
          <a:xfrm>
            <a:off x="1568160" y="3749040"/>
            <a:ext cx="2193840" cy="1050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Search</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Agent</a:t>
            </a:r>
            <a:endParaRPr lang="en-CA" sz="1600" b="0" u="none" strike="noStrike">
              <a:solidFill>
                <a:srgbClr val="000000"/>
              </a:solidFill>
              <a:effectLst/>
              <a:uFillTx/>
              <a:latin typeface="Arial"/>
            </a:endParaRPr>
          </a:p>
        </p:txBody>
      </p:sp>
      <p:sp>
        <p:nvSpPr>
          <p:cNvPr id="428" name="Shape 6"/>
          <p:cNvSpPr/>
          <p:nvPr/>
        </p:nvSpPr>
        <p:spPr>
          <a:xfrm flipH="1">
            <a:off x="2665440" y="2971800"/>
            <a:ext cx="3429000" cy="777240"/>
          </a:xfrm>
          <a:prstGeom prst="line">
            <a:avLst/>
          </a:prstGeom>
          <a:ln w="28575">
            <a:solidFill>
              <a:srgbClr val="00A896"/>
            </a:solidFill>
            <a:round/>
            <a:tailEnd len="med" type="triangle" w="med"/>
          </a:ln>
        </p:spPr>
        <p:style>
          <a:lnRef idx="0"/>
          <a:fillRef idx="0"/>
          <a:effectRef idx="0"/>
          <a:fontRef idx="minor"/>
        </p:style>
        <p:txBody>
          <a:bodyPr lIns="90000" tIns="45000" rIns="90000" bIns="45000" anchor="t" anchorCtr="1">
            <a:noAutofit/>
          </a:bodyPr>
          <a:p>
            <a:endParaRPr lang="en-CA" sz="1800" b="0" u="none" strike="noStrike">
              <a:solidFill>
                <a:srgbClr val="000000"/>
              </a:solidFill>
              <a:effectLst/>
              <a:uFillTx/>
              <a:latin typeface="Arial"/>
            </a:endParaRPr>
          </a:p>
        </p:txBody>
      </p:sp>
      <p:sp>
        <p:nvSpPr>
          <p:cNvPr id="429" name="Shape 7"/>
          <p:cNvSpPr/>
          <p:nvPr/>
        </p:nvSpPr>
        <p:spPr>
          <a:xfrm>
            <a:off x="4951440" y="3749040"/>
            <a:ext cx="2285280" cy="1050840"/>
          </a:xfrm>
          <a:prstGeom prst="roundRect">
            <a:avLst>
              <a:gd name="adj" fmla="val 6957"/>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30" name="Text 8"/>
          <p:cNvSpPr/>
          <p:nvPr/>
        </p:nvSpPr>
        <p:spPr>
          <a:xfrm>
            <a:off x="4997160" y="3749040"/>
            <a:ext cx="2193840" cy="1050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Analysis</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Agent</a:t>
            </a:r>
            <a:endParaRPr lang="en-CA" sz="1600" b="0" u="none" strike="noStrike">
              <a:solidFill>
                <a:srgbClr val="000000"/>
              </a:solidFill>
              <a:effectLst/>
              <a:uFillTx/>
              <a:latin typeface="Arial"/>
            </a:endParaRPr>
          </a:p>
        </p:txBody>
      </p:sp>
      <p:sp>
        <p:nvSpPr>
          <p:cNvPr id="431" name="Shape 9"/>
          <p:cNvSpPr/>
          <p:nvPr/>
        </p:nvSpPr>
        <p:spPr>
          <a:xfrm>
            <a:off x="6094440" y="2971800"/>
            <a:ext cx="9000" cy="777240"/>
          </a:xfrm>
          <a:prstGeom prst="line">
            <a:avLst/>
          </a:prstGeom>
          <a:ln w="28575">
            <a:solidFill>
              <a:srgbClr val="00A896"/>
            </a:solidFill>
            <a:round/>
            <a:tailEnd len="med" type="triangle" w="med"/>
          </a:ln>
        </p:spPr>
        <p:style>
          <a:lnRef idx="0"/>
          <a:fillRef idx="0"/>
          <a:effectRef idx="0"/>
          <a:fontRef idx="minor"/>
        </p:style>
        <p:txBody>
          <a:bodyPr lIns="4320" tIns="45000" rIns="4320" bIns="45000" anchor="t" anchorCtr="1">
            <a:noAutofit/>
          </a:bodyPr>
          <a:p>
            <a:endParaRPr lang="en-CA" sz="1800" b="0" u="none" strike="noStrike">
              <a:solidFill>
                <a:srgbClr val="000000"/>
              </a:solidFill>
              <a:effectLst/>
              <a:uFillTx/>
              <a:latin typeface="Arial"/>
            </a:endParaRPr>
          </a:p>
        </p:txBody>
      </p:sp>
      <p:sp>
        <p:nvSpPr>
          <p:cNvPr id="432" name="Shape 10"/>
          <p:cNvSpPr/>
          <p:nvPr/>
        </p:nvSpPr>
        <p:spPr>
          <a:xfrm>
            <a:off x="8380440" y="3749040"/>
            <a:ext cx="2285280" cy="1050840"/>
          </a:xfrm>
          <a:prstGeom prst="roundRect">
            <a:avLst>
              <a:gd name="adj" fmla="val 6957"/>
            </a:avLst>
          </a:prstGeom>
          <a:solidFill>
            <a:srgbClr val="EEF2FC"/>
          </a:solidFill>
          <a:ln w="15875">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33" name="Text 11"/>
          <p:cNvSpPr/>
          <p:nvPr/>
        </p:nvSpPr>
        <p:spPr>
          <a:xfrm>
            <a:off x="8426160" y="3749040"/>
            <a:ext cx="2193840" cy="1050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761"/>
                </a:solidFill>
                <a:effectLst/>
                <a:uFillTx/>
                <a:latin typeface="Calibri"/>
                <a:ea typeface="Calibri"/>
              </a:rPr>
              <a:t>Writer</a:t>
            </a:r>
            <a:endParaRPr lang="en-CA"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E2761"/>
                </a:solidFill>
                <a:effectLst/>
                <a:uFillTx/>
                <a:latin typeface="Calibri"/>
                <a:ea typeface="Calibri"/>
              </a:rPr>
              <a:t>Agent</a:t>
            </a:r>
            <a:endParaRPr lang="en-CA" sz="1600" b="0" u="none" strike="noStrike">
              <a:solidFill>
                <a:srgbClr val="000000"/>
              </a:solidFill>
              <a:effectLst/>
              <a:uFillTx/>
              <a:latin typeface="Arial"/>
            </a:endParaRPr>
          </a:p>
        </p:txBody>
      </p:sp>
      <p:sp>
        <p:nvSpPr>
          <p:cNvPr id="434" name="Shape 12"/>
          <p:cNvSpPr/>
          <p:nvPr/>
        </p:nvSpPr>
        <p:spPr>
          <a:xfrm>
            <a:off x="6094440" y="2971800"/>
            <a:ext cx="3429000" cy="777240"/>
          </a:xfrm>
          <a:prstGeom prst="line">
            <a:avLst/>
          </a:prstGeom>
          <a:ln w="28575">
            <a:solidFill>
              <a:srgbClr val="00A896"/>
            </a:solidFill>
            <a:round/>
            <a:tailEnd len="med" type="triangle" w="med"/>
          </a:ln>
        </p:spPr>
        <p:style>
          <a:lnRef idx="0"/>
          <a:fillRef idx="0"/>
          <a:effectRef idx="0"/>
          <a:fontRef idx="minor"/>
        </p:style>
        <p:txBody>
          <a:bodyPr lIns="90000" tIns="45000" rIns="90000" bIns="45000" anchor="t" anchorCtr="1">
            <a:noAutofit/>
          </a:bodyPr>
          <a:p>
            <a:endParaRPr lang="en-CA" sz="1800" b="0" u="none" strike="noStrike">
              <a:solidFill>
                <a:srgbClr val="000000"/>
              </a:solidFill>
              <a:effectLst/>
              <a:uFillTx/>
              <a:latin typeface="Arial"/>
            </a:endParaRPr>
          </a:p>
        </p:txBody>
      </p:sp>
      <p:sp>
        <p:nvSpPr>
          <p:cNvPr id="435" name="Text 13"/>
          <p:cNvSpPr/>
          <p:nvPr/>
        </p:nvSpPr>
        <p:spPr>
          <a:xfrm>
            <a:off x="548640" y="5074920"/>
            <a:ext cx="10880640" cy="155376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301"/>
              </a:spcAft>
              <a:buClr>
                <a:srgbClr val="1A1A1A"/>
              </a:buClr>
              <a:buFont typeface="Symbol" charset="2"/>
              <a:buChar char=""/>
            </a:pPr>
            <a:r>
              <a:rPr lang="en-US" sz="1650" b="1" u="none" strike="noStrike">
                <a:solidFill>
                  <a:srgbClr val="1A1A1A"/>
                </a:solidFill>
                <a:effectLst/>
                <a:uFillTx/>
                <a:latin typeface="Calibri"/>
                <a:ea typeface="Calibri"/>
              </a:rPr>
              <a:t>Orchestrator receives the goal, breaks it into subtasks, and delegates each to a specialised worker agent</a:t>
            </a:r>
            <a:endParaRPr lang="en-CA" sz="1650" b="0" u="none" strike="noStrike">
              <a:solidFill>
                <a:srgbClr val="000000"/>
              </a:solidFill>
              <a:effectLst/>
              <a:uFillTx/>
              <a:latin typeface="Arial"/>
            </a:endParaRPr>
          </a:p>
          <a:p>
            <a:pPr marL="254160" indent="-254160" defTabSz="914400">
              <a:lnSpc>
                <a:spcPct val="110000"/>
              </a:lnSpc>
              <a:spcAft>
                <a:spcPts val="1301"/>
              </a:spcAft>
              <a:buClr>
                <a:srgbClr val="1A1A1A"/>
              </a:buClr>
              <a:buFont typeface="Symbol" charset="2"/>
              <a:buChar char=""/>
            </a:pPr>
            <a:r>
              <a:rPr lang="en-US" sz="1650" b="1" u="none" strike="noStrike">
                <a:solidFill>
                  <a:srgbClr val="1A1A1A"/>
                </a:solidFill>
                <a:effectLst/>
                <a:uFillTx/>
                <a:latin typeface="Calibri"/>
                <a:ea typeface="Calibri"/>
              </a:rPr>
              <a:t>Each worker only needs the tools and instructions for its own narrow job</a:t>
            </a:r>
            <a:endParaRPr lang="en-CA" sz="1650" b="0" u="none" strike="noStrike">
              <a:solidFill>
                <a:srgbClr val="000000"/>
              </a:solidFill>
              <a:effectLst/>
              <a:uFillTx/>
              <a:latin typeface="Arial"/>
            </a:endParaRPr>
          </a:p>
          <a:p>
            <a:pPr marL="254160" indent="-254160" defTabSz="914400">
              <a:lnSpc>
                <a:spcPct val="110000"/>
              </a:lnSpc>
              <a:spcAft>
                <a:spcPts val="1301"/>
              </a:spcAft>
              <a:buClr>
                <a:srgbClr val="1A1A1A"/>
              </a:buClr>
              <a:buFont typeface="Symbol" charset="2"/>
              <a:buChar char=""/>
            </a:pPr>
            <a:r>
              <a:rPr lang="en-US" sz="1650" b="1" u="none" strike="noStrike">
                <a:solidFill>
                  <a:srgbClr val="1A1A1A"/>
                </a:solidFill>
                <a:effectLst/>
                <a:uFillTx/>
                <a:latin typeface="Calibri"/>
                <a:ea typeface="Calibri"/>
              </a:rPr>
              <a:t>The orchestrator collects results and decides the final answer — or loops back if a worker’s output is incomplete</a:t>
            </a:r>
            <a:endParaRPr lang="en-CA" sz="1650" b="0" u="none" strike="noStrike">
              <a:solidFill>
                <a:srgbClr val="000000"/>
              </a:solidFill>
              <a:effectLst/>
              <a:uFillTx/>
              <a:latin typeface="Arial"/>
            </a:endParaRPr>
          </a:p>
        </p:txBody>
      </p:sp>
      <p:sp>
        <p:nvSpPr>
          <p:cNvPr id="436" name="Text 14"/>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437" name="Text 15"/>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22</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8"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BUILDING AGENTS</a:t>
            </a:r>
            <a:endParaRPr lang="en-CA" sz="1400" b="0" u="none" strike="noStrike">
              <a:solidFill>
                <a:srgbClr val="000000"/>
              </a:solidFill>
              <a:effectLst/>
              <a:uFillTx/>
              <a:latin typeface="Arial"/>
            </a:endParaRPr>
          </a:p>
        </p:txBody>
      </p:sp>
      <p:sp>
        <p:nvSpPr>
          <p:cNvPr id="439"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How to Build an Agent — The Roadmap</a:t>
            </a:r>
            <a:endParaRPr lang="en-CA" sz="3400" b="0" u="none" strike="noStrike">
              <a:solidFill>
                <a:srgbClr val="000000"/>
              </a:solidFill>
              <a:effectLst/>
              <a:uFillTx/>
              <a:latin typeface="Arial"/>
            </a:endParaRPr>
          </a:p>
        </p:txBody>
      </p:sp>
      <p:sp>
        <p:nvSpPr>
          <p:cNvPr id="440" name="Text 2"/>
          <p:cNvSpPr/>
          <p:nvPr/>
        </p:nvSpPr>
        <p:spPr>
          <a:xfrm>
            <a:off x="548640" y="1417320"/>
            <a:ext cx="1106352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i="1" u="none" strike="noStrike">
                <a:solidFill>
                  <a:srgbClr val="6B7280"/>
                </a:solidFill>
                <a:effectLst/>
                <a:uFillTx/>
                <a:latin typeface="Calibri"/>
                <a:ea typeface="Calibri"/>
              </a:rPr>
              <a:t>Six steps, using Hermes as our running reference</a:t>
            </a:r>
            <a:endParaRPr lang="en-CA" sz="1800" b="0" u="none" strike="noStrike">
              <a:solidFill>
                <a:srgbClr val="000000"/>
              </a:solidFill>
              <a:effectLst/>
              <a:uFillTx/>
              <a:latin typeface="Arial"/>
            </a:endParaRPr>
          </a:p>
        </p:txBody>
      </p:sp>
      <p:sp>
        <p:nvSpPr>
          <p:cNvPr id="441" name="Shape 3"/>
          <p:cNvSpPr/>
          <p:nvPr/>
        </p:nvSpPr>
        <p:spPr>
          <a:xfrm>
            <a:off x="548640" y="2148840"/>
            <a:ext cx="5394240" cy="1096560"/>
          </a:xfrm>
          <a:prstGeom prst="roundRect">
            <a:avLst>
              <a:gd name="adj" fmla="val 7500"/>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42" name="Text 4"/>
          <p:cNvSpPr/>
          <p:nvPr/>
        </p:nvSpPr>
        <p:spPr>
          <a:xfrm>
            <a:off x="685800" y="2148840"/>
            <a:ext cx="685080" cy="1096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00A896"/>
                </a:solidFill>
                <a:effectLst/>
                <a:uFillTx/>
                <a:latin typeface="Cambria"/>
                <a:ea typeface="Cambria"/>
              </a:rPr>
              <a:t>1</a:t>
            </a:r>
            <a:endParaRPr lang="en-CA" sz="3000" b="0" u="none" strike="noStrike">
              <a:solidFill>
                <a:srgbClr val="000000"/>
              </a:solidFill>
              <a:effectLst/>
              <a:uFillTx/>
              <a:latin typeface="Arial"/>
            </a:endParaRPr>
          </a:p>
        </p:txBody>
      </p:sp>
      <p:sp>
        <p:nvSpPr>
          <p:cNvPr id="443" name="Text 5"/>
          <p:cNvSpPr/>
          <p:nvPr/>
        </p:nvSpPr>
        <p:spPr>
          <a:xfrm>
            <a:off x="1463040" y="2148840"/>
            <a:ext cx="4342680" cy="1096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E2761"/>
                </a:solidFill>
                <a:effectLst/>
                <a:uFillTx/>
                <a:latin typeface="Calibri"/>
                <a:ea typeface="Calibri"/>
              </a:rPr>
              <a:t>Define the goal &amp; scope</a:t>
            </a:r>
            <a:endParaRPr lang="en-CA" sz="1800" b="0" u="none" strike="noStrike">
              <a:solidFill>
                <a:srgbClr val="000000"/>
              </a:solidFill>
              <a:effectLst/>
              <a:uFillTx/>
              <a:latin typeface="Arial"/>
            </a:endParaRPr>
          </a:p>
        </p:txBody>
      </p:sp>
      <p:sp>
        <p:nvSpPr>
          <p:cNvPr id="444" name="Shape 6"/>
          <p:cNvSpPr/>
          <p:nvPr/>
        </p:nvSpPr>
        <p:spPr>
          <a:xfrm>
            <a:off x="548640" y="3520440"/>
            <a:ext cx="5394240" cy="1096560"/>
          </a:xfrm>
          <a:prstGeom prst="roundRect">
            <a:avLst>
              <a:gd name="adj" fmla="val 7500"/>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45" name="Text 7"/>
          <p:cNvSpPr/>
          <p:nvPr/>
        </p:nvSpPr>
        <p:spPr>
          <a:xfrm>
            <a:off x="685800" y="3520440"/>
            <a:ext cx="685080" cy="1096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00A896"/>
                </a:solidFill>
                <a:effectLst/>
                <a:uFillTx/>
                <a:latin typeface="Cambria"/>
                <a:ea typeface="Cambria"/>
              </a:rPr>
              <a:t>2</a:t>
            </a:r>
            <a:endParaRPr lang="en-CA" sz="3000" b="0" u="none" strike="noStrike">
              <a:solidFill>
                <a:srgbClr val="000000"/>
              </a:solidFill>
              <a:effectLst/>
              <a:uFillTx/>
              <a:latin typeface="Arial"/>
            </a:endParaRPr>
          </a:p>
        </p:txBody>
      </p:sp>
      <p:sp>
        <p:nvSpPr>
          <p:cNvPr id="446" name="Text 8"/>
          <p:cNvSpPr/>
          <p:nvPr/>
        </p:nvSpPr>
        <p:spPr>
          <a:xfrm>
            <a:off x="1463040" y="3520440"/>
            <a:ext cx="4342680" cy="1096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E2761"/>
                </a:solidFill>
                <a:effectLst/>
                <a:uFillTx/>
                <a:latin typeface="Calibri"/>
                <a:ea typeface="Calibri"/>
              </a:rPr>
              <a:t>Choose the LLM backend</a:t>
            </a:r>
            <a:endParaRPr lang="en-CA" sz="1800" b="0" u="none" strike="noStrike">
              <a:solidFill>
                <a:srgbClr val="000000"/>
              </a:solidFill>
              <a:effectLst/>
              <a:uFillTx/>
              <a:latin typeface="Arial"/>
            </a:endParaRPr>
          </a:p>
        </p:txBody>
      </p:sp>
      <p:sp>
        <p:nvSpPr>
          <p:cNvPr id="447" name="Shape 9"/>
          <p:cNvSpPr/>
          <p:nvPr/>
        </p:nvSpPr>
        <p:spPr>
          <a:xfrm>
            <a:off x="548640" y="4892040"/>
            <a:ext cx="5394240" cy="1096560"/>
          </a:xfrm>
          <a:prstGeom prst="roundRect">
            <a:avLst>
              <a:gd name="adj" fmla="val 7500"/>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48" name="Text 10"/>
          <p:cNvSpPr/>
          <p:nvPr/>
        </p:nvSpPr>
        <p:spPr>
          <a:xfrm>
            <a:off x="685800" y="4892040"/>
            <a:ext cx="685080" cy="1096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00A896"/>
                </a:solidFill>
                <a:effectLst/>
                <a:uFillTx/>
                <a:latin typeface="Cambria"/>
                <a:ea typeface="Cambria"/>
              </a:rPr>
              <a:t>3</a:t>
            </a:r>
            <a:endParaRPr lang="en-CA" sz="3000" b="0" u="none" strike="noStrike">
              <a:solidFill>
                <a:srgbClr val="000000"/>
              </a:solidFill>
              <a:effectLst/>
              <a:uFillTx/>
              <a:latin typeface="Arial"/>
            </a:endParaRPr>
          </a:p>
        </p:txBody>
      </p:sp>
      <p:sp>
        <p:nvSpPr>
          <p:cNvPr id="449" name="Text 11"/>
          <p:cNvSpPr/>
          <p:nvPr/>
        </p:nvSpPr>
        <p:spPr>
          <a:xfrm>
            <a:off x="1463040" y="4892040"/>
            <a:ext cx="4342680" cy="1096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E2761"/>
                </a:solidFill>
                <a:effectLst/>
                <a:uFillTx/>
                <a:latin typeface="Calibri"/>
                <a:ea typeface="Calibri"/>
              </a:rPr>
              <a:t>Give it tools</a:t>
            </a:r>
            <a:endParaRPr lang="en-CA" sz="1800" b="0" u="none" strike="noStrike">
              <a:solidFill>
                <a:srgbClr val="000000"/>
              </a:solidFill>
              <a:effectLst/>
              <a:uFillTx/>
              <a:latin typeface="Arial"/>
            </a:endParaRPr>
          </a:p>
        </p:txBody>
      </p:sp>
      <p:sp>
        <p:nvSpPr>
          <p:cNvPr id="450" name="Shape 12"/>
          <p:cNvSpPr/>
          <p:nvPr/>
        </p:nvSpPr>
        <p:spPr>
          <a:xfrm>
            <a:off x="6263640" y="2148840"/>
            <a:ext cx="5394240" cy="1096560"/>
          </a:xfrm>
          <a:prstGeom prst="roundRect">
            <a:avLst>
              <a:gd name="adj" fmla="val 7500"/>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51" name="Text 13"/>
          <p:cNvSpPr/>
          <p:nvPr/>
        </p:nvSpPr>
        <p:spPr>
          <a:xfrm>
            <a:off x="6400800" y="2148840"/>
            <a:ext cx="685080" cy="1096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00A896"/>
                </a:solidFill>
                <a:effectLst/>
                <a:uFillTx/>
                <a:latin typeface="Cambria"/>
                <a:ea typeface="Cambria"/>
              </a:rPr>
              <a:t>4</a:t>
            </a:r>
            <a:endParaRPr lang="en-CA" sz="3000" b="0" u="none" strike="noStrike">
              <a:solidFill>
                <a:srgbClr val="000000"/>
              </a:solidFill>
              <a:effectLst/>
              <a:uFillTx/>
              <a:latin typeface="Arial"/>
            </a:endParaRPr>
          </a:p>
        </p:txBody>
      </p:sp>
      <p:sp>
        <p:nvSpPr>
          <p:cNvPr id="452" name="Text 14"/>
          <p:cNvSpPr/>
          <p:nvPr/>
        </p:nvSpPr>
        <p:spPr>
          <a:xfrm>
            <a:off x="7178040" y="2148840"/>
            <a:ext cx="4342680" cy="1096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E2761"/>
                </a:solidFill>
                <a:effectLst/>
                <a:uFillTx/>
                <a:latin typeface="Calibri"/>
                <a:ea typeface="Calibri"/>
              </a:rPr>
              <a:t>Give it memory</a:t>
            </a:r>
            <a:endParaRPr lang="en-CA" sz="1800" b="0" u="none" strike="noStrike">
              <a:solidFill>
                <a:srgbClr val="000000"/>
              </a:solidFill>
              <a:effectLst/>
              <a:uFillTx/>
              <a:latin typeface="Arial"/>
            </a:endParaRPr>
          </a:p>
        </p:txBody>
      </p:sp>
      <p:sp>
        <p:nvSpPr>
          <p:cNvPr id="453" name="Shape 15"/>
          <p:cNvSpPr/>
          <p:nvPr/>
        </p:nvSpPr>
        <p:spPr>
          <a:xfrm>
            <a:off x="6263640" y="3520440"/>
            <a:ext cx="5394240" cy="1096560"/>
          </a:xfrm>
          <a:prstGeom prst="roundRect">
            <a:avLst>
              <a:gd name="adj" fmla="val 7500"/>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54" name="Text 16"/>
          <p:cNvSpPr/>
          <p:nvPr/>
        </p:nvSpPr>
        <p:spPr>
          <a:xfrm>
            <a:off x="6400800" y="3520440"/>
            <a:ext cx="685080" cy="1096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00A896"/>
                </a:solidFill>
                <a:effectLst/>
                <a:uFillTx/>
                <a:latin typeface="Cambria"/>
                <a:ea typeface="Cambria"/>
              </a:rPr>
              <a:t>5</a:t>
            </a:r>
            <a:endParaRPr lang="en-CA" sz="3000" b="0" u="none" strike="noStrike">
              <a:solidFill>
                <a:srgbClr val="000000"/>
              </a:solidFill>
              <a:effectLst/>
              <a:uFillTx/>
              <a:latin typeface="Arial"/>
            </a:endParaRPr>
          </a:p>
        </p:txBody>
      </p:sp>
      <p:sp>
        <p:nvSpPr>
          <p:cNvPr id="455" name="Text 17"/>
          <p:cNvSpPr/>
          <p:nvPr/>
        </p:nvSpPr>
        <p:spPr>
          <a:xfrm>
            <a:off x="7178040" y="3520440"/>
            <a:ext cx="4342680" cy="1096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E2761"/>
                </a:solidFill>
                <a:effectLst/>
                <a:uFillTx/>
                <a:latin typeface="Calibri"/>
                <a:ea typeface="Calibri"/>
              </a:rPr>
              <a:t>Add the reasoning loop</a:t>
            </a:r>
            <a:endParaRPr lang="en-CA" sz="1800" b="0" u="none" strike="noStrike">
              <a:solidFill>
                <a:srgbClr val="000000"/>
              </a:solidFill>
              <a:effectLst/>
              <a:uFillTx/>
              <a:latin typeface="Arial"/>
            </a:endParaRPr>
          </a:p>
        </p:txBody>
      </p:sp>
      <p:sp>
        <p:nvSpPr>
          <p:cNvPr id="456" name="Shape 18"/>
          <p:cNvSpPr/>
          <p:nvPr/>
        </p:nvSpPr>
        <p:spPr>
          <a:xfrm>
            <a:off x="6263640" y="4892040"/>
            <a:ext cx="5394240" cy="1096560"/>
          </a:xfrm>
          <a:prstGeom prst="roundRect">
            <a:avLst>
              <a:gd name="adj" fmla="val 7500"/>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57" name="Text 19"/>
          <p:cNvSpPr/>
          <p:nvPr/>
        </p:nvSpPr>
        <p:spPr>
          <a:xfrm>
            <a:off x="6400800" y="4892040"/>
            <a:ext cx="685080" cy="1096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00A896"/>
                </a:solidFill>
                <a:effectLst/>
                <a:uFillTx/>
                <a:latin typeface="Cambria"/>
                <a:ea typeface="Cambria"/>
              </a:rPr>
              <a:t>6</a:t>
            </a:r>
            <a:endParaRPr lang="en-CA" sz="3000" b="0" u="none" strike="noStrike">
              <a:solidFill>
                <a:srgbClr val="000000"/>
              </a:solidFill>
              <a:effectLst/>
              <a:uFillTx/>
              <a:latin typeface="Arial"/>
            </a:endParaRPr>
          </a:p>
        </p:txBody>
      </p:sp>
      <p:sp>
        <p:nvSpPr>
          <p:cNvPr id="458" name="Text 20"/>
          <p:cNvSpPr/>
          <p:nvPr/>
        </p:nvSpPr>
        <p:spPr>
          <a:xfrm>
            <a:off x="7178040" y="4892040"/>
            <a:ext cx="4342680" cy="1096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E2761"/>
                </a:solidFill>
                <a:effectLst/>
                <a:uFillTx/>
                <a:latin typeface="Calibri"/>
                <a:ea typeface="Calibri"/>
              </a:rPr>
              <a:t>Add guardrails &amp; test</a:t>
            </a:r>
            <a:endParaRPr lang="en-CA" sz="1800" b="0" u="none" strike="noStrike">
              <a:solidFill>
                <a:srgbClr val="000000"/>
              </a:solidFill>
              <a:effectLst/>
              <a:uFillTx/>
              <a:latin typeface="Arial"/>
            </a:endParaRPr>
          </a:p>
        </p:txBody>
      </p:sp>
      <p:sp>
        <p:nvSpPr>
          <p:cNvPr id="459" name="Text 21"/>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460" name="Text 22"/>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23</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1"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BUILDING AGENTS · STEPS 1–2</a:t>
            </a:r>
            <a:endParaRPr lang="en-CA" sz="1400" b="0" u="none" strike="noStrike">
              <a:solidFill>
                <a:srgbClr val="000000"/>
              </a:solidFill>
              <a:effectLst/>
              <a:uFillTx/>
              <a:latin typeface="Arial"/>
            </a:endParaRPr>
          </a:p>
        </p:txBody>
      </p:sp>
      <p:sp>
        <p:nvSpPr>
          <p:cNvPr id="462"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Define the Goal &amp; Choose the LLM Backend</a:t>
            </a:r>
            <a:endParaRPr lang="en-CA" sz="3400" b="0" u="none" strike="noStrike">
              <a:solidFill>
                <a:srgbClr val="000000"/>
              </a:solidFill>
              <a:effectLst/>
              <a:uFillTx/>
              <a:latin typeface="Arial"/>
            </a:endParaRPr>
          </a:p>
        </p:txBody>
      </p:sp>
      <p:sp>
        <p:nvSpPr>
          <p:cNvPr id="463" name="Shape 2"/>
          <p:cNvSpPr/>
          <p:nvPr/>
        </p:nvSpPr>
        <p:spPr>
          <a:xfrm>
            <a:off x="548640" y="1691640"/>
            <a:ext cx="5211360" cy="4205520"/>
          </a:xfrm>
          <a:prstGeom prst="roundRect">
            <a:avLst>
              <a:gd name="adj" fmla="val 2174"/>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64" name="Shape 3"/>
          <p:cNvSpPr/>
          <p:nvPr/>
        </p:nvSpPr>
        <p:spPr>
          <a:xfrm>
            <a:off x="868680" y="2011680"/>
            <a:ext cx="685080" cy="685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465" name="Image 0" descr="preencoded.png"/>
          <p:cNvPicPr/>
          <p:nvPr/>
        </p:nvPicPr>
        <p:blipFill>
          <a:blip r:embed="rId1"/>
          <a:stretch/>
        </p:blipFill>
        <p:spPr>
          <a:xfrm>
            <a:off x="961200" y="2104200"/>
            <a:ext cx="500040" cy="500040"/>
          </a:xfrm>
          <a:prstGeom prst="rect">
            <a:avLst/>
          </a:prstGeom>
          <a:noFill/>
          <a:ln w="0">
            <a:noFill/>
          </a:ln>
        </p:spPr>
      </p:pic>
      <p:sp>
        <p:nvSpPr>
          <p:cNvPr id="466" name="Text 4"/>
          <p:cNvSpPr/>
          <p:nvPr/>
        </p:nvSpPr>
        <p:spPr>
          <a:xfrm>
            <a:off x="868680" y="2862000"/>
            <a:ext cx="466272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50" b="1" u="none" strike="noStrike">
                <a:solidFill>
                  <a:srgbClr val="1E2761"/>
                </a:solidFill>
                <a:effectLst/>
                <a:uFillTx/>
                <a:latin typeface="Calibri"/>
                <a:ea typeface="Calibri"/>
              </a:rPr>
              <a:t>1. Define the Goal &amp; Scope</a:t>
            </a:r>
            <a:endParaRPr lang="en-CA" sz="1750" b="0" u="none" strike="noStrike">
              <a:solidFill>
                <a:srgbClr val="000000"/>
              </a:solidFill>
              <a:effectLst/>
              <a:uFillTx/>
              <a:latin typeface="Arial"/>
            </a:endParaRPr>
          </a:p>
        </p:txBody>
      </p:sp>
      <p:sp>
        <p:nvSpPr>
          <p:cNvPr id="467" name="Text 5"/>
          <p:cNvSpPr/>
          <p:nvPr/>
        </p:nvSpPr>
        <p:spPr>
          <a:xfrm>
            <a:off x="868680" y="3383280"/>
            <a:ext cx="4571280" cy="237672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400"/>
              </a:spcAft>
              <a:buClr>
                <a:srgbClr val="1A1A1A"/>
              </a:buClr>
              <a:buFont typeface="Symbol" charset="2"/>
              <a:buChar char=""/>
            </a:pPr>
            <a:r>
              <a:rPr lang="en-US" sz="1550" b="1" u="none" strike="noStrike">
                <a:solidFill>
                  <a:srgbClr val="1A1A1A"/>
                </a:solidFill>
                <a:effectLst/>
                <a:uFillTx/>
                <a:latin typeface="Calibri"/>
                <a:ea typeface="Calibri"/>
              </a:rPr>
              <a:t>What decisions is this agent allowed to make on its own?</a:t>
            </a:r>
            <a:endParaRPr lang="en-CA" sz="155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550" b="1" u="none" strike="noStrike">
                <a:solidFill>
                  <a:srgbClr val="1A1A1A"/>
                </a:solidFill>
                <a:effectLst/>
                <a:uFillTx/>
                <a:latin typeface="Calibri"/>
                <a:ea typeface="Calibri"/>
              </a:rPr>
              <a:t>What is explicitly out of scope? (Hermes should not, say, delete system files without confirmation)</a:t>
            </a:r>
            <a:endParaRPr lang="en-CA" sz="155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550" b="1" u="none" strike="noStrike">
                <a:solidFill>
                  <a:srgbClr val="1A1A1A"/>
                </a:solidFill>
                <a:effectLst/>
                <a:uFillTx/>
                <a:latin typeface="Calibri"/>
                <a:ea typeface="Calibri"/>
              </a:rPr>
              <a:t>Narrow scope = fewer surprises and easier testing</a:t>
            </a:r>
            <a:endParaRPr lang="en-CA" sz="1550" b="0" u="none" strike="noStrike">
              <a:solidFill>
                <a:srgbClr val="000000"/>
              </a:solidFill>
              <a:effectLst/>
              <a:uFillTx/>
              <a:latin typeface="Arial"/>
            </a:endParaRPr>
          </a:p>
        </p:txBody>
      </p:sp>
      <p:sp>
        <p:nvSpPr>
          <p:cNvPr id="468" name="Shape 6"/>
          <p:cNvSpPr/>
          <p:nvPr/>
        </p:nvSpPr>
        <p:spPr>
          <a:xfrm>
            <a:off x="6355080" y="1691640"/>
            <a:ext cx="5211360" cy="4205520"/>
          </a:xfrm>
          <a:prstGeom prst="roundRect">
            <a:avLst>
              <a:gd name="adj" fmla="val 2174"/>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469" name="Shape 7"/>
          <p:cNvSpPr/>
          <p:nvPr/>
        </p:nvSpPr>
        <p:spPr>
          <a:xfrm>
            <a:off x="6675120" y="2011680"/>
            <a:ext cx="685080" cy="68508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470" name="Image 1" descr="preencoded.png"/>
          <p:cNvPicPr/>
          <p:nvPr/>
        </p:nvPicPr>
        <p:blipFill>
          <a:blip r:embed="rId2"/>
          <a:stretch/>
        </p:blipFill>
        <p:spPr>
          <a:xfrm>
            <a:off x="6767640" y="2104200"/>
            <a:ext cx="500040" cy="500040"/>
          </a:xfrm>
          <a:prstGeom prst="rect">
            <a:avLst/>
          </a:prstGeom>
          <a:noFill/>
          <a:ln w="0">
            <a:noFill/>
          </a:ln>
        </p:spPr>
      </p:pic>
      <p:sp>
        <p:nvSpPr>
          <p:cNvPr id="471" name="Text 8"/>
          <p:cNvSpPr/>
          <p:nvPr/>
        </p:nvSpPr>
        <p:spPr>
          <a:xfrm>
            <a:off x="6675120" y="2862000"/>
            <a:ext cx="466272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50" b="1" u="none" strike="noStrike">
                <a:solidFill>
                  <a:srgbClr val="FFFFFF"/>
                </a:solidFill>
                <a:effectLst/>
                <a:uFillTx/>
                <a:latin typeface="Calibri"/>
                <a:ea typeface="Calibri"/>
              </a:rPr>
              <a:t>2. Choose the LLM Backend</a:t>
            </a:r>
            <a:endParaRPr lang="en-CA" sz="1750" b="0" u="none" strike="noStrike">
              <a:solidFill>
                <a:srgbClr val="000000"/>
              </a:solidFill>
              <a:effectLst/>
              <a:uFillTx/>
              <a:latin typeface="Arial"/>
            </a:endParaRPr>
          </a:p>
        </p:txBody>
      </p:sp>
      <p:sp>
        <p:nvSpPr>
          <p:cNvPr id="472" name="Text 9"/>
          <p:cNvSpPr/>
          <p:nvPr/>
        </p:nvSpPr>
        <p:spPr>
          <a:xfrm>
            <a:off x="6675120" y="3383280"/>
            <a:ext cx="4571280" cy="237672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400"/>
              </a:spcAft>
              <a:buClr>
                <a:srgbClr val="FFFFFF"/>
              </a:buClr>
              <a:buFont typeface="Symbol" charset="2"/>
              <a:buChar char=""/>
            </a:pPr>
            <a:r>
              <a:rPr lang="en-US" sz="1550" b="0" u="none" strike="noStrike">
                <a:solidFill>
                  <a:srgbClr val="FFFFFF"/>
                </a:solidFill>
                <a:effectLst/>
                <a:uFillTx/>
                <a:latin typeface="Calibri"/>
                <a:ea typeface="Calibri"/>
              </a:rPr>
              <a:t>Direct API to one provider — simple, but locked in</a:t>
            </a:r>
            <a:endParaRPr lang="en-CA" sz="1550" b="0" u="none" strike="noStrike">
              <a:solidFill>
                <a:srgbClr val="000000"/>
              </a:solidFill>
              <a:effectLst/>
              <a:uFillTx/>
              <a:latin typeface="Arial"/>
            </a:endParaRPr>
          </a:p>
          <a:p>
            <a:pPr marL="254160" indent="-254160" defTabSz="914400">
              <a:lnSpc>
                <a:spcPct val="110000"/>
              </a:lnSpc>
              <a:spcAft>
                <a:spcPts val="1400"/>
              </a:spcAft>
              <a:buClr>
                <a:srgbClr val="FFFFFF"/>
              </a:buClr>
              <a:buFont typeface="Symbol" charset="2"/>
              <a:buChar char=""/>
            </a:pPr>
            <a:r>
              <a:rPr lang="en-US" sz="1550" b="1" u="none" strike="noStrike">
                <a:solidFill>
                  <a:srgbClr val="FFFFFF"/>
                </a:solidFill>
                <a:effectLst/>
                <a:uFillTx/>
                <a:latin typeface="Calibri"/>
                <a:ea typeface="Calibri"/>
              </a:rPr>
              <a:t>A router such as OpenRouter — one integration, many models, easy to switch or A/B test</a:t>
            </a:r>
            <a:endParaRPr lang="en-CA" sz="1550" b="0" u="none" strike="noStrike">
              <a:solidFill>
                <a:srgbClr val="000000"/>
              </a:solidFill>
              <a:effectLst/>
              <a:uFillTx/>
              <a:latin typeface="Arial"/>
            </a:endParaRPr>
          </a:p>
          <a:p>
            <a:pPr marL="254160" indent="-254160" defTabSz="914400">
              <a:lnSpc>
                <a:spcPct val="110000"/>
              </a:lnSpc>
              <a:spcAft>
                <a:spcPts val="1400"/>
              </a:spcAft>
              <a:buClr>
                <a:srgbClr val="FFFFFF"/>
              </a:buClr>
              <a:buFont typeface="Symbol" charset="2"/>
              <a:buChar char=""/>
            </a:pPr>
            <a:r>
              <a:rPr lang="en-US" sz="1550" b="0" u="none" strike="noStrike">
                <a:solidFill>
                  <a:srgbClr val="FFFFFF"/>
                </a:solidFill>
                <a:effectLst/>
                <a:uFillTx/>
                <a:latin typeface="Calibri"/>
                <a:ea typeface="Calibri"/>
              </a:rPr>
              <a:t>This is exactly the choice Hermes made</a:t>
            </a:r>
            <a:endParaRPr lang="en-CA" sz="1550" b="0" u="none" strike="noStrike">
              <a:solidFill>
                <a:srgbClr val="000000"/>
              </a:solidFill>
              <a:effectLst/>
              <a:uFillTx/>
              <a:latin typeface="Arial"/>
            </a:endParaRPr>
          </a:p>
        </p:txBody>
      </p:sp>
      <p:sp>
        <p:nvSpPr>
          <p:cNvPr id="473" name="Text 10"/>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474" name="Text 11"/>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24</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5"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BUILDING AGENTS · STEPS 3–4</a:t>
            </a:r>
            <a:endParaRPr lang="en-CA" sz="1400" b="0" u="none" strike="noStrike">
              <a:solidFill>
                <a:srgbClr val="000000"/>
              </a:solidFill>
              <a:effectLst/>
              <a:uFillTx/>
              <a:latin typeface="Arial"/>
            </a:endParaRPr>
          </a:p>
        </p:txBody>
      </p:sp>
      <p:sp>
        <p:nvSpPr>
          <p:cNvPr id="476"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Give It Tools &amp; Memory</a:t>
            </a:r>
            <a:endParaRPr lang="en-CA" sz="3400" b="0" u="none" strike="noStrike">
              <a:solidFill>
                <a:srgbClr val="000000"/>
              </a:solidFill>
              <a:effectLst/>
              <a:uFillTx/>
              <a:latin typeface="Arial"/>
            </a:endParaRPr>
          </a:p>
        </p:txBody>
      </p:sp>
      <p:sp>
        <p:nvSpPr>
          <p:cNvPr id="477" name="Shape 2"/>
          <p:cNvSpPr/>
          <p:nvPr/>
        </p:nvSpPr>
        <p:spPr>
          <a:xfrm>
            <a:off x="548640" y="1691640"/>
            <a:ext cx="5211360" cy="4205520"/>
          </a:xfrm>
          <a:prstGeom prst="roundRect">
            <a:avLst>
              <a:gd name="adj" fmla="val 2174"/>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78" name="Shape 3"/>
          <p:cNvSpPr/>
          <p:nvPr/>
        </p:nvSpPr>
        <p:spPr>
          <a:xfrm>
            <a:off x="868680" y="2011680"/>
            <a:ext cx="685080" cy="685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479" name="Image 0" descr="preencoded.png"/>
          <p:cNvPicPr/>
          <p:nvPr/>
        </p:nvPicPr>
        <p:blipFill>
          <a:blip r:embed="rId1"/>
          <a:stretch/>
        </p:blipFill>
        <p:spPr>
          <a:xfrm>
            <a:off x="961200" y="2104200"/>
            <a:ext cx="500040" cy="500040"/>
          </a:xfrm>
          <a:prstGeom prst="rect">
            <a:avLst/>
          </a:prstGeom>
          <a:noFill/>
          <a:ln w="0">
            <a:noFill/>
          </a:ln>
        </p:spPr>
      </p:pic>
      <p:sp>
        <p:nvSpPr>
          <p:cNvPr id="480" name="Text 4"/>
          <p:cNvSpPr/>
          <p:nvPr/>
        </p:nvSpPr>
        <p:spPr>
          <a:xfrm>
            <a:off x="868680" y="2862000"/>
            <a:ext cx="466272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50" b="1" u="none" strike="noStrike">
                <a:solidFill>
                  <a:srgbClr val="1E2761"/>
                </a:solidFill>
                <a:effectLst/>
                <a:uFillTx/>
                <a:latin typeface="Calibri"/>
                <a:ea typeface="Calibri"/>
              </a:rPr>
              <a:t>3. Give It Tools</a:t>
            </a:r>
            <a:endParaRPr lang="en-CA" sz="1750" b="0" u="none" strike="noStrike">
              <a:solidFill>
                <a:srgbClr val="000000"/>
              </a:solidFill>
              <a:effectLst/>
              <a:uFillTx/>
              <a:latin typeface="Arial"/>
            </a:endParaRPr>
          </a:p>
        </p:txBody>
      </p:sp>
      <p:sp>
        <p:nvSpPr>
          <p:cNvPr id="481" name="Text 5"/>
          <p:cNvSpPr/>
          <p:nvPr/>
        </p:nvSpPr>
        <p:spPr>
          <a:xfrm>
            <a:off x="868680" y="3383280"/>
            <a:ext cx="4571280" cy="237672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400"/>
              </a:spcAft>
              <a:buClr>
                <a:srgbClr val="1A1A1A"/>
              </a:buClr>
              <a:buFont typeface="Symbol" charset="2"/>
              <a:buChar char=""/>
            </a:pPr>
            <a:r>
              <a:rPr lang="en-US" sz="1550" b="1" u="none" strike="noStrike">
                <a:solidFill>
                  <a:srgbClr val="1A1A1A"/>
                </a:solidFill>
                <a:effectLst/>
                <a:uFillTx/>
                <a:latin typeface="Calibri"/>
                <a:ea typeface="Calibri"/>
              </a:rPr>
              <a:t>Write a clear name, description, and argument schema for each tool</a:t>
            </a:r>
            <a:endParaRPr lang="en-CA" sz="155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550" b="1" u="none" strike="noStrike">
                <a:solidFill>
                  <a:srgbClr val="1A1A1A"/>
                </a:solidFill>
                <a:effectLst/>
                <a:uFillTx/>
                <a:latin typeface="Calibri"/>
                <a:ea typeface="Calibri"/>
              </a:rPr>
              <a:t>Start with the smallest useful tool set — add more once the core loop works</a:t>
            </a:r>
            <a:endParaRPr lang="en-CA" sz="155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550" b="1" u="none" strike="noStrike">
                <a:solidFill>
                  <a:srgbClr val="1A1A1A"/>
                </a:solidFill>
                <a:effectLst/>
                <a:uFillTx/>
                <a:latin typeface="Calibri"/>
                <a:ea typeface="Calibri"/>
              </a:rPr>
              <a:t>Test each tool on its own before wiring it to the LLM</a:t>
            </a:r>
            <a:endParaRPr lang="en-CA" sz="1550" b="0" u="none" strike="noStrike">
              <a:solidFill>
                <a:srgbClr val="000000"/>
              </a:solidFill>
              <a:effectLst/>
              <a:uFillTx/>
              <a:latin typeface="Arial"/>
            </a:endParaRPr>
          </a:p>
        </p:txBody>
      </p:sp>
      <p:sp>
        <p:nvSpPr>
          <p:cNvPr id="482" name="Shape 6"/>
          <p:cNvSpPr/>
          <p:nvPr/>
        </p:nvSpPr>
        <p:spPr>
          <a:xfrm>
            <a:off x="6355080" y="1691640"/>
            <a:ext cx="5211360" cy="4205520"/>
          </a:xfrm>
          <a:prstGeom prst="roundRect">
            <a:avLst>
              <a:gd name="adj" fmla="val 2174"/>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483" name="Shape 7"/>
          <p:cNvSpPr/>
          <p:nvPr/>
        </p:nvSpPr>
        <p:spPr>
          <a:xfrm>
            <a:off x="6675120" y="2011680"/>
            <a:ext cx="685080" cy="68508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484" name="Image 1" descr="preencoded.png"/>
          <p:cNvPicPr/>
          <p:nvPr/>
        </p:nvPicPr>
        <p:blipFill>
          <a:blip r:embed="rId2"/>
          <a:stretch/>
        </p:blipFill>
        <p:spPr>
          <a:xfrm>
            <a:off x="6767640" y="2104200"/>
            <a:ext cx="500040" cy="500040"/>
          </a:xfrm>
          <a:prstGeom prst="rect">
            <a:avLst/>
          </a:prstGeom>
          <a:noFill/>
          <a:ln w="0">
            <a:noFill/>
          </a:ln>
        </p:spPr>
      </p:pic>
      <p:sp>
        <p:nvSpPr>
          <p:cNvPr id="485" name="Text 8"/>
          <p:cNvSpPr/>
          <p:nvPr/>
        </p:nvSpPr>
        <p:spPr>
          <a:xfrm>
            <a:off x="6675120" y="2862000"/>
            <a:ext cx="466272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50" b="1" u="none" strike="noStrike">
                <a:solidFill>
                  <a:srgbClr val="FFFFFF"/>
                </a:solidFill>
                <a:effectLst/>
                <a:uFillTx/>
                <a:latin typeface="Calibri"/>
                <a:ea typeface="Calibri"/>
              </a:rPr>
              <a:t>4. Give It Memory</a:t>
            </a:r>
            <a:endParaRPr lang="en-CA" sz="1750" b="0" u="none" strike="noStrike">
              <a:solidFill>
                <a:srgbClr val="000000"/>
              </a:solidFill>
              <a:effectLst/>
              <a:uFillTx/>
              <a:latin typeface="Arial"/>
            </a:endParaRPr>
          </a:p>
        </p:txBody>
      </p:sp>
      <p:sp>
        <p:nvSpPr>
          <p:cNvPr id="486" name="Text 9"/>
          <p:cNvSpPr/>
          <p:nvPr/>
        </p:nvSpPr>
        <p:spPr>
          <a:xfrm>
            <a:off x="6675120" y="3383280"/>
            <a:ext cx="4571280" cy="237672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400"/>
              </a:spcAft>
              <a:buClr>
                <a:srgbClr val="FFFFFF"/>
              </a:buClr>
              <a:buFont typeface="Symbol" charset="2"/>
              <a:buChar char=""/>
            </a:pPr>
            <a:r>
              <a:rPr lang="en-US" sz="1550" b="0" u="none" strike="noStrike">
                <a:solidFill>
                  <a:srgbClr val="FFFFFF"/>
                </a:solidFill>
                <a:effectLst/>
                <a:uFillTx/>
                <a:latin typeface="Calibri"/>
                <a:ea typeface="Calibri"/>
              </a:rPr>
              <a:t>Short-term: pass recent turns and tool results back into the prompt</a:t>
            </a:r>
            <a:endParaRPr lang="en-CA" sz="1550" b="0" u="none" strike="noStrike">
              <a:solidFill>
                <a:srgbClr val="000000"/>
              </a:solidFill>
              <a:effectLst/>
              <a:uFillTx/>
              <a:latin typeface="Arial"/>
            </a:endParaRPr>
          </a:p>
          <a:p>
            <a:pPr marL="254160" indent="-254160" defTabSz="914400">
              <a:lnSpc>
                <a:spcPct val="110000"/>
              </a:lnSpc>
              <a:spcAft>
                <a:spcPts val="1400"/>
              </a:spcAft>
              <a:buClr>
                <a:srgbClr val="FFFFFF"/>
              </a:buClr>
              <a:buFont typeface="Symbol" charset="2"/>
              <a:buChar char=""/>
            </a:pPr>
            <a:r>
              <a:rPr lang="en-US" sz="1550" b="0" u="none" strike="noStrike">
                <a:solidFill>
                  <a:srgbClr val="FFFFFF"/>
                </a:solidFill>
                <a:effectLst/>
                <a:uFillTx/>
                <a:latin typeface="Calibri"/>
                <a:ea typeface="Calibri"/>
              </a:rPr>
              <a:t>Long-term: a simple database or file is enough to start — vector search only if you need semantic recall</a:t>
            </a:r>
            <a:endParaRPr lang="en-CA" sz="1550" b="0" u="none" strike="noStrike">
              <a:solidFill>
                <a:srgbClr val="000000"/>
              </a:solidFill>
              <a:effectLst/>
              <a:uFillTx/>
              <a:latin typeface="Arial"/>
            </a:endParaRPr>
          </a:p>
          <a:p>
            <a:pPr marL="254160" indent="-254160" defTabSz="914400">
              <a:lnSpc>
                <a:spcPct val="110000"/>
              </a:lnSpc>
              <a:spcAft>
                <a:spcPts val="1400"/>
              </a:spcAft>
              <a:buClr>
                <a:srgbClr val="FFFFFF"/>
              </a:buClr>
              <a:buFont typeface="Symbol" charset="2"/>
              <a:buChar char=""/>
            </a:pPr>
            <a:r>
              <a:rPr lang="en-US" sz="1550" b="0" u="none" strike="noStrike">
                <a:solidFill>
                  <a:srgbClr val="FFFFFF"/>
                </a:solidFill>
                <a:effectLst/>
                <a:uFillTx/>
                <a:latin typeface="Calibri"/>
                <a:ea typeface="Calibri"/>
              </a:rPr>
              <a:t>Decide what is worth remembering — not everything should persist</a:t>
            </a:r>
            <a:endParaRPr lang="en-CA" sz="1550" b="0" u="none" strike="noStrike">
              <a:solidFill>
                <a:srgbClr val="000000"/>
              </a:solidFill>
              <a:effectLst/>
              <a:uFillTx/>
              <a:latin typeface="Arial"/>
            </a:endParaRPr>
          </a:p>
        </p:txBody>
      </p:sp>
      <p:sp>
        <p:nvSpPr>
          <p:cNvPr id="487" name="Text 10"/>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488" name="Text 11"/>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25</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9"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BUILDING AGENTS · STEPS 5–6</a:t>
            </a:r>
            <a:endParaRPr lang="en-CA" sz="1400" b="0" u="none" strike="noStrike">
              <a:solidFill>
                <a:srgbClr val="000000"/>
              </a:solidFill>
              <a:effectLst/>
              <a:uFillTx/>
              <a:latin typeface="Arial"/>
            </a:endParaRPr>
          </a:p>
        </p:txBody>
      </p:sp>
      <p:sp>
        <p:nvSpPr>
          <p:cNvPr id="490"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Add the Reasoning Loop &amp; Guardrails</a:t>
            </a:r>
            <a:endParaRPr lang="en-CA" sz="3400" b="0" u="none" strike="noStrike">
              <a:solidFill>
                <a:srgbClr val="000000"/>
              </a:solidFill>
              <a:effectLst/>
              <a:uFillTx/>
              <a:latin typeface="Arial"/>
            </a:endParaRPr>
          </a:p>
        </p:txBody>
      </p:sp>
      <p:sp>
        <p:nvSpPr>
          <p:cNvPr id="491" name="Shape 2"/>
          <p:cNvSpPr/>
          <p:nvPr/>
        </p:nvSpPr>
        <p:spPr>
          <a:xfrm>
            <a:off x="548640" y="1691640"/>
            <a:ext cx="5211360" cy="4205520"/>
          </a:xfrm>
          <a:prstGeom prst="roundRect">
            <a:avLst>
              <a:gd name="adj" fmla="val 2174"/>
            </a:avLst>
          </a:prstGeom>
          <a:solidFill>
            <a:srgbClr val="EEF2FC"/>
          </a:solidFill>
          <a:ln w="12700">
            <a:solidFill>
              <a:srgbClr val="1E2761"/>
            </a:solidFill>
            <a:round/>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492" name="Shape 3"/>
          <p:cNvSpPr/>
          <p:nvPr/>
        </p:nvSpPr>
        <p:spPr>
          <a:xfrm>
            <a:off x="868680" y="2011680"/>
            <a:ext cx="685080" cy="68508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493" name="Image 0" descr="preencoded.png"/>
          <p:cNvPicPr/>
          <p:nvPr/>
        </p:nvPicPr>
        <p:blipFill>
          <a:blip r:embed="rId1"/>
          <a:stretch/>
        </p:blipFill>
        <p:spPr>
          <a:xfrm>
            <a:off x="961200" y="2104200"/>
            <a:ext cx="500040" cy="500040"/>
          </a:xfrm>
          <a:prstGeom prst="rect">
            <a:avLst/>
          </a:prstGeom>
          <a:noFill/>
          <a:ln w="0">
            <a:noFill/>
          </a:ln>
        </p:spPr>
      </p:pic>
      <p:sp>
        <p:nvSpPr>
          <p:cNvPr id="494" name="Text 4"/>
          <p:cNvSpPr/>
          <p:nvPr/>
        </p:nvSpPr>
        <p:spPr>
          <a:xfrm>
            <a:off x="868680" y="2862000"/>
            <a:ext cx="466272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50" b="1" u="none" strike="noStrike">
                <a:solidFill>
                  <a:srgbClr val="1E2761"/>
                </a:solidFill>
                <a:effectLst/>
                <a:uFillTx/>
                <a:latin typeface="Calibri"/>
                <a:ea typeface="Calibri"/>
              </a:rPr>
              <a:t>5. Add the Reasoning Loop</a:t>
            </a:r>
            <a:endParaRPr lang="en-CA" sz="1750" b="0" u="none" strike="noStrike">
              <a:solidFill>
                <a:srgbClr val="000000"/>
              </a:solidFill>
              <a:effectLst/>
              <a:uFillTx/>
              <a:latin typeface="Arial"/>
            </a:endParaRPr>
          </a:p>
        </p:txBody>
      </p:sp>
      <p:sp>
        <p:nvSpPr>
          <p:cNvPr id="495" name="Text 5"/>
          <p:cNvSpPr/>
          <p:nvPr/>
        </p:nvSpPr>
        <p:spPr>
          <a:xfrm>
            <a:off x="868680" y="3383280"/>
            <a:ext cx="4571280" cy="237672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400"/>
              </a:spcAft>
              <a:buClr>
                <a:srgbClr val="1A1A1A"/>
              </a:buClr>
              <a:buFont typeface="Symbol" charset="2"/>
              <a:buChar char=""/>
            </a:pPr>
            <a:r>
              <a:rPr lang="en-US" sz="1550" b="1" u="none" strike="noStrike">
                <a:solidFill>
                  <a:srgbClr val="1A1A1A"/>
                </a:solidFill>
                <a:effectLst/>
                <a:uFillTx/>
                <a:latin typeface="Calibri"/>
                <a:ea typeface="Calibri"/>
              </a:rPr>
              <a:t>Pick a pattern from earlier: ReAct for step-by-step tasks, Plan-and-Execute for reviewable plans</a:t>
            </a:r>
            <a:endParaRPr lang="en-CA" sz="1550" b="0" u="none" strike="noStrike">
              <a:solidFill>
                <a:srgbClr val="000000"/>
              </a:solidFill>
              <a:effectLst/>
              <a:uFillTx/>
              <a:latin typeface="Arial"/>
            </a:endParaRPr>
          </a:p>
          <a:p>
            <a:pPr marL="254160" indent="-254160" defTabSz="914400">
              <a:lnSpc>
                <a:spcPct val="110000"/>
              </a:lnSpc>
              <a:spcAft>
                <a:spcPts val="1400"/>
              </a:spcAft>
              <a:buClr>
                <a:srgbClr val="1A1A1A"/>
              </a:buClr>
              <a:buFont typeface="Symbol" charset="2"/>
              <a:buChar char=""/>
            </a:pPr>
            <a:r>
              <a:rPr lang="en-US" sz="1550" b="1" u="none" strike="noStrike">
                <a:solidFill>
                  <a:srgbClr val="1A1A1A"/>
                </a:solidFill>
                <a:effectLst/>
                <a:uFillTx/>
                <a:latin typeface="Calibri"/>
                <a:ea typeface="Calibri"/>
              </a:rPr>
              <a:t>Decide the stopping condition — goal met, max steps reached, or user confirmation needed</a:t>
            </a:r>
            <a:endParaRPr lang="en-CA" sz="1550" b="0" u="none" strike="noStrike">
              <a:solidFill>
                <a:srgbClr val="000000"/>
              </a:solidFill>
              <a:effectLst/>
              <a:uFillTx/>
              <a:latin typeface="Arial"/>
            </a:endParaRPr>
          </a:p>
        </p:txBody>
      </p:sp>
      <p:sp>
        <p:nvSpPr>
          <p:cNvPr id="496" name="Shape 6"/>
          <p:cNvSpPr/>
          <p:nvPr/>
        </p:nvSpPr>
        <p:spPr>
          <a:xfrm>
            <a:off x="6355080" y="1691640"/>
            <a:ext cx="5211360" cy="4205520"/>
          </a:xfrm>
          <a:prstGeom prst="roundRect">
            <a:avLst>
              <a:gd name="adj" fmla="val 2174"/>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sp>
        <p:nvSpPr>
          <p:cNvPr id="497" name="Shape 7"/>
          <p:cNvSpPr/>
          <p:nvPr/>
        </p:nvSpPr>
        <p:spPr>
          <a:xfrm>
            <a:off x="6675120" y="2011680"/>
            <a:ext cx="685080" cy="68508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498" name="Image 1" descr="preencoded.png"/>
          <p:cNvPicPr/>
          <p:nvPr/>
        </p:nvPicPr>
        <p:blipFill>
          <a:blip r:embed="rId2"/>
          <a:stretch/>
        </p:blipFill>
        <p:spPr>
          <a:xfrm>
            <a:off x="6767640" y="2104200"/>
            <a:ext cx="500040" cy="500040"/>
          </a:xfrm>
          <a:prstGeom prst="rect">
            <a:avLst/>
          </a:prstGeom>
          <a:noFill/>
          <a:ln w="0">
            <a:noFill/>
          </a:ln>
        </p:spPr>
      </p:pic>
      <p:sp>
        <p:nvSpPr>
          <p:cNvPr id="499" name="Text 8"/>
          <p:cNvSpPr/>
          <p:nvPr/>
        </p:nvSpPr>
        <p:spPr>
          <a:xfrm>
            <a:off x="6675120" y="2862000"/>
            <a:ext cx="466272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50" b="1" u="none" strike="noStrike">
                <a:solidFill>
                  <a:srgbClr val="FFFFFF"/>
                </a:solidFill>
                <a:effectLst/>
                <a:uFillTx/>
                <a:latin typeface="Calibri"/>
                <a:ea typeface="Calibri"/>
              </a:rPr>
              <a:t>6. Add Guardrails &amp; Test</a:t>
            </a:r>
            <a:endParaRPr lang="en-CA" sz="1750" b="0" u="none" strike="noStrike">
              <a:solidFill>
                <a:srgbClr val="000000"/>
              </a:solidFill>
              <a:effectLst/>
              <a:uFillTx/>
              <a:latin typeface="Arial"/>
            </a:endParaRPr>
          </a:p>
        </p:txBody>
      </p:sp>
      <p:sp>
        <p:nvSpPr>
          <p:cNvPr id="500" name="Text 9"/>
          <p:cNvSpPr/>
          <p:nvPr/>
        </p:nvSpPr>
        <p:spPr>
          <a:xfrm>
            <a:off x="6675120" y="3383280"/>
            <a:ext cx="4571280" cy="237672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400"/>
              </a:spcAft>
              <a:buClr>
                <a:srgbClr val="FFFFFF"/>
              </a:buClr>
              <a:buFont typeface="Symbol" charset="2"/>
              <a:buChar char=""/>
            </a:pPr>
            <a:r>
              <a:rPr lang="en-US" sz="1550" b="0" u="none" strike="noStrike">
                <a:solidFill>
                  <a:srgbClr val="FFFFFF"/>
                </a:solidFill>
                <a:effectLst/>
                <a:uFillTx/>
                <a:latin typeface="Calibri"/>
                <a:ea typeface="Calibri"/>
              </a:rPr>
              <a:t>Cap the number of loop iterations and the cost per task</a:t>
            </a:r>
            <a:endParaRPr lang="en-CA" sz="1550" b="0" u="none" strike="noStrike">
              <a:solidFill>
                <a:srgbClr val="000000"/>
              </a:solidFill>
              <a:effectLst/>
              <a:uFillTx/>
              <a:latin typeface="Arial"/>
            </a:endParaRPr>
          </a:p>
          <a:p>
            <a:pPr marL="254160" indent="-254160" defTabSz="914400">
              <a:lnSpc>
                <a:spcPct val="110000"/>
              </a:lnSpc>
              <a:spcAft>
                <a:spcPts val="1400"/>
              </a:spcAft>
              <a:buClr>
                <a:srgbClr val="FFFFFF"/>
              </a:buClr>
              <a:buFont typeface="Symbol" charset="2"/>
              <a:buChar char=""/>
            </a:pPr>
            <a:r>
              <a:rPr lang="en-US" sz="1550" b="0" u="none" strike="noStrike">
                <a:solidFill>
                  <a:srgbClr val="FFFFFF"/>
                </a:solidFill>
                <a:effectLst/>
                <a:uFillTx/>
                <a:latin typeface="Calibri"/>
                <a:ea typeface="Calibri"/>
              </a:rPr>
              <a:t>Require confirmation before risky actions (deleting data, spending money)</a:t>
            </a:r>
            <a:endParaRPr lang="en-CA" sz="1550" b="0" u="none" strike="noStrike">
              <a:solidFill>
                <a:srgbClr val="000000"/>
              </a:solidFill>
              <a:effectLst/>
              <a:uFillTx/>
              <a:latin typeface="Arial"/>
            </a:endParaRPr>
          </a:p>
          <a:p>
            <a:pPr marL="254160" indent="-254160" defTabSz="914400">
              <a:lnSpc>
                <a:spcPct val="110000"/>
              </a:lnSpc>
              <a:spcAft>
                <a:spcPts val="1400"/>
              </a:spcAft>
              <a:buClr>
                <a:srgbClr val="FFFFFF"/>
              </a:buClr>
              <a:buFont typeface="Symbol" charset="2"/>
              <a:buChar char=""/>
            </a:pPr>
            <a:r>
              <a:rPr lang="en-US" sz="1550" b="0" u="none" strike="noStrike">
                <a:solidFill>
                  <a:srgbClr val="FFFFFF"/>
                </a:solidFill>
                <a:effectLst/>
                <a:uFillTx/>
                <a:latin typeface="Calibri"/>
                <a:ea typeface="Calibri"/>
              </a:rPr>
              <a:t>Test with real, messy inputs — not just the happy path</a:t>
            </a:r>
            <a:endParaRPr lang="en-CA" sz="1550" b="0" u="none" strike="noStrike">
              <a:solidFill>
                <a:srgbClr val="000000"/>
              </a:solidFill>
              <a:effectLst/>
              <a:uFillTx/>
              <a:latin typeface="Arial"/>
            </a:endParaRPr>
          </a:p>
        </p:txBody>
      </p:sp>
      <p:sp>
        <p:nvSpPr>
          <p:cNvPr id="501" name="Text 10"/>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502" name="Text 11"/>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26</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3"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REALITY CHECK</a:t>
            </a:r>
            <a:endParaRPr lang="en-CA" sz="1400" b="0" u="none" strike="noStrike">
              <a:solidFill>
                <a:srgbClr val="000000"/>
              </a:solidFill>
              <a:effectLst/>
              <a:uFillTx/>
              <a:latin typeface="Arial"/>
            </a:endParaRPr>
          </a:p>
        </p:txBody>
      </p:sp>
      <p:sp>
        <p:nvSpPr>
          <p:cNvPr id="504"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Common Pitfalls When Building Agents</a:t>
            </a:r>
            <a:endParaRPr lang="en-CA" sz="3400" b="0" u="none" strike="noStrike">
              <a:solidFill>
                <a:srgbClr val="000000"/>
              </a:solidFill>
              <a:effectLst/>
              <a:uFillTx/>
              <a:latin typeface="Arial"/>
            </a:endParaRPr>
          </a:p>
        </p:txBody>
      </p:sp>
      <p:sp>
        <p:nvSpPr>
          <p:cNvPr id="505" name="Shape 2"/>
          <p:cNvSpPr/>
          <p:nvPr/>
        </p:nvSpPr>
        <p:spPr>
          <a:xfrm>
            <a:off x="548640" y="1783080"/>
            <a:ext cx="593640" cy="593640"/>
          </a:xfrm>
          <a:prstGeom prst="ellipse">
            <a:avLst/>
          </a:prstGeom>
          <a:solidFill>
            <a:srgbClr val="C0392B"/>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06" name="Image 0" descr="preencoded.png"/>
          <p:cNvPicPr/>
          <p:nvPr/>
        </p:nvPicPr>
        <p:blipFill>
          <a:blip r:embed="rId1"/>
          <a:stretch/>
        </p:blipFill>
        <p:spPr>
          <a:xfrm>
            <a:off x="628920" y="1863360"/>
            <a:ext cx="433080" cy="433080"/>
          </a:xfrm>
          <a:prstGeom prst="rect">
            <a:avLst/>
          </a:prstGeom>
          <a:noFill/>
          <a:ln w="0">
            <a:noFill/>
          </a:ln>
        </p:spPr>
      </p:pic>
      <p:sp>
        <p:nvSpPr>
          <p:cNvPr id="507" name="Text 3"/>
          <p:cNvSpPr/>
          <p:nvPr/>
        </p:nvSpPr>
        <p:spPr>
          <a:xfrm>
            <a:off x="1325880" y="1746360"/>
            <a:ext cx="306252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Infinite loops</a:t>
            </a:r>
            <a:endParaRPr lang="en-CA" sz="1700" b="0" u="none" strike="noStrike">
              <a:solidFill>
                <a:srgbClr val="000000"/>
              </a:solidFill>
              <a:effectLst/>
              <a:uFillTx/>
              <a:latin typeface="Arial"/>
            </a:endParaRPr>
          </a:p>
        </p:txBody>
      </p:sp>
      <p:sp>
        <p:nvSpPr>
          <p:cNvPr id="508" name="Text 4"/>
          <p:cNvSpPr/>
          <p:nvPr/>
        </p:nvSpPr>
        <p:spPr>
          <a:xfrm>
            <a:off x="4526280" y="1746360"/>
            <a:ext cx="71316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The agent keeps retrying a failing tool call forever — always cap iterations.</a:t>
            </a:r>
            <a:endParaRPr lang="en-CA" sz="1800" b="0" u="none" strike="noStrike">
              <a:solidFill>
                <a:srgbClr val="000000"/>
              </a:solidFill>
              <a:effectLst/>
              <a:uFillTx/>
              <a:latin typeface="Arial"/>
            </a:endParaRPr>
          </a:p>
        </p:txBody>
      </p:sp>
      <p:sp>
        <p:nvSpPr>
          <p:cNvPr id="509" name="Shape 5"/>
          <p:cNvSpPr/>
          <p:nvPr/>
        </p:nvSpPr>
        <p:spPr>
          <a:xfrm>
            <a:off x="548640" y="2697480"/>
            <a:ext cx="593640" cy="593640"/>
          </a:xfrm>
          <a:prstGeom prst="ellipse">
            <a:avLst/>
          </a:prstGeom>
          <a:solidFill>
            <a:srgbClr val="C0392B"/>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10" name="Image 1" descr="preencoded.png"/>
          <p:cNvPicPr/>
          <p:nvPr/>
        </p:nvPicPr>
        <p:blipFill>
          <a:blip r:embed="rId2"/>
          <a:stretch/>
        </p:blipFill>
        <p:spPr>
          <a:xfrm>
            <a:off x="628920" y="2777760"/>
            <a:ext cx="433080" cy="433080"/>
          </a:xfrm>
          <a:prstGeom prst="rect">
            <a:avLst/>
          </a:prstGeom>
          <a:noFill/>
          <a:ln w="0">
            <a:noFill/>
          </a:ln>
        </p:spPr>
      </p:pic>
      <p:sp>
        <p:nvSpPr>
          <p:cNvPr id="511" name="Text 6"/>
          <p:cNvSpPr/>
          <p:nvPr/>
        </p:nvSpPr>
        <p:spPr>
          <a:xfrm>
            <a:off x="1325880" y="2660760"/>
            <a:ext cx="306252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Hallucinated tool calls</a:t>
            </a:r>
            <a:endParaRPr lang="en-CA" sz="1700" b="0" u="none" strike="noStrike">
              <a:solidFill>
                <a:srgbClr val="000000"/>
              </a:solidFill>
              <a:effectLst/>
              <a:uFillTx/>
              <a:latin typeface="Arial"/>
            </a:endParaRPr>
          </a:p>
        </p:txBody>
      </p:sp>
      <p:sp>
        <p:nvSpPr>
          <p:cNvPr id="512" name="Text 7"/>
          <p:cNvSpPr/>
          <p:nvPr/>
        </p:nvSpPr>
        <p:spPr>
          <a:xfrm>
            <a:off x="4526280" y="2660760"/>
            <a:ext cx="735372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The model invents an argument or a tool that doesn’t exist — validate every call.</a:t>
            </a:r>
            <a:endParaRPr lang="en-CA" sz="1800" b="0" u="none" strike="noStrike">
              <a:solidFill>
                <a:srgbClr val="000000"/>
              </a:solidFill>
              <a:effectLst/>
              <a:uFillTx/>
              <a:latin typeface="Arial"/>
            </a:endParaRPr>
          </a:p>
        </p:txBody>
      </p:sp>
      <p:sp>
        <p:nvSpPr>
          <p:cNvPr id="513" name="Shape 8"/>
          <p:cNvSpPr/>
          <p:nvPr/>
        </p:nvSpPr>
        <p:spPr>
          <a:xfrm>
            <a:off x="548640" y="3611880"/>
            <a:ext cx="593640" cy="593640"/>
          </a:xfrm>
          <a:prstGeom prst="ellipse">
            <a:avLst/>
          </a:prstGeom>
          <a:solidFill>
            <a:srgbClr val="C0392B"/>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14" name="Image 2" descr="preencoded.png"/>
          <p:cNvPicPr/>
          <p:nvPr/>
        </p:nvPicPr>
        <p:blipFill>
          <a:blip r:embed="rId3"/>
          <a:stretch/>
        </p:blipFill>
        <p:spPr>
          <a:xfrm>
            <a:off x="628920" y="3692160"/>
            <a:ext cx="433080" cy="433080"/>
          </a:xfrm>
          <a:prstGeom prst="rect">
            <a:avLst/>
          </a:prstGeom>
          <a:noFill/>
          <a:ln w="0">
            <a:noFill/>
          </a:ln>
        </p:spPr>
      </p:pic>
      <p:sp>
        <p:nvSpPr>
          <p:cNvPr id="515" name="Text 9"/>
          <p:cNvSpPr/>
          <p:nvPr/>
        </p:nvSpPr>
        <p:spPr>
          <a:xfrm>
            <a:off x="1325880" y="3575160"/>
            <a:ext cx="306252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Runaway cost</a:t>
            </a:r>
            <a:endParaRPr lang="en-CA" sz="1700" b="0" u="none" strike="noStrike">
              <a:solidFill>
                <a:srgbClr val="000000"/>
              </a:solidFill>
              <a:effectLst/>
              <a:uFillTx/>
              <a:latin typeface="Arial"/>
            </a:endParaRPr>
          </a:p>
        </p:txBody>
      </p:sp>
      <p:sp>
        <p:nvSpPr>
          <p:cNvPr id="516" name="Text 10"/>
          <p:cNvSpPr/>
          <p:nvPr/>
        </p:nvSpPr>
        <p:spPr>
          <a:xfrm>
            <a:off x="4526280" y="3575160"/>
            <a:ext cx="71316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Each reasoning step is another LLM call — costs add up fast without a budget cap.</a:t>
            </a:r>
            <a:endParaRPr lang="en-CA" sz="1800" b="0" u="none" strike="noStrike">
              <a:solidFill>
                <a:srgbClr val="000000"/>
              </a:solidFill>
              <a:effectLst/>
              <a:uFillTx/>
              <a:latin typeface="Arial"/>
            </a:endParaRPr>
          </a:p>
        </p:txBody>
      </p:sp>
      <p:sp>
        <p:nvSpPr>
          <p:cNvPr id="517" name="Shape 11"/>
          <p:cNvSpPr/>
          <p:nvPr/>
        </p:nvSpPr>
        <p:spPr>
          <a:xfrm>
            <a:off x="548640" y="4526280"/>
            <a:ext cx="593640" cy="593640"/>
          </a:xfrm>
          <a:prstGeom prst="ellipse">
            <a:avLst/>
          </a:prstGeom>
          <a:solidFill>
            <a:srgbClr val="C0392B"/>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18" name="Image 3" descr="preencoded.png"/>
          <p:cNvPicPr/>
          <p:nvPr/>
        </p:nvPicPr>
        <p:blipFill>
          <a:blip r:embed="rId4"/>
          <a:stretch/>
        </p:blipFill>
        <p:spPr>
          <a:xfrm>
            <a:off x="628920" y="4606560"/>
            <a:ext cx="433080" cy="433080"/>
          </a:xfrm>
          <a:prstGeom prst="rect">
            <a:avLst/>
          </a:prstGeom>
          <a:noFill/>
          <a:ln w="0">
            <a:noFill/>
          </a:ln>
        </p:spPr>
      </p:pic>
      <p:sp>
        <p:nvSpPr>
          <p:cNvPr id="519" name="Text 12"/>
          <p:cNvSpPr/>
          <p:nvPr/>
        </p:nvSpPr>
        <p:spPr>
          <a:xfrm>
            <a:off x="1325880" y="4489560"/>
            <a:ext cx="306252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Over-broad tools</a:t>
            </a:r>
            <a:endParaRPr lang="en-CA" sz="1700" b="0" u="none" strike="noStrike">
              <a:solidFill>
                <a:srgbClr val="000000"/>
              </a:solidFill>
              <a:effectLst/>
              <a:uFillTx/>
              <a:latin typeface="Arial"/>
            </a:endParaRPr>
          </a:p>
        </p:txBody>
      </p:sp>
      <p:sp>
        <p:nvSpPr>
          <p:cNvPr id="520" name="Text 13"/>
          <p:cNvSpPr/>
          <p:nvPr/>
        </p:nvSpPr>
        <p:spPr>
          <a:xfrm>
            <a:off x="4526280" y="4489560"/>
            <a:ext cx="71316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A single "run any shell command" tool is powerful but dangerous — prefer narrow, specific tools.</a:t>
            </a:r>
            <a:endParaRPr lang="en-CA" sz="1800" b="0" u="none" strike="noStrike">
              <a:solidFill>
                <a:srgbClr val="000000"/>
              </a:solidFill>
              <a:effectLst/>
              <a:uFillTx/>
              <a:latin typeface="Arial"/>
            </a:endParaRPr>
          </a:p>
        </p:txBody>
      </p:sp>
      <p:sp>
        <p:nvSpPr>
          <p:cNvPr id="521" name="Shape 14"/>
          <p:cNvSpPr/>
          <p:nvPr/>
        </p:nvSpPr>
        <p:spPr>
          <a:xfrm>
            <a:off x="548640" y="5440680"/>
            <a:ext cx="593640" cy="593640"/>
          </a:xfrm>
          <a:prstGeom prst="ellipse">
            <a:avLst/>
          </a:prstGeom>
          <a:solidFill>
            <a:srgbClr val="C0392B"/>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22" name="Image 4" descr="preencoded.png"/>
          <p:cNvPicPr/>
          <p:nvPr/>
        </p:nvPicPr>
        <p:blipFill>
          <a:blip r:embed="rId5"/>
          <a:stretch/>
        </p:blipFill>
        <p:spPr>
          <a:xfrm>
            <a:off x="628920" y="5520960"/>
            <a:ext cx="433080" cy="433080"/>
          </a:xfrm>
          <a:prstGeom prst="rect">
            <a:avLst/>
          </a:prstGeom>
          <a:noFill/>
          <a:ln w="0">
            <a:noFill/>
          </a:ln>
        </p:spPr>
      </p:pic>
      <p:sp>
        <p:nvSpPr>
          <p:cNvPr id="523" name="Text 15"/>
          <p:cNvSpPr/>
          <p:nvPr/>
        </p:nvSpPr>
        <p:spPr>
          <a:xfrm>
            <a:off x="1325880" y="5403960"/>
            <a:ext cx="306252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761"/>
                </a:solidFill>
                <a:effectLst/>
                <a:uFillTx/>
                <a:latin typeface="Calibri"/>
                <a:ea typeface="Calibri"/>
              </a:rPr>
              <a:t>No human checkpoint</a:t>
            </a:r>
            <a:endParaRPr lang="en-CA" sz="1700" b="0" u="none" strike="noStrike">
              <a:solidFill>
                <a:srgbClr val="000000"/>
              </a:solidFill>
              <a:effectLst/>
              <a:uFillTx/>
              <a:latin typeface="Arial"/>
            </a:endParaRPr>
          </a:p>
        </p:txBody>
      </p:sp>
      <p:sp>
        <p:nvSpPr>
          <p:cNvPr id="524" name="Text 16"/>
          <p:cNvSpPr/>
          <p:nvPr/>
        </p:nvSpPr>
        <p:spPr>
          <a:xfrm>
            <a:off x="4526280" y="5403960"/>
            <a:ext cx="71316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High-stakes actions run automatically with no chance to review first.</a:t>
            </a:r>
            <a:endParaRPr lang="en-CA" sz="1800" b="0" u="none" strike="noStrike">
              <a:solidFill>
                <a:srgbClr val="000000"/>
              </a:solidFill>
              <a:effectLst/>
              <a:uFillTx/>
              <a:latin typeface="Arial"/>
            </a:endParaRPr>
          </a:p>
        </p:txBody>
      </p:sp>
      <p:sp>
        <p:nvSpPr>
          <p:cNvPr id="525" name="Text 17"/>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526" name="Text 18"/>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27</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7"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REALITY CHECK</a:t>
            </a:r>
            <a:endParaRPr lang="en-CA" sz="1400" b="0" u="none" strike="noStrike">
              <a:solidFill>
                <a:srgbClr val="000000"/>
              </a:solidFill>
              <a:effectLst/>
              <a:uFillTx/>
              <a:latin typeface="Arial"/>
            </a:endParaRPr>
          </a:p>
        </p:txBody>
      </p:sp>
      <p:sp>
        <p:nvSpPr>
          <p:cNvPr id="528"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Best Practices / Design Principles</a:t>
            </a:r>
            <a:endParaRPr lang="en-CA" sz="3400" b="0" u="none" strike="noStrike">
              <a:solidFill>
                <a:srgbClr val="000000"/>
              </a:solidFill>
              <a:effectLst/>
              <a:uFillTx/>
              <a:latin typeface="Arial"/>
            </a:endParaRPr>
          </a:p>
        </p:txBody>
      </p:sp>
      <p:sp>
        <p:nvSpPr>
          <p:cNvPr id="529" name="Shape 2"/>
          <p:cNvSpPr/>
          <p:nvPr/>
        </p:nvSpPr>
        <p:spPr>
          <a:xfrm>
            <a:off x="548640" y="1737360"/>
            <a:ext cx="5439960" cy="1370880"/>
          </a:xfrm>
          <a:prstGeom prst="roundRect">
            <a:avLst>
              <a:gd name="adj" fmla="val 6000"/>
            </a:avLst>
          </a:prstGeom>
          <a:solidFill>
            <a:srgbClr val="EEF2FC"/>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530" name="Shape 3"/>
          <p:cNvSpPr/>
          <p:nvPr/>
        </p:nvSpPr>
        <p:spPr>
          <a:xfrm>
            <a:off x="6172200" y="1737360"/>
            <a:ext cx="5439960" cy="1370880"/>
          </a:xfrm>
          <a:prstGeom prst="roundRect">
            <a:avLst>
              <a:gd name="adj" fmla="val 6000"/>
            </a:avLst>
          </a:prstGeom>
          <a:solidFill>
            <a:srgbClr val="EEF2FC"/>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531" name="Shape 4"/>
          <p:cNvSpPr/>
          <p:nvPr/>
        </p:nvSpPr>
        <p:spPr>
          <a:xfrm>
            <a:off x="548640" y="3291840"/>
            <a:ext cx="5439960" cy="1370880"/>
          </a:xfrm>
          <a:prstGeom prst="roundRect">
            <a:avLst>
              <a:gd name="adj" fmla="val 6000"/>
            </a:avLst>
          </a:prstGeom>
          <a:solidFill>
            <a:srgbClr val="EEF2FC"/>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532" name="Shape 5"/>
          <p:cNvSpPr/>
          <p:nvPr/>
        </p:nvSpPr>
        <p:spPr>
          <a:xfrm>
            <a:off x="6172200" y="3291840"/>
            <a:ext cx="5439960" cy="1370880"/>
          </a:xfrm>
          <a:prstGeom prst="roundRect">
            <a:avLst>
              <a:gd name="adj" fmla="val 6000"/>
            </a:avLst>
          </a:prstGeom>
          <a:solidFill>
            <a:srgbClr val="EEF2FC"/>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533" name="Shape 6"/>
          <p:cNvSpPr/>
          <p:nvPr/>
        </p:nvSpPr>
        <p:spPr>
          <a:xfrm>
            <a:off x="548640" y="4846320"/>
            <a:ext cx="5439960" cy="1370880"/>
          </a:xfrm>
          <a:prstGeom prst="roundRect">
            <a:avLst>
              <a:gd name="adj" fmla="val 6000"/>
            </a:avLst>
          </a:prstGeom>
          <a:solidFill>
            <a:srgbClr val="EEF2FC"/>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534" name="Shape 7"/>
          <p:cNvSpPr/>
          <p:nvPr/>
        </p:nvSpPr>
        <p:spPr>
          <a:xfrm>
            <a:off x="6172200" y="4846320"/>
            <a:ext cx="5439960" cy="1370880"/>
          </a:xfrm>
          <a:prstGeom prst="roundRect">
            <a:avLst>
              <a:gd name="adj" fmla="val 6000"/>
            </a:avLst>
          </a:prstGeom>
          <a:solidFill>
            <a:srgbClr val="EEF2FC"/>
          </a:solidFill>
          <a:ln w="0">
            <a:noFill/>
          </a:ln>
        </p:spPr>
        <p:style>
          <a:lnRef idx="0"/>
          <a:fillRef idx="0"/>
          <a:effectRef idx="0"/>
          <a:fontRef idx="minor"/>
        </p:style>
        <p:txBody>
          <a:bodyPr lIns="90000" tIns="45000" rIns="90000" bIns="45000" anchor="t">
            <a:noAutofit/>
          </a:bodyPr>
          <a:p>
            <a:endParaRPr lang="en-CA" sz="1800" b="0" u="none" strike="noStrike">
              <a:solidFill>
                <a:srgbClr val="000000"/>
              </a:solidFill>
              <a:effectLst/>
              <a:uFillTx/>
              <a:latin typeface="Arial"/>
            </a:endParaRPr>
          </a:p>
        </p:txBody>
      </p:sp>
      <p:sp>
        <p:nvSpPr>
          <p:cNvPr id="535" name="Shape 8"/>
          <p:cNvSpPr/>
          <p:nvPr/>
        </p:nvSpPr>
        <p:spPr>
          <a:xfrm>
            <a:off x="731520" y="2148840"/>
            <a:ext cx="547920" cy="54792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36" name="Image 0" descr="preencoded.png"/>
          <p:cNvPicPr/>
          <p:nvPr/>
        </p:nvPicPr>
        <p:blipFill>
          <a:blip r:embed="rId1"/>
          <a:stretch/>
        </p:blipFill>
        <p:spPr>
          <a:xfrm>
            <a:off x="805680" y="2223000"/>
            <a:ext cx="399960" cy="399960"/>
          </a:xfrm>
          <a:prstGeom prst="rect">
            <a:avLst/>
          </a:prstGeom>
          <a:noFill/>
          <a:ln w="0">
            <a:noFill/>
          </a:ln>
        </p:spPr>
      </p:pic>
      <p:sp>
        <p:nvSpPr>
          <p:cNvPr id="537" name="Text 9"/>
          <p:cNvSpPr/>
          <p:nvPr/>
        </p:nvSpPr>
        <p:spPr>
          <a:xfrm>
            <a:off x="1463040" y="1874520"/>
            <a:ext cx="43884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761"/>
                </a:solidFill>
                <a:effectLst/>
                <a:uFillTx/>
                <a:latin typeface="Calibri"/>
                <a:ea typeface="Calibri"/>
              </a:rPr>
              <a:t>Start narrow</a:t>
            </a:r>
            <a:endParaRPr lang="en-CA" sz="1600" b="0" u="none" strike="noStrike">
              <a:solidFill>
                <a:srgbClr val="000000"/>
              </a:solidFill>
              <a:effectLst/>
              <a:uFillTx/>
              <a:latin typeface="Arial"/>
            </a:endParaRPr>
          </a:p>
        </p:txBody>
      </p:sp>
      <p:sp>
        <p:nvSpPr>
          <p:cNvPr id="538" name="Text 10"/>
          <p:cNvSpPr/>
          <p:nvPr/>
        </p:nvSpPr>
        <p:spPr>
          <a:xfrm>
            <a:off x="1463040" y="2240280"/>
            <a:ext cx="4342680" cy="77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One clear job, then expand scope once it’s reliable.</a:t>
            </a:r>
            <a:endParaRPr lang="en-CA" sz="1800" b="0" u="none" strike="noStrike">
              <a:solidFill>
                <a:srgbClr val="000000"/>
              </a:solidFill>
              <a:effectLst/>
              <a:uFillTx/>
              <a:latin typeface="Arial"/>
            </a:endParaRPr>
          </a:p>
        </p:txBody>
      </p:sp>
      <p:sp>
        <p:nvSpPr>
          <p:cNvPr id="539" name="Shape 11"/>
          <p:cNvSpPr/>
          <p:nvPr/>
        </p:nvSpPr>
        <p:spPr>
          <a:xfrm>
            <a:off x="6355080" y="2148840"/>
            <a:ext cx="547920" cy="54792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40" name="Image 1" descr="preencoded.png"/>
          <p:cNvPicPr/>
          <p:nvPr/>
        </p:nvPicPr>
        <p:blipFill>
          <a:blip r:embed="rId2"/>
          <a:stretch/>
        </p:blipFill>
        <p:spPr>
          <a:xfrm>
            <a:off x="6429240" y="2223000"/>
            <a:ext cx="399960" cy="399960"/>
          </a:xfrm>
          <a:prstGeom prst="rect">
            <a:avLst/>
          </a:prstGeom>
          <a:noFill/>
          <a:ln w="0">
            <a:noFill/>
          </a:ln>
        </p:spPr>
      </p:pic>
      <p:sp>
        <p:nvSpPr>
          <p:cNvPr id="541" name="Text 12"/>
          <p:cNvSpPr/>
          <p:nvPr/>
        </p:nvSpPr>
        <p:spPr>
          <a:xfrm>
            <a:off x="7086600" y="1874520"/>
            <a:ext cx="43884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761"/>
                </a:solidFill>
                <a:effectLst/>
                <a:uFillTx/>
                <a:latin typeface="Calibri"/>
                <a:ea typeface="Calibri"/>
              </a:rPr>
              <a:t>Log everything</a:t>
            </a:r>
            <a:endParaRPr lang="en-CA" sz="1600" b="0" u="none" strike="noStrike">
              <a:solidFill>
                <a:srgbClr val="000000"/>
              </a:solidFill>
              <a:effectLst/>
              <a:uFillTx/>
              <a:latin typeface="Arial"/>
            </a:endParaRPr>
          </a:p>
        </p:txBody>
      </p:sp>
      <p:sp>
        <p:nvSpPr>
          <p:cNvPr id="542" name="Text 13"/>
          <p:cNvSpPr/>
          <p:nvPr/>
        </p:nvSpPr>
        <p:spPr>
          <a:xfrm>
            <a:off x="7086600" y="2240280"/>
            <a:ext cx="4342680" cy="77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Every thought, tool call, and result — essential for debugging.</a:t>
            </a:r>
            <a:endParaRPr lang="en-CA" sz="1800" b="0" u="none" strike="noStrike">
              <a:solidFill>
                <a:srgbClr val="000000"/>
              </a:solidFill>
              <a:effectLst/>
              <a:uFillTx/>
              <a:latin typeface="Arial"/>
            </a:endParaRPr>
          </a:p>
        </p:txBody>
      </p:sp>
      <p:sp>
        <p:nvSpPr>
          <p:cNvPr id="543" name="Shape 14"/>
          <p:cNvSpPr/>
          <p:nvPr/>
        </p:nvSpPr>
        <p:spPr>
          <a:xfrm>
            <a:off x="731520" y="3703320"/>
            <a:ext cx="547920" cy="54792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44" name="Image 2" descr="preencoded.png"/>
          <p:cNvPicPr/>
          <p:nvPr/>
        </p:nvPicPr>
        <p:blipFill>
          <a:blip r:embed="rId3"/>
          <a:stretch/>
        </p:blipFill>
        <p:spPr>
          <a:xfrm>
            <a:off x="805680" y="3777480"/>
            <a:ext cx="399960" cy="399960"/>
          </a:xfrm>
          <a:prstGeom prst="rect">
            <a:avLst/>
          </a:prstGeom>
          <a:noFill/>
          <a:ln w="0">
            <a:noFill/>
          </a:ln>
        </p:spPr>
      </p:pic>
      <p:sp>
        <p:nvSpPr>
          <p:cNvPr id="545" name="Text 15"/>
          <p:cNvSpPr/>
          <p:nvPr/>
        </p:nvSpPr>
        <p:spPr>
          <a:xfrm>
            <a:off x="1463040" y="3429000"/>
            <a:ext cx="43884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761"/>
                </a:solidFill>
                <a:effectLst/>
                <a:uFillTx/>
                <a:latin typeface="Calibri"/>
                <a:ea typeface="Calibri"/>
              </a:rPr>
              <a:t>Cap the loop</a:t>
            </a:r>
            <a:endParaRPr lang="en-CA" sz="1600" b="0" u="none" strike="noStrike">
              <a:solidFill>
                <a:srgbClr val="000000"/>
              </a:solidFill>
              <a:effectLst/>
              <a:uFillTx/>
              <a:latin typeface="Arial"/>
            </a:endParaRPr>
          </a:p>
        </p:txBody>
      </p:sp>
      <p:sp>
        <p:nvSpPr>
          <p:cNvPr id="546" name="Text 16"/>
          <p:cNvSpPr/>
          <p:nvPr/>
        </p:nvSpPr>
        <p:spPr>
          <a:xfrm>
            <a:off x="1463040" y="3794760"/>
            <a:ext cx="4342680" cy="77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Hard limits on steps, time, and cost, every single run.</a:t>
            </a:r>
            <a:endParaRPr lang="en-CA" sz="1800" b="0" u="none" strike="noStrike">
              <a:solidFill>
                <a:srgbClr val="000000"/>
              </a:solidFill>
              <a:effectLst/>
              <a:uFillTx/>
              <a:latin typeface="Arial"/>
            </a:endParaRPr>
          </a:p>
        </p:txBody>
      </p:sp>
      <p:sp>
        <p:nvSpPr>
          <p:cNvPr id="547" name="Shape 17"/>
          <p:cNvSpPr/>
          <p:nvPr/>
        </p:nvSpPr>
        <p:spPr>
          <a:xfrm>
            <a:off x="6355080" y="3703320"/>
            <a:ext cx="547920" cy="54792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48" name="Image 3" descr="preencoded.png"/>
          <p:cNvPicPr/>
          <p:nvPr/>
        </p:nvPicPr>
        <p:blipFill>
          <a:blip r:embed="rId4"/>
          <a:stretch/>
        </p:blipFill>
        <p:spPr>
          <a:xfrm>
            <a:off x="6429240" y="3777480"/>
            <a:ext cx="399960" cy="399960"/>
          </a:xfrm>
          <a:prstGeom prst="rect">
            <a:avLst/>
          </a:prstGeom>
          <a:noFill/>
          <a:ln w="0">
            <a:noFill/>
          </a:ln>
        </p:spPr>
      </p:pic>
      <p:sp>
        <p:nvSpPr>
          <p:cNvPr id="549" name="Text 18"/>
          <p:cNvSpPr/>
          <p:nvPr/>
        </p:nvSpPr>
        <p:spPr>
          <a:xfrm>
            <a:off x="7086600" y="3429000"/>
            <a:ext cx="43884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761"/>
                </a:solidFill>
                <a:effectLst/>
                <a:uFillTx/>
                <a:latin typeface="Calibri"/>
                <a:ea typeface="Calibri"/>
              </a:rPr>
              <a:t>Validate tool output</a:t>
            </a:r>
            <a:endParaRPr lang="en-CA" sz="1600" b="0" u="none" strike="noStrike">
              <a:solidFill>
                <a:srgbClr val="000000"/>
              </a:solidFill>
              <a:effectLst/>
              <a:uFillTx/>
              <a:latin typeface="Arial"/>
            </a:endParaRPr>
          </a:p>
        </p:txBody>
      </p:sp>
      <p:sp>
        <p:nvSpPr>
          <p:cNvPr id="550" name="Text 19"/>
          <p:cNvSpPr/>
          <p:nvPr/>
        </p:nvSpPr>
        <p:spPr>
          <a:xfrm>
            <a:off x="7086600" y="3794760"/>
            <a:ext cx="4342680" cy="77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Never trust a tool result blindly — check it before acting further.</a:t>
            </a:r>
            <a:endParaRPr lang="en-CA" sz="1800" b="0" u="none" strike="noStrike">
              <a:solidFill>
                <a:srgbClr val="000000"/>
              </a:solidFill>
              <a:effectLst/>
              <a:uFillTx/>
              <a:latin typeface="Arial"/>
            </a:endParaRPr>
          </a:p>
        </p:txBody>
      </p:sp>
      <p:sp>
        <p:nvSpPr>
          <p:cNvPr id="551" name="Shape 20"/>
          <p:cNvSpPr/>
          <p:nvPr/>
        </p:nvSpPr>
        <p:spPr>
          <a:xfrm>
            <a:off x="731520" y="5257800"/>
            <a:ext cx="547920" cy="54792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52" name="Image 4" descr="preencoded.png"/>
          <p:cNvPicPr/>
          <p:nvPr/>
        </p:nvPicPr>
        <p:blipFill>
          <a:blip r:embed="rId5"/>
          <a:stretch/>
        </p:blipFill>
        <p:spPr>
          <a:xfrm>
            <a:off x="805680" y="5331960"/>
            <a:ext cx="399960" cy="399960"/>
          </a:xfrm>
          <a:prstGeom prst="rect">
            <a:avLst/>
          </a:prstGeom>
          <a:noFill/>
          <a:ln w="0">
            <a:noFill/>
          </a:ln>
        </p:spPr>
      </p:pic>
      <p:sp>
        <p:nvSpPr>
          <p:cNvPr id="553" name="Text 21"/>
          <p:cNvSpPr/>
          <p:nvPr/>
        </p:nvSpPr>
        <p:spPr>
          <a:xfrm>
            <a:off x="1463040" y="4983480"/>
            <a:ext cx="43884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761"/>
                </a:solidFill>
                <a:effectLst/>
                <a:uFillTx/>
                <a:latin typeface="Calibri"/>
                <a:ea typeface="Calibri"/>
              </a:rPr>
              <a:t>Keep a human in the loop</a:t>
            </a:r>
            <a:endParaRPr lang="en-CA" sz="1600" b="0" u="none" strike="noStrike">
              <a:solidFill>
                <a:srgbClr val="000000"/>
              </a:solidFill>
              <a:effectLst/>
              <a:uFillTx/>
              <a:latin typeface="Arial"/>
            </a:endParaRPr>
          </a:p>
        </p:txBody>
      </p:sp>
      <p:sp>
        <p:nvSpPr>
          <p:cNvPr id="554" name="Text 22"/>
          <p:cNvSpPr/>
          <p:nvPr/>
        </p:nvSpPr>
        <p:spPr>
          <a:xfrm>
            <a:off x="1463040" y="5349240"/>
            <a:ext cx="4342680" cy="77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For anything irreversible, ask for confirmation first.</a:t>
            </a:r>
            <a:endParaRPr lang="en-CA" sz="1800" b="0" u="none" strike="noStrike">
              <a:solidFill>
                <a:srgbClr val="000000"/>
              </a:solidFill>
              <a:effectLst/>
              <a:uFillTx/>
              <a:latin typeface="Arial"/>
            </a:endParaRPr>
          </a:p>
        </p:txBody>
      </p:sp>
      <p:sp>
        <p:nvSpPr>
          <p:cNvPr id="555" name="Shape 23"/>
          <p:cNvSpPr/>
          <p:nvPr/>
        </p:nvSpPr>
        <p:spPr>
          <a:xfrm>
            <a:off x="6355080" y="5257800"/>
            <a:ext cx="547920" cy="547920"/>
          </a:xfrm>
          <a:prstGeom prst="ellipse">
            <a:avLst/>
          </a:prstGeom>
          <a:solidFill>
            <a:srgbClr val="00A896"/>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56" name="Image 5" descr="preencoded.png"/>
          <p:cNvPicPr/>
          <p:nvPr/>
        </p:nvPicPr>
        <p:blipFill>
          <a:blip r:embed="rId6"/>
          <a:stretch/>
        </p:blipFill>
        <p:spPr>
          <a:xfrm>
            <a:off x="6429240" y="5331960"/>
            <a:ext cx="399960" cy="399960"/>
          </a:xfrm>
          <a:prstGeom prst="rect">
            <a:avLst/>
          </a:prstGeom>
          <a:noFill/>
          <a:ln w="0">
            <a:noFill/>
          </a:ln>
        </p:spPr>
      </p:pic>
      <p:sp>
        <p:nvSpPr>
          <p:cNvPr id="557" name="Text 24"/>
          <p:cNvSpPr/>
          <p:nvPr/>
        </p:nvSpPr>
        <p:spPr>
          <a:xfrm>
            <a:off x="7086600" y="4983480"/>
            <a:ext cx="43884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761"/>
                </a:solidFill>
                <a:effectLst/>
                <a:uFillTx/>
                <a:latin typeface="Calibri"/>
                <a:ea typeface="Calibri"/>
              </a:rPr>
              <a:t>Prefer small tools</a:t>
            </a:r>
            <a:endParaRPr lang="en-CA" sz="1600" b="0" u="none" strike="noStrike">
              <a:solidFill>
                <a:srgbClr val="000000"/>
              </a:solidFill>
              <a:effectLst/>
              <a:uFillTx/>
              <a:latin typeface="Arial"/>
            </a:endParaRPr>
          </a:p>
        </p:txBody>
      </p:sp>
      <p:sp>
        <p:nvSpPr>
          <p:cNvPr id="558" name="Text 25"/>
          <p:cNvSpPr/>
          <p:nvPr/>
        </p:nvSpPr>
        <p:spPr>
          <a:xfrm>
            <a:off x="7086600" y="5349240"/>
            <a:ext cx="4342680" cy="776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A1A1A"/>
                </a:solidFill>
                <a:effectLst/>
                <a:uFillTx/>
                <a:latin typeface="Calibri"/>
                <a:ea typeface="Calibri"/>
              </a:rPr>
              <a:t>Many narrow tools beat one powerful, unpredictable one.</a:t>
            </a:r>
            <a:endParaRPr lang="en-CA" sz="1800" b="0" u="none" strike="noStrike">
              <a:solidFill>
                <a:srgbClr val="000000"/>
              </a:solidFill>
              <a:effectLst/>
              <a:uFillTx/>
              <a:latin typeface="Arial"/>
            </a:endParaRPr>
          </a:p>
        </p:txBody>
      </p:sp>
      <p:sp>
        <p:nvSpPr>
          <p:cNvPr id="559" name="Text 26"/>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560" name="Text 27"/>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28</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561"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WRAP-UP</a:t>
            </a:r>
            <a:endParaRPr lang="en-CA" sz="1400" b="0" u="none" strike="noStrike">
              <a:solidFill>
                <a:srgbClr val="FFFFFF"/>
              </a:solidFill>
              <a:effectLst/>
              <a:uFillTx/>
              <a:latin typeface="Arial"/>
            </a:endParaRPr>
          </a:p>
        </p:txBody>
      </p:sp>
      <p:sp>
        <p:nvSpPr>
          <p:cNvPr id="562" name="Text 1"/>
          <p:cNvSpPr/>
          <p:nvPr/>
        </p:nvSpPr>
        <p:spPr>
          <a:xfrm>
            <a:off x="548640" y="685800"/>
            <a:ext cx="1097208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FFFFFF"/>
                </a:solidFill>
                <a:effectLst/>
                <a:uFillTx/>
                <a:latin typeface="Cambria"/>
                <a:ea typeface="Cambria"/>
              </a:rPr>
              <a:t>Key Takeaways</a:t>
            </a:r>
            <a:endParaRPr lang="en-CA" sz="3400" b="0" u="none" strike="noStrike">
              <a:solidFill>
                <a:srgbClr val="FFFFFF"/>
              </a:solidFill>
              <a:effectLst/>
              <a:uFillTx/>
              <a:latin typeface="Arial"/>
            </a:endParaRPr>
          </a:p>
        </p:txBody>
      </p:sp>
      <p:sp>
        <p:nvSpPr>
          <p:cNvPr id="563" name="Text 2"/>
          <p:cNvSpPr/>
          <p:nvPr/>
        </p:nvSpPr>
        <p:spPr>
          <a:xfrm>
            <a:off x="640080" y="1783080"/>
            <a:ext cx="10880640" cy="447984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2001"/>
              </a:spcAft>
              <a:buClr>
                <a:srgbClr val="FFFFFF"/>
              </a:buClr>
              <a:buFont typeface="Symbol" charset="2"/>
              <a:buChar char=""/>
            </a:pPr>
            <a:r>
              <a:rPr lang="en-US" sz="1900" b="0" u="none" strike="noStrike">
                <a:solidFill>
                  <a:srgbClr val="FFFFFF"/>
                </a:solidFill>
                <a:effectLst/>
                <a:uFillTx/>
                <a:latin typeface="Calibri"/>
                <a:ea typeface="Calibri"/>
              </a:rPr>
              <a:t>An AI agent = LLM + memory + tools + planning + orchestration, running in a perceive-reason-act loop</a:t>
            </a:r>
            <a:endParaRPr lang="en-CA" sz="1900" b="0" u="none" strike="noStrike">
              <a:solidFill>
                <a:srgbClr val="FFFFFF"/>
              </a:solidFill>
              <a:effectLst/>
              <a:uFillTx/>
              <a:latin typeface="Arial"/>
            </a:endParaRPr>
          </a:p>
          <a:p>
            <a:pPr marL="254160" indent="-254160" defTabSz="914400">
              <a:lnSpc>
                <a:spcPct val="110000"/>
              </a:lnSpc>
              <a:spcAft>
                <a:spcPts val="2001"/>
              </a:spcAft>
              <a:buClr>
                <a:srgbClr val="FFFFFF"/>
              </a:buClr>
              <a:buFont typeface="Symbol" charset="2"/>
              <a:buChar char=""/>
            </a:pPr>
            <a:r>
              <a:rPr lang="en-US" sz="1900" b="0" u="none" strike="noStrike">
                <a:solidFill>
                  <a:srgbClr val="FFFFFF"/>
                </a:solidFill>
                <a:effectLst/>
                <a:uFillTx/>
                <a:latin typeface="Calibri"/>
                <a:ea typeface="Calibri"/>
              </a:rPr>
              <a:t>"AI agent" is the unit; "agentic AI" is the system-level approach of giving agents autonomy over how a goal gets done</a:t>
            </a:r>
            <a:endParaRPr lang="en-CA" sz="1900" b="0" u="none" strike="noStrike">
              <a:solidFill>
                <a:srgbClr val="FFFFFF"/>
              </a:solidFill>
              <a:effectLst/>
              <a:uFillTx/>
              <a:latin typeface="Arial"/>
            </a:endParaRPr>
          </a:p>
          <a:p>
            <a:pPr marL="254160" indent="-254160" defTabSz="914400">
              <a:lnSpc>
                <a:spcPct val="110000"/>
              </a:lnSpc>
              <a:spcAft>
                <a:spcPts val="2001"/>
              </a:spcAft>
              <a:buClr>
                <a:srgbClr val="FFFFFF"/>
              </a:buClr>
              <a:buFont typeface="Symbol" charset="2"/>
              <a:buChar char=""/>
            </a:pPr>
            <a:r>
              <a:rPr lang="en-US" sz="1900" b="0" u="none" strike="noStrike">
                <a:solidFill>
                  <a:srgbClr val="FFFFFF"/>
                </a:solidFill>
                <a:effectLst/>
                <a:uFillTx/>
                <a:latin typeface="Calibri"/>
                <a:ea typeface="Calibri"/>
              </a:rPr>
              <a:t>Hermes shows all five components running together on real infrastructure</a:t>
            </a:r>
            <a:endParaRPr lang="en-CA" sz="1900" b="0" u="none" strike="noStrike">
              <a:solidFill>
                <a:srgbClr val="FFFFFF"/>
              </a:solidFill>
              <a:effectLst/>
              <a:uFillTx/>
              <a:latin typeface="Arial"/>
            </a:endParaRPr>
          </a:p>
          <a:p>
            <a:pPr marL="254160" indent="-254160" defTabSz="914400">
              <a:lnSpc>
                <a:spcPct val="110000"/>
              </a:lnSpc>
              <a:spcAft>
                <a:spcPts val="2001"/>
              </a:spcAft>
              <a:buClr>
                <a:srgbClr val="FFFFFF"/>
              </a:buClr>
              <a:buFont typeface="Symbol" charset="2"/>
              <a:buChar char=""/>
            </a:pPr>
            <a:r>
              <a:rPr lang="en-US" sz="1900" b="0" u="none" strike="noStrike">
                <a:solidFill>
                  <a:srgbClr val="FFFFFF"/>
                </a:solidFill>
                <a:effectLst/>
                <a:uFillTx/>
                <a:latin typeface="Calibri"/>
                <a:ea typeface="Calibri"/>
              </a:rPr>
              <a:t>ReAct, Plan-and-Execute, and Reflection are three ways to structure the reasoning loop — pick based on the task</a:t>
            </a:r>
            <a:endParaRPr lang="en-CA" sz="1900" b="0" u="none" strike="noStrike">
              <a:solidFill>
                <a:srgbClr val="FFFFFF"/>
              </a:solidFill>
              <a:effectLst/>
              <a:uFillTx/>
              <a:latin typeface="Arial"/>
            </a:endParaRPr>
          </a:p>
          <a:p>
            <a:pPr marL="254160" indent="-254160" defTabSz="914400">
              <a:lnSpc>
                <a:spcPct val="110000"/>
              </a:lnSpc>
              <a:spcAft>
                <a:spcPts val="2001"/>
              </a:spcAft>
              <a:buClr>
                <a:srgbClr val="FFFFFF"/>
              </a:buClr>
              <a:buFont typeface="Symbol" charset="2"/>
              <a:buChar char=""/>
            </a:pPr>
            <a:r>
              <a:rPr lang="en-US" sz="1900" b="0" u="none" strike="noStrike">
                <a:solidFill>
                  <a:srgbClr val="FFFFFF"/>
                </a:solidFill>
                <a:effectLst/>
                <a:uFillTx/>
                <a:latin typeface="Calibri"/>
                <a:ea typeface="Calibri"/>
              </a:rPr>
              <a:t>Multi-agent systems exist to keep each agent’s job narrow and testable</a:t>
            </a:r>
            <a:endParaRPr lang="en-CA" sz="1900" b="0" u="none" strike="noStrike">
              <a:solidFill>
                <a:srgbClr val="FFFFFF"/>
              </a:solidFill>
              <a:effectLst/>
              <a:uFillTx/>
              <a:latin typeface="Arial"/>
            </a:endParaRPr>
          </a:p>
          <a:p>
            <a:pPr marL="254160" indent="-254160" defTabSz="914400">
              <a:lnSpc>
                <a:spcPct val="110000"/>
              </a:lnSpc>
              <a:spcAft>
                <a:spcPts val="2001"/>
              </a:spcAft>
              <a:buClr>
                <a:srgbClr val="FFFFFF"/>
              </a:buClr>
              <a:buFont typeface="Symbol" charset="2"/>
              <a:buChar char=""/>
            </a:pPr>
            <a:r>
              <a:rPr lang="en-US" sz="1900" b="0" u="none" strike="noStrike">
                <a:solidFill>
                  <a:srgbClr val="FFFFFF"/>
                </a:solidFill>
                <a:effectLst/>
                <a:uFillTx/>
                <a:latin typeface="Calibri"/>
                <a:ea typeface="Calibri"/>
              </a:rPr>
              <a:t>Guardrails are not optional — caps, validation, and human checkpoints are part of the design, not an afterthought</a:t>
            </a:r>
            <a:endParaRPr lang="en-CA" sz="1900" b="0" u="none" strike="noStrike">
              <a:solidFill>
                <a:srgbClr val="FFFFFF"/>
              </a:solidFill>
              <a:effectLst/>
              <a:uFillTx/>
              <a:latin typeface="Arial"/>
            </a:endParaRPr>
          </a:p>
        </p:txBody>
      </p:sp>
      <p:sp>
        <p:nvSpPr>
          <p:cNvPr id="564" name="Text 3"/>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CADCFC"/>
                </a:solidFill>
                <a:effectLst/>
                <a:uFillTx/>
                <a:latin typeface="Calibri"/>
                <a:ea typeface="Calibri"/>
              </a:rPr>
              <a:t>AI Agents / Agentic AI  —  Catholic University of Rwanda</a:t>
            </a:r>
            <a:endParaRPr lang="en-CA" sz="1000" b="0" u="none" strike="noStrike">
              <a:solidFill>
                <a:srgbClr val="FFFFFF"/>
              </a:solidFill>
              <a:effectLst/>
              <a:uFillTx/>
              <a:latin typeface="Arial"/>
            </a:endParaRPr>
          </a:p>
        </p:txBody>
      </p:sp>
      <p:sp>
        <p:nvSpPr>
          <p:cNvPr id="565" name="Text 4"/>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ADCFC"/>
                </a:solidFill>
                <a:effectLst/>
                <a:uFillTx/>
                <a:latin typeface="Calibri"/>
                <a:ea typeface="Calibri"/>
              </a:rPr>
              <a:t>29</a:t>
            </a:r>
            <a:endParaRPr lang="en-CA"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6" name="Text 0"/>
          <p:cNvSpPr/>
          <p:nvPr/>
        </p:nvSpPr>
        <p:spPr>
          <a:xfrm>
            <a:off x="548640" y="365760"/>
            <a:ext cx="822888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150" strike="noStrike">
                <a:solidFill>
                  <a:srgbClr val="00A896"/>
                </a:solidFill>
                <a:effectLst/>
                <a:uFillTx/>
                <a:latin typeface="Calibri"/>
                <a:ea typeface="Calibri"/>
              </a:rPr>
              <a:t>COMING UP</a:t>
            </a:r>
            <a:endParaRPr lang="en-CA" sz="1400" b="0" u="none" strike="noStrike">
              <a:solidFill>
                <a:srgbClr val="000000"/>
              </a:solidFill>
              <a:effectLst/>
              <a:uFillTx/>
              <a:latin typeface="Arial"/>
            </a:endParaRPr>
          </a:p>
        </p:txBody>
      </p:sp>
      <p:sp>
        <p:nvSpPr>
          <p:cNvPr id="567" name="Text 1"/>
          <p:cNvSpPr/>
          <p:nvPr/>
        </p:nvSpPr>
        <p:spPr>
          <a:xfrm>
            <a:off x="548640" y="685800"/>
            <a:ext cx="1106352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761"/>
                </a:solidFill>
                <a:effectLst/>
                <a:uFillTx/>
                <a:latin typeface="Cambria"/>
                <a:ea typeface="Cambria"/>
              </a:rPr>
              <a:t>Next Weekend: AI in Game Development</a:t>
            </a:r>
            <a:endParaRPr lang="en-CA" sz="3400" b="0" u="none" strike="noStrike">
              <a:solidFill>
                <a:srgbClr val="000000"/>
              </a:solidFill>
              <a:effectLst/>
              <a:uFillTx/>
              <a:latin typeface="Arial"/>
            </a:endParaRPr>
          </a:p>
        </p:txBody>
      </p:sp>
      <p:sp>
        <p:nvSpPr>
          <p:cNvPr id="568" name="Shape 2"/>
          <p:cNvSpPr/>
          <p:nvPr/>
        </p:nvSpPr>
        <p:spPr>
          <a:xfrm>
            <a:off x="8778240" y="2103120"/>
            <a:ext cx="2376720" cy="237672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en-CA" sz="1800" b="0" u="none" strike="noStrike">
              <a:solidFill>
                <a:srgbClr val="FFFFFF"/>
              </a:solidFill>
              <a:effectLst/>
              <a:uFillTx/>
              <a:latin typeface="Arial"/>
            </a:endParaRPr>
          </a:p>
        </p:txBody>
      </p:sp>
      <p:pic>
        <p:nvPicPr>
          <p:cNvPr id="569" name="Image 0" descr="preencoded.png"/>
          <p:cNvPicPr/>
          <p:nvPr/>
        </p:nvPicPr>
        <p:blipFill>
          <a:blip r:embed="rId1"/>
          <a:stretch/>
        </p:blipFill>
        <p:spPr>
          <a:xfrm>
            <a:off x="9099360" y="2424240"/>
            <a:ext cx="1734840" cy="1734840"/>
          </a:xfrm>
          <a:prstGeom prst="rect">
            <a:avLst/>
          </a:prstGeom>
          <a:noFill/>
          <a:ln w="0">
            <a:noFill/>
          </a:ln>
        </p:spPr>
      </p:pic>
      <p:sp>
        <p:nvSpPr>
          <p:cNvPr id="570" name="Text 3"/>
          <p:cNvSpPr/>
          <p:nvPr/>
        </p:nvSpPr>
        <p:spPr>
          <a:xfrm>
            <a:off x="548640" y="2103120"/>
            <a:ext cx="7863120" cy="3565440"/>
          </a:xfrm>
          <a:prstGeom prst="rect">
            <a:avLst/>
          </a:prstGeom>
          <a:noFill/>
          <a:ln w="0">
            <a:noFill/>
          </a:ln>
        </p:spPr>
        <p:style>
          <a:lnRef idx="0"/>
          <a:fillRef idx="0"/>
          <a:effectRef idx="0"/>
          <a:fontRef idx="minor"/>
        </p:style>
        <p:txBody>
          <a:bodyPr lIns="0" tIns="0" rIns="0" bIns="0" anchor="t">
            <a:noAutofit/>
          </a:bodyPr>
          <a:p>
            <a:pPr marL="254160" indent="-254160" defTabSz="914400">
              <a:lnSpc>
                <a:spcPct val="110000"/>
              </a:lnSpc>
              <a:spcAft>
                <a:spcPts val="1800"/>
              </a:spcAft>
              <a:buClr>
                <a:srgbClr val="1A1A1A"/>
              </a:buClr>
              <a:buFont typeface="Symbol" charset="2"/>
              <a:buChar char=""/>
            </a:pPr>
            <a:r>
              <a:rPr lang="en-US" sz="1900" b="1" u="none" strike="noStrike">
                <a:solidFill>
                  <a:srgbClr val="1A1A1A"/>
                </a:solidFill>
                <a:effectLst/>
                <a:uFillTx/>
                <a:latin typeface="Calibri"/>
                <a:ea typeface="Calibri"/>
              </a:rPr>
              <a:t>Our final weekend of the course</a:t>
            </a:r>
            <a:endParaRPr lang="en-CA" sz="1900" b="0" u="none" strike="noStrike">
              <a:solidFill>
                <a:srgbClr val="000000"/>
              </a:solidFill>
              <a:effectLst/>
              <a:uFillTx/>
              <a:latin typeface="Arial"/>
            </a:endParaRPr>
          </a:p>
          <a:p>
            <a:pPr marL="254160" indent="-254160" defTabSz="914400">
              <a:lnSpc>
                <a:spcPct val="110000"/>
              </a:lnSpc>
              <a:spcAft>
                <a:spcPts val="1800"/>
              </a:spcAft>
              <a:buClr>
                <a:srgbClr val="1A1A1A"/>
              </a:buClr>
              <a:buFont typeface="Symbol" charset="2"/>
              <a:buChar char=""/>
            </a:pPr>
            <a:r>
              <a:rPr lang="en-US" sz="1900" b="1" u="none" strike="noStrike">
                <a:solidFill>
                  <a:srgbClr val="1A1A1A"/>
                </a:solidFill>
                <a:effectLst/>
                <a:uFillTx/>
                <a:latin typeface="Calibri"/>
                <a:ea typeface="Calibri"/>
              </a:rPr>
              <a:t>How the concepts from all four previous weekends — ML, deep learning, and now agents — show up inside games</a:t>
            </a:r>
            <a:endParaRPr lang="en-CA" sz="1900" b="0" u="none" strike="noStrike">
              <a:solidFill>
                <a:srgbClr val="000000"/>
              </a:solidFill>
              <a:effectLst/>
              <a:uFillTx/>
              <a:latin typeface="Arial"/>
            </a:endParaRPr>
          </a:p>
          <a:p>
            <a:pPr marL="254160" indent="-254160" defTabSz="914400">
              <a:lnSpc>
                <a:spcPct val="110000"/>
              </a:lnSpc>
              <a:spcAft>
                <a:spcPts val="1800"/>
              </a:spcAft>
              <a:buClr>
                <a:srgbClr val="1A1A1A"/>
              </a:buClr>
              <a:buFont typeface="Symbol" charset="2"/>
              <a:buChar char=""/>
            </a:pPr>
            <a:r>
              <a:rPr lang="en-US" sz="1900" b="1" u="none" strike="noStrike">
                <a:solidFill>
                  <a:srgbClr val="1A1A1A"/>
                </a:solidFill>
                <a:effectLst/>
                <a:uFillTx/>
                <a:latin typeface="Calibri"/>
                <a:ea typeface="Calibri"/>
              </a:rPr>
              <a:t>NPC behaviour, procedural content, and game-playing agents</a:t>
            </a:r>
            <a:endParaRPr lang="en-CA" sz="1900" b="0" u="none" strike="noStrike">
              <a:solidFill>
                <a:srgbClr val="000000"/>
              </a:solidFill>
              <a:effectLst/>
              <a:uFillTx/>
              <a:latin typeface="Arial"/>
            </a:endParaRPr>
          </a:p>
          <a:p>
            <a:pPr marL="254160" indent="-254160" defTabSz="914400">
              <a:lnSpc>
                <a:spcPct val="110000"/>
              </a:lnSpc>
              <a:spcAft>
                <a:spcPts val="1800"/>
              </a:spcAft>
              <a:buClr>
                <a:srgbClr val="1A1A1A"/>
              </a:buClr>
              <a:buFont typeface="Symbol" charset="2"/>
              <a:buChar char=""/>
            </a:pPr>
            <a:r>
              <a:rPr lang="en-US" sz="1900" b="1" u="none" strike="noStrike">
                <a:solidFill>
                  <a:srgbClr val="1A1A1A"/>
                </a:solidFill>
                <a:effectLst/>
                <a:uFillTx/>
                <a:latin typeface="Calibri"/>
                <a:ea typeface="Calibri"/>
              </a:rPr>
              <a:t>Bring questions from any of the first four weekends — we’ll tie the threads together</a:t>
            </a:r>
            <a:endParaRPr lang="en-CA" sz="1900" b="0" u="none" strike="noStrike">
              <a:solidFill>
                <a:srgbClr val="000000"/>
              </a:solidFill>
              <a:effectLst/>
              <a:uFillTx/>
              <a:latin typeface="Arial"/>
            </a:endParaRPr>
          </a:p>
        </p:txBody>
      </p:sp>
      <p:sp>
        <p:nvSpPr>
          <p:cNvPr id="571" name="Text 4"/>
          <p:cNvSpPr/>
          <p:nvPr/>
        </p:nvSpPr>
        <p:spPr>
          <a:xfrm>
            <a:off x="457200" y="65106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7280"/>
                </a:solidFill>
                <a:effectLst/>
                <a:uFillTx/>
                <a:latin typeface="Calibri"/>
                <a:ea typeface="Calibri"/>
              </a:rPr>
              <a:t>AI Agents / Agentic AI  —  Catholic University of Rwanda</a:t>
            </a:r>
            <a:endParaRPr lang="en-CA" sz="1000" b="0" u="none" strike="noStrike">
              <a:solidFill>
                <a:srgbClr val="000000"/>
              </a:solidFill>
              <a:effectLst/>
              <a:uFillTx/>
              <a:latin typeface="Arial"/>
            </a:endParaRPr>
          </a:p>
        </p:txBody>
      </p:sp>
      <p:sp>
        <p:nvSpPr>
          <p:cNvPr id="572" name="Text 5"/>
          <p:cNvSpPr/>
          <p:nvPr/>
        </p:nvSpPr>
        <p:spPr>
          <a:xfrm>
            <a:off x="11274480" y="651060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B7280"/>
                </a:solidFill>
                <a:effectLst/>
                <a:uFillTx/>
                <a:latin typeface="Calibri"/>
                <a:ea typeface="Calibri"/>
              </a:rPr>
              <a:t>30</a:t>
            </a:r>
            <a:endParaRPr lang="en-CA"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TotalTime>
  <Application>LibreOffice/26.2.5.2$Windows_X86_64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2026-09-05T18:03:10Z</dcterms:created>
  <dc:creator>PptxGenJS</dc:creator>
  <dc:description/>
  <dc:language>en-CA</dc:language>
  <cp:lastModifiedBy/>
  <dcterms:modified xsi:type="dcterms:W3CDTF">2026-09-06T07:18:25Z</dcterms:modified>
  <cp:revision>3</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30</vt:i4>
  </property>
  <property fmtid="{D5CDD505-2E9C-101B-9397-08002B2CF9AE}" pid="3" name="PresentationFormat">
    <vt:lpwstr>On-screen Show (16:9)</vt:lpwstr>
  </property>
  <property fmtid="{D5CDD505-2E9C-101B-9397-08002B2CF9AE}" pid="4" name="Slides">
    <vt:i4>30</vt:i4>
  </property>
</Properties>
</file>