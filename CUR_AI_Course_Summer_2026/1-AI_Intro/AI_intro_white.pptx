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28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Relationship Id="rId16" Type="http://schemas.openxmlformats.org/officeDocument/2006/relationships/image" Target="../media/image90.png"/><Relationship Id="rId17" Type="http://schemas.openxmlformats.org/officeDocument/2006/relationships/image" Target="../media/image91.png"/><Relationship Id="rId18" Type="http://schemas.openxmlformats.org/officeDocument/2006/relationships/image" Target="../media/image92.png"/><Relationship Id="rId19" Type="http://schemas.openxmlformats.org/officeDocument/2006/relationships/image" Target="../media/image36.png"/><Relationship Id="rId20" Type="http://schemas.openxmlformats.org/officeDocument/2006/relationships/image" Target="../media/image93.png"/><Relationship Id="rId21" Type="http://schemas.openxmlformats.org/officeDocument/2006/relationships/image" Target="../media/image9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Relationship Id="rId12" Type="http://schemas.openxmlformats.org/officeDocument/2006/relationships/image" Target="../media/image112.png"/><Relationship Id="rId13" Type="http://schemas.openxmlformats.org/officeDocument/2006/relationships/image" Target="../media/image113.png"/><Relationship Id="rId14" Type="http://schemas.openxmlformats.org/officeDocument/2006/relationships/image" Target="../media/image114.png"/><Relationship Id="rId15" Type="http://schemas.openxmlformats.org/officeDocument/2006/relationships/image" Target="../media/image1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1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133.png"/><Relationship Id="rId9" Type="http://schemas.openxmlformats.org/officeDocument/2006/relationships/image" Target="../media/image5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5.png"/><Relationship Id="rId4" Type="http://schemas.openxmlformats.org/officeDocument/2006/relationships/image" Target="../media/image14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013" y="1663154"/>
            <a:ext cx="197182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6640" y="2091779"/>
            <a:ext cx="7318570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0" sz="4800" i="0" u="none">
                <a:solidFill>
                  <a:srgbClr val="0F172A"/>
                </a:solidFill>
                <a:latin typeface="Plus Jakarta Sans ExtraBold"/>
              </a:rPr>
              <a:t>Artificial Intelligence:</a:t>
            </a:r>
            <a:r>
              <a:t>
</a:t>
            </a:r>
            <a:r>
              <a:rPr b="0" sz="4800" i="0" u="none">
                <a:solidFill>
                  <a:srgbClr val="0284C7"/>
                </a:solidFill>
                <a:latin typeface="Plus Jakarta Sans ExtraBold"/>
              </a:rPr>
              <a:t>A Comprehensive Primer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2322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An executive guide to artificial intelligence fundamentals, machine learning paradigms, deep neural networks, generative AI, and autonomous agentic workflows.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888" y="1748879"/>
            <a:ext cx="125759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4861470"/>
            <a:ext cx="2247900" cy="333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675" y="4861470"/>
            <a:ext cx="2257425" cy="333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3825" y="4966245"/>
            <a:ext cx="1524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966245"/>
            <a:ext cx="1524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2266950"/>
            <a:ext cx="10668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54773" y="2695575"/>
            <a:ext cx="4682303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900" i="0" u="none">
                <a:solidFill>
                  <a:srgbClr val="0F172A"/>
                </a:solidFill>
                <a:latin typeface="Plus Jakarta Sans ExtraBold"/>
              </a:rPr>
              <a:t>A Brief History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4019550"/>
            <a:ext cx="6191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Tracing the evolution from 1950s rule-based symbolic reasoning to modern data-driven deep learning and autonomous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648325"/>
            <a:ext cx="11049000" cy="73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62337"/>
            <a:ext cx="11049000" cy="38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67137"/>
            <a:ext cx="2541240" cy="16263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419" y="1569243"/>
            <a:ext cx="2541240" cy="162639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3339" y="3767137"/>
            <a:ext cx="2541240" cy="162639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9259" y="1569243"/>
            <a:ext cx="2541240" cy="162639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1535459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" y="5800725"/>
            <a:ext cx="106299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284C7"/>
                </a:solidFill>
                <a:latin typeface="Inter"/>
              </a:rPr>
              <a:t>Key Historical Insight: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Early AI pursued intelligence through human-programmed rules. Modern AI flipped this paradigm by inferring rules automatically from massive datasets.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967162"/>
            <a:ext cx="224824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1950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214812"/>
            <a:ext cx="2248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The Turing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4500562"/>
            <a:ext cx="214119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Alan Turing proposes a benchmark evaluating whether a machine can exhibit intelligent behavior indistinguishable from a human.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444" y="1769268"/>
            <a:ext cx="224824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1956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444" y="2016918"/>
            <a:ext cx="2248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AI Field Named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7444" y="2302668"/>
            <a:ext cx="214119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The term "Artificial Intelligence" is coined at the Dartmouth Conference, establishing AI as a formal academic discipline.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64" y="3967162"/>
            <a:ext cx="224824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1960s–70s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364" y="4214812"/>
            <a:ext cx="2248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Symbolic AI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364" y="4500562"/>
            <a:ext cx="214119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Early expert systems encode human knowledge into handcrafted "if-then" rules to simulate domain expert decision-making.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9284" y="1769268"/>
            <a:ext cx="224824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1970s &amp; 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9284" y="2016918"/>
            <a:ext cx="2248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The AI Winters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9284" y="2302668"/>
            <a:ext cx="214119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Funding collapses twice as rigid, rule-based expert systems fail to handle real-world noise and complexity.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Foundations of AI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(1950s–1980s)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56395" y="33956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2315" y="33956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28234" y="33956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64154" y="33956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862637"/>
            <a:ext cx="11049000" cy="5191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69493"/>
            <a:ext cx="11049000" cy="38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74293"/>
            <a:ext cx="2541240" cy="16263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419" y="1676400"/>
            <a:ext cx="2541240" cy="162639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3339" y="3874293"/>
            <a:ext cx="2541240" cy="162639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9259" y="1676400"/>
            <a:ext cx="2541240" cy="162639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1535459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" y="6015037"/>
            <a:ext cx="106299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284C7"/>
                </a:solidFill>
                <a:latin typeface="Inter"/>
              </a:rPr>
              <a:t>Cumulative Progress: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Each breakthrough—deep learning, transformers, generative models—serves as the foundational stack powering autonomous agents.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074318"/>
            <a:ext cx="224824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1997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321968"/>
            <a:ext cx="2248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Deep Blue Victory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4607718"/>
            <a:ext cx="214119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IBM's Deep Blue defeats world chess champion Garry Kasparov, proving supercomputer computational search dominance.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444" y="1876425"/>
            <a:ext cx="224824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2006–12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444" y="2124075"/>
            <a:ext cx="2248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Deep Learning Revival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7444" y="2409825"/>
            <a:ext cx="214119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Geoffrey Hinton advances deep networks; AlexNet's 2012 ImageNet victory triggers the modern GPU deep learning explosion.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64" y="4074318"/>
            <a:ext cx="224824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364" y="4321968"/>
            <a:ext cx="2248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The Transformer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364" y="4607718"/>
            <a:ext cx="214119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Google releases "Attention Is All You Need", introducing self-attention architectures that power today's LLMs.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9284" y="1876425"/>
            <a:ext cx="224824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2020s+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9284" y="2124075"/>
            <a:ext cx="2248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GenAI &amp; 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9284" y="2409825"/>
            <a:ext cx="214119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ChatGPT, Claude, &amp; Gemini bring conversational AI to the mainstream; AI agents emerge as autonomous problem solvers.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Modern Era: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Deep Learning to Agents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56395" y="350281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2315" y="350281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28234" y="350281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64154" y="350281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2124075"/>
            <a:ext cx="10668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70875" y="2552700"/>
            <a:ext cx="705009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900" i="0" u="none">
                <a:solidFill>
                  <a:srgbClr val="0F172A"/>
                </a:solidFill>
                <a:latin typeface="Plus Jakarta Sans ExtraBold"/>
              </a:rPr>
              <a:t>Core Definitions &amp;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3876675"/>
            <a:ext cx="6191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Deconstructing the core terminology: Artificial Intelligence, Machine Learning, Deep Learning, Generative Models, and Autonomous Agents.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6481"/>
            <a:ext cx="5381625" cy="3043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326481"/>
            <a:ext cx="5381625" cy="3043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4521993"/>
            <a:ext cx="4791075" cy="552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4521993"/>
            <a:ext cx="4791075" cy="552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1144934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6775" y="3031331"/>
            <a:ext cx="47910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1F5F9"/>
                </a:solidFill>
                <a:latin typeface="Inter SemiBold"/>
              </a:rPr>
              <a:t>The Broad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417093"/>
            <a:ext cx="47910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The overarching discipline of building computer systems capable of performing tasks that typically require human cognitive function—such as reasoning, visual perception, decision-making, and natural language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031331"/>
            <a:ext cx="47910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1F5F9"/>
                </a:solidFill>
                <a:latin typeface="Inter SemiBold"/>
              </a:rPr>
              <a:t>The Data-Driven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417093"/>
            <a:ext cx="47910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A primary subfield of AI focused on building algorithms that infer mathematical models from data. Instead of following explicit code rules, ML systems improve performance through computational experience.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21756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47775" y="2645568"/>
            <a:ext cx="221027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38BDF8"/>
                </a:solidFill>
                <a:latin typeface="Plus Jakarta Sans"/>
              </a:rPr>
              <a:t>Artificial Intelligence (AI)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674393"/>
            <a:ext cx="47910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Scope: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Includes rule-based systems, expert logic, robotics, heuristic search, and machine learning.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621756"/>
            <a:ext cx="2667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15150" y="2645568"/>
            <a:ext cx="202025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818CF8"/>
                </a:solidFill>
                <a:latin typeface="Plus Jakarta Sans"/>
              </a:rPr>
              <a:t>Machine Learning (ML)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4674393"/>
            <a:ext cx="47910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Mechanism: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Statistical pattern recognition, cost optimization, regression, and algorithmic generalization.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AI vs. Machine Learning: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The Core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28787"/>
            <a:ext cx="11049000" cy="4238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405062"/>
            <a:ext cx="10553700" cy="3371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3081337"/>
            <a:ext cx="10058400" cy="2505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450" y="3757612"/>
            <a:ext cx="9563100" cy="1638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100" y="4433887"/>
            <a:ext cx="9067800" cy="771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6250"/>
            <a:ext cx="1925984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800" y="1919287"/>
            <a:ext cx="103060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ARTIFICIAL INTELLIGENCE (AI)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157412"/>
            <a:ext cx="10553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Inter"/>
              </a:rPr>
              <a:t>Broadest concept: Any technology mimicking human cognitive functions.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1943100"/>
            <a:ext cx="1524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14450" y="2595562"/>
            <a:ext cx="98107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MACHINE LEARNING (ML)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2833687"/>
            <a:ext cx="10058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Statistical methods learning patterns directly from structured &amp; unstructured data.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2619375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200" y="3271837"/>
            <a:ext cx="92773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DEEP LEARNING (DL)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4450" y="3509962"/>
            <a:ext cx="9563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Multi-layered artificial neural networks capable of automatic feature extraction.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4450" y="3295650"/>
            <a:ext cx="1905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28800" y="3948112"/>
            <a:ext cx="880110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GENERATIVE AI (GenAI / LLMs)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2100" y="4186237"/>
            <a:ext cx="9067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Deep neural architectures trained to synthesize novel text, images, audio, and code.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2100" y="3971925"/>
            <a:ext cx="17145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095500" y="4624387"/>
            <a:ext cx="82867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9750" y="4862512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0F172A"/>
                </a:solidFill>
                <a:latin typeface="Inter Medium"/>
              </a:rPr>
              <a:t>Autonomous loops integrating GenAI reasoning with memory, planning, and external tool execution.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57837" y="4648200"/>
            <a:ext cx="1905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Nested AI Hierarchy: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Containment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31531"/>
            <a:ext cx="5381625" cy="9477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613273"/>
            <a:ext cx="5381625" cy="24695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1144934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116931"/>
            <a:ext cx="50768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Inter SemiBold"/>
              </a:rPr>
              <a:t>Multi-Layer Neural Depth: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Uses artificial neural networks with dozens or hundreds of hidden layers (hence "deep") to learn hierarchically complex concepts.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55131"/>
            <a:ext cx="50768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Inter SemiBold"/>
              </a:rPr>
              <a:t>Automated Feature Extraction: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Traditional ML requires human engineers to manually design features. Deep Learning learns optimal feature representations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793331"/>
            <a:ext cx="50768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Inter SemiBold"/>
              </a:rPr>
              <a:t>Performance Scaling: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While classical ML algorithms plateau in accuracy as data grows, Deep Learning model performance scales monotonically with huge data and compute.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783931"/>
            <a:ext cx="496252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284C7"/>
                </a:solidFill>
                <a:latin typeface="Inter"/>
              </a:rPr>
              <a:t>Real-World Example: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Apple's Face ID uses deep convolutional neural networks to render a 3D depth mesh of your face, adapting across lighting, glasses, and facial hair changes.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622798"/>
            <a:ext cx="5362575" cy="241235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155031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93231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31431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Deep Learning: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Neural Networks at 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28825"/>
            <a:ext cx="5381625" cy="3638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028825"/>
            <a:ext cx="5381625" cy="363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43200"/>
            <a:ext cx="4791075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743200"/>
            <a:ext cx="4791075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"/>
            <a:ext cx="1769864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2324100"/>
            <a:ext cx="2857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47775" y="2328862"/>
            <a:ext cx="296037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F87171"/>
                </a:solidFill>
                <a:latin typeface="Plus Jakarta Sans"/>
              </a:rPr>
              <a:t>Traditional Software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3543300"/>
            <a:ext cx="44862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8FAFC"/>
                </a:solidFill>
                <a:latin typeface="Inter SemiBold"/>
              </a:rPr>
              <a:t>Fixed Logic: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Hardcoded standard conditional rules (if/else).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5" y="3924300"/>
            <a:ext cx="4486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8FAFC"/>
                </a:solidFill>
                <a:latin typeface="Inter SemiBold"/>
              </a:rPr>
              <a:t>Rigid: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Fails when encountering edge cases unhandled by developer.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4533900"/>
            <a:ext cx="4486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8FAFC"/>
                </a:solidFill>
                <a:latin typeface="Inter SemiBold"/>
              </a:rPr>
              <a:t>Manual Updates: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System behavior changes only when human engineers manually rewrite source code.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2324100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2328862"/>
            <a:ext cx="252031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38BDF8"/>
                </a:solidFill>
                <a:latin typeface="Plus Jakarta Sans"/>
              </a:rPr>
              <a:t>Machine Learning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8950" y="3543300"/>
            <a:ext cx="4486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8FAFC"/>
                </a:solidFill>
                <a:latin typeface="Inter SemiBold"/>
              </a:rPr>
              <a:t>Data-Driven: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Discovers non-linear relationships autonomously.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8950" y="4152900"/>
            <a:ext cx="4486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8FAFC"/>
                </a:solidFill>
                <a:latin typeface="Inter SemiBold"/>
              </a:rPr>
              <a:t>Generalization: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Handles unforeseen inputs by recognizing core underlying statistical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8950" y="4762500"/>
            <a:ext cx="4486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8FAFC"/>
                </a:solidFill>
                <a:latin typeface="Inter SemiBold"/>
              </a:rPr>
              <a:t>Continuous Adaptation: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Improves continuously as new training data becomes available.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3581400"/>
            <a:ext cx="1143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3962400"/>
            <a:ext cx="1143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4572000"/>
            <a:ext cx="1143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3581400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4191000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4800600"/>
            <a:ext cx="1333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Traditional Programming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vs. AI / Machine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2266950"/>
            <a:ext cx="10668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3334" y="2695575"/>
            <a:ext cx="1014533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900" i="0" u="none">
                <a:solidFill>
                  <a:srgbClr val="0F172A"/>
                </a:solidFill>
                <a:latin typeface="Plus Jakarta Sans ExtraBold"/>
              </a:rPr>
              <a:t>How AI Works: Lifecycles &amp;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4019550"/>
            <a:ext cx="6191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Inside the iterative engine: data pipelines, model optimization, neural node interactions, and system interpretability challenges.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945856"/>
            <a:ext cx="11049000" cy="5191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31231"/>
            <a:ext cx="2087909" cy="2476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1809" y="2231231"/>
            <a:ext cx="2087909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119" y="2231231"/>
            <a:ext cx="2087909" cy="2476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2429" y="2231231"/>
            <a:ext cx="2087909" cy="2476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2739" y="2231231"/>
            <a:ext cx="2087909" cy="2476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1613594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" y="5098256"/>
            <a:ext cx="10629900" cy="214312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Iterative Feedback Loop: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Evaluation failures routinely trigger automated data re-collection, data cleaning, or model parameter hyper-tuning.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6780" y="2507456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0349" y="3155156"/>
            <a:ext cx="49006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JetBrains Mono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301" y="3364706"/>
            <a:ext cx="127015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1F5F9"/>
                </a:solidFill>
                <a:latin typeface="Plus Jakarta Sans"/>
              </a:rPr>
              <a:t>Data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688556"/>
            <a:ext cx="1535459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Aggregate diverse, high-quality historical datasets representing real-world distribution.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7090" y="2507456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10659" y="3155156"/>
            <a:ext cx="49006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JetBrains Mono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5630" y="3364706"/>
            <a:ext cx="96012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1F5F9"/>
                </a:solidFill>
                <a:latin typeface="Plus Jakarta Sans"/>
              </a:rPr>
              <a:t>Preparation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8034" y="3688556"/>
            <a:ext cx="1535459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Clean noise, handle missing fields, normalize ranges, and perform feature engineering.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7400" y="2507456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50969" y="3155156"/>
            <a:ext cx="49006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JetBrains Mono"/>
              </a:rPr>
              <a:t>STEP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0926" y="3364706"/>
            <a:ext cx="1170146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1F5F9"/>
                </a:solidFill>
                <a:latin typeface="Plus Jakarta Sans"/>
              </a:rPr>
              <a:t>Model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8344" y="3688556"/>
            <a:ext cx="1535459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Algorithms optimize internal parameters (weights) via loss minimization algorithms.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7709" y="2507456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91279" y="3155156"/>
            <a:ext cx="49006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JetBrains Mono"/>
              </a:rPr>
              <a:t>STEP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6256" y="3364706"/>
            <a:ext cx="86010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1F5F9"/>
                </a:solidFill>
                <a:latin typeface="Plus Jakarta Sans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8654" y="3688556"/>
            <a:ext cx="1535459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Test performance on unseen validation sets using key metrics (precision, recall, F1).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48019" y="2507456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331588" y="3155156"/>
            <a:ext cx="49006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JetBrains Mono"/>
              </a:rPr>
              <a:t>STEP 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66555" y="3364706"/>
            <a:ext cx="102012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1F5F9"/>
                </a:solidFill>
                <a:latin typeface="Plus Jakarta Sans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8964" y="3688556"/>
            <a:ext cx="1535459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Serve inference models in production, monitoring drift and latency in real time.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5126831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15367" y="2621756"/>
            <a:ext cx="200025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41390" y="2621756"/>
            <a:ext cx="228600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53125" y="2621756"/>
            <a:ext cx="28575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2319" y="2621756"/>
            <a:ext cx="228600" cy="228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End-to-End AI/ML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Development Cycle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290762"/>
            <a:ext cx="5381625" cy="3114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947987"/>
            <a:ext cx="4829175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671887"/>
            <a:ext cx="4829175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395787"/>
            <a:ext cx="4829175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"/>
            <a:ext cx="1301204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290762"/>
            <a:ext cx="565070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Biological Inspiration to Mathematical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700337"/>
            <a:ext cx="53816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Artificial Neural Networks mimic biological brains through interconnected mathematical nodes ("neurons") organized into hierarchical processing layers.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566987"/>
            <a:ext cx="5070633" cy="238125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Layer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576637"/>
            <a:ext cx="50768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Inter SemiBold"/>
              </a:rPr>
              <a:t>Node Weights &amp; Biases: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Each connection holds a learnable scalar value that amplifies or dampens passing signals.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186237"/>
            <a:ext cx="50768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Inter SemiBold"/>
              </a:rPr>
              <a:t>Activation Functions: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Non-linear math equations (e.g., ReLU, Sigmoid) determine if a neuron "fires" to subsequent layers.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795837"/>
            <a:ext cx="50768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Inter SemiBold"/>
              </a:rPr>
              <a:t>Backpropagation: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Calculus algorithm calculated via gradient descent that adjusts network weights based on output errors.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05087"/>
            <a:ext cx="2190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Artificial Neural Networks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(ANNs)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66850"/>
            <a:ext cx="11049000" cy="437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056" y="2619375"/>
            <a:ext cx="495300" cy="49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056" y="3286125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8056" y="3952875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8056" y="4619625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2826" y="2286000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2826" y="2952750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2826" y="3619500"/>
            <a:ext cx="495300" cy="495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2826" y="4286250"/>
            <a:ext cx="495300" cy="495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2826" y="4953000"/>
            <a:ext cx="495300" cy="495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1273" y="2619375"/>
            <a:ext cx="495300" cy="495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1273" y="3286125"/>
            <a:ext cx="495300" cy="495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1273" y="3952875"/>
            <a:ext cx="495300" cy="495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1273" y="4619625"/>
            <a:ext cx="495300" cy="495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97417" y="3286125"/>
            <a:ext cx="495300" cy="495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97417" y="3952875"/>
            <a:ext cx="495300" cy="495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476250"/>
            <a:ext cx="1925984" cy="285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6029325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Signals pass left-to-right through weighted connections. Error offsets calculated at output nodes update weights via </a:t>
            </a:r>
            <a:r>
              <a:rPr b="0" sz="1050" i="0" u="none">
                <a:solidFill>
                  <a:srgbClr val="0284C7"/>
                </a:solidFill>
                <a:latin typeface="Inter"/>
              </a:rPr>
              <a:t>backpropagation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2190750"/>
            <a:ext cx="90636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 SemiBold"/>
              </a:rPr>
              <a:t>INPUT LAYER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77753" y="3533775"/>
            <a:ext cx="5715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953767" y="1857375"/>
            <a:ext cx="115356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 SemiBold"/>
              </a:rPr>
              <a:t>HIDDEN LAYER 1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26199" y="3533775"/>
            <a:ext cx="5715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02214" y="2190750"/>
            <a:ext cx="115356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 SemiBold"/>
              </a:rPr>
              <a:t>HIDDEN LAYER 2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74646" y="3533775"/>
            <a:ext cx="5715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050660" y="2857500"/>
            <a:ext cx="98881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 SemiBold"/>
              </a:rPr>
              <a:t>OUTPUT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Visual Architecture: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Deep Neural Network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29000"/>
            <a:ext cx="5381625" cy="68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247900"/>
            <a:ext cx="5381625" cy="990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3352800"/>
            <a:ext cx="5381625" cy="990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4457700"/>
            <a:ext cx="5381625" cy="990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2004119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247900"/>
            <a:ext cx="565070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The Opacity Dilemma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600325"/>
            <a:ext cx="53816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As deep learning models increase in accuracy, they grow to billions of parameters, turning into black boxes whose precise internal calculations are impossible to humanly inspect.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3571875"/>
            <a:ext cx="5057775" cy="400050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DC2626"/>
                </a:solidFill>
                <a:latin typeface="Inter"/>
              </a:rPr>
              <a:t>Risk:</a:t>
            </a:r>
            <a:r>
              <a:rPr b="0" sz="1050" i="0" u="none">
                <a:solidFill>
                  <a:srgbClr val="DC2626"/>
                </a:solidFill>
                <a:latin typeface="Inter"/>
              </a:rPr>
              <a:t> We may get accurate output predictions without knowing </a:t>
            </a:r>
            <a:r>
              <a:rPr b="0" sz="1050" i="1" u="none">
                <a:solidFill>
                  <a:srgbClr val="DC2626"/>
                </a:solidFill>
                <a:latin typeface="Inter"/>
              </a:rPr>
              <a:t>why</a:t>
            </a:r>
            <a:r>
              <a:rPr b="0" sz="1050" i="0" u="none">
                <a:solidFill>
                  <a:srgbClr val="DC2626"/>
                </a:solidFill>
                <a:latin typeface="Inter"/>
              </a:rPr>
              <a:t> the model reached them or if it exploited flawed shortcuts.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850" y="2428875"/>
            <a:ext cx="5270658" cy="2000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Regulatory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2686050"/>
            <a:ext cx="50196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GDPR "Right to Explanation" requires institutions to explain algorithmic credit denials or hiring rejections.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850" y="3533775"/>
            <a:ext cx="5270658" cy="2000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Algorithmic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3790950"/>
            <a:ext cx="50196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Models inadvertently encode and amplify historical societal biases present in training corpora.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4638675"/>
            <a:ext cx="5270658" cy="2000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Safety &amp; Accountability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4895850"/>
            <a:ext cx="50196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Critical systems (healthcare, autonomous vehicles) mandate auditability when failure occurs.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609975"/>
            <a:ext cx="13335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2457450"/>
            <a:ext cx="1905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3562350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850" y="4667250"/>
            <a:ext cx="1524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"Black Box" Problem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&amp; Interpretability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2266950"/>
            <a:ext cx="10668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0150" y="2695575"/>
            <a:ext cx="6091698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900" i="0" u="none">
                <a:solidFill>
                  <a:srgbClr val="0F172A"/>
                </a:solidFill>
                <a:latin typeface="Plus Jakarta Sans ExtraBold"/>
              </a:rPr>
              <a:t>Core Learning Paradigms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4019550"/>
            <a:ext cx="6191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How algorithms acquire knowledge: Supervised guidance, Unsupervised clustering, and Reinforcement feedback loops.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4575"/>
            <a:ext cx="3530649" cy="3067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14575"/>
            <a:ext cx="3530649" cy="3067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14575"/>
            <a:ext cx="3530649" cy="3067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657725"/>
            <a:ext cx="2978199" cy="447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4657725"/>
            <a:ext cx="2978199" cy="447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4657725"/>
            <a:ext cx="2978199" cy="447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988814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259080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7725" y="3238500"/>
            <a:ext cx="312710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1F5F9"/>
                </a:solidFill>
                <a:latin typeface="Plus Jakarta Sans"/>
              </a:rPr>
              <a:t>Supervised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90925"/>
            <a:ext cx="2978199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 SemiBold"/>
              </a:rPr>
              <a:t>Teacher-Led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71912"/>
            <a:ext cx="29781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Learns mapping functions from explicitly labeled dataset pairs (Input X ➔ Label Y).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6974" y="259080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06974" y="3238500"/>
            <a:ext cx="312710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1F5F9"/>
                </a:solidFill>
                <a:latin typeface="Plus Jakarta Sans"/>
              </a:rPr>
              <a:t>Unsupervised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974" y="3590925"/>
            <a:ext cx="2978199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818CF8"/>
                </a:solidFill>
                <a:latin typeface="Inter SemiBold"/>
              </a:rPr>
              <a:t>Hidden Pattern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6974" y="3871912"/>
            <a:ext cx="29781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Analyzes unlabeled raw data to discover inherent structures, clusters, and anomalies.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6224" y="259080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224" y="3238500"/>
            <a:ext cx="312710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1F5F9"/>
                </a:solidFill>
                <a:latin typeface="Plus Jakarta Sans"/>
              </a:rPr>
              <a:t>Reinforcement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224" y="3590925"/>
            <a:ext cx="2978199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4D399"/>
                </a:solidFill>
                <a:latin typeface="Inter SemiBold"/>
              </a:rPr>
              <a:t>Trial &amp; Error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224" y="3871912"/>
            <a:ext cx="29781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An autonomous agent interacts with an environment, learning via reward &amp; penalty signals.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450" y="2705100"/>
            <a:ext cx="28575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7725" y="4762500"/>
            <a:ext cx="29781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334155"/>
                </a:solidFill>
                <a:latin typeface="Inter"/>
              </a:rPr>
              <a:t>Use Cases:</a:t>
            </a:r>
            <a:r>
              <a:rPr b="0" sz="900" i="0" u="none">
                <a:solidFill>
                  <a:srgbClr val="334155"/>
                </a:solidFill>
                <a:latin typeface="Inter"/>
              </a:rPr>
              <a:t> Spam detection, medical diagnosis, price prediction.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1274" y="2705100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06974" y="4762500"/>
            <a:ext cx="29781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334155"/>
                </a:solidFill>
                <a:latin typeface="Inter"/>
              </a:rPr>
              <a:t>Use Cases:</a:t>
            </a:r>
            <a:r>
              <a:rPr b="0" sz="900" i="0" u="none">
                <a:solidFill>
                  <a:srgbClr val="334155"/>
                </a:solidFill>
                <a:latin typeface="Inter"/>
              </a:rPr>
              <a:t> Customer segmentation, fraud detection, dimensionality reduction.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51949" y="2705100"/>
            <a:ext cx="28575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66224" y="4762500"/>
            <a:ext cx="29781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334155"/>
                </a:solidFill>
                <a:latin typeface="Inter"/>
              </a:rPr>
              <a:t>Use Cases:</a:t>
            </a:r>
            <a:r>
              <a:rPr b="0" sz="900" i="0" u="none">
                <a:solidFill>
                  <a:srgbClr val="334155"/>
                </a:solidFill>
                <a:latin typeface="Inter"/>
              </a:rPr>
              <a:t> Robotics, AlphaGo, LLM alignment (RLHF), autonomous driving.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Three Pillars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of Machine Learning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2266950"/>
            <a:ext cx="10668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37005" y="2695575"/>
            <a:ext cx="891798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900" i="0" u="none">
                <a:solidFill>
                  <a:srgbClr val="0F172A"/>
                </a:solidFill>
                <a:latin typeface="Plus Jakarta Sans ExtraBold"/>
              </a:rPr>
              <a:t>Generative AI &amp; Autonomous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4019550"/>
            <a:ext cx="6191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The modern frontier: Large language architectures, self-attention, and tool-using autonomous workflows.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7937"/>
            <a:ext cx="5381625" cy="2600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547937"/>
            <a:ext cx="5381625" cy="2600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138487"/>
            <a:ext cx="4829175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862387"/>
            <a:ext cx="4829175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250"/>
            <a:ext cx="1379339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2824162"/>
            <a:ext cx="5070633" cy="21907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Discriminative vs. Generative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824162"/>
            <a:ext cx="5070633" cy="21907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18CF8"/>
                </a:solidFill>
                <a:latin typeface="Plus Jakarta Sans"/>
              </a:rPr>
              <a:t>How LLMs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138487"/>
            <a:ext cx="4829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LLMs are massive neural networks trained on billions of text tokens to predict the next statistical token in a sequence.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862262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862262"/>
            <a:ext cx="1524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9900" y="3652837"/>
            <a:ext cx="4524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8FAFC"/>
                </a:solidFill>
                <a:latin typeface="Inter SemiBold"/>
              </a:rPr>
              <a:t>Scaling Laws: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Model capability expands predictably with compute, data volume, and parameter 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4262437"/>
            <a:ext cx="4524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8FAFC"/>
                </a:solidFill>
                <a:latin typeface="Inter SemiBold"/>
              </a:rPr>
              <a:t>Emergent Reasoning: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At scale, models exhibit multi-step logic, coding ability, and contextual adaptation.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Generative AI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&amp; Large Language Models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595562"/>
            <a:ext cx="5381625" cy="2505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3862387"/>
            <a:ext cx="4791075" cy="352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4310062"/>
            <a:ext cx="4791075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250"/>
            <a:ext cx="2238375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266950"/>
            <a:ext cx="53816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Introduced by Google in the 2017 landmark paper </a:t>
            </a:r>
            <a:r>
              <a:rPr b="0" sz="1200" i="1" u="none">
                <a:solidFill>
                  <a:srgbClr val="475569"/>
                </a:solidFill>
                <a:latin typeface="Inter"/>
              </a:rPr>
              <a:t>"Attention Is All You Need"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, the Transformer architecture replaced slow sequential RNNs and unlocked modern LLMs.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143250"/>
            <a:ext cx="50768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Inter SemiBold"/>
              </a:rPr>
              <a:t>Self-Attention Mechanism: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Computes dynamic relevance weights between every word pair in a document simultaneously, regardless of physical distance.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981450"/>
            <a:ext cx="50768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Inter SemiBold"/>
              </a:rPr>
              <a:t>Massive Parallel Training: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Unlike sequential recurrent models, Transformers process entire text blocks at once, enabling GPU hardware cluster acceleration.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819650"/>
            <a:ext cx="50768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Inter SemiBold"/>
              </a:rPr>
              <a:t>Foundational Base: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Powers GPT-4, Claude 3.5, Gemini, Llama 3, Midjourney, and modern multimodal AI.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2890837"/>
            <a:ext cx="333375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14373" y="3367087"/>
            <a:ext cx="5030628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Plus Jakarta Sans"/>
              </a:rPr>
              <a:t>Paradigm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Transformer: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Self-Attention Engine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5025"/>
            <a:ext cx="5381625" cy="3486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05025"/>
            <a:ext cx="5381625" cy="3486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988814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771775"/>
            <a:ext cx="47910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Inter SemiBold"/>
              </a:rPr>
              <a:t>Static Text Synthesizer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771775"/>
            <a:ext cx="47910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8BDF8"/>
                </a:solidFill>
                <a:latin typeface="Inter SemiBold"/>
              </a:rPr>
              <a:t>Goal-Driven Problem Solver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400300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90625" y="2405062"/>
            <a:ext cx="2390298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CBD5E1"/>
                </a:solidFill>
                <a:latin typeface="Plus Jakarta Sans"/>
              </a:rPr>
              <a:t>Standard Language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3086100"/>
            <a:ext cx="44862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Responds only when explicitly prompted by a human user.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5" y="3467100"/>
            <a:ext cx="4486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Single-turn generation; halts immediately after producing text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4076700"/>
            <a:ext cx="4486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Cannot execute external API actions or modify environment directly.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1575" y="4686300"/>
            <a:ext cx="4486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Isolated context memory restricted to the immediate prompt window.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400300"/>
            <a:ext cx="28575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15150" y="2405062"/>
            <a:ext cx="196024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38BDF8"/>
                </a:solidFill>
                <a:latin typeface="Plus Jakarta Sans"/>
              </a:rPr>
              <a:t>Autonomous AI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8950" y="3086100"/>
            <a:ext cx="4486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Decomposes high-level user goals into multi-step execution sub-tasks.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8950" y="3695700"/>
            <a:ext cx="44862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Executes iterative loops (Perceive ➔ Plan ➔ Act ➔ Observe).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8950" y="4076700"/>
            <a:ext cx="4486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Calls external tools: web search, code execution, databases, software APIs.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8950" y="4686300"/>
            <a:ext cx="44862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Maintains persistent short-term and long-term vector memory.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124200"/>
            <a:ext cx="142875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505200"/>
            <a:ext cx="142875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114800"/>
            <a:ext cx="142875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724400"/>
            <a:ext cx="142875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3124200"/>
            <a:ext cx="1333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3733800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4114800"/>
            <a:ext cx="1333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4724400"/>
            <a:ext cx="133350" cy="152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From Passive LLMs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to Autonomous Agents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9064"/>
            <a:ext cx="2619375" cy="17389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2519064"/>
            <a:ext cx="2619375" cy="17389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519064"/>
            <a:ext cx="2619375" cy="17389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2519064"/>
            <a:ext cx="2619375" cy="173890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1691729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2757189"/>
            <a:ext cx="21431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38BDF8"/>
                </a:solidFill>
                <a:latin typeface="JetBrains Mono Extra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46" y="3185814"/>
            <a:ext cx="225028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Plus Jakarta Sans"/>
              </a:rPr>
              <a:t>Perceive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500139"/>
            <a:ext cx="21431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Ingests environmental inputs, user objectives, database state, and memory contexts.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0" y="2757189"/>
            <a:ext cx="21431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38BDF8"/>
                </a:solidFill>
                <a:latin typeface="JetBrains Mono Extra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5921" y="3185814"/>
            <a:ext cx="225028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Plus Jakarta Sans"/>
              </a:rPr>
              <a:t>Reason &amp;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0" y="3500139"/>
            <a:ext cx="21431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The LLM "Brain" breaks down objectives and selects next necessary tool/action step.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2757189"/>
            <a:ext cx="21431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38BDF8"/>
                </a:solidFill>
                <a:latin typeface="JetBrains Mono Extra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5796" y="3185814"/>
            <a:ext cx="225028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Plus Jakarta Sans"/>
              </a:rP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500139"/>
            <a:ext cx="21431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Executes concrete external action via tools (e.g., runs Python code, calls REST API).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0" y="2757189"/>
            <a:ext cx="21431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38BDF8"/>
                </a:solidFill>
                <a:latin typeface="JetBrains Mono Extra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5671" y="3185814"/>
            <a:ext cx="225028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Plus Jakarta Sans"/>
              </a:rPr>
              <a:t>Observe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500139"/>
            <a:ext cx="21431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Evaluates execution feedback. If goal is incomplete, loops back to Step 01 automatically.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4703266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4703266"/>
            <a:ext cx="266700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3475" y="4667547"/>
            <a:ext cx="1390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The Reasoning Brain: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475" y="4838997"/>
            <a:ext cx="42957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LLMs supply cognitive planning, zero-shot intent parsing, and reflection.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4667547"/>
            <a:ext cx="1771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Tool &amp; Memory Integration: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3225" y="4838997"/>
            <a:ext cx="456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Vector databases supply long-term memory; APIs allow real-world execution.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Anatomy of an AI Agent: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The Control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3250" y="3378993"/>
            <a:ext cx="171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284C7"/>
                </a:solidFill>
                <a:latin typeface="Inter"/>
              </a:rPr>
              <a:t>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53125" y="3378993"/>
            <a:ext cx="171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284C7"/>
                </a:solidFill>
                <a:latin typeface="Inter"/>
              </a:rPr>
              <a:t>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3000" y="3378993"/>
            <a:ext cx="171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284C7"/>
                </a:solidFill>
                <a:latin typeface="Inter"/>
              </a:rPr>
              <a:t>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5556"/>
            <a:ext cx="544830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545556"/>
            <a:ext cx="5448300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36181"/>
            <a:ext cx="5448300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736181"/>
            <a:ext cx="5448300" cy="1038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1457325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964906"/>
            <a:ext cx="110490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JetBrains Mono"/>
              </a:rPr>
              <a:t>Popular Orchestration Frameworks: LangChain • CrewAI • AutoGen • LlamaIndex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745581"/>
            <a:ext cx="5300662" cy="2095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8BDF8"/>
                </a:solidFill>
                <a:latin typeface="Plus Jakarta Sans"/>
              </a:rPr>
              <a:t>1. Sequential Chain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012281"/>
            <a:ext cx="50482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Tasks execute in linear sequence, where output of Agent A serves directly as context input to Agent 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2225" y="2745581"/>
            <a:ext cx="5300662" cy="20955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8BDF8"/>
                </a:solidFill>
                <a:latin typeface="Plus Jakarta Sans"/>
              </a:rPr>
              <a:t>2. Router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2225" y="3012281"/>
            <a:ext cx="50482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A centralized router classifies input and dynamically directs tasks to specialized domain agents.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936206"/>
            <a:ext cx="53006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8BDF8"/>
                </a:solidFill>
                <a:latin typeface="Plus Jakarta Sans"/>
              </a:rPr>
              <a:t>3. Parallelization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202906"/>
            <a:ext cx="50482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Multiple specialized sub-agents solve independent task components simultaneously before aggregating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3936206"/>
            <a:ext cx="5300662" cy="2095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8BDF8"/>
                </a:solidFill>
                <a:latin typeface="Plus Jakarta Sans"/>
              </a:rPr>
              <a:t>4. Orchestrator-Worker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4202906"/>
            <a:ext cx="50482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A central master orchestrator agent breaks down complex projects, delegating tasks to worker sub-agents.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774156"/>
            <a:ext cx="20002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2774156"/>
            <a:ext cx="16192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225" y="3964781"/>
            <a:ext cx="200025" cy="1619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904875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Agentic Workflow </a:t>
            </a:r>
            <a:r>
              <a:rPr b="1" sz="2550" i="0" u="none">
                <a:solidFill>
                  <a:srgbClr val="0284C7"/>
                </a:solidFill>
                <a:latin typeface="Plus Jakarta Sans"/>
              </a:rPr>
              <a:t>Design Patterns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727" y="476250"/>
            <a:ext cx="832544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52700"/>
            <a:ext cx="11049000" cy="447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952500"/>
            <a:ext cx="11601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lus Jakarta Sans"/>
              </a:rPr>
              <a:t>The AI Paradigm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857375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0284C7"/>
                </a:solidFill>
                <a:latin typeface="Inter"/>
              </a:rPr>
              <a:t>From static rules to data-driven learning, and from text response models to autonomous problem-solving agents.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95662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309937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https://static.vecteezy.com/system/resources/thumbnails/024/110/454/small_2x/concept-ai-machine-learning-artificial-intelligence-robot-learning-network-system-advance-ai-on-blue-futuristic-modern-hi-tech-background-vector.jpg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729037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