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26F891-FA78-4FF6-BFA0-870BFDB0F99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690CB80-86AD-4719-82A4-0616209FD29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C491CDF-667F-4982-A8F7-A81B55500B6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7B2EFAF-E124-44EF-822B-1FDE2A42A92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C528171-C254-4F39-8C1C-D81089F1346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0E69986-CFB1-46F1-9949-E3969D78A4F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565D289-7666-43A2-8701-2C57A5487E3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E1C9055-8EEF-4A58-AE58-F7A8A3395BF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0DE5C5A-9A71-49D8-B045-7D0F0A5AB56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E19B13-E809-4F44-A13A-F1ED1463DCF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3DCA71-36B3-4ABC-BDBC-542129062C6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914400" y="1143000"/>
            <a:ext cx="10332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CATHOLIC UNIVERSITY OF RWANDA (CUR)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914400" y="1874520"/>
            <a:ext cx="10332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2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Machine Learning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5394960" y="3063240"/>
            <a:ext cx="1371240" cy="72720"/>
          </a:xfrm>
          <a:prstGeom prst="rect">
            <a:avLst/>
          </a:prstGeom>
          <a:solidFill>
            <a:srgbClr val="EB7D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914400" y="374904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Lecturer: Fadl Musa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914400" y="4343400"/>
            <a:ext cx="10332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August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59436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MACHINE LEARNING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594360" y="6400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Machine Learning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Rectangle 3"/>
          <p:cNvSpPr/>
          <p:nvPr/>
        </p:nvSpPr>
        <p:spPr>
          <a:xfrm>
            <a:off x="594360" y="1371600"/>
            <a:ext cx="914040" cy="54360"/>
          </a:xfrm>
          <a:prstGeom prst="rect">
            <a:avLst/>
          </a:prstGeom>
          <a:solidFill>
            <a:srgbClr val="EB7D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4"/>
          <p:cNvSpPr/>
          <p:nvPr/>
        </p:nvSpPr>
        <p:spPr>
          <a:xfrm>
            <a:off x="822960" y="17830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5"/>
          <p:cNvSpPr/>
          <p:nvPr/>
        </p:nvSpPr>
        <p:spPr>
          <a:xfrm>
            <a:off x="1188720" y="17830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A visual and practical introduction to learning from data.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6"/>
          <p:cNvSpPr/>
          <p:nvPr/>
        </p:nvSpPr>
        <p:spPr>
          <a:xfrm>
            <a:off x="822960" y="24688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7"/>
          <p:cNvSpPr/>
          <p:nvPr/>
        </p:nvSpPr>
        <p:spPr>
          <a:xfrm>
            <a:off x="1188720" y="24688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Models discover patterns that support predictions or decisions.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8"/>
          <p:cNvSpPr/>
          <p:nvPr/>
        </p:nvSpPr>
        <p:spPr>
          <a:xfrm>
            <a:off x="822960" y="617220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Based on the GeeksforGeeks Machine Learning Tutorial.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/>
          <p:nvPr/>
        </p:nvSpPr>
        <p:spPr>
          <a:xfrm>
            <a:off x="59436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MACHINE LEARNING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594360" y="6400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Learning objectives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ectangle 3"/>
          <p:cNvSpPr/>
          <p:nvPr/>
        </p:nvSpPr>
        <p:spPr>
          <a:xfrm>
            <a:off x="594360" y="1371600"/>
            <a:ext cx="914040" cy="54360"/>
          </a:xfrm>
          <a:prstGeom prst="rect">
            <a:avLst/>
          </a:prstGeom>
          <a:solidFill>
            <a:srgbClr val="EB7D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4"/>
          <p:cNvSpPr/>
          <p:nvPr/>
        </p:nvSpPr>
        <p:spPr>
          <a:xfrm>
            <a:off x="822960" y="17830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5"/>
          <p:cNvSpPr/>
          <p:nvPr/>
        </p:nvSpPr>
        <p:spPr>
          <a:xfrm>
            <a:off x="1188720" y="17830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Explain ML and the role of data, features, labels and models.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6"/>
          <p:cNvSpPr/>
          <p:nvPr/>
        </p:nvSpPr>
        <p:spPr>
          <a:xfrm>
            <a:off x="822960" y="24688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7"/>
          <p:cNvSpPr/>
          <p:nvPr/>
        </p:nvSpPr>
        <p:spPr>
          <a:xfrm>
            <a:off x="1188720" y="24688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Trace Collect → Clean → Train → Evaluate → Deploy.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8"/>
          <p:cNvSpPr/>
          <p:nvPr/>
        </p:nvSpPr>
        <p:spPr>
          <a:xfrm>
            <a:off x="822960" y="31546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9"/>
          <p:cNvSpPr/>
          <p:nvPr/>
        </p:nvSpPr>
        <p:spPr>
          <a:xfrm>
            <a:off x="1188720" y="31546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Distinguish supervised, unsupervised and reinforcement learning.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822960" y="38404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1"/>
          <p:cNvSpPr/>
          <p:nvPr/>
        </p:nvSpPr>
        <p:spPr>
          <a:xfrm>
            <a:off x="1188720" y="38404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Compare common model families and evaluation measures.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2"/>
          <p:cNvSpPr/>
          <p:nvPr/>
        </p:nvSpPr>
        <p:spPr>
          <a:xfrm>
            <a:off x="822960" y="45262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13"/>
          <p:cNvSpPr/>
          <p:nvPr/>
        </p:nvSpPr>
        <p:spPr>
          <a:xfrm>
            <a:off x="1188720" y="45262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Recognize leakage, bias, overfitting, drift and MLOps responsibilities.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1"/>
          <p:cNvSpPr/>
          <p:nvPr/>
        </p:nvSpPr>
        <p:spPr>
          <a:xfrm>
            <a:off x="59436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MACHINE LEARNING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594360" y="6400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What is machine learning?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ectangle 3"/>
          <p:cNvSpPr/>
          <p:nvPr/>
        </p:nvSpPr>
        <p:spPr>
          <a:xfrm>
            <a:off x="594360" y="1371600"/>
            <a:ext cx="914040" cy="54360"/>
          </a:xfrm>
          <a:prstGeom prst="rect">
            <a:avLst/>
          </a:prstGeom>
          <a:solidFill>
            <a:srgbClr val="EB7D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4"/>
          <p:cNvSpPr/>
          <p:nvPr/>
        </p:nvSpPr>
        <p:spPr>
          <a:xfrm>
            <a:off x="822960" y="17830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5"/>
          <p:cNvSpPr/>
          <p:nvPr/>
        </p:nvSpPr>
        <p:spPr>
          <a:xfrm>
            <a:off x="1188720" y="17830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ML is a branch of AI in which algorithms learn patterns from examples.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6"/>
          <p:cNvSpPr/>
          <p:nvPr/>
        </p:nvSpPr>
        <p:spPr>
          <a:xfrm>
            <a:off x="822960" y="24688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7"/>
          <p:cNvSpPr/>
          <p:nvPr/>
        </p:nvSpPr>
        <p:spPr>
          <a:xfrm>
            <a:off x="1188720" y="24688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A model maps inputs to outputs for cases it has not seen before.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8"/>
          <p:cNvSpPr/>
          <p:nvPr/>
        </p:nvSpPr>
        <p:spPr>
          <a:xfrm>
            <a:off x="822960" y="31546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9"/>
          <p:cNvSpPr/>
          <p:nvPr/>
        </p:nvSpPr>
        <p:spPr>
          <a:xfrm>
            <a:off x="1188720" y="31546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Training reduces error on examples; generalization is success on new data.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822960" y="38404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11"/>
          <p:cNvSpPr/>
          <p:nvPr/>
        </p:nvSpPr>
        <p:spPr>
          <a:xfrm>
            <a:off x="1188720" y="38404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ML is a complete process of problem definition, data, measurement and monitoring.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1"/>
          <p:cNvSpPr/>
          <p:nvPr/>
        </p:nvSpPr>
        <p:spPr>
          <a:xfrm>
            <a:off x="59436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MACHINE LEARNING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2"/>
          <p:cNvSpPr/>
          <p:nvPr/>
        </p:nvSpPr>
        <p:spPr>
          <a:xfrm>
            <a:off x="594360" y="6400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The machine-learning pipeline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 3"/>
          <p:cNvSpPr/>
          <p:nvPr/>
        </p:nvSpPr>
        <p:spPr>
          <a:xfrm>
            <a:off x="594360" y="1371600"/>
            <a:ext cx="914040" cy="54360"/>
          </a:xfrm>
          <a:prstGeom prst="rect">
            <a:avLst/>
          </a:prstGeom>
          <a:solidFill>
            <a:srgbClr val="EB7D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4"/>
          <p:cNvSpPr/>
          <p:nvPr/>
        </p:nvSpPr>
        <p:spPr>
          <a:xfrm>
            <a:off x="822960" y="17830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5"/>
          <p:cNvSpPr/>
          <p:nvPr/>
        </p:nvSpPr>
        <p:spPr>
          <a:xfrm>
            <a:off x="1188720" y="17830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A reliable workflow turns a question into a maintained decision system.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6"/>
          <p:cNvSpPr/>
          <p:nvPr/>
        </p:nvSpPr>
        <p:spPr>
          <a:xfrm>
            <a:off x="822960" y="24688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7"/>
          <p:cNvSpPr/>
          <p:nvPr/>
        </p:nvSpPr>
        <p:spPr>
          <a:xfrm>
            <a:off x="1188720" y="24688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Each stage can send the team back to an earlier stage when evidence is weak.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1"/>
          <p:cNvSpPr/>
          <p:nvPr/>
        </p:nvSpPr>
        <p:spPr>
          <a:xfrm>
            <a:off x="59436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MACHINE LEARNING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2"/>
          <p:cNvSpPr/>
          <p:nvPr/>
        </p:nvSpPr>
        <p:spPr>
          <a:xfrm>
            <a:off x="594360" y="6400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The five stages at a glance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3"/>
          <p:cNvSpPr/>
          <p:nvPr/>
        </p:nvSpPr>
        <p:spPr>
          <a:xfrm>
            <a:off x="594360" y="1371600"/>
            <a:ext cx="914040" cy="54360"/>
          </a:xfrm>
          <a:prstGeom prst="rect">
            <a:avLst/>
          </a:prstGeom>
          <a:solidFill>
            <a:srgbClr val="EB7D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Rounded Rectangle 4"/>
          <p:cNvSpPr/>
          <p:nvPr/>
        </p:nvSpPr>
        <p:spPr>
          <a:xfrm>
            <a:off x="6217920" y="2240280"/>
            <a:ext cx="932400" cy="63972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solidFill>
              <a:srgbClr val="2D6C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5"/>
          <p:cNvSpPr/>
          <p:nvPr/>
        </p:nvSpPr>
        <p:spPr>
          <a:xfrm>
            <a:off x="6217920" y="2468880"/>
            <a:ext cx="932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Collect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ounded Rectangle 6"/>
          <p:cNvSpPr/>
          <p:nvPr/>
        </p:nvSpPr>
        <p:spPr>
          <a:xfrm>
            <a:off x="7269480" y="2240280"/>
            <a:ext cx="932400" cy="63972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solidFill>
              <a:srgbClr val="00948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7"/>
          <p:cNvSpPr/>
          <p:nvPr/>
        </p:nvSpPr>
        <p:spPr>
          <a:xfrm>
            <a:off x="7269480" y="2468880"/>
            <a:ext cx="932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Clean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ounded Rectangle 8"/>
          <p:cNvSpPr/>
          <p:nvPr/>
        </p:nvSpPr>
        <p:spPr>
          <a:xfrm>
            <a:off x="8321040" y="2240280"/>
            <a:ext cx="932400" cy="63972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solidFill>
              <a:srgbClr val="EB7D3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9"/>
          <p:cNvSpPr/>
          <p:nvPr/>
        </p:nvSpPr>
        <p:spPr>
          <a:xfrm>
            <a:off x="8321040" y="2468880"/>
            <a:ext cx="932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Train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ounded Rectangle 10"/>
          <p:cNvSpPr/>
          <p:nvPr/>
        </p:nvSpPr>
        <p:spPr>
          <a:xfrm>
            <a:off x="9372600" y="2240280"/>
            <a:ext cx="932400" cy="63972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solidFill>
              <a:srgbClr val="2D6C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11"/>
          <p:cNvSpPr/>
          <p:nvPr/>
        </p:nvSpPr>
        <p:spPr>
          <a:xfrm>
            <a:off x="9372600" y="2468880"/>
            <a:ext cx="932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Evaluate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ounded Rectangle 12"/>
          <p:cNvSpPr/>
          <p:nvPr/>
        </p:nvSpPr>
        <p:spPr>
          <a:xfrm>
            <a:off x="10424160" y="2240280"/>
            <a:ext cx="932400" cy="63972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solidFill>
              <a:srgbClr val="00948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13"/>
          <p:cNvSpPr/>
          <p:nvPr/>
        </p:nvSpPr>
        <p:spPr>
          <a:xfrm>
            <a:off x="10424160" y="2468880"/>
            <a:ext cx="932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Deploy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14"/>
          <p:cNvSpPr/>
          <p:nvPr/>
        </p:nvSpPr>
        <p:spPr>
          <a:xfrm>
            <a:off x="914400" y="3886200"/>
            <a:ext cx="102409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Question → data → evidence → model → decision → feedback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1"/>
          <p:cNvSpPr/>
          <p:nvPr/>
        </p:nvSpPr>
        <p:spPr>
          <a:xfrm>
            <a:off x="59436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ML PIPELINE | STAGE DETAIL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2"/>
          <p:cNvSpPr/>
          <p:nvPr/>
        </p:nvSpPr>
        <p:spPr>
          <a:xfrm>
            <a:off x="594360" y="6400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1. Collect: a closer look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3"/>
          <p:cNvSpPr/>
          <p:nvPr/>
        </p:nvSpPr>
        <p:spPr>
          <a:xfrm>
            <a:off x="594360" y="1371600"/>
            <a:ext cx="914040" cy="54360"/>
          </a:xfrm>
          <a:prstGeom prst="rect">
            <a:avLst/>
          </a:prstGeom>
          <a:solidFill>
            <a:srgbClr val="EB7D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4"/>
          <p:cNvSpPr/>
          <p:nvPr/>
        </p:nvSpPr>
        <p:spPr>
          <a:xfrm>
            <a:off x="731520" y="173736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WHAT HAPPENS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5"/>
          <p:cNvSpPr/>
          <p:nvPr/>
        </p:nvSpPr>
        <p:spPr>
          <a:xfrm>
            <a:off x="731520" y="2057400"/>
            <a:ext cx="4937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Turn a real question into trustworthy observations.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6"/>
          <p:cNvSpPr/>
          <p:nvPr/>
        </p:nvSpPr>
        <p:spPr>
          <a:xfrm>
            <a:off x="822960" y="28803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7"/>
          <p:cNvSpPr/>
          <p:nvPr/>
        </p:nvSpPr>
        <p:spPr>
          <a:xfrm>
            <a:off x="1143000" y="2880360"/>
            <a:ext cx="4388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Define target, unit of analysis and time window.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8"/>
          <p:cNvSpPr/>
          <p:nvPr/>
        </p:nvSpPr>
        <p:spPr>
          <a:xfrm>
            <a:off x="822960" y="35020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9"/>
          <p:cNvSpPr/>
          <p:nvPr/>
        </p:nvSpPr>
        <p:spPr>
          <a:xfrm>
            <a:off x="1143000" y="3502080"/>
            <a:ext cx="4388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Gather representative data and document provenance.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10"/>
          <p:cNvSpPr/>
          <p:nvPr/>
        </p:nvSpPr>
        <p:spPr>
          <a:xfrm>
            <a:off x="822960" y="41238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11"/>
          <p:cNvSpPr/>
          <p:nvPr/>
        </p:nvSpPr>
        <p:spPr>
          <a:xfrm>
            <a:off x="1143000" y="4123800"/>
            <a:ext cx="4388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Check permissions, privacy, sampling bias and label quality.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12"/>
          <p:cNvSpPr/>
          <p:nvPr/>
        </p:nvSpPr>
        <p:spPr>
          <a:xfrm>
            <a:off x="731520" y="562356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OUTPUT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13"/>
          <p:cNvSpPr/>
          <p:nvPr/>
        </p:nvSpPr>
        <p:spPr>
          <a:xfrm>
            <a:off x="731520" y="589788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Documented dataset and problem statement.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14"/>
          <p:cNvSpPr/>
          <p:nvPr/>
        </p:nvSpPr>
        <p:spPr>
          <a:xfrm>
            <a:off x="6217920" y="173736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PIPELINE POSITION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ounded Rectangle 15"/>
          <p:cNvSpPr/>
          <p:nvPr/>
        </p:nvSpPr>
        <p:spPr>
          <a:xfrm>
            <a:off x="6217920" y="2240280"/>
            <a:ext cx="932400" cy="639720"/>
          </a:xfrm>
          <a:prstGeom prst="roundRect">
            <a:avLst>
              <a:gd name="adj" fmla="val 16667"/>
            </a:avLst>
          </a:prstGeom>
          <a:solidFill>
            <a:srgbClr val="2D6CBE"/>
          </a:solidFill>
          <a:ln>
            <a:solidFill>
              <a:srgbClr val="2D6C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16"/>
          <p:cNvSpPr/>
          <p:nvPr/>
        </p:nvSpPr>
        <p:spPr>
          <a:xfrm>
            <a:off x="6217920" y="2468880"/>
            <a:ext cx="932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Collect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ounded Rectangle 17"/>
          <p:cNvSpPr/>
          <p:nvPr/>
        </p:nvSpPr>
        <p:spPr>
          <a:xfrm>
            <a:off x="7269480" y="2240280"/>
            <a:ext cx="932400" cy="63972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solidFill>
              <a:srgbClr val="00948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18"/>
          <p:cNvSpPr/>
          <p:nvPr/>
        </p:nvSpPr>
        <p:spPr>
          <a:xfrm>
            <a:off x="7269480" y="2468880"/>
            <a:ext cx="932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Clean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ounded Rectangle 19"/>
          <p:cNvSpPr/>
          <p:nvPr/>
        </p:nvSpPr>
        <p:spPr>
          <a:xfrm>
            <a:off x="8321040" y="2240280"/>
            <a:ext cx="932400" cy="63972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solidFill>
              <a:srgbClr val="EB7D3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20"/>
          <p:cNvSpPr/>
          <p:nvPr/>
        </p:nvSpPr>
        <p:spPr>
          <a:xfrm>
            <a:off x="8321040" y="2468880"/>
            <a:ext cx="932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Train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Rounded Rectangle 21"/>
          <p:cNvSpPr/>
          <p:nvPr/>
        </p:nvSpPr>
        <p:spPr>
          <a:xfrm>
            <a:off x="9372600" y="2240280"/>
            <a:ext cx="932400" cy="63972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solidFill>
              <a:srgbClr val="2D6C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22"/>
          <p:cNvSpPr/>
          <p:nvPr/>
        </p:nvSpPr>
        <p:spPr>
          <a:xfrm>
            <a:off x="9372600" y="2468880"/>
            <a:ext cx="932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Evaluate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ounded Rectangle 23"/>
          <p:cNvSpPr/>
          <p:nvPr/>
        </p:nvSpPr>
        <p:spPr>
          <a:xfrm>
            <a:off x="10424160" y="2240280"/>
            <a:ext cx="932400" cy="63972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solidFill>
              <a:srgbClr val="00948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24"/>
          <p:cNvSpPr/>
          <p:nvPr/>
        </p:nvSpPr>
        <p:spPr>
          <a:xfrm>
            <a:off x="10424160" y="2468880"/>
            <a:ext cx="932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Deploy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ounded Rectangle 25"/>
          <p:cNvSpPr/>
          <p:nvPr/>
        </p:nvSpPr>
        <p:spPr>
          <a:xfrm>
            <a:off x="6583680" y="3657600"/>
            <a:ext cx="4388760" cy="114264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solidFill>
              <a:srgbClr val="2D6C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26"/>
          <p:cNvSpPr/>
          <p:nvPr/>
        </p:nvSpPr>
        <p:spPr>
          <a:xfrm>
            <a:off x="6858000" y="388620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Collect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27"/>
          <p:cNvSpPr/>
          <p:nvPr/>
        </p:nvSpPr>
        <p:spPr>
          <a:xfrm>
            <a:off x="6812280" y="4316040"/>
            <a:ext cx="3931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Question, target and representative observations.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Box 1"/>
          <p:cNvSpPr/>
          <p:nvPr/>
        </p:nvSpPr>
        <p:spPr>
          <a:xfrm>
            <a:off x="59436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ML PIPELINE | STAGE DETAIL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2"/>
          <p:cNvSpPr/>
          <p:nvPr/>
        </p:nvSpPr>
        <p:spPr>
          <a:xfrm>
            <a:off x="594360" y="6400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2. Clean: a closer look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ectangle 3"/>
          <p:cNvSpPr/>
          <p:nvPr/>
        </p:nvSpPr>
        <p:spPr>
          <a:xfrm>
            <a:off x="594360" y="1371600"/>
            <a:ext cx="914040" cy="54360"/>
          </a:xfrm>
          <a:prstGeom prst="rect">
            <a:avLst/>
          </a:prstGeom>
          <a:solidFill>
            <a:srgbClr val="EB7D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Box 4"/>
          <p:cNvSpPr/>
          <p:nvPr/>
        </p:nvSpPr>
        <p:spPr>
          <a:xfrm>
            <a:off x="731520" y="173736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WHAT HAPPENS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5"/>
          <p:cNvSpPr/>
          <p:nvPr/>
        </p:nvSpPr>
        <p:spPr>
          <a:xfrm>
            <a:off x="731520" y="2057400"/>
            <a:ext cx="4937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Make inputs consistent without silently hiding signal.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6"/>
          <p:cNvSpPr/>
          <p:nvPr/>
        </p:nvSpPr>
        <p:spPr>
          <a:xfrm>
            <a:off x="822960" y="28803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7"/>
          <p:cNvSpPr/>
          <p:nvPr/>
        </p:nvSpPr>
        <p:spPr>
          <a:xfrm>
            <a:off x="1143000" y="2880360"/>
            <a:ext cx="4388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Handle missing, duplicate, invalid and inconsistent values.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8"/>
          <p:cNvSpPr/>
          <p:nvPr/>
        </p:nvSpPr>
        <p:spPr>
          <a:xfrm>
            <a:off x="822960" y="35020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9"/>
          <p:cNvSpPr/>
          <p:nvPr/>
        </p:nvSpPr>
        <p:spPr>
          <a:xfrm>
            <a:off x="1143000" y="3502080"/>
            <a:ext cx="4388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Standardize units, formats and categories.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10"/>
          <p:cNvSpPr/>
          <p:nvPr/>
        </p:nvSpPr>
        <p:spPr>
          <a:xfrm>
            <a:off x="822960" y="41238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11"/>
          <p:cNvSpPr/>
          <p:nvPr/>
        </p:nvSpPr>
        <p:spPr>
          <a:xfrm>
            <a:off x="1143000" y="4123800"/>
            <a:ext cx="4388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Investigate outliers and record reproducible transformations.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12"/>
          <p:cNvSpPr/>
          <p:nvPr/>
        </p:nvSpPr>
        <p:spPr>
          <a:xfrm>
            <a:off x="731520" y="562356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OUTPUT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13"/>
          <p:cNvSpPr/>
          <p:nvPr/>
        </p:nvSpPr>
        <p:spPr>
          <a:xfrm>
            <a:off x="731520" y="589788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Clean data plus an audit trail.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14"/>
          <p:cNvSpPr/>
          <p:nvPr/>
        </p:nvSpPr>
        <p:spPr>
          <a:xfrm>
            <a:off x="6217920" y="173736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PIPELINE POSITION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ounded Rectangle 15"/>
          <p:cNvSpPr/>
          <p:nvPr/>
        </p:nvSpPr>
        <p:spPr>
          <a:xfrm>
            <a:off x="6217920" y="2240280"/>
            <a:ext cx="932400" cy="63972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solidFill>
              <a:srgbClr val="2D6C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16"/>
          <p:cNvSpPr/>
          <p:nvPr/>
        </p:nvSpPr>
        <p:spPr>
          <a:xfrm>
            <a:off x="6217920" y="2468880"/>
            <a:ext cx="932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Collect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ounded Rectangle 17"/>
          <p:cNvSpPr/>
          <p:nvPr/>
        </p:nvSpPr>
        <p:spPr>
          <a:xfrm>
            <a:off x="7269480" y="2240280"/>
            <a:ext cx="932400" cy="639720"/>
          </a:xfrm>
          <a:prstGeom prst="roundRect">
            <a:avLst>
              <a:gd name="adj" fmla="val 16667"/>
            </a:avLst>
          </a:prstGeom>
          <a:solidFill>
            <a:srgbClr val="00948C"/>
          </a:solidFill>
          <a:ln>
            <a:solidFill>
              <a:srgbClr val="00948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18"/>
          <p:cNvSpPr/>
          <p:nvPr/>
        </p:nvSpPr>
        <p:spPr>
          <a:xfrm>
            <a:off x="7269480" y="2468880"/>
            <a:ext cx="932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Clean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ounded Rectangle 19"/>
          <p:cNvSpPr/>
          <p:nvPr/>
        </p:nvSpPr>
        <p:spPr>
          <a:xfrm>
            <a:off x="8321040" y="2240280"/>
            <a:ext cx="932400" cy="63972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solidFill>
              <a:srgbClr val="EB7D3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20"/>
          <p:cNvSpPr/>
          <p:nvPr/>
        </p:nvSpPr>
        <p:spPr>
          <a:xfrm>
            <a:off x="8321040" y="2468880"/>
            <a:ext cx="932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Train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Rounded Rectangle 21"/>
          <p:cNvSpPr/>
          <p:nvPr/>
        </p:nvSpPr>
        <p:spPr>
          <a:xfrm>
            <a:off x="9372600" y="2240280"/>
            <a:ext cx="932400" cy="63972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solidFill>
              <a:srgbClr val="2D6C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22"/>
          <p:cNvSpPr/>
          <p:nvPr/>
        </p:nvSpPr>
        <p:spPr>
          <a:xfrm>
            <a:off x="9372600" y="2468880"/>
            <a:ext cx="932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Evaluate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ounded Rectangle 23"/>
          <p:cNvSpPr/>
          <p:nvPr/>
        </p:nvSpPr>
        <p:spPr>
          <a:xfrm>
            <a:off x="10424160" y="2240280"/>
            <a:ext cx="932400" cy="63972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solidFill>
              <a:srgbClr val="00948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24"/>
          <p:cNvSpPr/>
          <p:nvPr/>
        </p:nvSpPr>
        <p:spPr>
          <a:xfrm>
            <a:off x="10424160" y="2468880"/>
            <a:ext cx="932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Deploy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ounded Rectangle 25"/>
          <p:cNvSpPr/>
          <p:nvPr/>
        </p:nvSpPr>
        <p:spPr>
          <a:xfrm>
            <a:off x="6583680" y="3657600"/>
            <a:ext cx="4388760" cy="114264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solidFill>
              <a:srgbClr val="00948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Box 26"/>
          <p:cNvSpPr/>
          <p:nvPr/>
        </p:nvSpPr>
        <p:spPr>
          <a:xfrm>
            <a:off x="6858000" y="388620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Clean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27"/>
          <p:cNvSpPr/>
          <p:nvPr/>
        </p:nvSpPr>
        <p:spPr>
          <a:xfrm>
            <a:off x="6812280" y="4316040"/>
            <a:ext cx="3931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Reproducible transformations and quality checks.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Box 1"/>
          <p:cNvSpPr/>
          <p:nvPr/>
        </p:nvSpPr>
        <p:spPr>
          <a:xfrm>
            <a:off x="59436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ML PIPELINE | STAGE DETAIL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2"/>
          <p:cNvSpPr/>
          <p:nvPr/>
        </p:nvSpPr>
        <p:spPr>
          <a:xfrm>
            <a:off x="594360" y="6400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3. Train: a closer look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Rectangle 3"/>
          <p:cNvSpPr/>
          <p:nvPr/>
        </p:nvSpPr>
        <p:spPr>
          <a:xfrm>
            <a:off x="594360" y="1371600"/>
            <a:ext cx="914040" cy="54360"/>
          </a:xfrm>
          <a:prstGeom prst="rect">
            <a:avLst/>
          </a:prstGeom>
          <a:solidFill>
            <a:srgbClr val="EB7D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Box 4"/>
          <p:cNvSpPr/>
          <p:nvPr/>
        </p:nvSpPr>
        <p:spPr>
          <a:xfrm>
            <a:off x="731520" y="173736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WHAT HAPPENS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5"/>
          <p:cNvSpPr/>
          <p:nvPr/>
        </p:nvSpPr>
        <p:spPr>
          <a:xfrm>
            <a:off x="731520" y="2057400"/>
            <a:ext cx="4937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Fit model parameters using training data.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6"/>
          <p:cNvSpPr/>
          <p:nvPr/>
        </p:nvSpPr>
        <p:spPr>
          <a:xfrm>
            <a:off x="822960" y="28803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7"/>
          <p:cNvSpPr/>
          <p:nvPr/>
        </p:nvSpPr>
        <p:spPr>
          <a:xfrm>
            <a:off x="1143000" y="2880360"/>
            <a:ext cx="4388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Split before tuning into train, validation and test sets.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8"/>
          <p:cNvSpPr/>
          <p:nvPr/>
        </p:nvSpPr>
        <p:spPr>
          <a:xfrm>
            <a:off x="822960" y="35020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9"/>
          <p:cNvSpPr/>
          <p:nvPr/>
        </p:nvSpPr>
        <p:spPr>
          <a:xfrm>
            <a:off x="1143000" y="3502080"/>
            <a:ext cx="4388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Fit preprocessing and model parameters on training data only.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10"/>
          <p:cNvSpPr/>
          <p:nvPr/>
        </p:nvSpPr>
        <p:spPr>
          <a:xfrm>
            <a:off x="822960" y="41238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11"/>
          <p:cNvSpPr/>
          <p:nvPr/>
        </p:nvSpPr>
        <p:spPr>
          <a:xfrm>
            <a:off x="1143000" y="4123800"/>
            <a:ext cx="4388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Compare a baseline; tune using validation evidence.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12"/>
          <p:cNvSpPr/>
          <p:nvPr/>
        </p:nvSpPr>
        <p:spPr>
          <a:xfrm>
            <a:off x="731520" y="562356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OUTPUT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13"/>
          <p:cNvSpPr/>
          <p:nvPr/>
        </p:nvSpPr>
        <p:spPr>
          <a:xfrm>
            <a:off x="731520" y="589788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Versioned candidate model and configuration.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14"/>
          <p:cNvSpPr/>
          <p:nvPr/>
        </p:nvSpPr>
        <p:spPr>
          <a:xfrm>
            <a:off x="6217920" y="173736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PIPELINE POSITION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Rounded Rectangle 15"/>
          <p:cNvSpPr/>
          <p:nvPr/>
        </p:nvSpPr>
        <p:spPr>
          <a:xfrm>
            <a:off x="6217920" y="2240280"/>
            <a:ext cx="932400" cy="63972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solidFill>
              <a:srgbClr val="2D6C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Box 16"/>
          <p:cNvSpPr/>
          <p:nvPr/>
        </p:nvSpPr>
        <p:spPr>
          <a:xfrm>
            <a:off x="6217920" y="2468880"/>
            <a:ext cx="932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Collect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ounded Rectangle 17"/>
          <p:cNvSpPr/>
          <p:nvPr/>
        </p:nvSpPr>
        <p:spPr>
          <a:xfrm>
            <a:off x="7269480" y="2240280"/>
            <a:ext cx="932400" cy="63972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solidFill>
              <a:srgbClr val="00948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18"/>
          <p:cNvSpPr/>
          <p:nvPr/>
        </p:nvSpPr>
        <p:spPr>
          <a:xfrm>
            <a:off x="7269480" y="2468880"/>
            <a:ext cx="932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Clean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Rounded Rectangle 19"/>
          <p:cNvSpPr/>
          <p:nvPr/>
        </p:nvSpPr>
        <p:spPr>
          <a:xfrm>
            <a:off x="8321040" y="2240280"/>
            <a:ext cx="932400" cy="639720"/>
          </a:xfrm>
          <a:prstGeom prst="roundRect">
            <a:avLst>
              <a:gd name="adj" fmla="val 16667"/>
            </a:avLst>
          </a:prstGeom>
          <a:solidFill>
            <a:srgbClr val="EB7D30"/>
          </a:solidFill>
          <a:ln>
            <a:solidFill>
              <a:srgbClr val="EB7D3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20"/>
          <p:cNvSpPr/>
          <p:nvPr/>
        </p:nvSpPr>
        <p:spPr>
          <a:xfrm>
            <a:off x="8321040" y="2468880"/>
            <a:ext cx="932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Train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ounded Rectangle 21"/>
          <p:cNvSpPr/>
          <p:nvPr/>
        </p:nvSpPr>
        <p:spPr>
          <a:xfrm>
            <a:off x="9372600" y="2240280"/>
            <a:ext cx="932400" cy="63972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solidFill>
              <a:srgbClr val="2D6C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22"/>
          <p:cNvSpPr/>
          <p:nvPr/>
        </p:nvSpPr>
        <p:spPr>
          <a:xfrm>
            <a:off x="9372600" y="2468880"/>
            <a:ext cx="932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Evaluate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ounded Rectangle 23"/>
          <p:cNvSpPr/>
          <p:nvPr/>
        </p:nvSpPr>
        <p:spPr>
          <a:xfrm>
            <a:off x="10424160" y="2240280"/>
            <a:ext cx="932400" cy="63972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solidFill>
              <a:srgbClr val="00948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TextBox 24"/>
          <p:cNvSpPr/>
          <p:nvPr/>
        </p:nvSpPr>
        <p:spPr>
          <a:xfrm>
            <a:off x="10424160" y="2468880"/>
            <a:ext cx="932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Deploy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Rounded Rectangle 25"/>
          <p:cNvSpPr/>
          <p:nvPr/>
        </p:nvSpPr>
        <p:spPr>
          <a:xfrm>
            <a:off x="6583680" y="3657600"/>
            <a:ext cx="4388760" cy="114264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solidFill>
              <a:srgbClr val="EB7D3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26"/>
          <p:cNvSpPr/>
          <p:nvPr/>
        </p:nvSpPr>
        <p:spPr>
          <a:xfrm>
            <a:off x="6858000" y="388620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Train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27"/>
          <p:cNvSpPr/>
          <p:nvPr/>
        </p:nvSpPr>
        <p:spPr>
          <a:xfrm>
            <a:off x="6812280" y="4316040"/>
            <a:ext cx="3931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Parameters learned from training data only.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Box 1"/>
          <p:cNvSpPr/>
          <p:nvPr/>
        </p:nvSpPr>
        <p:spPr>
          <a:xfrm>
            <a:off x="59436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ML PIPELINE | STAGE DETAIL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2"/>
          <p:cNvSpPr/>
          <p:nvPr/>
        </p:nvSpPr>
        <p:spPr>
          <a:xfrm>
            <a:off x="594360" y="6400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4. Evaluate: a closer look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ectangle 3"/>
          <p:cNvSpPr/>
          <p:nvPr/>
        </p:nvSpPr>
        <p:spPr>
          <a:xfrm>
            <a:off x="594360" y="1371600"/>
            <a:ext cx="914040" cy="54360"/>
          </a:xfrm>
          <a:prstGeom prst="rect">
            <a:avLst/>
          </a:prstGeom>
          <a:solidFill>
            <a:srgbClr val="EB7D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Box 4"/>
          <p:cNvSpPr/>
          <p:nvPr/>
        </p:nvSpPr>
        <p:spPr>
          <a:xfrm>
            <a:off x="731520" y="173736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WHAT HAPPENS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5"/>
          <p:cNvSpPr/>
          <p:nvPr/>
        </p:nvSpPr>
        <p:spPr>
          <a:xfrm>
            <a:off x="731520" y="2057400"/>
            <a:ext cx="4937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Measure generalization and understand mistakes.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6"/>
          <p:cNvSpPr/>
          <p:nvPr/>
        </p:nvSpPr>
        <p:spPr>
          <a:xfrm>
            <a:off x="822960" y="28803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7"/>
          <p:cNvSpPr/>
          <p:nvPr/>
        </p:nvSpPr>
        <p:spPr>
          <a:xfrm>
            <a:off x="1143000" y="2880360"/>
            <a:ext cx="4388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Use metrics that reflect decisions and error costs.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8"/>
          <p:cNvSpPr/>
          <p:nvPr/>
        </p:nvSpPr>
        <p:spPr>
          <a:xfrm>
            <a:off x="822960" y="35020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9"/>
          <p:cNvSpPr/>
          <p:nvPr/>
        </p:nvSpPr>
        <p:spPr>
          <a:xfrm>
            <a:off x="1143000" y="3502080"/>
            <a:ext cx="4388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Inspect precision, recall, F1 and the confusion matrix.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10"/>
          <p:cNvSpPr/>
          <p:nvPr/>
        </p:nvSpPr>
        <p:spPr>
          <a:xfrm>
            <a:off x="822960" y="41238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11"/>
          <p:cNvSpPr/>
          <p:nvPr/>
        </p:nvSpPr>
        <p:spPr>
          <a:xfrm>
            <a:off x="1143000" y="4123800"/>
            <a:ext cx="4388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Keep the test set untouched; check important data slices.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12"/>
          <p:cNvSpPr/>
          <p:nvPr/>
        </p:nvSpPr>
        <p:spPr>
          <a:xfrm>
            <a:off x="731520" y="562356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OUTPUT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13"/>
          <p:cNvSpPr/>
          <p:nvPr/>
        </p:nvSpPr>
        <p:spPr>
          <a:xfrm>
            <a:off x="731520" y="589788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Evidence about strengths and limitations.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14"/>
          <p:cNvSpPr/>
          <p:nvPr/>
        </p:nvSpPr>
        <p:spPr>
          <a:xfrm>
            <a:off x="6217920" y="173736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PIPELINE POSITION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Rounded Rectangle 15"/>
          <p:cNvSpPr/>
          <p:nvPr/>
        </p:nvSpPr>
        <p:spPr>
          <a:xfrm>
            <a:off x="6217920" y="2240280"/>
            <a:ext cx="932400" cy="63972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solidFill>
              <a:srgbClr val="2D6C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16"/>
          <p:cNvSpPr/>
          <p:nvPr/>
        </p:nvSpPr>
        <p:spPr>
          <a:xfrm>
            <a:off x="6217920" y="2468880"/>
            <a:ext cx="932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Collect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Rounded Rectangle 17"/>
          <p:cNvSpPr/>
          <p:nvPr/>
        </p:nvSpPr>
        <p:spPr>
          <a:xfrm>
            <a:off x="7269480" y="2240280"/>
            <a:ext cx="932400" cy="63972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solidFill>
              <a:srgbClr val="00948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TextBox 18"/>
          <p:cNvSpPr/>
          <p:nvPr/>
        </p:nvSpPr>
        <p:spPr>
          <a:xfrm>
            <a:off x="7269480" y="2468880"/>
            <a:ext cx="932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Clean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Rounded Rectangle 19"/>
          <p:cNvSpPr/>
          <p:nvPr/>
        </p:nvSpPr>
        <p:spPr>
          <a:xfrm>
            <a:off x="8321040" y="2240280"/>
            <a:ext cx="932400" cy="63972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solidFill>
              <a:srgbClr val="EB7D3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Box 20"/>
          <p:cNvSpPr/>
          <p:nvPr/>
        </p:nvSpPr>
        <p:spPr>
          <a:xfrm>
            <a:off x="8321040" y="2468880"/>
            <a:ext cx="932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Train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ounded Rectangle 21"/>
          <p:cNvSpPr/>
          <p:nvPr/>
        </p:nvSpPr>
        <p:spPr>
          <a:xfrm>
            <a:off x="9372600" y="2240280"/>
            <a:ext cx="932400" cy="639720"/>
          </a:xfrm>
          <a:prstGeom prst="roundRect">
            <a:avLst>
              <a:gd name="adj" fmla="val 16667"/>
            </a:avLst>
          </a:prstGeom>
          <a:solidFill>
            <a:srgbClr val="2D6CBE"/>
          </a:solidFill>
          <a:ln>
            <a:solidFill>
              <a:srgbClr val="2D6C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Box 22"/>
          <p:cNvSpPr/>
          <p:nvPr/>
        </p:nvSpPr>
        <p:spPr>
          <a:xfrm>
            <a:off x="9372600" y="2468880"/>
            <a:ext cx="932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Evaluate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ounded Rectangle 23"/>
          <p:cNvSpPr/>
          <p:nvPr/>
        </p:nvSpPr>
        <p:spPr>
          <a:xfrm>
            <a:off x="10424160" y="2240280"/>
            <a:ext cx="932400" cy="63972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solidFill>
              <a:srgbClr val="00948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Box 24"/>
          <p:cNvSpPr/>
          <p:nvPr/>
        </p:nvSpPr>
        <p:spPr>
          <a:xfrm>
            <a:off x="10424160" y="2468880"/>
            <a:ext cx="932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Deploy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Rounded Rectangle 25"/>
          <p:cNvSpPr/>
          <p:nvPr/>
        </p:nvSpPr>
        <p:spPr>
          <a:xfrm>
            <a:off x="6583680" y="3657600"/>
            <a:ext cx="4388760" cy="114264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solidFill>
              <a:srgbClr val="2D6C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26"/>
          <p:cNvSpPr/>
          <p:nvPr/>
        </p:nvSpPr>
        <p:spPr>
          <a:xfrm>
            <a:off x="6858000" y="388620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Evaluate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27"/>
          <p:cNvSpPr/>
          <p:nvPr/>
        </p:nvSpPr>
        <p:spPr>
          <a:xfrm>
            <a:off x="6812280" y="4316040"/>
            <a:ext cx="3931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Unseen-data performance and error analysis.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Box 1"/>
          <p:cNvSpPr/>
          <p:nvPr/>
        </p:nvSpPr>
        <p:spPr>
          <a:xfrm>
            <a:off x="59436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ML PIPELINE | STAGE DETAIL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2"/>
          <p:cNvSpPr/>
          <p:nvPr/>
        </p:nvSpPr>
        <p:spPr>
          <a:xfrm>
            <a:off x="594360" y="6400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5. Deploy: a closer look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Rectangle 3"/>
          <p:cNvSpPr/>
          <p:nvPr/>
        </p:nvSpPr>
        <p:spPr>
          <a:xfrm>
            <a:off x="594360" y="1371600"/>
            <a:ext cx="914040" cy="54360"/>
          </a:xfrm>
          <a:prstGeom prst="rect">
            <a:avLst/>
          </a:prstGeom>
          <a:solidFill>
            <a:srgbClr val="EB7D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Box 4"/>
          <p:cNvSpPr/>
          <p:nvPr/>
        </p:nvSpPr>
        <p:spPr>
          <a:xfrm>
            <a:off x="731520" y="173736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WHAT HAPPENS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5"/>
          <p:cNvSpPr/>
          <p:nvPr/>
        </p:nvSpPr>
        <p:spPr>
          <a:xfrm>
            <a:off x="731520" y="2057400"/>
            <a:ext cx="49374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Make predictions available and keep the system healthy.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6"/>
          <p:cNvSpPr/>
          <p:nvPr/>
        </p:nvSpPr>
        <p:spPr>
          <a:xfrm>
            <a:off x="822960" y="288036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7"/>
          <p:cNvSpPr/>
          <p:nvPr/>
        </p:nvSpPr>
        <p:spPr>
          <a:xfrm>
            <a:off x="1143000" y="2880360"/>
            <a:ext cx="4388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Package preprocessing with the model and expose an API or app.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8"/>
          <p:cNvSpPr/>
          <p:nvPr/>
        </p:nvSpPr>
        <p:spPr>
          <a:xfrm>
            <a:off x="822960" y="35020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9"/>
          <p:cNvSpPr/>
          <p:nvPr/>
        </p:nvSpPr>
        <p:spPr>
          <a:xfrm>
            <a:off x="1143000" y="3502080"/>
            <a:ext cx="4388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Version data, code and models; monitor latency and failures.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10"/>
          <p:cNvSpPr/>
          <p:nvPr/>
        </p:nvSpPr>
        <p:spPr>
          <a:xfrm>
            <a:off x="822960" y="412380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11"/>
          <p:cNvSpPr/>
          <p:nvPr/>
        </p:nvSpPr>
        <p:spPr>
          <a:xfrm>
            <a:off x="1143000" y="4123800"/>
            <a:ext cx="43887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Watch drift, quality and fairness; retrain when needed.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12"/>
          <p:cNvSpPr/>
          <p:nvPr/>
        </p:nvSpPr>
        <p:spPr>
          <a:xfrm>
            <a:off x="731520" y="562356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OUTPUT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13"/>
          <p:cNvSpPr/>
          <p:nvPr/>
        </p:nvSpPr>
        <p:spPr>
          <a:xfrm>
            <a:off x="731520" y="589788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Maintainable service and feedback loop.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14"/>
          <p:cNvSpPr/>
          <p:nvPr/>
        </p:nvSpPr>
        <p:spPr>
          <a:xfrm>
            <a:off x="6217920" y="173736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PIPELINE POSITION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Rounded Rectangle 15"/>
          <p:cNvSpPr/>
          <p:nvPr/>
        </p:nvSpPr>
        <p:spPr>
          <a:xfrm>
            <a:off x="6217920" y="2240280"/>
            <a:ext cx="932400" cy="63972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solidFill>
              <a:srgbClr val="2D6C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Box 16"/>
          <p:cNvSpPr/>
          <p:nvPr/>
        </p:nvSpPr>
        <p:spPr>
          <a:xfrm>
            <a:off x="6217920" y="2468880"/>
            <a:ext cx="932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Collect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Rounded Rectangle 17"/>
          <p:cNvSpPr/>
          <p:nvPr/>
        </p:nvSpPr>
        <p:spPr>
          <a:xfrm>
            <a:off x="7269480" y="2240280"/>
            <a:ext cx="932400" cy="63972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solidFill>
              <a:srgbClr val="00948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4" name="TextBox 18"/>
          <p:cNvSpPr/>
          <p:nvPr/>
        </p:nvSpPr>
        <p:spPr>
          <a:xfrm>
            <a:off x="7269480" y="2468880"/>
            <a:ext cx="932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Clean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Rounded Rectangle 19"/>
          <p:cNvSpPr/>
          <p:nvPr/>
        </p:nvSpPr>
        <p:spPr>
          <a:xfrm>
            <a:off x="8321040" y="2240280"/>
            <a:ext cx="932400" cy="63972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solidFill>
              <a:srgbClr val="EB7D3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TextBox 20"/>
          <p:cNvSpPr/>
          <p:nvPr/>
        </p:nvSpPr>
        <p:spPr>
          <a:xfrm>
            <a:off x="8321040" y="2468880"/>
            <a:ext cx="932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Train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Rounded Rectangle 21"/>
          <p:cNvSpPr/>
          <p:nvPr/>
        </p:nvSpPr>
        <p:spPr>
          <a:xfrm>
            <a:off x="9372600" y="2240280"/>
            <a:ext cx="932400" cy="63972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solidFill>
              <a:srgbClr val="2D6C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8" name="TextBox 22"/>
          <p:cNvSpPr/>
          <p:nvPr/>
        </p:nvSpPr>
        <p:spPr>
          <a:xfrm>
            <a:off x="9372600" y="2468880"/>
            <a:ext cx="932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Evaluate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Rounded Rectangle 23"/>
          <p:cNvSpPr/>
          <p:nvPr/>
        </p:nvSpPr>
        <p:spPr>
          <a:xfrm>
            <a:off x="10424160" y="2240280"/>
            <a:ext cx="932400" cy="639720"/>
          </a:xfrm>
          <a:prstGeom prst="roundRect">
            <a:avLst>
              <a:gd name="adj" fmla="val 16667"/>
            </a:avLst>
          </a:prstGeom>
          <a:solidFill>
            <a:srgbClr val="00948C"/>
          </a:solidFill>
          <a:ln>
            <a:solidFill>
              <a:srgbClr val="00948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0" name="TextBox 24"/>
          <p:cNvSpPr/>
          <p:nvPr/>
        </p:nvSpPr>
        <p:spPr>
          <a:xfrm>
            <a:off x="10424160" y="2468880"/>
            <a:ext cx="932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Deploy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Rounded Rectangle 25"/>
          <p:cNvSpPr/>
          <p:nvPr/>
        </p:nvSpPr>
        <p:spPr>
          <a:xfrm>
            <a:off x="6583680" y="3657600"/>
            <a:ext cx="4388760" cy="1142640"/>
          </a:xfrm>
          <a:prstGeom prst="roundRect">
            <a:avLst>
              <a:gd name="adj" fmla="val 16667"/>
            </a:avLst>
          </a:prstGeom>
          <a:solidFill>
            <a:srgbClr val="EFF5FA"/>
          </a:solidFill>
          <a:ln>
            <a:solidFill>
              <a:srgbClr val="00948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TextBox 26"/>
          <p:cNvSpPr/>
          <p:nvPr/>
        </p:nvSpPr>
        <p:spPr>
          <a:xfrm>
            <a:off x="6858000" y="388620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Deploy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27"/>
          <p:cNvSpPr/>
          <p:nvPr/>
        </p:nvSpPr>
        <p:spPr>
          <a:xfrm>
            <a:off x="6812280" y="4316040"/>
            <a:ext cx="3931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A service with monitoring and feedback.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extBox 1"/>
          <p:cNvSpPr/>
          <p:nvPr/>
        </p:nvSpPr>
        <p:spPr>
          <a:xfrm>
            <a:off x="59436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MACHINE LEARNING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2"/>
          <p:cNvSpPr/>
          <p:nvPr/>
        </p:nvSpPr>
        <p:spPr>
          <a:xfrm>
            <a:off x="594360" y="6400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Supervised learning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Rectangle 3"/>
          <p:cNvSpPr/>
          <p:nvPr/>
        </p:nvSpPr>
        <p:spPr>
          <a:xfrm>
            <a:off x="594360" y="1371600"/>
            <a:ext cx="914040" cy="54360"/>
          </a:xfrm>
          <a:prstGeom prst="rect">
            <a:avLst/>
          </a:prstGeom>
          <a:solidFill>
            <a:srgbClr val="EB7D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Box 4"/>
          <p:cNvSpPr/>
          <p:nvPr/>
        </p:nvSpPr>
        <p:spPr>
          <a:xfrm>
            <a:off x="822960" y="17830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5"/>
          <p:cNvSpPr/>
          <p:nvPr/>
        </p:nvSpPr>
        <p:spPr>
          <a:xfrm>
            <a:off x="1188720" y="17830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Uses labeled examples: features are inputs and the label is the target.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6"/>
          <p:cNvSpPr/>
          <p:nvPr/>
        </p:nvSpPr>
        <p:spPr>
          <a:xfrm>
            <a:off x="822960" y="24688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7"/>
          <p:cNvSpPr/>
          <p:nvPr/>
        </p:nvSpPr>
        <p:spPr>
          <a:xfrm>
            <a:off x="1188720" y="24688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Classification predicts discrete categories such as spam/not spam.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8"/>
          <p:cNvSpPr/>
          <p:nvPr/>
        </p:nvSpPr>
        <p:spPr>
          <a:xfrm>
            <a:off x="822960" y="31546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9"/>
          <p:cNvSpPr/>
          <p:nvPr/>
        </p:nvSpPr>
        <p:spPr>
          <a:xfrm>
            <a:off x="1188720" y="31546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Regression predicts continuous values such as price or demand.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10"/>
          <p:cNvSpPr/>
          <p:nvPr/>
        </p:nvSpPr>
        <p:spPr>
          <a:xfrm>
            <a:off x="822960" y="38404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11"/>
          <p:cNvSpPr/>
          <p:nvPr/>
        </p:nvSpPr>
        <p:spPr>
          <a:xfrm>
            <a:off x="1188720" y="38404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The model learns a mapping and is tested on unseen labeled examples.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extBox 1"/>
          <p:cNvSpPr/>
          <p:nvPr/>
        </p:nvSpPr>
        <p:spPr>
          <a:xfrm>
            <a:off x="59436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MACHINE LEARNING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2"/>
          <p:cNvSpPr/>
          <p:nvPr/>
        </p:nvSpPr>
        <p:spPr>
          <a:xfrm>
            <a:off x="594360" y="6400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Supervised learning: labeled examples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Rectangle 3"/>
          <p:cNvSpPr/>
          <p:nvPr/>
        </p:nvSpPr>
        <p:spPr>
          <a:xfrm>
            <a:off x="594360" y="1371600"/>
            <a:ext cx="914040" cy="54360"/>
          </a:xfrm>
          <a:prstGeom prst="rect">
            <a:avLst/>
          </a:prstGeom>
          <a:solidFill>
            <a:srgbClr val="EB7D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68" name="Picture 4" descr="supervised_learning.png"/>
          <p:cNvPicPr/>
          <p:nvPr/>
        </p:nvPicPr>
        <p:blipFill>
          <a:blip r:embed="rId1"/>
          <a:stretch/>
        </p:blipFill>
        <p:spPr>
          <a:xfrm>
            <a:off x="1828800" y="1828800"/>
            <a:ext cx="8229240" cy="4114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extBox 1"/>
          <p:cNvSpPr/>
          <p:nvPr/>
        </p:nvSpPr>
        <p:spPr>
          <a:xfrm>
            <a:off x="59436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MACHINE LEARNING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Box 2"/>
          <p:cNvSpPr/>
          <p:nvPr/>
        </p:nvSpPr>
        <p:spPr>
          <a:xfrm>
            <a:off x="594360" y="6400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Supervised model families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Rectangle 3"/>
          <p:cNvSpPr/>
          <p:nvPr/>
        </p:nvSpPr>
        <p:spPr>
          <a:xfrm>
            <a:off x="594360" y="1371600"/>
            <a:ext cx="914040" cy="54360"/>
          </a:xfrm>
          <a:prstGeom prst="rect">
            <a:avLst/>
          </a:prstGeom>
          <a:solidFill>
            <a:srgbClr val="EB7D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TextBox 4"/>
          <p:cNvSpPr/>
          <p:nvPr/>
        </p:nvSpPr>
        <p:spPr>
          <a:xfrm>
            <a:off x="822960" y="17830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5"/>
          <p:cNvSpPr/>
          <p:nvPr/>
        </p:nvSpPr>
        <p:spPr>
          <a:xfrm>
            <a:off x="1188720" y="17830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Linear regression: a transparent numeric baseline; gradient descent can fit parameters.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6"/>
          <p:cNvSpPr/>
          <p:nvPr/>
        </p:nvSpPr>
        <p:spPr>
          <a:xfrm>
            <a:off x="822960" y="24688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7"/>
          <p:cNvSpPr/>
          <p:nvPr/>
        </p:nvSpPr>
        <p:spPr>
          <a:xfrm>
            <a:off x="1188720" y="24688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Logistic regression: converts a score into class probabilities.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8"/>
          <p:cNvSpPr/>
          <p:nvPr/>
        </p:nvSpPr>
        <p:spPr>
          <a:xfrm>
            <a:off x="822960" y="31546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9"/>
          <p:cNvSpPr/>
          <p:nvPr/>
        </p:nvSpPr>
        <p:spPr>
          <a:xfrm>
            <a:off x="1188720" y="31546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Decision trees: flowchart-like rules; random forests average many trees.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10"/>
          <p:cNvSpPr/>
          <p:nvPr/>
        </p:nvSpPr>
        <p:spPr>
          <a:xfrm>
            <a:off x="822960" y="38404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11"/>
          <p:cNvSpPr/>
          <p:nvPr/>
        </p:nvSpPr>
        <p:spPr>
          <a:xfrm>
            <a:off x="1188720" y="38404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SVM finds separating boundaries; k-NN predicts from nearby examples.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12"/>
          <p:cNvSpPr/>
          <p:nvPr/>
        </p:nvSpPr>
        <p:spPr>
          <a:xfrm>
            <a:off x="822960" y="45262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13"/>
          <p:cNvSpPr/>
          <p:nvPr/>
        </p:nvSpPr>
        <p:spPr>
          <a:xfrm>
            <a:off x="1188720" y="45262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Naïve Bayes uses probability assumptions and is effective for text.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TextBox 1"/>
          <p:cNvSpPr/>
          <p:nvPr/>
        </p:nvSpPr>
        <p:spPr>
          <a:xfrm>
            <a:off x="59436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MACHINE LEARNING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2"/>
          <p:cNvSpPr/>
          <p:nvPr/>
        </p:nvSpPr>
        <p:spPr>
          <a:xfrm>
            <a:off x="594360" y="6400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Unsupervised learning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Rectangle 3"/>
          <p:cNvSpPr/>
          <p:nvPr/>
        </p:nvSpPr>
        <p:spPr>
          <a:xfrm>
            <a:off x="594360" y="1371600"/>
            <a:ext cx="914040" cy="54360"/>
          </a:xfrm>
          <a:prstGeom prst="rect">
            <a:avLst/>
          </a:prstGeom>
          <a:solidFill>
            <a:srgbClr val="EB7D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5" name="TextBox 4"/>
          <p:cNvSpPr/>
          <p:nvPr/>
        </p:nvSpPr>
        <p:spPr>
          <a:xfrm>
            <a:off x="822960" y="17830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5"/>
          <p:cNvSpPr/>
          <p:nvPr/>
        </p:nvSpPr>
        <p:spPr>
          <a:xfrm>
            <a:off x="1188720" y="17830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Uses unlabeled data to discover structure rather than predict a supplied target.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6"/>
          <p:cNvSpPr/>
          <p:nvPr/>
        </p:nvSpPr>
        <p:spPr>
          <a:xfrm>
            <a:off x="822960" y="24688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7"/>
          <p:cNvSpPr/>
          <p:nvPr/>
        </p:nvSpPr>
        <p:spPr>
          <a:xfrm>
            <a:off x="1188720" y="24688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Clustering groups similar observations: k-means, hierarchical methods and DBSCAN.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8"/>
          <p:cNvSpPr/>
          <p:nvPr/>
        </p:nvSpPr>
        <p:spPr>
          <a:xfrm>
            <a:off x="822960" y="31546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9"/>
          <p:cNvSpPr/>
          <p:nvPr/>
        </p:nvSpPr>
        <p:spPr>
          <a:xfrm>
            <a:off x="1188720" y="31546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Association rules reveal co-occurring items in market-basket data.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10"/>
          <p:cNvSpPr/>
          <p:nvPr/>
        </p:nvSpPr>
        <p:spPr>
          <a:xfrm>
            <a:off x="822960" y="38404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11"/>
          <p:cNvSpPr/>
          <p:nvPr/>
        </p:nvSpPr>
        <p:spPr>
          <a:xfrm>
            <a:off x="1188720" y="38404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PCA and related methods reduce dimensions while retaining important variation.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TextBox 1"/>
          <p:cNvSpPr/>
          <p:nvPr/>
        </p:nvSpPr>
        <p:spPr>
          <a:xfrm>
            <a:off x="59436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MACHINE LEARNING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Box 2"/>
          <p:cNvSpPr/>
          <p:nvPr/>
        </p:nvSpPr>
        <p:spPr>
          <a:xfrm>
            <a:off x="594360" y="6400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Unsupervised learning: discover structure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Rectangle 3"/>
          <p:cNvSpPr/>
          <p:nvPr/>
        </p:nvSpPr>
        <p:spPr>
          <a:xfrm>
            <a:off x="594360" y="1371600"/>
            <a:ext cx="914040" cy="54360"/>
          </a:xfrm>
          <a:prstGeom prst="rect">
            <a:avLst/>
          </a:prstGeom>
          <a:solidFill>
            <a:srgbClr val="EB7D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96" name="Picture 4" descr="unsupervised_learning.png"/>
          <p:cNvPicPr/>
          <p:nvPr/>
        </p:nvPicPr>
        <p:blipFill>
          <a:blip r:embed="rId1"/>
          <a:stretch/>
        </p:blipFill>
        <p:spPr>
          <a:xfrm>
            <a:off x="1828800" y="1828800"/>
            <a:ext cx="8229240" cy="4114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Box 1"/>
          <p:cNvSpPr/>
          <p:nvPr/>
        </p:nvSpPr>
        <p:spPr>
          <a:xfrm>
            <a:off x="59436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MACHINE LEARNING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2"/>
          <p:cNvSpPr/>
          <p:nvPr/>
        </p:nvSpPr>
        <p:spPr>
          <a:xfrm>
            <a:off x="594360" y="6400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Reinforcement learning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Rectangle 3"/>
          <p:cNvSpPr/>
          <p:nvPr/>
        </p:nvSpPr>
        <p:spPr>
          <a:xfrm>
            <a:off x="594360" y="1371600"/>
            <a:ext cx="914040" cy="54360"/>
          </a:xfrm>
          <a:prstGeom prst="rect">
            <a:avLst/>
          </a:prstGeom>
          <a:solidFill>
            <a:srgbClr val="EB7D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0" name="TextBox 4"/>
          <p:cNvSpPr/>
          <p:nvPr/>
        </p:nvSpPr>
        <p:spPr>
          <a:xfrm>
            <a:off x="822960" y="17830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5"/>
          <p:cNvSpPr/>
          <p:nvPr/>
        </p:nvSpPr>
        <p:spPr>
          <a:xfrm>
            <a:off x="1188720" y="17830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An agent observes a state, selects an action and receives a reward.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Box 6"/>
          <p:cNvSpPr/>
          <p:nvPr/>
        </p:nvSpPr>
        <p:spPr>
          <a:xfrm>
            <a:off x="822960" y="24688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7"/>
          <p:cNvSpPr/>
          <p:nvPr/>
        </p:nvSpPr>
        <p:spPr>
          <a:xfrm>
            <a:off x="1188720" y="24688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The policy balances exploration of alternatives with exploitation of known actions.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8"/>
          <p:cNvSpPr/>
          <p:nvPr/>
        </p:nvSpPr>
        <p:spPr>
          <a:xfrm>
            <a:off x="822960" y="31546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9"/>
          <p:cNvSpPr/>
          <p:nvPr/>
        </p:nvSpPr>
        <p:spPr>
          <a:xfrm>
            <a:off x="1188720" y="31546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Model-free methods learn from experience; model-based methods plan with an environment model.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10"/>
          <p:cNvSpPr/>
          <p:nvPr/>
        </p:nvSpPr>
        <p:spPr>
          <a:xfrm>
            <a:off x="822960" y="38404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11"/>
          <p:cNvSpPr/>
          <p:nvPr/>
        </p:nvSpPr>
        <p:spPr>
          <a:xfrm>
            <a:off x="1188720" y="38404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Examples include Q-learning, SARSA, Monte Carlo and actor–critic methods.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extBox 1"/>
          <p:cNvSpPr/>
          <p:nvPr/>
        </p:nvSpPr>
        <p:spPr>
          <a:xfrm>
            <a:off x="59436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MACHINE LEARNING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2"/>
          <p:cNvSpPr/>
          <p:nvPr/>
        </p:nvSpPr>
        <p:spPr>
          <a:xfrm>
            <a:off x="594360" y="6400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Reinforcement learning: action and reward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Rectangle 3"/>
          <p:cNvSpPr/>
          <p:nvPr/>
        </p:nvSpPr>
        <p:spPr>
          <a:xfrm>
            <a:off x="594360" y="1371600"/>
            <a:ext cx="914040" cy="54360"/>
          </a:xfrm>
          <a:prstGeom prst="rect">
            <a:avLst/>
          </a:prstGeom>
          <a:solidFill>
            <a:srgbClr val="EB7D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11" name="Picture 4" descr="reinforcement_learning.png"/>
          <p:cNvPicPr/>
          <p:nvPr/>
        </p:nvPicPr>
        <p:blipFill>
          <a:blip r:embed="rId1"/>
          <a:stretch/>
        </p:blipFill>
        <p:spPr>
          <a:xfrm>
            <a:off x="2743200" y="1828800"/>
            <a:ext cx="6400440" cy="4224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Box 1"/>
          <p:cNvSpPr/>
          <p:nvPr/>
        </p:nvSpPr>
        <p:spPr>
          <a:xfrm>
            <a:off x="59436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MACHINE LEARNING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2"/>
          <p:cNvSpPr/>
          <p:nvPr/>
        </p:nvSpPr>
        <p:spPr>
          <a:xfrm>
            <a:off x="594360" y="6400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Semi-supervised and self-supervised learning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Rectangle 3"/>
          <p:cNvSpPr/>
          <p:nvPr/>
        </p:nvSpPr>
        <p:spPr>
          <a:xfrm>
            <a:off x="594360" y="1371600"/>
            <a:ext cx="914040" cy="54360"/>
          </a:xfrm>
          <a:prstGeom prst="rect">
            <a:avLst/>
          </a:prstGeom>
          <a:solidFill>
            <a:srgbClr val="EB7D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5" name="TextBox 4"/>
          <p:cNvSpPr/>
          <p:nvPr/>
        </p:nvSpPr>
        <p:spPr>
          <a:xfrm>
            <a:off x="822960" y="17830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Box 5"/>
          <p:cNvSpPr/>
          <p:nvPr/>
        </p:nvSpPr>
        <p:spPr>
          <a:xfrm>
            <a:off x="1188720" y="17830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Semi-supervised learning combines a small labeled set with much unlabeled data.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Box 6"/>
          <p:cNvSpPr/>
          <p:nvPr/>
        </p:nvSpPr>
        <p:spPr>
          <a:xfrm>
            <a:off x="822960" y="24688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Box 7"/>
          <p:cNvSpPr/>
          <p:nvPr/>
        </p:nvSpPr>
        <p:spPr>
          <a:xfrm>
            <a:off x="1188720" y="24688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It is useful when expert labeling is expensive or slow.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8"/>
          <p:cNvSpPr/>
          <p:nvPr/>
        </p:nvSpPr>
        <p:spPr>
          <a:xfrm>
            <a:off x="822960" y="31546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Box 9"/>
          <p:cNvSpPr/>
          <p:nvPr/>
        </p:nvSpPr>
        <p:spPr>
          <a:xfrm>
            <a:off x="1188720" y="31546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Self-supervised learning creates targets from the data itself and is often treated as a form of unsupervised learning.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TextBox 1"/>
          <p:cNvSpPr/>
          <p:nvPr/>
        </p:nvSpPr>
        <p:spPr>
          <a:xfrm>
            <a:off x="59436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MACHINE LEARNING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Box 2"/>
          <p:cNvSpPr/>
          <p:nvPr/>
        </p:nvSpPr>
        <p:spPr>
          <a:xfrm>
            <a:off x="594360" y="6400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Semi-supervised learning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Rectangle 3"/>
          <p:cNvSpPr/>
          <p:nvPr/>
        </p:nvSpPr>
        <p:spPr>
          <a:xfrm>
            <a:off x="594360" y="1371600"/>
            <a:ext cx="914040" cy="54360"/>
          </a:xfrm>
          <a:prstGeom prst="rect">
            <a:avLst/>
          </a:prstGeom>
          <a:solidFill>
            <a:srgbClr val="EB7D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24" name="Picture 4" descr="semi_supervised_learning.png"/>
          <p:cNvPicPr/>
          <p:nvPr/>
        </p:nvPicPr>
        <p:blipFill>
          <a:blip r:embed="rId1"/>
          <a:stretch/>
        </p:blipFill>
        <p:spPr>
          <a:xfrm>
            <a:off x="1828800" y="1828800"/>
            <a:ext cx="8229240" cy="4114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TextBox 1"/>
          <p:cNvSpPr/>
          <p:nvPr/>
        </p:nvSpPr>
        <p:spPr>
          <a:xfrm>
            <a:off x="59436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MACHINE LEARNING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2"/>
          <p:cNvSpPr/>
          <p:nvPr/>
        </p:nvSpPr>
        <p:spPr>
          <a:xfrm>
            <a:off x="594360" y="6400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Evaluation and model improvement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Rectangle 3"/>
          <p:cNvSpPr/>
          <p:nvPr/>
        </p:nvSpPr>
        <p:spPr>
          <a:xfrm>
            <a:off x="594360" y="1371600"/>
            <a:ext cx="914040" cy="54360"/>
          </a:xfrm>
          <a:prstGeom prst="rect">
            <a:avLst/>
          </a:prstGeom>
          <a:solidFill>
            <a:srgbClr val="EB7D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8" name="TextBox 4"/>
          <p:cNvSpPr/>
          <p:nvPr/>
        </p:nvSpPr>
        <p:spPr>
          <a:xfrm>
            <a:off x="822960" y="17830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Box 5"/>
          <p:cNvSpPr/>
          <p:nvPr/>
        </p:nvSpPr>
        <p:spPr>
          <a:xfrm>
            <a:off x="1188720" y="17830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Classification: accuracy, precision, recall, F1 and ROC–AUC answer different questions.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Box 6"/>
          <p:cNvSpPr/>
          <p:nvPr/>
        </p:nvSpPr>
        <p:spPr>
          <a:xfrm>
            <a:off x="822960" y="24688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Box 7"/>
          <p:cNvSpPr/>
          <p:nvPr/>
        </p:nvSpPr>
        <p:spPr>
          <a:xfrm>
            <a:off x="1188720" y="24688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Regression: MAE is interpretable; MSE/RMSE penalizes large errors; R² describes explained variation.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Box 8"/>
          <p:cNvSpPr/>
          <p:nvPr/>
        </p:nvSpPr>
        <p:spPr>
          <a:xfrm>
            <a:off x="822960" y="31546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Box 9"/>
          <p:cNvSpPr/>
          <p:nvPr/>
        </p:nvSpPr>
        <p:spPr>
          <a:xfrm>
            <a:off x="1188720" y="31546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Cross-validation gives a more stable estimate during comparison.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Box 10"/>
          <p:cNvSpPr/>
          <p:nvPr/>
        </p:nvSpPr>
        <p:spPr>
          <a:xfrm>
            <a:off x="822960" y="38404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Box 11"/>
          <p:cNvSpPr/>
          <p:nvPr/>
        </p:nvSpPr>
        <p:spPr>
          <a:xfrm>
            <a:off x="1188720" y="38404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Hyperparameters are set outside fitting; regularization controls complexity.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TextBox 1"/>
          <p:cNvSpPr/>
          <p:nvPr/>
        </p:nvSpPr>
        <p:spPr>
          <a:xfrm>
            <a:off x="59436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MACHINE LEARNING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Box 2"/>
          <p:cNvSpPr/>
          <p:nvPr/>
        </p:nvSpPr>
        <p:spPr>
          <a:xfrm>
            <a:off x="594360" y="6400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Confusion matrix: make errors visible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Rectangle 3"/>
          <p:cNvSpPr/>
          <p:nvPr/>
        </p:nvSpPr>
        <p:spPr>
          <a:xfrm>
            <a:off x="594360" y="1371600"/>
            <a:ext cx="914040" cy="54360"/>
          </a:xfrm>
          <a:prstGeom prst="rect">
            <a:avLst/>
          </a:prstGeom>
          <a:solidFill>
            <a:srgbClr val="EB7D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9" name="TextBox 4"/>
          <p:cNvSpPr/>
          <p:nvPr/>
        </p:nvSpPr>
        <p:spPr>
          <a:xfrm>
            <a:off x="1828800" y="192024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Actual ↓                         Predicted →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Rectangle 5"/>
          <p:cNvSpPr/>
          <p:nvPr/>
        </p:nvSpPr>
        <p:spPr>
          <a:xfrm>
            <a:off x="4114800" y="2468880"/>
            <a:ext cx="1462680" cy="914040"/>
          </a:xfrm>
          <a:prstGeom prst="rect">
            <a:avLst/>
          </a:prstGeom>
          <a:solidFill>
            <a:srgbClr val="EFF5FA"/>
          </a:solidFill>
          <a:ln>
            <a:solidFill>
              <a:srgbClr val="2D6C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1" name="TextBox 6"/>
          <p:cNvSpPr/>
          <p:nvPr/>
        </p:nvSpPr>
        <p:spPr>
          <a:xfrm>
            <a:off x="4114800" y="274320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TP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Rectangle 7"/>
          <p:cNvSpPr/>
          <p:nvPr/>
        </p:nvSpPr>
        <p:spPr>
          <a:xfrm>
            <a:off x="5943600" y="2468880"/>
            <a:ext cx="1462680" cy="914040"/>
          </a:xfrm>
          <a:prstGeom prst="rect">
            <a:avLst/>
          </a:prstGeom>
          <a:solidFill>
            <a:srgbClr val="EFF5FA"/>
          </a:solidFill>
          <a:ln>
            <a:solidFill>
              <a:srgbClr val="2D6C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3" name="TextBox 8"/>
          <p:cNvSpPr/>
          <p:nvPr/>
        </p:nvSpPr>
        <p:spPr>
          <a:xfrm>
            <a:off x="5943600" y="274320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FN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Rectangle 9"/>
          <p:cNvSpPr/>
          <p:nvPr/>
        </p:nvSpPr>
        <p:spPr>
          <a:xfrm>
            <a:off x="4114800" y="3749040"/>
            <a:ext cx="1462680" cy="914040"/>
          </a:xfrm>
          <a:prstGeom prst="rect">
            <a:avLst/>
          </a:prstGeom>
          <a:solidFill>
            <a:srgbClr val="EFF5FA"/>
          </a:solidFill>
          <a:ln>
            <a:solidFill>
              <a:srgbClr val="2D6C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5" name="TextBox 10"/>
          <p:cNvSpPr/>
          <p:nvPr/>
        </p:nvSpPr>
        <p:spPr>
          <a:xfrm>
            <a:off x="4114800" y="402336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FP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Rectangle 11"/>
          <p:cNvSpPr/>
          <p:nvPr/>
        </p:nvSpPr>
        <p:spPr>
          <a:xfrm>
            <a:off x="5943600" y="3749040"/>
            <a:ext cx="1462680" cy="914040"/>
          </a:xfrm>
          <a:prstGeom prst="rect">
            <a:avLst/>
          </a:prstGeom>
          <a:solidFill>
            <a:srgbClr val="EFF5FA"/>
          </a:solidFill>
          <a:ln>
            <a:solidFill>
              <a:srgbClr val="2D6C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7" name="TextBox 12"/>
          <p:cNvSpPr/>
          <p:nvPr/>
        </p:nvSpPr>
        <p:spPr>
          <a:xfrm>
            <a:off x="5943600" y="402336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TN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TextBox 1"/>
          <p:cNvSpPr/>
          <p:nvPr/>
        </p:nvSpPr>
        <p:spPr>
          <a:xfrm>
            <a:off x="59436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MACHINE LEARNING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Box 2"/>
          <p:cNvSpPr/>
          <p:nvPr/>
        </p:nvSpPr>
        <p:spPr>
          <a:xfrm>
            <a:off x="594360" y="6400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Overfitting, underfitting and bias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Rectangle 3"/>
          <p:cNvSpPr/>
          <p:nvPr/>
        </p:nvSpPr>
        <p:spPr>
          <a:xfrm>
            <a:off x="594360" y="1371600"/>
            <a:ext cx="914040" cy="54360"/>
          </a:xfrm>
          <a:prstGeom prst="rect">
            <a:avLst/>
          </a:prstGeom>
          <a:solidFill>
            <a:srgbClr val="EB7D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1" name="TextBox 4"/>
          <p:cNvSpPr/>
          <p:nvPr/>
        </p:nvSpPr>
        <p:spPr>
          <a:xfrm>
            <a:off x="822960" y="17830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Box 5"/>
          <p:cNvSpPr/>
          <p:nvPr/>
        </p:nvSpPr>
        <p:spPr>
          <a:xfrm>
            <a:off x="1188720" y="17830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Overfitting memorizes training detail; underfitting is too simple to capture signal.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Box 6"/>
          <p:cNvSpPr/>
          <p:nvPr/>
        </p:nvSpPr>
        <p:spPr>
          <a:xfrm>
            <a:off x="822960" y="24688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Box 7"/>
          <p:cNvSpPr/>
          <p:nvPr/>
        </p:nvSpPr>
        <p:spPr>
          <a:xfrm>
            <a:off x="1188720" y="24688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Bias is systematic error from restrictive assumptions; variance is sensitivity to the sample.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Box 8"/>
          <p:cNvSpPr/>
          <p:nvPr/>
        </p:nvSpPr>
        <p:spPr>
          <a:xfrm>
            <a:off x="822960" y="31546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Box 9"/>
          <p:cNvSpPr/>
          <p:nvPr/>
        </p:nvSpPr>
        <p:spPr>
          <a:xfrm>
            <a:off x="1188720" y="31546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Use regularization, better features, more data and honest validation to improve generalization.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TextBox 1"/>
          <p:cNvSpPr/>
          <p:nvPr/>
        </p:nvSpPr>
        <p:spPr>
          <a:xfrm>
            <a:off x="59436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MACHINE LEARNING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Box 2"/>
          <p:cNvSpPr/>
          <p:nvPr/>
        </p:nvSpPr>
        <p:spPr>
          <a:xfrm>
            <a:off x="594360" y="6400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Deployment and MLOps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Rectangle 3"/>
          <p:cNvSpPr/>
          <p:nvPr/>
        </p:nvSpPr>
        <p:spPr>
          <a:xfrm>
            <a:off x="594360" y="1371600"/>
            <a:ext cx="914040" cy="54360"/>
          </a:xfrm>
          <a:prstGeom prst="rect">
            <a:avLst/>
          </a:prstGeom>
          <a:solidFill>
            <a:srgbClr val="EB7D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0" name="TextBox 4"/>
          <p:cNvSpPr/>
          <p:nvPr/>
        </p:nvSpPr>
        <p:spPr>
          <a:xfrm>
            <a:off x="822960" y="17830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Box 5"/>
          <p:cNvSpPr/>
          <p:nvPr/>
        </p:nvSpPr>
        <p:spPr>
          <a:xfrm>
            <a:off x="1188720" y="17830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A model becomes useful when integrated into an application, service or workflow.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Box 6"/>
          <p:cNvSpPr/>
          <p:nvPr/>
        </p:nvSpPr>
        <p:spPr>
          <a:xfrm>
            <a:off x="822960" y="24688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Box 7"/>
          <p:cNvSpPr/>
          <p:nvPr/>
        </p:nvSpPr>
        <p:spPr>
          <a:xfrm>
            <a:off x="1188720" y="24688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MLOps covers packaging, testing, versioning, deployment, monitoring and rollback.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Box 8"/>
          <p:cNvSpPr/>
          <p:nvPr/>
        </p:nvSpPr>
        <p:spPr>
          <a:xfrm>
            <a:off x="822960" y="31546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Box 9"/>
          <p:cNvSpPr/>
          <p:nvPr/>
        </p:nvSpPr>
        <p:spPr>
          <a:xfrm>
            <a:off x="1188720" y="31546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Monitor data drift, concept drift, latency, quality, fairness and user feedback.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Box 10"/>
          <p:cNvSpPr/>
          <p:nvPr/>
        </p:nvSpPr>
        <p:spPr>
          <a:xfrm>
            <a:off x="822960" y="38404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Box 11"/>
          <p:cNvSpPr/>
          <p:nvPr/>
        </p:nvSpPr>
        <p:spPr>
          <a:xfrm>
            <a:off x="1188720" y="38404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Deployment is the start of a maintenance cycle, not the finish line.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TextBox 1"/>
          <p:cNvSpPr/>
          <p:nvPr/>
        </p:nvSpPr>
        <p:spPr>
          <a:xfrm>
            <a:off x="59436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MACHINE LEARNING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Box 2"/>
          <p:cNvSpPr/>
          <p:nvPr/>
        </p:nvSpPr>
        <p:spPr>
          <a:xfrm>
            <a:off x="594360" y="6400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Responsible ML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Rectangle 3"/>
          <p:cNvSpPr/>
          <p:nvPr/>
        </p:nvSpPr>
        <p:spPr>
          <a:xfrm>
            <a:off x="594360" y="1371600"/>
            <a:ext cx="914040" cy="54360"/>
          </a:xfrm>
          <a:prstGeom prst="rect">
            <a:avLst/>
          </a:prstGeom>
          <a:solidFill>
            <a:srgbClr val="EB7D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1" name="TextBox 4"/>
          <p:cNvSpPr/>
          <p:nvPr/>
        </p:nvSpPr>
        <p:spPr>
          <a:xfrm>
            <a:off x="822960" y="17830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Box 5"/>
          <p:cNvSpPr/>
          <p:nvPr/>
        </p:nvSpPr>
        <p:spPr>
          <a:xfrm>
            <a:off x="1188720" y="17830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Representativeness: who is included or excluded?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Box 6"/>
          <p:cNvSpPr/>
          <p:nvPr/>
        </p:nvSpPr>
        <p:spPr>
          <a:xfrm>
            <a:off x="822960" y="24688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Box 7"/>
          <p:cNvSpPr/>
          <p:nvPr/>
        </p:nvSpPr>
        <p:spPr>
          <a:xfrm>
            <a:off x="1188720" y="24688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Validity: does the target measure what matters?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Box 8"/>
          <p:cNvSpPr/>
          <p:nvPr/>
        </p:nvSpPr>
        <p:spPr>
          <a:xfrm>
            <a:off x="822960" y="31546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Box 9"/>
          <p:cNvSpPr/>
          <p:nvPr/>
        </p:nvSpPr>
        <p:spPr>
          <a:xfrm>
            <a:off x="1188720" y="31546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Fairness: do error rates differ across groups?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Box 10"/>
          <p:cNvSpPr/>
          <p:nvPr/>
        </p:nvSpPr>
        <p:spPr>
          <a:xfrm>
            <a:off x="822960" y="38404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Box 11"/>
          <p:cNvSpPr/>
          <p:nvPr/>
        </p:nvSpPr>
        <p:spPr>
          <a:xfrm>
            <a:off x="1188720" y="38404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Privacy, security, explainability and recourse matter for high-impact decisions.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TextBox 1"/>
          <p:cNvSpPr/>
          <p:nvPr/>
        </p:nvSpPr>
        <p:spPr>
          <a:xfrm>
            <a:off x="59436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MACHINE LEARNING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Box 2"/>
          <p:cNvSpPr/>
          <p:nvPr/>
        </p:nvSpPr>
        <p:spPr>
          <a:xfrm>
            <a:off x="594360" y="6400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Worked example: spam filtering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Rectangle 3"/>
          <p:cNvSpPr/>
          <p:nvPr/>
        </p:nvSpPr>
        <p:spPr>
          <a:xfrm>
            <a:off x="594360" y="1371600"/>
            <a:ext cx="914040" cy="54360"/>
          </a:xfrm>
          <a:prstGeom prst="rect">
            <a:avLst/>
          </a:prstGeom>
          <a:solidFill>
            <a:srgbClr val="EB7D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2" name="TextBox 4"/>
          <p:cNvSpPr/>
          <p:nvPr/>
        </p:nvSpPr>
        <p:spPr>
          <a:xfrm>
            <a:off x="822960" y="17830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Box 5"/>
          <p:cNvSpPr/>
          <p:nvPr/>
        </p:nvSpPr>
        <p:spPr>
          <a:xfrm>
            <a:off x="1188720" y="17830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Collect labeled messages; clean text and prevent target leakage.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Box 6"/>
          <p:cNvSpPr/>
          <p:nvPr/>
        </p:nvSpPr>
        <p:spPr>
          <a:xfrm>
            <a:off x="822960" y="24688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Box 7"/>
          <p:cNvSpPr/>
          <p:nvPr/>
        </p:nvSpPr>
        <p:spPr>
          <a:xfrm>
            <a:off x="1188720" y="24688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Train a baseline such as Naïve Bayes or logistic regression.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Box 8"/>
          <p:cNvSpPr/>
          <p:nvPr/>
        </p:nvSpPr>
        <p:spPr>
          <a:xfrm>
            <a:off x="822960" y="31546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Box 9"/>
          <p:cNvSpPr/>
          <p:nvPr/>
        </p:nvSpPr>
        <p:spPr>
          <a:xfrm>
            <a:off x="1188720" y="31546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Evaluate precision and recall according to the costs of blocking good mail or missing spam.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10"/>
          <p:cNvSpPr/>
          <p:nvPr/>
        </p:nvSpPr>
        <p:spPr>
          <a:xfrm>
            <a:off x="822960" y="38404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Box 11"/>
          <p:cNvSpPr/>
          <p:nvPr/>
        </p:nvSpPr>
        <p:spPr>
          <a:xfrm>
            <a:off x="1188720" y="38404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Deploy with feedback and monitor new vocabulary and changing spam tactics.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TextBox 1"/>
          <p:cNvSpPr/>
          <p:nvPr/>
        </p:nvSpPr>
        <p:spPr>
          <a:xfrm>
            <a:off x="59436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MACHINE LEARNING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Box 2"/>
          <p:cNvSpPr/>
          <p:nvPr/>
        </p:nvSpPr>
        <p:spPr>
          <a:xfrm>
            <a:off x="594360" y="64008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Key takeaways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Rectangle 3"/>
          <p:cNvSpPr/>
          <p:nvPr/>
        </p:nvSpPr>
        <p:spPr>
          <a:xfrm>
            <a:off x="594360" y="1371600"/>
            <a:ext cx="914040" cy="54360"/>
          </a:xfrm>
          <a:prstGeom prst="rect">
            <a:avLst/>
          </a:prstGeom>
          <a:solidFill>
            <a:srgbClr val="EB7D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3" name="TextBox 4"/>
          <p:cNvSpPr/>
          <p:nvPr/>
        </p:nvSpPr>
        <p:spPr>
          <a:xfrm>
            <a:off x="822960" y="17830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Box 5"/>
          <p:cNvSpPr/>
          <p:nvPr/>
        </p:nvSpPr>
        <p:spPr>
          <a:xfrm>
            <a:off x="1188720" y="17830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ML is a data-to-decision process, not only an algorithm.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Box 6"/>
          <p:cNvSpPr/>
          <p:nvPr/>
        </p:nvSpPr>
        <p:spPr>
          <a:xfrm>
            <a:off x="822960" y="24688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Box 7"/>
          <p:cNvSpPr/>
          <p:nvPr/>
        </p:nvSpPr>
        <p:spPr>
          <a:xfrm>
            <a:off x="1188720" y="24688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Collect, clean, train, evaluate and deploy are connected stages.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Box 8"/>
          <p:cNvSpPr/>
          <p:nvPr/>
        </p:nvSpPr>
        <p:spPr>
          <a:xfrm>
            <a:off x="822960" y="31546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Box 9"/>
          <p:cNvSpPr/>
          <p:nvPr/>
        </p:nvSpPr>
        <p:spPr>
          <a:xfrm>
            <a:off x="1188720" y="31546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Start simple, validate honestly and choose metrics deliberately.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Box 10"/>
          <p:cNvSpPr/>
          <p:nvPr/>
        </p:nvSpPr>
        <p:spPr>
          <a:xfrm>
            <a:off x="822960" y="3840480"/>
            <a:ext cx="273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EB7D30"/>
                </a:solidFill>
                <a:effectLst/>
                <a:uFillTx/>
                <a:latin typeface="Aptos"/>
              </a:rPr>
              <a:t>•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Box 11"/>
          <p:cNvSpPr/>
          <p:nvPr/>
        </p:nvSpPr>
        <p:spPr>
          <a:xfrm>
            <a:off x="1188720" y="38404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Production requires monitoring, governance and continuous improvement.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Box 12"/>
          <p:cNvSpPr/>
          <p:nvPr/>
        </p:nvSpPr>
        <p:spPr>
          <a:xfrm>
            <a:off x="822960" y="617220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Reference: https://www.geeksforgeeks.org/machine-learning/machine-learning/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TextBox 1"/>
          <p:cNvSpPr/>
          <p:nvPr/>
        </p:nvSpPr>
        <p:spPr>
          <a:xfrm>
            <a:off x="731520" y="41148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948C"/>
                </a:solidFill>
                <a:effectLst/>
                <a:uFillTx/>
                <a:latin typeface="Aptos"/>
              </a:rPr>
              <a:t>REFERENCES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Box 2"/>
          <p:cNvSpPr/>
          <p:nvPr/>
        </p:nvSpPr>
        <p:spPr>
          <a:xfrm>
            <a:off x="731520" y="91440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1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References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Rectangle 3"/>
          <p:cNvSpPr/>
          <p:nvPr/>
        </p:nvSpPr>
        <p:spPr>
          <a:xfrm>
            <a:off x="731520" y="1783080"/>
            <a:ext cx="914040" cy="54360"/>
          </a:xfrm>
          <a:prstGeom prst="rect">
            <a:avLst/>
          </a:prstGeom>
          <a:solidFill>
            <a:srgbClr val="EB7D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5" name="TextBox 4"/>
          <p:cNvSpPr/>
          <p:nvPr/>
        </p:nvSpPr>
        <p:spPr>
          <a:xfrm>
            <a:off x="914400" y="2331720"/>
            <a:ext cx="10240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(1) Jason Brownlee, Data Preparation for Machine Learning: Data Cleaning, Feature Selection, and Data Transforms in Python, Machine Learning Mastery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Box 5"/>
          <p:cNvSpPr/>
          <p:nvPr/>
        </p:nvSpPr>
        <p:spPr>
          <a:xfrm>
            <a:off x="914400" y="3474720"/>
            <a:ext cx="10240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(2) Laurence Moroney, AI and Machine Learning for Coders: A Programmer's Guide to Artificial Intelligence, O'Reilly Media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Box 6"/>
          <p:cNvSpPr/>
          <p:nvPr/>
        </p:nvSpPr>
        <p:spPr>
          <a:xfrm>
            <a:off x="914400" y="4617720"/>
            <a:ext cx="10240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4B5564"/>
                </a:solidFill>
                <a:effectLst/>
                <a:uFillTx/>
                <a:latin typeface="Aptos"/>
              </a:rPr>
              <a:t>(3) GeeksforGeeks.org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1143000" y="5486400"/>
            <a:ext cx="69112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Video: https://www.youtube.com/watch?v=Au1OxVSyGas&amp;t=122s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2026-08-23T18:09:19Z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